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df5a73a5784693" /><Relationship Type="http://schemas.openxmlformats.org/officeDocument/2006/relationships/extended-properties" Target="/docProps/app.xml" Id="R90300d642f4f4974" /><Relationship Type="http://schemas.openxmlformats.org/officeDocument/2006/relationships/officeDocument" Target="/ppt/presentation.xml" Id="R33a05529e2da46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cae86766e14480"/>
  </p:sldMasterIdLst>
  <p:notesMasterIdLst>
    <p:notesMasterId xmlns:r="http://schemas.openxmlformats.org/officeDocument/2006/relationships" r:id="R03ed3dc5c2f541a6"/>
  </p:notesMasterIdLst>
  <p:sldIdLst>
    <p:sldId xmlns:r="http://schemas.openxmlformats.org/officeDocument/2006/relationships" id="256" r:id="Rc75654e171eb4c14"/>
    <p:sldId xmlns:r="http://schemas.openxmlformats.org/officeDocument/2006/relationships" id="257" r:id="Rd49453be552c423a"/>
    <p:sldId xmlns:r="http://schemas.openxmlformats.org/officeDocument/2006/relationships" id="258" r:id="R46d85c460516432f"/>
    <p:sldId xmlns:r="http://schemas.openxmlformats.org/officeDocument/2006/relationships" id="259" r:id="R4bbd704cc79d43b4"/>
    <p:sldId xmlns:r="http://schemas.openxmlformats.org/officeDocument/2006/relationships" id="260" r:id="R0ab7c3b154494e58"/>
  </p:sldIdLst>
  <p:sldSz cx="16002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6100a60c334d1e" /><Relationship Type="http://schemas.openxmlformats.org/officeDocument/2006/relationships/slideMaster" Target="/ppt/slideMasters/slideMaster1.xml" Id="R6acae86766e14480" /><Relationship Type="http://schemas.openxmlformats.org/officeDocument/2006/relationships/notesMaster" Target="/ppt/notesMasters/notesMaster1.xml" Id="R03ed3dc5c2f541a6" /><Relationship Type="http://schemas.openxmlformats.org/officeDocument/2006/relationships/presProps" Target="/ppt/presProps.xml" Id="R261a20022cda4797" /><Relationship Type="http://schemas.openxmlformats.org/officeDocument/2006/relationships/tableStyles" Target="/ppt/tableStyles.xml" Id="Rf343b88655324576" /><Relationship Type="http://schemas.openxmlformats.org/officeDocument/2006/relationships/slide" Target="/ppt/slides/slide1.xml" Id="Rc75654e171eb4c14" /><Relationship Type="http://schemas.openxmlformats.org/officeDocument/2006/relationships/slide" Target="/ppt/slides/slide2.xml" Id="Rd49453be552c423a" /><Relationship Type="http://schemas.openxmlformats.org/officeDocument/2006/relationships/slide" Target="/ppt/slides/slide3.xml" Id="R46d85c460516432f" /><Relationship Type="http://schemas.openxmlformats.org/officeDocument/2006/relationships/slide" Target="/ppt/slides/slide4.xml" Id="R4bbd704cc79d43b4" /><Relationship Type="http://schemas.openxmlformats.org/officeDocument/2006/relationships/slide" Target="/ppt/slides/slide5.xml" Id="R0ab7c3b154494e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30a480cf154d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6007740b294f07" /><Relationship Type="http://schemas.openxmlformats.org/officeDocument/2006/relationships/notesMaster" Target="/ppt/notesMasters/notesMaster1.xml" Id="Rb29422f096a441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b377b95d58421c" /><Relationship Type="http://schemas.openxmlformats.org/officeDocument/2006/relationships/notesMaster" Target="/ppt/notesMasters/notesMaster1.xml" Id="Re6130dde39a349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a8c6562c18408e" /><Relationship Type="http://schemas.openxmlformats.org/officeDocument/2006/relationships/notesMaster" Target="/ppt/notesMasters/notesMaster1.xml" Id="Rdc694873e65a42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03c4dbe8d94a8b" /><Relationship Type="http://schemas.openxmlformats.org/officeDocument/2006/relationships/notesMaster" Target="/ppt/notesMasters/notesMaster1.xml" Id="R81ae2e2e69fc4d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fb1e58db204b92" /><Relationship Type="http://schemas.openxmlformats.org/officeDocument/2006/relationships/notesMaster" Target="/ppt/notesMasters/notesMaster1.xml" Id="R64f94e25b04d44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Prediction contour display. Source: submission_repro_20260827/predictions_compact/maps/mpdd/s0_k1/metal_plate.npz; sample metal_plate/test/scratches/026.png, seed0,K1. The contour is computed from the model score map, never from ground-truth masks. The 448x448 score maps are replayed from the archived float16 patch-score cache using the frozen bilinear resize and Gaussian sigma=4 pipeline. Each map is min-max quantized to 256 levels and automatically thresholded by Otsu for visualization only. This is not a calibrated deployment threshold or a binary-segmentation performance claim. No ground-truth masks or labels are loaded for contour extraction; no predicted component is suppressed. DCFnet and DINO use the same display rule, with independently computed per-image thresholds. The score map remains the numerical model output; threshold and contour extraction are visualization postprocessing. Image scores remain spatial maxima of the score map before thresholding. Source method and notation: docs/manuscript_english_polished_20260906/DCFnet_English_Polished_20260906.docx, Sections3.1–3.6. Support photographs are a schematic K-image set, not the exact supports of this archived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2. Deterministic calibration and fixed feature fusion. The CLIP lattice is bilinearly resized to the DINO grid with align_corners=False. At each location p, the aligned branch descriptors are independently L2-normalized, scaled by 0.5, concatenated, and jointly normalized. The DINO grid is unchanged. Matching grid dimensions does not guarantee receptive-field or semantic correspondence. Norm(v)=v/||v||2 assumes positive norms. The complete-metric implementation does not claim an epsilon guard.</a:t>
            </a:r>
          </a:p>
          <a:p xmlns:a="http://schemas.openxmlformats.org/drawingml/2006/main">
            <a:r>
              <a:t>Source: docs/manuscript_english_polished_20260906/English_content.md, sections 3.3–3.6. All grids, tokens and vector bars are editable structural schematics rather than measured activations. Cell counts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Prediction contour display. Source: submission_repro_20260827/predictions_compact/maps/mpdd/s0_k1/metal_plate.npz; sample metal_plate/test/scratches/026.png, seed0,K1. The contour is computed from the model score map, never from ground-truth masks. The 448x448 score maps are replayed from the archived float16 patch-score cache using the frozen bilinear resize and Gaussian sigma=4 pipeline. Each map is min-max quantized to 256 levels and automatically thresholded by Otsu for visualization only. This is not a calibrated deployment threshold or a binary-segmentation performance claim. No ground-truth masks or labels are loaded for contour extraction; no predicted component is suppressed. DCFnet and DINO use the same display rule, with independently computed per-image thresholds. The score map remains the numerical model output; threshold and contour extraction are visualization postprocessing. Image scores remain spatial maxima of the score map before thresholding. Source method and notation: docs/manuscript_english_polished_20260906/DCFnet_English_Polished_20260906.docx, Sections3.1–3.6. Support photographs are a schematic K-image set, not the exact supports of this archived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DINOv2 ViT-B/14: short-side 448 and patch-compatible center crop, patch size14, transformer depth12, hidden/output width768. Use normalized patch tokens and reshape to the image grid, excluding CLS. CLIP ViT-L/14: input518 square, patch grid37x37, hidden width1024, depth24, DPAM_layer20. Requested layers6/12/18/24 are extracted, only the last (layer24) is retained downstream. Layer-normalized local features use the visual projection1024x768 and exclude CLS. DPAM_layer=20 replaces blocks6 through24 inclusive (19 blocks), not only block20. The v-v attention branch sets q and k to v; the retained patch path is x_DPAM. Code sources: scripts/export_anomalyclip_mpdd_features.py lines90-106; methods/AnomalyCLIP-main/AnomalyCLIP_lib/AnomalyCLIP.py lines71-94,284-296,344-387; methods/anomalydino/src/backbones.py lines90-118. Each photograph is processed per encoder call; the illustrated input is MPDD metal_plate test/scratches/026.png. No text encoder or text prompt enters this inference path. Grid counts are schematic.</a:t>
            </a:r>
          </a:p>
          <a:p xmlns:a="http://schemas.openxmlformats.org/drawingml/2006/main">
            <a:r>
              <a:t>Source: docs/manuscript_english_polished_20260906/English_content.md, sections 3.3–3.6. All grids, tokens and vector bars are editable structural schematics rather than measured activations. Cell counts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Prediction contour display. Source: submission_repro_20260827/predictions_compact/maps/mpdd/s0_k1/metal_plate.npz; sample metal_plate/test/scratches/026.png, seed0,K1. The contour is computed from the model score map, never from ground-truth masks. The 448x448 score maps are replayed from the archived float16 patch-score cache using the frozen bilinear resize and Gaussian sigma=4 pipeline. Each map is min-max quantized to 256 levels and automatically thresholded by Otsu for visualization only. This is not a calibrated deployment threshold or a binary-segmentation performance claim. No ground-truth masks or labels are loaded for contour extraction; no predicted component is suppressed. DCFnet and DINO use the same display rule, with independently computed per-image thresholds. The score map remains the numerical model output; threshold and contour extraction are visualization postprocessing. Image scores remain spatial maxima of the score map before thresholding. Source method and notation: docs/manuscript_english_polished_20260906/DCFnet_English_Polished_20260906.docx, Sections3.1–3.6. Support photographs are a schematic K-image set, not the exact supports of this archived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92fb5f67a43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2ba6e0b90d4b0c" /><Relationship Type="http://schemas.openxmlformats.org/officeDocument/2006/relationships/slideLayout" Target="/ppt/slideLayouts/slideLayout1.xml" Id="R29919de6143143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919de6143143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b3a4c792942a6" /><Relationship Type="http://schemas.openxmlformats.org/officeDocument/2006/relationships/image" Target="/ppt/media/image.png" Id="Rc7f23a16c55e4bd3" /><Relationship Type="http://schemas.openxmlformats.org/officeDocument/2006/relationships/image" Target="/ppt/media/image2.png" Id="R80382ca6d8e14067" /><Relationship Type="http://schemas.openxmlformats.org/officeDocument/2006/relationships/image" Target="/ppt/media/image3.png" Id="R087c7779cf7a43b1" /><Relationship Type="http://schemas.openxmlformats.org/officeDocument/2006/relationships/image" Target="/ppt/media/image4.png" Id="R03bc8ff26792477e" /><Relationship Type="http://schemas.openxmlformats.org/officeDocument/2006/relationships/image" Target="/ppt/media/image5.png" Id="Re8d8067841574933" /><Relationship Type="http://schemas.openxmlformats.org/officeDocument/2006/relationships/notesSlide" Target="/ppt/notesSlides/notesSlide1.xml" Id="R89859aaeccf14d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e5dbc23e74056" /><Relationship Type="http://schemas.openxmlformats.org/officeDocument/2006/relationships/notesSlide" Target="/ppt/notesSlides/notesSlide2.xml" Id="R98d75a04923d47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d044da4a940a5" /><Relationship Type="http://schemas.openxmlformats.org/officeDocument/2006/relationships/image" Target="/ppt/media/image6.png" Id="Rb62ede8f1d964c49" /><Relationship Type="http://schemas.openxmlformats.org/officeDocument/2006/relationships/image" Target="/ppt/media/image7.png" Id="Rfb15933dcb7d4179" /><Relationship Type="http://schemas.openxmlformats.org/officeDocument/2006/relationships/image" Target="/ppt/media/image8.png" Id="Rb7278a10f2d34521" /><Relationship Type="http://schemas.openxmlformats.org/officeDocument/2006/relationships/image" Target="/ppt/media/image9.png" Id="R5e062996d5484865" /><Relationship Type="http://schemas.openxmlformats.org/officeDocument/2006/relationships/notesSlide" Target="/ppt/notesSlides/notesSlide3.xml" Id="Rbff5ada050cb45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1c1c063ef4658" /><Relationship Type="http://schemas.openxmlformats.org/officeDocument/2006/relationships/image" Target="/ppt/media/image10.png" Id="R2e32a8ceb0a0408b" /><Relationship Type="http://schemas.openxmlformats.org/officeDocument/2006/relationships/notesSlide" Target="/ppt/notesSlides/notesSlide4.xml" Id="R390873b4fa3842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7966b474b4aa7" /><Relationship Type="http://schemas.openxmlformats.org/officeDocument/2006/relationships/image" Target="/ppt/media/image11.png" Id="R8f6c4bdcf9d247bf" /><Relationship Type="http://schemas.openxmlformats.org/officeDocument/2006/relationships/image" Target="/ppt/media/image12.png" Id="R5c3008c5d3814c7c" /><Relationship Type="http://schemas.openxmlformats.org/officeDocument/2006/relationships/notesSlide" Target="/ppt/notesSlides/notesSlide5.xml" Id="R73e559db80894e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3" name="title">
            <a:extLst xmlns:a="http://schemas.openxmlformats.org/drawingml/2006/main">
              <a:ext uri="{FF2B5EF4-FFF2-40B4-BE49-F238E27FC236}">
                <a16:creationId xmlns:a16="http://schemas.microsoft.com/office/drawing/2014/main" id="{3C766BC7-7B46-415A-AC23-9B79B13E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61925"/>
            <a:ext cx="200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DCFnet</a:t>
            </a:r>
          </a:p>
        </p:txBody>
      </p:sp>
      <p:sp>
        <p:nvSpPr>
          <p:cNvPr id="2" name="title-expansion">
            <a:extLst xmlns:a="http://schemas.openxmlformats.org/drawingml/2006/main">
              <a:ext uri="{FF2B5EF4-FFF2-40B4-BE49-F238E27FC236}">
                <a16:creationId xmlns:a16="http://schemas.microsoft.com/office/drawing/2014/main" id="{E136D977-DB3C-4BFE-BCD8-7C961AC3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38125"/>
            <a:ext cx="1304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Dual-Encoder Calibrated Fusion Network</a:t>
            </a:r>
          </a:p>
        </p:txBody>
      </p:sp>
      <p:sp>
        <p:nvSpPr>
          <p:cNvPr id="3" name="task">
            <a:extLst xmlns:a="http://schemas.openxmlformats.org/drawingml/2006/main">
              <a:ext uri="{FF2B5EF4-FFF2-40B4-BE49-F238E27FC236}">
                <a16:creationId xmlns:a16="http://schemas.microsoft.com/office/drawing/2014/main" id="{4164786F-13D0-4384-8BCB-4225A0B4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Normal-only few-shot industrial anomaly localization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53A8395-8896-47AF-ACB5-B066FB4D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19200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AD4DA"/>
            </a:solidFill>
          </a:ln>
        </p:spPr>
      </p:sp>
      <p:sp>
        <p:nvSpPr>
          <p:cNvPr id="5" name="support-heading">
            <a:extLst xmlns:a="http://schemas.openxmlformats.org/drawingml/2006/main">
              <a:ext uri="{FF2B5EF4-FFF2-40B4-BE49-F238E27FC236}">
                <a16:creationId xmlns:a16="http://schemas.microsoft.com/office/drawing/2014/main" id="{2BE9EB1A-4E62-477E-8878-7E451CD9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2397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(a) Build the normal reference memory</a:t>
            </a:r>
          </a:p>
        </p:txBody>
      </p:sp>
      <p:sp>
        <p:nvSpPr>
          <p:cNvPr id="6" name="support-frame000">
            <a:extLst xmlns:a="http://schemas.openxmlformats.org/drawingml/2006/main">
              <a:ext uri="{FF2B5EF4-FFF2-40B4-BE49-F238E27FC236}">
                <a16:creationId xmlns:a16="http://schemas.microsoft.com/office/drawing/2014/main" id="{0498B4F8-E5AB-424F-AE23-1B9A3BAC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00225"/>
            <a:ext cx="1028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DA"/>
            </a:solidFill>
          </a:ln>
        </p:spPr>
      </p:sp>
      <p:pic>
        <p:nvPicPr>
          <p:cNvPr id="289" name="Normal support example 00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23a16c55e4bd3"/>
          <a:stretch xmlns:a="http://schemas.openxmlformats.org/drawingml/2006/main"/>
        </p:blipFill>
        <p:spPr>
          <a:xfrm xmlns:a="http://schemas.openxmlformats.org/drawingml/2006/main">
            <a:off x="361950" y="1819275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8" name="support-frame001">
            <a:extLst xmlns:a="http://schemas.openxmlformats.org/drawingml/2006/main">
              <a:ext uri="{FF2B5EF4-FFF2-40B4-BE49-F238E27FC236}">
                <a16:creationId xmlns:a16="http://schemas.microsoft.com/office/drawing/2014/main" id="{979FD52C-9B9C-4E32-90B1-BB684E38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52625"/>
            <a:ext cx="1028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DA"/>
            </a:solidFill>
          </a:ln>
        </p:spPr>
      </p:sp>
      <p:pic>
        <p:nvPicPr>
          <p:cNvPr id="291" name="Normal support example 0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82ca6d8e14067"/>
          <a:stretch xmlns:a="http://schemas.openxmlformats.org/drawingml/2006/main"/>
        </p:blipFill>
        <p:spPr>
          <a:xfrm xmlns:a="http://schemas.openxmlformats.org/drawingml/2006/main">
            <a:off x="695325" y="1971675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10" name="support-frame029">
            <a:extLst xmlns:a="http://schemas.openxmlformats.org/drawingml/2006/main">
              <a:ext uri="{FF2B5EF4-FFF2-40B4-BE49-F238E27FC236}">
                <a16:creationId xmlns:a16="http://schemas.microsoft.com/office/drawing/2014/main" id="{6BBD6C44-69A3-43CB-AB58-76EA7170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05025"/>
            <a:ext cx="1028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DA"/>
            </a:solidFill>
          </a:ln>
        </p:spPr>
      </p:sp>
      <p:pic>
        <p:nvPicPr>
          <p:cNvPr id="293" name="Normal support example 0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c7779cf7a43b1"/>
          <a:stretch xmlns:a="http://schemas.openxmlformats.org/drawingml/2006/main"/>
        </p:blipFill>
        <p:spPr>
          <a:xfrm xmlns:a="http://schemas.openxmlformats.org/drawingml/2006/main">
            <a:off x="1028700" y="2124075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12" name="support-symbol">
            <a:extLst xmlns:a="http://schemas.openxmlformats.org/drawingml/2006/main">
              <a:ext uri="{FF2B5EF4-FFF2-40B4-BE49-F238E27FC236}">
                <a16:creationId xmlns:a16="http://schemas.microsoft.com/office/drawing/2014/main" id="{2698FB20-0016-448B-8EA2-7CA5D0A8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813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 i="1">
                <a:latin typeface="Cambria Math"/>
                <a:ea typeface="Cambria Math"/>
                <a:cs typeface="Cambria Math"/>
              </a:rPr>
              <a:t>R</a:t>
            </a:r>
            <a:r>
              <a:rPr sz="1350" b="0" i="1" baseline="-25000">
                <a:latin typeface="Cambria Math"/>
                <a:ea typeface="Cambria Math"/>
                <a:cs typeface="Cambria Math"/>
              </a:rPr>
              <a:t>c</a:t>
            </a:r>
            <a:r>
              <a:rPr sz="1875" b="0" i="0">
                <a:latin typeface="Cambria Math"/>
                <a:ea typeface="Cambria Math"/>
                <a:cs typeface="Cambria Math"/>
              </a:rPr>
              <a:t> = {</a:t>
            </a:r>
            <a:r>
              <a:rPr sz="1875" b="1" i="1">
                <a:latin typeface="Cambria Math"/>
                <a:ea typeface="Cambria Math"/>
                <a:cs typeface="Cambria Math"/>
              </a:rPr>
              <a:t>x</a:t>
            </a:r>
            <a:r>
              <a:rPr sz="1350" b="0" i="1" baseline="30000">
                <a:latin typeface="Cambria Math"/>
                <a:ea typeface="Cambria Math"/>
                <a:cs typeface="Cambria Math"/>
              </a:rPr>
              <a:t>c</a:t>
            </a:r>
            <a:r>
              <a:rPr sz="1350" b="0" i="0" baseline="-25000">
                <a:latin typeface="Cambria Math"/>
                <a:ea typeface="Cambria Math"/>
                <a:cs typeface="Cambria Math"/>
              </a:rPr>
              <a:t>1</a:t>
            </a:r>
            <a:r>
              <a:rPr sz="1875" b="0" i="0">
                <a:latin typeface="Cambria Math"/>
                <a:ea typeface="Cambria Math"/>
                <a:cs typeface="Cambria Math"/>
              </a:rPr>
              <a:t>, …, </a:t>
            </a:r>
            <a:r>
              <a:rPr sz="1875" b="1" i="1">
                <a:latin typeface="Cambria Math"/>
                <a:ea typeface="Cambria Math"/>
                <a:cs typeface="Cambria Math"/>
              </a:rPr>
              <a:t>x</a:t>
            </a:r>
            <a:r>
              <a:rPr sz="1350" b="0" i="1" baseline="30000">
                <a:latin typeface="Cambria Math"/>
                <a:ea typeface="Cambria Math"/>
                <a:cs typeface="Cambria Math"/>
              </a:rPr>
              <a:t>c</a:t>
            </a:r>
            <a:r>
              <a:rPr sz="1350" b="0" i="1" baseline="-25000">
                <a:latin typeface="Cambria Math"/>
                <a:ea typeface="Cambria Math"/>
                <a:cs typeface="Cambria Math"/>
              </a:rPr>
              <a:t>K</a:t>
            </a:r>
            <a:r>
              <a:rPr sz="1875" b="0" i="0">
                <a:latin typeface="Cambria Math"/>
                <a:ea typeface="Cambria Math"/>
                <a:cs typeface="Cambria Math"/>
              </a:rPr>
              <a:t>}</a:t>
            </a:r>
          </a:p>
        </p:txBody>
      </p:sp>
      <p:sp>
        <p:nvSpPr>
          <p:cNvPr id="13" name="shots">
            <a:extLst xmlns:a="http://schemas.openxmlformats.org/drawingml/2006/main">
              <a:ext uri="{FF2B5EF4-FFF2-40B4-BE49-F238E27FC236}">
                <a16:creationId xmlns:a16="http://schemas.microsoft.com/office/drawing/2014/main" id="{8C735F24-AFB8-4FCE-A43B-31D52D09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53377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1">
                <a:latin typeface="Cambria Math"/>
                <a:ea typeface="Cambria Math"/>
                <a:cs typeface="Cambria Math"/>
              </a:rPr>
              <a:t>K</a:t>
            </a:r>
            <a:r>
              <a:rPr sz="1875" b="0" i="0">
                <a:latin typeface="Cambria Math"/>
                <a:ea typeface="Cambria Math"/>
                <a:cs typeface="Cambria Math"/>
              </a:rPr>
              <a:t> ∈ {1, 2, 4}</a:t>
            </a:r>
          </a:p>
        </p:txBody>
      </p:sp>
      <p:sp>
        <p:nvSpPr>
          <p:cNvPr id="14" name="support-extraction">
            <a:extLst xmlns:a="http://schemas.openxmlformats.org/drawingml/2006/main">
              <a:ext uri="{FF2B5EF4-FFF2-40B4-BE49-F238E27FC236}">
                <a16:creationId xmlns:a16="http://schemas.microsoft.com/office/drawing/2014/main" id="{703B4C61-C6A0-4DB5-BC9F-A146C24A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971675"/>
            <a:ext cx="30003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AD4DA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support-dino">
            <a:extLst xmlns:a="http://schemas.openxmlformats.org/drawingml/2006/main">
              <a:ext uri="{FF2B5EF4-FFF2-40B4-BE49-F238E27FC236}">
                <a16:creationId xmlns:a16="http://schemas.microsoft.com/office/drawing/2014/main" id="{6BD3A537-4DD2-4CC2-B675-949D9621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66925"/>
            <a:ext cx="13430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DINOv2</a:t>
            </a:r>
          </a:p>
        </p:txBody>
      </p:sp>
      <p:sp>
        <p:nvSpPr>
          <p:cNvPr id="16" name="support-clip">
            <a:extLst xmlns:a="http://schemas.openxmlformats.org/drawingml/2006/main">
              <a:ext uri="{FF2B5EF4-FFF2-40B4-BE49-F238E27FC236}">
                <a16:creationId xmlns:a16="http://schemas.microsoft.com/office/drawing/2014/main" id="{469F2835-2BA5-4CB2-AA0E-792D1BB2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67000"/>
            <a:ext cx="27717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CLIP + DPAM</a:t>
            </a:r>
          </a:p>
        </p:txBody>
      </p:sp>
      <p:sp>
        <p:nvSpPr>
          <p:cNvPr id="17" name="support-dino-grid0-0">
            <a:extLst xmlns:a="http://schemas.openxmlformats.org/drawingml/2006/main">
              <a:ext uri="{FF2B5EF4-FFF2-40B4-BE49-F238E27FC236}">
                <a16:creationId xmlns:a16="http://schemas.microsoft.com/office/drawing/2014/main" id="{CE5741B8-A671-49A9-98EB-BE767584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8" name="support-dino-grid0-1">
            <a:extLst xmlns:a="http://schemas.openxmlformats.org/drawingml/2006/main">
              <a:ext uri="{FF2B5EF4-FFF2-40B4-BE49-F238E27FC236}">
                <a16:creationId xmlns:a16="http://schemas.microsoft.com/office/drawing/2014/main" id="{4A558F44-BE10-438D-9649-65316B09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9" name="support-dino-grid0-2">
            <a:extLst xmlns:a="http://schemas.openxmlformats.org/drawingml/2006/main">
              <a:ext uri="{FF2B5EF4-FFF2-40B4-BE49-F238E27FC236}">
                <a16:creationId xmlns:a16="http://schemas.microsoft.com/office/drawing/2014/main" id="{ADD501AC-96B3-46C9-9895-EF384E6E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0" name="support-dino-grid0-3">
            <a:extLst xmlns:a="http://schemas.openxmlformats.org/drawingml/2006/main">
              <a:ext uri="{FF2B5EF4-FFF2-40B4-BE49-F238E27FC236}">
                <a16:creationId xmlns:a16="http://schemas.microsoft.com/office/drawing/2014/main" id="{A1181F5A-BDC8-4460-A922-098D0047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" name="support-dino-grid0-4">
            <a:extLst xmlns:a="http://schemas.openxmlformats.org/drawingml/2006/main">
              <a:ext uri="{FF2B5EF4-FFF2-40B4-BE49-F238E27FC236}">
                <a16:creationId xmlns:a16="http://schemas.microsoft.com/office/drawing/2014/main" id="{078B9260-612E-44DE-A104-B7D735B9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" name="support-dino-grid1-0">
            <a:extLst xmlns:a="http://schemas.openxmlformats.org/drawingml/2006/main">
              <a:ext uri="{FF2B5EF4-FFF2-40B4-BE49-F238E27FC236}">
                <a16:creationId xmlns:a16="http://schemas.microsoft.com/office/drawing/2014/main" id="{024B261B-A957-4452-909E-C2CF92F5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" name="support-dino-grid1-1">
            <a:extLst xmlns:a="http://schemas.openxmlformats.org/drawingml/2006/main">
              <a:ext uri="{FF2B5EF4-FFF2-40B4-BE49-F238E27FC236}">
                <a16:creationId xmlns:a16="http://schemas.microsoft.com/office/drawing/2014/main" id="{9BF83C2F-DC79-48F5-B27A-3B48CE1D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4" name="support-dino-grid1-2">
            <a:extLst xmlns:a="http://schemas.openxmlformats.org/drawingml/2006/main">
              <a:ext uri="{FF2B5EF4-FFF2-40B4-BE49-F238E27FC236}">
                <a16:creationId xmlns:a16="http://schemas.microsoft.com/office/drawing/2014/main" id="{4E432C8C-DB8F-47D0-B275-2237CBC1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C9C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5" name="support-dino-grid1-3">
            <a:extLst xmlns:a="http://schemas.openxmlformats.org/drawingml/2006/main">
              <a:ext uri="{FF2B5EF4-FFF2-40B4-BE49-F238E27FC236}">
                <a16:creationId xmlns:a16="http://schemas.microsoft.com/office/drawing/2014/main" id="{0F071909-56FF-4FEC-A01F-5C8966A1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6" name="support-dino-grid1-4">
            <a:extLst xmlns:a="http://schemas.openxmlformats.org/drawingml/2006/main">
              <a:ext uri="{FF2B5EF4-FFF2-40B4-BE49-F238E27FC236}">
                <a16:creationId xmlns:a16="http://schemas.microsoft.com/office/drawing/2014/main" id="{134FE132-692B-486B-9737-412C9243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7" name="support-dino-grid2-0">
            <a:extLst xmlns:a="http://schemas.openxmlformats.org/drawingml/2006/main">
              <a:ext uri="{FF2B5EF4-FFF2-40B4-BE49-F238E27FC236}">
                <a16:creationId xmlns:a16="http://schemas.microsoft.com/office/drawing/2014/main" id="{1C492ADF-6C63-4A3C-A78F-5699AB34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8" name="support-dino-grid2-1">
            <a:extLst xmlns:a="http://schemas.openxmlformats.org/drawingml/2006/main">
              <a:ext uri="{FF2B5EF4-FFF2-40B4-BE49-F238E27FC236}">
                <a16:creationId xmlns:a16="http://schemas.microsoft.com/office/drawing/2014/main" id="{93045BAB-A4A1-4398-A5A7-C6CD140B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9" name="support-dino-grid2-2">
            <a:extLst xmlns:a="http://schemas.openxmlformats.org/drawingml/2006/main">
              <a:ext uri="{FF2B5EF4-FFF2-40B4-BE49-F238E27FC236}">
                <a16:creationId xmlns:a16="http://schemas.microsoft.com/office/drawing/2014/main" id="{45EC8812-8CB1-4A2E-82FD-6514A404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0" name="support-dino-grid2-3">
            <a:extLst xmlns:a="http://schemas.openxmlformats.org/drawingml/2006/main">
              <a:ext uri="{FF2B5EF4-FFF2-40B4-BE49-F238E27FC236}">
                <a16:creationId xmlns:a16="http://schemas.microsoft.com/office/drawing/2014/main" id="{997E7799-B1B5-46BA-8E10-B688E302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1" name="support-dino-grid2-4">
            <a:extLst xmlns:a="http://schemas.openxmlformats.org/drawingml/2006/main">
              <a:ext uri="{FF2B5EF4-FFF2-40B4-BE49-F238E27FC236}">
                <a16:creationId xmlns:a16="http://schemas.microsoft.com/office/drawing/2014/main" id="{87BF2D5D-5AD4-4484-81E9-CFBAFE49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2" name="support-frozen">
            <a:extLst xmlns:a="http://schemas.openxmlformats.org/drawingml/2006/main">
              <a:ext uri="{FF2B5EF4-FFF2-40B4-BE49-F238E27FC236}">
                <a16:creationId xmlns:a16="http://schemas.microsoft.com/office/drawing/2014/main" id="{05AD96DE-E68A-4DD8-9B8F-9525EEA5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38500"/>
            <a:ext cx="304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Frozen visual encoders</a:t>
            </a:r>
          </a:p>
        </p:txBody>
      </p:sp>
      <p:sp>
        <p:nvSpPr>
          <p:cNvPr id="33" name="support-fusion">
            <a:extLst xmlns:a="http://schemas.openxmlformats.org/drawingml/2006/main">
              <a:ext uri="{FF2B5EF4-FFF2-40B4-BE49-F238E27FC236}">
                <a16:creationId xmlns:a16="http://schemas.microsoft.com/office/drawing/2014/main" id="{9333418D-B072-407C-8AEF-FCE35886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71675"/>
            <a:ext cx="3057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Align grids</a:t>
            </a:r>
          </a:p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Normalize and concatenate</a:t>
            </a:r>
          </a:p>
        </p:txBody>
      </p:sp>
      <p:sp>
        <p:nvSpPr>
          <p:cNvPr id="34" name="support-shared">
            <a:extLst xmlns:a="http://schemas.openxmlformats.org/drawingml/2006/main">
              <a:ext uri="{FF2B5EF4-FFF2-40B4-BE49-F238E27FC236}">
                <a16:creationId xmlns:a16="http://schemas.microsoft.com/office/drawing/2014/main" id="{533358EE-5F81-46F2-82A3-C6DA04F1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38500"/>
            <a:ext cx="3571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Same feature pipeline as (b)</a:t>
            </a:r>
          </a:p>
        </p:txBody>
      </p:sp>
      <p:sp>
        <p:nvSpPr>
          <p:cNvPr id="35" name="support-vector0">
            <a:extLst xmlns:a="http://schemas.openxmlformats.org/drawingml/2006/main">
              <a:ext uri="{FF2B5EF4-FFF2-40B4-BE49-F238E27FC236}">
                <a16:creationId xmlns:a16="http://schemas.microsoft.com/office/drawing/2014/main" id="{10753E79-A170-4B3B-A4DD-E1B1E04F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6" name="support-vector1">
            <a:extLst xmlns:a="http://schemas.openxmlformats.org/drawingml/2006/main">
              <a:ext uri="{FF2B5EF4-FFF2-40B4-BE49-F238E27FC236}">
                <a16:creationId xmlns:a16="http://schemas.microsoft.com/office/drawing/2014/main" id="{86382697-98BE-4718-90E4-817D2B9A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968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7" name="support-vector2">
            <a:extLst xmlns:a="http://schemas.openxmlformats.org/drawingml/2006/main">
              <a:ext uri="{FF2B5EF4-FFF2-40B4-BE49-F238E27FC236}">
                <a16:creationId xmlns:a16="http://schemas.microsoft.com/office/drawing/2014/main" id="{4368AC42-845D-4815-90F3-62FEC563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935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8" name="support-vector3">
            <a:extLst xmlns:a="http://schemas.openxmlformats.org/drawingml/2006/main">
              <a:ext uri="{FF2B5EF4-FFF2-40B4-BE49-F238E27FC236}">
                <a16:creationId xmlns:a16="http://schemas.microsoft.com/office/drawing/2014/main" id="{29AE9D02-1C65-4357-9A71-18DA69D3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903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9" name="support-vector4">
            <a:extLst xmlns:a="http://schemas.openxmlformats.org/drawingml/2006/main">
              <a:ext uri="{FF2B5EF4-FFF2-40B4-BE49-F238E27FC236}">
                <a16:creationId xmlns:a16="http://schemas.microsoft.com/office/drawing/2014/main" id="{614A9729-4709-46DB-9CF4-55E59790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0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0" name="support-vector5">
            <a:extLst xmlns:a="http://schemas.openxmlformats.org/drawingml/2006/main">
              <a:ext uri="{FF2B5EF4-FFF2-40B4-BE49-F238E27FC236}">
                <a16:creationId xmlns:a16="http://schemas.microsoft.com/office/drawing/2014/main" id="{3BCFDA5A-0BFB-44C8-8792-0E6FE908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838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1" name="support-vector6">
            <a:extLst xmlns:a="http://schemas.openxmlformats.org/drawingml/2006/main">
              <a:ext uri="{FF2B5EF4-FFF2-40B4-BE49-F238E27FC236}">
                <a16:creationId xmlns:a16="http://schemas.microsoft.com/office/drawing/2014/main" id="{6D8F5F4A-5E8C-4B91-AD2B-574BD78F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805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2" name="support-vector7">
            <a:extLst xmlns:a="http://schemas.openxmlformats.org/drawingml/2006/main">
              <a:ext uri="{FF2B5EF4-FFF2-40B4-BE49-F238E27FC236}">
                <a16:creationId xmlns:a16="http://schemas.microsoft.com/office/drawing/2014/main" id="{197478B4-DCA0-492E-A526-C275C472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773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3" name="support-vector8">
            <a:extLst xmlns:a="http://schemas.openxmlformats.org/drawingml/2006/main">
              <a:ext uri="{FF2B5EF4-FFF2-40B4-BE49-F238E27FC236}">
                <a16:creationId xmlns:a16="http://schemas.microsoft.com/office/drawing/2014/main" id="{4CD014F8-B33E-4B5C-82DE-CAD72538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740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4" name="support-vector9">
            <a:extLst xmlns:a="http://schemas.openxmlformats.org/drawingml/2006/main">
              <a:ext uri="{FF2B5EF4-FFF2-40B4-BE49-F238E27FC236}">
                <a16:creationId xmlns:a16="http://schemas.microsoft.com/office/drawing/2014/main" id="{5AA5216A-F992-412B-AAE4-57B5A4E8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3708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5" name="support-dim">
            <a:extLst xmlns:a="http://schemas.openxmlformats.org/drawingml/2006/main">
              <a:ext uri="{FF2B5EF4-FFF2-40B4-BE49-F238E27FC236}">
                <a16:creationId xmlns:a16="http://schemas.microsoft.com/office/drawing/2014/main" id="{4A046B25-90DB-40FD-955D-18FB45BC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81300"/>
            <a:ext cx="1438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1536-D</a:t>
            </a:r>
          </a:p>
        </p:txBody>
      </p:sp>
      <p:sp>
        <p:nvSpPr>
          <p:cNvPr id="46" name="normal-memory">
            <a:extLst xmlns:a="http://schemas.openxmlformats.org/drawingml/2006/main">
              <a:ext uri="{FF2B5EF4-FFF2-40B4-BE49-F238E27FC236}">
                <a16:creationId xmlns:a16="http://schemas.microsoft.com/office/drawing/2014/main" id="{460614ED-6700-4BAF-8925-716BC7E8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0"/>
            <a:ext cx="2286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memory-title">
            <a:extLst xmlns:a="http://schemas.openxmlformats.org/drawingml/2006/main">
              <a:ext uri="{FF2B5EF4-FFF2-40B4-BE49-F238E27FC236}">
                <a16:creationId xmlns:a16="http://schemas.microsoft.com/office/drawing/2014/main" id="{F5D330CA-15E9-455B-A04E-E7A05505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9621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Normal memory</a:t>
            </a:r>
          </a:p>
        </p:txBody>
      </p:sp>
      <p:sp>
        <p:nvSpPr>
          <p:cNvPr id="48" name="memory-row00">
            <a:extLst xmlns:a="http://schemas.openxmlformats.org/drawingml/2006/main">
              <a:ext uri="{FF2B5EF4-FFF2-40B4-BE49-F238E27FC236}">
                <a16:creationId xmlns:a16="http://schemas.microsoft.com/office/drawing/2014/main" id="{BC92340E-4080-42CE-91AE-E93E9DF2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9" name="memory-row01">
            <a:extLst xmlns:a="http://schemas.openxmlformats.org/drawingml/2006/main">
              <a:ext uri="{FF2B5EF4-FFF2-40B4-BE49-F238E27FC236}">
                <a16:creationId xmlns:a16="http://schemas.microsoft.com/office/drawing/2014/main" id="{78D21EAB-2247-4B03-B37B-E4AEF442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903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0" name="memory-row02">
            <a:extLst xmlns:a="http://schemas.openxmlformats.org/drawingml/2006/main">
              <a:ext uri="{FF2B5EF4-FFF2-40B4-BE49-F238E27FC236}">
                <a16:creationId xmlns:a16="http://schemas.microsoft.com/office/drawing/2014/main" id="{73BFED02-864D-4041-9FA9-EDFC36E5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05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1" name="memory-row03">
            <a:extLst xmlns:a="http://schemas.openxmlformats.org/drawingml/2006/main">
              <a:ext uri="{FF2B5EF4-FFF2-40B4-BE49-F238E27FC236}">
                <a16:creationId xmlns:a16="http://schemas.microsoft.com/office/drawing/2014/main" id="{143CCABE-D216-4A28-9965-CD0851B3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708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2" name="memory-row04">
            <a:extLst xmlns:a="http://schemas.openxmlformats.org/drawingml/2006/main">
              <a:ext uri="{FF2B5EF4-FFF2-40B4-BE49-F238E27FC236}">
                <a16:creationId xmlns:a16="http://schemas.microsoft.com/office/drawing/2014/main" id="{7E16D67F-FA51-4159-A417-FB9562F6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110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3" name="memory-row05">
            <a:extLst xmlns:a="http://schemas.openxmlformats.org/drawingml/2006/main">
              <a:ext uri="{FF2B5EF4-FFF2-40B4-BE49-F238E27FC236}">
                <a16:creationId xmlns:a16="http://schemas.microsoft.com/office/drawing/2014/main" id="{B45ED6B5-5A82-4BF0-B027-8EDF63F5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13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4" name="memory-row06">
            <a:extLst xmlns:a="http://schemas.openxmlformats.org/drawingml/2006/main">
              <a:ext uri="{FF2B5EF4-FFF2-40B4-BE49-F238E27FC236}">
                <a16:creationId xmlns:a16="http://schemas.microsoft.com/office/drawing/2014/main" id="{54907499-F69A-49EE-BDBB-567C8513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915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5" name="memory-row07">
            <a:extLst xmlns:a="http://schemas.openxmlformats.org/drawingml/2006/main">
              <a:ext uri="{FF2B5EF4-FFF2-40B4-BE49-F238E27FC236}">
                <a16:creationId xmlns:a16="http://schemas.microsoft.com/office/drawing/2014/main" id="{F8C13AC1-2CAF-4E24-B655-DF965F21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318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6" name="memory-row08">
            <a:extLst xmlns:a="http://schemas.openxmlformats.org/drawingml/2006/main">
              <a:ext uri="{FF2B5EF4-FFF2-40B4-BE49-F238E27FC236}">
                <a16:creationId xmlns:a16="http://schemas.microsoft.com/office/drawing/2014/main" id="{374CA483-5732-4C78-A12B-671C5DB1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9720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7" name="memory-row09">
            <a:extLst xmlns:a="http://schemas.openxmlformats.org/drawingml/2006/main">
              <a:ext uri="{FF2B5EF4-FFF2-40B4-BE49-F238E27FC236}">
                <a16:creationId xmlns:a16="http://schemas.microsoft.com/office/drawing/2014/main" id="{5BB9BD81-CA9C-4694-BAA0-2D410913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123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8" name="memory-row10">
            <a:extLst xmlns:a="http://schemas.openxmlformats.org/drawingml/2006/main">
              <a:ext uri="{FF2B5EF4-FFF2-40B4-BE49-F238E27FC236}">
                <a16:creationId xmlns:a16="http://schemas.microsoft.com/office/drawing/2014/main" id="{5F086AFD-048E-458D-AC39-BF9FDE52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9" name="memory-row11">
            <a:extLst xmlns:a="http://schemas.openxmlformats.org/drawingml/2006/main">
              <a:ext uri="{FF2B5EF4-FFF2-40B4-BE49-F238E27FC236}">
                <a16:creationId xmlns:a16="http://schemas.microsoft.com/office/drawing/2014/main" id="{E3688BC0-2F5A-4B42-BD9C-D7F8353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903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0" name="memory-row12">
            <a:extLst xmlns:a="http://schemas.openxmlformats.org/drawingml/2006/main">
              <a:ext uri="{FF2B5EF4-FFF2-40B4-BE49-F238E27FC236}">
                <a16:creationId xmlns:a16="http://schemas.microsoft.com/office/drawing/2014/main" id="{E149449C-3D54-4877-93E6-EA580FA1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05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1" name="memory-row13">
            <a:extLst xmlns:a="http://schemas.openxmlformats.org/drawingml/2006/main">
              <a:ext uri="{FF2B5EF4-FFF2-40B4-BE49-F238E27FC236}">
                <a16:creationId xmlns:a16="http://schemas.microsoft.com/office/drawing/2014/main" id="{FF569024-054F-4921-9AE8-DBA6BE50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708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2" name="memory-row14">
            <a:extLst xmlns:a="http://schemas.openxmlformats.org/drawingml/2006/main">
              <a:ext uri="{FF2B5EF4-FFF2-40B4-BE49-F238E27FC236}">
                <a16:creationId xmlns:a16="http://schemas.microsoft.com/office/drawing/2014/main" id="{CCE4267B-BDD2-49D8-A6D9-A7C464BA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110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3" name="memory-row15">
            <a:extLst xmlns:a="http://schemas.openxmlformats.org/drawingml/2006/main">
              <a:ext uri="{FF2B5EF4-FFF2-40B4-BE49-F238E27FC236}">
                <a16:creationId xmlns:a16="http://schemas.microsoft.com/office/drawing/2014/main" id="{FC7F6E75-F28E-4AFD-9C64-B8F9DB9D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13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4" name="memory-row16">
            <a:extLst xmlns:a="http://schemas.openxmlformats.org/drawingml/2006/main">
              <a:ext uri="{FF2B5EF4-FFF2-40B4-BE49-F238E27FC236}">
                <a16:creationId xmlns:a16="http://schemas.microsoft.com/office/drawing/2014/main" id="{0E31BF1B-D2E4-4DB6-A830-FE72110C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915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5" name="memory-row17">
            <a:extLst xmlns:a="http://schemas.openxmlformats.org/drawingml/2006/main">
              <a:ext uri="{FF2B5EF4-FFF2-40B4-BE49-F238E27FC236}">
                <a16:creationId xmlns:a16="http://schemas.microsoft.com/office/drawing/2014/main" id="{0E4D4FAF-6120-49F8-B083-AE80FD8B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318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6" name="memory-row18">
            <a:extLst xmlns:a="http://schemas.openxmlformats.org/drawingml/2006/main">
              <a:ext uri="{FF2B5EF4-FFF2-40B4-BE49-F238E27FC236}">
                <a16:creationId xmlns:a16="http://schemas.microsoft.com/office/drawing/2014/main" id="{C49EC58D-8999-4D84-9175-871A404F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9720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7" name="memory-row19">
            <a:extLst xmlns:a="http://schemas.openxmlformats.org/drawingml/2006/main">
              <a:ext uri="{FF2B5EF4-FFF2-40B4-BE49-F238E27FC236}">
                <a16:creationId xmlns:a16="http://schemas.microsoft.com/office/drawing/2014/main" id="{E22947A8-1E0F-47A2-A723-91885A57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123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8" name="memory-row20">
            <a:extLst xmlns:a="http://schemas.openxmlformats.org/drawingml/2006/main">
              <a:ext uri="{FF2B5EF4-FFF2-40B4-BE49-F238E27FC236}">
                <a16:creationId xmlns:a16="http://schemas.microsoft.com/office/drawing/2014/main" id="{396A8BE2-A305-4581-AAE1-0EC3C6F0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9" name="memory-row21">
            <a:extLst xmlns:a="http://schemas.openxmlformats.org/drawingml/2006/main">
              <a:ext uri="{FF2B5EF4-FFF2-40B4-BE49-F238E27FC236}">
                <a16:creationId xmlns:a16="http://schemas.microsoft.com/office/drawing/2014/main" id="{2B4C0C4E-0269-404F-B958-E7E75879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903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0" name="memory-row22">
            <a:extLst xmlns:a="http://schemas.openxmlformats.org/drawingml/2006/main">
              <a:ext uri="{FF2B5EF4-FFF2-40B4-BE49-F238E27FC236}">
                <a16:creationId xmlns:a16="http://schemas.microsoft.com/office/drawing/2014/main" id="{7C06EC23-D352-43AE-9B04-E5549BD7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05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1" name="memory-row23">
            <a:extLst xmlns:a="http://schemas.openxmlformats.org/drawingml/2006/main">
              <a:ext uri="{FF2B5EF4-FFF2-40B4-BE49-F238E27FC236}">
                <a16:creationId xmlns:a16="http://schemas.microsoft.com/office/drawing/2014/main" id="{545861FA-FB97-4479-BE92-BD5FEA3A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708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2" name="memory-row24">
            <a:extLst xmlns:a="http://schemas.openxmlformats.org/drawingml/2006/main">
              <a:ext uri="{FF2B5EF4-FFF2-40B4-BE49-F238E27FC236}">
                <a16:creationId xmlns:a16="http://schemas.microsoft.com/office/drawing/2014/main" id="{58D4DF42-977E-4297-A463-D9A20E98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110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3" name="memory-row25">
            <a:extLst xmlns:a="http://schemas.openxmlformats.org/drawingml/2006/main">
              <a:ext uri="{FF2B5EF4-FFF2-40B4-BE49-F238E27FC236}">
                <a16:creationId xmlns:a16="http://schemas.microsoft.com/office/drawing/2014/main" id="{6D95D56D-FA38-4024-8164-E9DB1938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13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4" name="memory-row26">
            <a:extLst xmlns:a="http://schemas.openxmlformats.org/drawingml/2006/main">
              <a:ext uri="{FF2B5EF4-FFF2-40B4-BE49-F238E27FC236}">
                <a16:creationId xmlns:a16="http://schemas.microsoft.com/office/drawing/2014/main" id="{CE6792A3-20EE-47AD-B8C8-6B431238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915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5" name="memory-row27">
            <a:extLst xmlns:a="http://schemas.openxmlformats.org/drawingml/2006/main">
              <a:ext uri="{FF2B5EF4-FFF2-40B4-BE49-F238E27FC236}">
                <a16:creationId xmlns:a16="http://schemas.microsoft.com/office/drawing/2014/main" id="{F0AD09F3-CA7E-4B0A-B8BC-5B0FD48B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318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6" name="memory-row28">
            <a:extLst xmlns:a="http://schemas.openxmlformats.org/drawingml/2006/main">
              <a:ext uri="{FF2B5EF4-FFF2-40B4-BE49-F238E27FC236}">
                <a16:creationId xmlns:a16="http://schemas.microsoft.com/office/drawing/2014/main" id="{432F7304-14BE-4C6F-8FFF-1FD7C7F3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9720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7" name="memory-row29">
            <a:extLst xmlns:a="http://schemas.openxmlformats.org/drawingml/2006/main">
              <a:ext uri="{FF2B5EF4-FFF2-40B4-BE49-F238E27FC236}">
                <a16:creationId xmlns:a16="http://schemas.microsoft.com/office/drawing/2014/main" id="{EC0472D1-475F-47F4-A198-86C889A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123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8" name="memory-symbol">
            <a:extLst xmlns:a="http://schemas.openxmlformats.org/drawingml/2006/main">
              <a:ext uri="{FF2B5EF4-FFF2-40B4-BE49-F238E27FC236}">
                <a16:creationId xmlns:a16="http://schemas.microsoft.com/office/drawing/2014/main" id="{98850F1A-7523-414E-A3D1-19F66CEB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371850"/>
            <a:ext cx="933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1">
                <a:latin typeface="Cambria Math"/>
                <a:ea typeface="Cambria Math"/>
                <a:cs typeface="Cambria Math"/>
              </a:rPr>
              <a:t>M</a:t>
            </a:r>
            <a:r>
              <a:rPr sz="1620" b="0" i="1" baseline="-25000">
                <a:latin typeface="Cambria Math"/>
                <a:ea typeface="Cambria Math"/>
                <a:cs typeface="Cambria Math"/>
              </a:rPr>
              <a:t>c</a:t>
            </a:r>
          </a:p>
        </p:txBody>
      </p:sp>
      <p:sp>
        <p:nvSpPr>
          <p:cNvPr id="79" name="all-patches">
            <a:extLst xmlns:a="http://schemas.openxmlformats.org/drawingml/2006/main">
              <a:ext uri="{FF2B5EF4-FFF2-40B4-BE49-F238E27FC236}">
                <a16:creationId xmlns:a16="http://schemas.microsoft.com/office/drawing/2014/main" id="{6DD76F8F-F1F4-4D49-A8BE-D2DA62D6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009775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All support patches</a:t>
            </a:r>
          </a:p>
          <a:p xmlns:a="http://schemas.openxmlformats.org/drawingml/2006/main">
            <a:pPr algn="l">
              <a:defRPr sz="20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Fixed after construction</a:t>
            </a:r>
          </a:p>
        </p:txBody>
      </p:sp>
      <p:sp>
        <p:nvSpPr>
          <p:cNvPr id="80" name="node0">
            <a:extLst xmlns:a="http://schemas.openxmlformats.org/drawingml/2006/main">
              <a:ext uri="{FF2B5EF4-FFF2-40B4-BE49-F238E27FC236}">
                <a16:creationId xmlns:a16="http://schemas.microsoft.com/office/drawing/2014/main" id="{65F9557B-8136-419A-973F-E5662059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8" y="2599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1" name="node1">
            <a:extLst xmlns:a="http://schemas.openxmlformats.org/drawingml/2006/main">
              <a:ext uri="{FF2B5EF4-FFF2-40B4-BE49-F238E27FC236}">
                <a16:creationId xmlns:a16="http://schemas.microsoft.com/office/drawing/2014/main" id="{76050B41-2DE6-40C2-9772-DAA639EE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473" y="2599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64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2058353" y="2600326"/>
            <a:ext cx="1981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3" name="node2">
            <a:extLst xmlns:a="http://schemas.openxmlformats.org/drawingml/2006/main">
              <a:ext uri="{FF2B5EF4-FFF2-40B4-BE49-F238E27FC236}">
                <a16:creationId xmlns:a16="http://schemas.microsoft.com/office/drawing/2014/main" id="{5440F5E9-0AD9-4814-AFDA-99551EE0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848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4" name="node3">
            <a:extLst xmlns:a="http://schemas.openxmlformats.org/drawingml/2006/main">
              <a:ext uri="{FF2B5EF4-FFF2-40B4-BE49-F238E27FC236}">
                <a16:creationId xmlns:a16="http://schemas.microsoft.com/office/drawing/2014/main" id="{945B8F61-55FF-44DA-98BF-B305E991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798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67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5258753" y="2505076"/>
            <a:ext cx="7410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6" name="node4">
            <a:extLst xmlns:a="http://schemas.openxmlformats.org/drawingml/2006/main">
              <a:ext uri="{FF2B5EF4-FFF2-40B4-BE49-F238E27FC236}">
                <a16:creationId xmlns:a16="http://schemas.microsoft.com/office/drawing/2014/main" id="{6AAF7CA3-7DDF-46BC-ACCF-4F1372CA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323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7" name="node5">
            <a:extLst xmlns:a="http://schemas.openxmlformats.org/drawingml/2006/main">
              <a:ext uri="{FF2B5EF4-FFF2-40B4-BE49-F238E27FC236}">
                <a16:creationId xmlns:a16="http://schemas.microsoft.com/office/drawing/2014/main" id="{BC40A3BA-E085-4FC2-9A51-A5E6AA8F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373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70" name="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9059228" y="2505076"/>
            <a:ext cx="3981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9" name="node6">
            <a:extLst xmlns:a="http://schemas.openxmlformats.org/drawingml/2006/main">
              <a:ext uri="{FF2B5EF4-FFF2-40B4-BE49-F238E27FC236}">
                <a16:creationId xmlns:a16="http://schemas.microsoft.com/office/drawing/2014/main" id="{1F370C64-3159-4036-8FCE-35548F6A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3723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0" name="node7">
            <a:extLst xmlns:a="http://schemas.openxmlformats.org/drawingml/2006/main">
              <a:ext uri="{FF2B5EF4-FFF2-40B4-BE49-F238E27FC236}">
                <a16:creationId xmlns:a16="http://schemas.microsoft.com/office/drawing/2014/main" id="{3BC86440-3953-4F6C-9210-2898F7C5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798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73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10735628" y="2505076"/>
            <a:ext cx="5981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92" name="node8">
            <a:extLst xmlns:a="http://schemas.openxmlformats.org/drawingml/2006/main">
              <a:ext uri="{FF2B5EF4-FFF2-40B4-BE49-F238E27FC236}">
                <a16:creationId xmlns:a16="http://schemas.microsoft.com/office/drawing/2014/main" id="{95950723-DD89-4D8F-9299-CE97E29E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798" y="3351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3" name="node9">
            <a:extLst xmlns:a="http://schemas.openxmlformats.org/drawingml/2006/main">
              <a:ext uri="{FF2B5EF4-FFF2-40B4-BE49-F238E27FC236}">
                <a16:creationId xmlns:a16="http://schemas.microsoft.com/office/drawing/2014/main" id="{16EE6AA3-8CD7-4B09-9774-AC85C4E0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798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76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12477751" y="3353753"/>
            <a:ext cx="0" cy="19411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4856C"/>
            </a:solidFill>
            <a:prstDash val="solid"/>
            <a:tailEnd type="triangle" w="med" len="med"/>
          </a:ln>
        </p:spPr>
      </p:cxnSp>
      <p:sp>
        <p:nvSpPr>
          <p:cNvPr id="95" name="read-memory">
            <a:extLst xmlns:a="http://schemas.openxmlformats.org/drawingml/2006/main">
              <a:ext uri="{FF2B5EF4-FFF2-40B4-BE49-F238E27FC236}">
                <a16:creationId xmlns:a16="http://schemas.microsoft.com/office/drawing/2014/main" id="{41D669D6-8764-4C0D-8163-B329D8CC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152900"/>
            <a:ext cx="1266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485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856C"/>
                </a:solidFill>
                <a:latin typeface="Arial"/>
                <a:ea typeface="Arial"/>
                <a:cs typeface="Arial"/>
              </a:rPr>
              <a:t>read only</a:t>
            </a:r>
          </a:p>
        </p:txBody>
      </p:sp>
      <p:sp>
        <p:nvSpPr>
          <p:cNvPr id="96" name="lane-divider">
            <a:extLst xmlns:a="http://schemas.openxmlformats.org/drawingml/2006/main">
              <a:ext uri="{FF2B5EF4-FFF2-40B4-BE49-F238E27FC236}">
                <a16:creationId xmlns:a16="http://schemas.microsoft.com/office/drawing/2014/main" id="{7CF3081C-BECF-4F4A-BAA0-E36AFF85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905250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97" name="query-heading">
            <a:extLst xmlns:a="http://schemas.openxmlformats.org/drawingml/2006/main">
              <a:ext uri="{FF2B5EF4-FFF2-40B4-BE49-F238E27FC236}">
                <a16:creationId xmlns:a16="http://schemas.microsoft.com/office/drawing/2014/main" id="{22A09D6B-C53A-40F9-AE26-91469C2F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290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(b) Localize anomalies in a query image</a:t>
            </a:r>
          </a:p>
        </p:txBody>
      </p:sp>
      <p:pic>
        <p:nvPicPr>
          <p:cNvPr id="380" name="Query MPDD metal_plate scratches 0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c8ff26792477e"/>
          <a:stretch xmlns:a="http://schemas.openxmlformats.org/drawingml/2006/main"/>
        </p:blipFill>
        <p:spPr>
          <a:xfrm xmlns:a="http://schemas.openxmlformats.org/drawingml/2006/main">
            <a:off x="381000" y="5381625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99" name="query-symbol">
            <a:extLst xmlns:a="http://schemas.openxmlformats.org/drawingml/2006/main">
              <a:ext uri="{FF2B5EF4-FFF2-40B4-BE49-F238E27FC236}">
                <a16:creationId xmlns:a16="http://schemas.microsoft.com/office/drawing/2014/main" id="{BCBE60E4-EDBF-47E6-A693-C56FAFE1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722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1"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100" name="node10">
            <a:extLst xmlns:a="http://schemas.openxmlformats.org/drawingml/2006/main">
              <a:ext uri="{FF2B5EF4-FFF2-40B4-BE49-F238E27FC236}">
                <a16:creationId xmlns:a16="http://schemas.microsoft.com/office/drawing/2014/main" id="{F06D3A74-0F07-40B5-8A4F-62B9AB72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8" y="604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01" name="node11">
            <a:extLst xmlns:a="http://schemas.openxmlformats.org/drawingml/2006/main">
              <a:ext uri="{FF2B5EF4-FFF2-40B4-BE49-F238E27FC236}">
                <a16:creationId xmlns:a16="http://schemas.microsoft.com/office/drawing/2014/main" id="{4CE24F53-1304-4868-940A-89EF7536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04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84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1734503" y="604837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03" name="node12">
            <a:extLst xmlns:a="http://schemas.openxmlformats.org/drawingml/2006/main">
              <a:ext uri="{FF2B5EF4-FFF2-40B4-BE49-F238E27FC236}">
                <a16:creationId xmlns:a16="http://schemas.microsoft.com/office/drawing/2014/main" id="{13B0558A-975E-44DC-B880-4D685008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04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04" name="node13">
            <a:extLst xmlns:a="http://schemas.openxmlformats.org/drawingml/2006/main">
              <a:ext uri="{FF2B5EF4-FFF2-40B4-BE49-F238E27FC236}">
                <a16:creationId xmlns:a16="http://schemas.microsoft.com/office/drawing/2014/main" id="{AA1160C9-C619-4EED-9B9E-110A2F1D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87" name=""/>
          <p:cNvCxnSpPr>
            <a:stCxn xmlns:a="http://schemas.openxmlformats.org/drawingml/2006/main" id="103" idx="0"/>
            <a:endCxn xmlns:a="http://schemas.openxmlformats.org/drawingml/2006/main" id="104" idx="2"/>
          </p:cNvCxnSpPr>
          <p:nvPr/>
        </p:nvCxnSpPr>
        <p:spPr>
          <a:xfrm xmlns:a="http://schemas.openxmlformats.org/drawingml/2006/main" flipV="1">
            <a:off x="2019301" y="5087303"/>
            <a:ext cx="0" cy="9601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06" name="node14">
            <a:extLst xmlns:a="http://schemas.openxmlformats.org/drawingml/2006/main">
              <a:ext uri="{FF2B5EF4-FFF2-40B4-BE49-F238E27FC236}">
                <a16:creationId xmlns:a16="http://schemas.microsoft.com/office/drawing/2014/main" id="{E195557B-AF6C-4031-BB42-F82E0217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07" name="node15">
            <a:extLst xmlns:a="http://schemas.openxmlformats.org/drawingml/2006/main">
              <a:ext uri="{FF2B5EF4-FFF2-40B4-BE49-F238E27FC236}">
                <a16:creationId xmlns:a16="http://schemas.microsoft.com/office/drawing/2014/main" id="{BFD3621E-6D56-44AA-ABF6-594468D7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90" name=""/>
          <p:cNvCxnSpPr>
            <a:stCxn xmlns:a="http://schemas.openxmlformats.org/drawingml/2006/main" id="106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>
            <a:off x="2020253" y="5086351"/>
            <a:ext cx="2457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09" name="node16">
            <a:extLst xmlns:a="http://schemas.openxmlformats.org/drawingml/2006/main">
              <a:ext uri="{FF2B5EF4-FFF2-40B4-BE49-F238E27FC236}">
                <a16:creationId xmlns:a16="http://schemas.microsoft.com/office/drawing/2014/main" id="{E652950A-4C28-458B-B58E-D4EF44BB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04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10" name="node17">
            <a:extLst xmlns:a="http://schemas.openxmlformats.org/drawingml/2006/main">
              <a:ext uri="{FF2B5EF4-FFF2-40B4-BE49-F238E27FC236}">
                <a16:creationId xmlns:a16="http://schemas.microsoft.com/office/drawing/2014/main" id="{504F124B-5606-4451-8EA6-CA58A8D4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93" name=""/>
          <p:cNvCxnSpPr>
            <a:stCxn xmlns:a="http://schemas.openxmlformats.org/drawingml/2006/main" id="109" idx="2"/>
            <a:endCxn xmlns:a="http://schemas.openxmlformats.org/drawingml/2006/main" id="110" idx="0"/>
          </p:cNvCxnSpPr>
          <p:nvPr/>
        </p:nvCxnSpPr>
        <p:spPr>
          <a:xfrm xmlns:a="http://schemas.openxmlformats.org/drawingml/2006/main">
            <a:off x="2019301" y="6049328"/>
            <a:ext cx="0" cy="82677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12" name="node18">
            <a:extLst xmlns:a="http://schemas.openxmlformats.org/drawingml/2006/main">
              <a:ext uri="{FF2B5EF4-FFF2-40B4-BE49-F238E27FC236}">
                <a16:creationId xmlns:a16="http://schemas.microsoft.com/office/drawing/2014/main" id="{0C85E722-EDF4-46B0-845D-E5D1229E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13" name="node19">
            <a:extLst xmlns:a="http://schemas.openxmlformats.org/drawingml/2006/main">
              <a:ext uri="{FF2B5EF4-FFF2-40B4-BE49-F238E27FC236}">
                <a16:creationId xmlns:a16="http://schemas.microsoft.com/office/drawing/2014/main" id="{D72403DB-FF3C-409B-B447-415E10FC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96" name=""/>
          <p:cNvCxnSpPr>
            <a:stCxn xmlns:a="http://schemas.openxmlformats.org/drawingml/2006/main" id="112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2020253" y="6877051"/>
            <a:ext cx="2457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15" name="query-dino">
            <a:extLst xmlns:a="http://schemas.openxmlformats.org/drawingml/2006/main">
              <a:ext uri="{FF2B5EF4-FFF2-40B4-BE49-F238E27FC236}">
                <a16:creationId xmlns:a16="http://schemas.microsoft.com/office/drawing/2014/main" id="{87485A29-388F-440D-B222-3ECC5835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57725"/>
            <a:ext cx="22860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DINOv2</a:t>
            </a:r>
          </a:p>
          <a:p xmlns:a="http://schemas.openxmlformats.org/drawingml/2006/main">
            <a:pPr algn="ctr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ViT-B/14</a:t>
            </a:r>
          </a:p>
        </p:txBody>
      </p:sp>
      <p:sp>
        <p:nvSpPr>
          <p:cNvPr id="116" name="dino-input">
            <a:extLst xmlns:a="http://schemas.openxmlformats.org/drawingml/2006/main">
              <a:ext uri="{FF2B5EF4-FFF2-40B4-BE49-F238E27FC236}">
                <a16:creationId xmlns:a16="http://schemas.microsoft.com/office/drawing/2014/main" id="{5F64E9CF-2577-47B0-BF85-46E9AF22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5245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Short side: 448</a:t>
            </a:r>
          </a:p>
        </p:txBody>
      </p:sp>
      <p:sp>
        <p:nvSpPr>
          <p:cNvPr id="117" name="query-clip">
            <a:extLst xmlns:a="http://schemas.openxmlformats.org/drawingml/2006/main">
              <a:ext uri="{FF2B5EF4-FFF2-40B4-BE49-F238E27FC236}">
                <a16:creationId xmlns:a16="http://schemas.microsoft.com/office/drawing/2014/main" id="{51A8B9A1-7B89-42C2-BF15-EB7E29FC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448425"/>
            <a:ext cx="22860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CLIP visual</a:t>
            </a:r>
          </a:p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ViT-L/14 + DPAM</a:t>
            </a:r>
          </a:p>
        </p:txBody>
      </p:sp>
      <p:sp>
        <p:nvSpPr>
          <p:cNvPr id="118" name="clip-input">
            <a:extLst xmlns:a="http://schemas.openxmlformats.org/drawingml/2006/main">
              <a:ext uri="{FF2B5EF4-FFF2-40B4-BE49-F238E27FC236}">
                <a16:creationId xmlns:a16="http://schemas.microsoft.com/office/drawing/2014/main" id="{F7969B06-13F5-43A7-B342-6F087B05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73628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Input: 518 × 518</a:t>
            </a:r>
          </a:p>
        </p:txBody>
      </p:sp>
      <p:sp>
        <p:nvSpPr>
          <p:cNvPr id="119" name="dino-features0-0">
            <a:extLst xmlns:a="http://schemas.openxmlformats.org/drawingml/2006/main">
              <a:ext uri="{FF2B5EF4-FFF2-40B4-BE49-F238E27FC236}">
                <a16:creationId xmlns:a16="http://schemas.microsoft.com/office/drawing/2014/main" id="{DE5770D1-E83E-4CED-BBAB-143BA4C4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0" name="dino-features0-1">
            <a:extLst xmlns:a="http://schemas.openxmlformats.org/drawingml/2006/main">
              <a:ext uri="{FF2B5EF4-FFF2-40B4-BE49-F238E27FC236}">
                <a16:creationId xmlns:a16="http://schemas.microsoft.com/office/drawing/2014/main" id="{F97CD930-0120-4636-8341-66EF93DC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1" name="dino-features0-2">
            <a:extLst xmlns:a="http://schemas.openxmlformats.org/drawingml/2006/main">
              <a:ext uri="{FF2B5EF4-FFF2-40B4-BE49-F238E27FC236}">
                <a16:creationId xmlns:a16="http://schemas.microsoft.com/office/drawing/2014/main" id="{EFBBF602-736B-4C8A-B653-62EE7529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2" name="dino-features0-3">
            <a:extLst xmlns:a="http://schemas.openxmlformats.org/drawingml/2006/main">
              <a:ext uri="{FF2B5EF4-FFF2-40B4-BE49-F238E27FC236}">
                <a16:creationId xmlns:a16="http://schemas.microsoft.com/office/drawing/2014/main" id="{F83F2276-C5D2-4C91-8825-01B141B0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3" name="dino-features0-4">
            <a:extLst xmlns:a="http://schemas.openxmlformats.org/drawingml/2006/main">
              <a:ext uri="{FF2B5EF4-FFF2-40B4-BE49-F238E27FC236}">
                <a16:creationId xmlns:a16="http://schemas.microsoft.com/office/drawing/2014/main" id="{8EF6A3B0-7860-4417-BD06-68A2F7EA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4" name="dino-features1-0">
            <a:extLst xmlns:a="http://schemas.openxmlformats.org/drawingml/2006/main">
              <a:ext uri="{FF2B5EF4-FFF2-40B4-BE49-F238E27FC236}">
                <a16:creationId xmlns:a16="http://schemas.microsoft.com/office/drawing/2014/main" id="{C73F0F53-1C1F-428D-A9F1-36C493DD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5" name="dino-features1-1">
            <a:extLst xmlns:a="http://schemas.openxmlformats.org/drawingml/2006/main">
              <a:ext uri="{FF2B5EF4-FFF2-40B4-BE49-F238E27FC236}">
                <a16:creationId xmlns:a16="http://schemas.microsoft.com/office/drawing/2014/main" id="{20236B0A-C53C-456E-BD68-A4A5DE0A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6" name="dino-features1-2">
            <a:extLst xmlns:a="http://schemas.openxmlformats.org/drawingml/2006/main">
              <a:ext uri="{FF2B5EF4-FFF2-40B4-BE49-F238E27FC236}">
                <a16:creationId xmlns:a16="http://schemas.microsoft.com/office/drawing/2014/main" id="{B9EE0105-376B-4E7D-A617-D1C653A7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C9C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7" name="dino-features1-3">
            <a:extLst xmlns:a="http://schemas.openxmlformats.org/drawingml/2006/main">
              <a:ext uri="{FF2B5EF4-FFF2-40B4-BE49-F238E27FC236}">
                <a16:creationId xmlns:a16="http://schemas.microsoft.com/office/drawing/2014/main" id="{5432E115-E97B-474D-8BD6-3E71262A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8" name="dino-features1-4">
            <a:extLst xmlns:a="http://schemas.openxmlformats.org/drawingml/2006/main">
              <a:ext uri="{FF2B5EF4-FFF2-40B4-BE49-F238E27FC236}">
                <a16:creationId xmlns:a16="http://schemas.microsoft.com/office/drawing/2014/main" id="{63BB3215-7AC8-42D4-9D40-0998E6AC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9" name="dino-features2-0">
            <a:extLst xmlns:a="http://schemas.openxmlformats.org/drawingml/2006/main">
              <a:ext uri="{FF2B5EF4-FFF2-40B4-BE49-F238E27FC236}">
                <a16:creationId xmlns:a16="http://schemas.microsoft.com/office/drawing/2014/main" id="{1A5B92F0-8101-4616-98A1-9608BE95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0" name="dino-features2-1">
            <a:extLst xmlns:a="http://schemas.openxmlformats.org/drawingml/2006/main">
              <a:ext uri="{FF2B5EF4-FFF2-40B4-BE49-F238E27FC236}">
                <a16:creationId xmlns:a16="http://schemas.microsoft.com/office/drawing/2014/main" id="{BBAD72D2-36B5-4D29-86E4-39CB639F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1" name="dino-features2-2">
            <a:extLst xmlns:a="http://schemas.openxmlformats.org/drawingml/2006/main">
              <a:ext uri="{FF2B5EF4-FFF2-40B4-BE49-F238E27FC236}">
                <a16:creationId xmlns:a16="http://schemas.microsoft.com/office/drawing/2014/main" id="{4CB85132-FC33-4A91-BF7A-DFEBA7B5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2" name="dino-features2-3">
            <a:extLst xmlns:a="http://schemas.openxmlformats.org/drawingml/2006/main">
              <a:ext uri="{FF2B5EF4-FFF2-40B4-BE49-F238E27FC236}">
                <a16:creationId xmlns:a16="http://schemas.microsoft.com/office/drawing/2014/main" id="{F1FCA3E7-90C4-4638-AC8A-D87193AC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3" name="dino-features2-4">
            <a:extLst xmlns:a="http://schemas.openxmlformats.org/drawingml/2006/main">
              <a:ext uri="{FF2B5EF4-FFF2-40B4-BE49-F238E27FC236}">
                <a16:creationId xmlns:a16="http://schemas.microsoft.com/office/drawing/2014/main" id="{649C60F1-D953-4CDF-A013-9E24BD35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4" name="dino-features3-0">
            <a:extLst xmlns:a="http://schemas.openxmlformats.org/drawingml/2006/main">
              <a:ext uri="{FF2B5EF4-FFF2-40B4-BE49-F238E27FC236}">
                <a16:creationId xmlns:a16="http://schemas.microsoft.com/office/drawing/2014/main" id="{CE87E450-B6FF-46EF-85E0-435801B0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5" name="dino-features3-1">
            <a:extLst xmlns:a="http://schemas.openxmlformats.org/drawingml/2006/main">
              <a:ext uri="{FF2B5EF4-FFF2-40B4-BE49-F238E27FC236}">
                <a16:creationId xmlns:a16="http://schemas.microsoft.com/office/drawing/2014/main" id="{AC92D92F-4FA1-444B-952B-128B871A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6" name="dino-features3-2">
            <a:extLst xmlns:a="http://schemas.openxmlformats.org/drawingml/2006/main">
              <a:ext uri="{FF2B5EF4-FFF2-40B4-BE49-F238E27FC236}">
                <a16:creationId xmlns:a16="http://schemas.microsoft.com/office/drawing/2014/main" id="{B22F152D-63E9-4A36-B863-34FB6693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7" name="dino-features3-3">
            <a:extLst xmlns:a="http://schemas.openxmlformats.org/drawingml/2006/main">
              <a:ext uri="{FF2B5EF4-FFF2-40B4-BE49-F238E27FC236}">
                <a16:creationId xmlns:a16="http://schemas.microsoft.com/office/drawing/2014/main" id="{AD065F81-2A35-404C-967F-F7B6F307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8" name="dino-features3-4">
            <a:extLst xmlns:a="http://schemas.openxmlformats.org/drawingml/2006/main">
              <a:ext uri="{FF2B5EF4-FFF2-40B4-BE49-F238E27FC236}">
                <a16:creationId xmlns:a16="http://schemas.microsoft.com/office/drawing/2014/main" id="{2F66D850-5F38-4675-89FF-EA3FDB50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9" name="clip-features0-0">
            <a:extLst xmlns:a="http://schemas.openxmlformats.org/drawingml/2006/main">
              <a:ext uri="{FF2B5EF4-FFF2-40B4-BE49-F238E27FC236}">
                <a16:creationId xmlns:a16="http://schemas.microsoft.com/office/drawing/2014/main" id="{A4DBD46D-86E1-4AF1-9ED0-AE302241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0" name="clip-features0-1">
            <a:extLst xmlns:a="http://schemas.openxmlformats.org/drawingml/2006/main">
              <a:ext uri="{FF2B5EF4-FFF2-40B4-BE49-F238E27FC236}">
                <a16:creationId xmlns:a16="http://schemas.microsoft.com/office/drawing/2014/main" id="{4DF44A49-A2D7-418A-9A25-065A7DB3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1" name="clip-features0-2">
            <a:extLst xmlns:a="http://schemas.openxmlformats.org/drawingml/2006/main">
              <a:ext uri="{FF2B5EF4-FFF2-40B4-BE49-F238E27FC236}">
                <a16:creationId xmlns:a16="http://schemas.microsoft.com/office/drawing/2014/main" id="{F230D28F-F1A8-4F02-8B21-D46450DC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2" name="clip-features0-3">
            <a:extLst xmlns:a="http://schemas.openxmlformats.org/drawingml/2006/main">
              <a:ext uri="{FF2B5EF4-FFF2-40B4-BE49-F238E27FC236}">
                <a16:creationId xmlns:a16="http://schemas.microsoft.com/office/drawing/2014/main" id="{DE34278A-030F-4022-8A84-20615650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3" name="clip-features0-4">
            <a:extLst xmlns:a="http://schemas.openxmlformats.org/drawingml/2006/main">
              <a:ext uri="{FF2B5EF4-FFF2-40B4-BE49-F238E27FC236}">
                <a16:creationId xmlns:a16="http://schemas.microsoft.com/office/drawing/2014/main" id="{50C75534-1A2F-4CA9-A074-F33F37D3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4" name="clip-features0-5">
            <a:extLst xmlns:a="http://schemas.openxmlformats.org/drawingml/2006/main">
              <a:ext uri="{FF2B5EF4-FFF2-40B4-BE49-F238E27FC236}">
                <a16:creationId xmlns:a16="http://schemas.microsoft.com/office/drawing/2014/main" id="{9AAE5668-4DF8-4B6C-A647-B5B1626A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5" name="clip-features1-0">
            <a:extLst xmlns:a="http://schemas.openxmlformats.org/drawingml/2006/main">
              <a:ext uri="{FF2B5EF4-FFF2-40B4-BE49-F238E27FC236}">
                <a16:creationId xmlns:a16="http://schemas.microsoft.com/office/drawing/2014/main" id="{CD051901-B05C-4E0C-854B-D027A8EA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6" name="clip-features1-1">
            <a:extLst xmlns:a="http://schemas.openxmlformats.org/drawingml/2006/main">
              <a:ext uri="{FF2B5EF4-FFF2-40B4-BE49-F238E27FC236}">
                <a16:creationId xmlns:a16="http://schemas.microsoft.com/office/drawing/2014/main" id="{0D39D87B-E228-453D-AB71-07E6A7B0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7" name="clip-features1-2">
            <a:extLst xmlns:a="http://schemas.openxmlformats.org/drawingml/2006/main">
              <a:ext uri="{FF2B5EF4-FFF2-40B4-BE49-F238E27FC236}">
                <a16:creationId xmlns:a16="http://schemas.microsoft.com/office/drawing/2014/main" id="{109EC757-980D-4F47-A7FD-32889AA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39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8" name="clip-features1-3">
            <a:extLst xmlns:a="http://schemas.openxmlformats.org/drawingml/2006/main">
              <a:ext uri="{FF2B5EF4-FFF2-40B4-BE49-F238E27FC236}">
                <a16:creationId xmlns:a16="http://schemas.microsoft.com/office/drawing/2014/main" id="{631A224F-16B2-4553-AC16-800A82E3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9" name="clip-features1-4">
            <a:extLst xmlns:a="http://schemas.openxmlformats.org/drawingml/2006/main">
              <a:ext uri="{FF2B5EF4-FFF2-40B4-BE49-F238E27FC236}">
                <a16:creationId xmlns:a16="http://schemas.microsoft.com/office/drawing/2014/main" id="{F77A59F6-77A3-4135-B28F-A385F0A5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0" name="clip-features1-5">
            <a:extLst xmlns:a="http://schemas.openxmlformats.org/drawingml/2006/main">
              <a:ext uri="{FF2B5EF4-FFF2-40B4-BE49-F238E27FC236}">
                <a16:creationId xmlns:a16="http://schemas.microsoft.com/office/drawing/2014/main" id="{3C781E05-39DA-4B03-AE1B-3B627D0F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1" name="clip-features2-0">
            <a:extLst xmlns:a="http://schemas.openxmlformats.org/drawingml/2006/main">
              <a:ext uri="{FF2B5EF4-FFF2-40B4-BE49-F238E27FC236}">
                <a16:creationId xmlns:a16="http://schemas.microsoft.com/office/drawing/2014/main" id="{5B0E281C-98C2-41E2-B8CC-A1BC76B6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2" name="clip-features2-1">
            <a:extLst xmlns:a="http://schemas.openxmlformats.org/drawingml/2006/main">
              <a:ext uri="{FF2B5EF4-FFF2-40B4-BE49-F238E27FC236}">
                <a16:creationId xmlns:a16="http://schemas.microsoft.com/office/drawing/2014/main" id="{EB076BBD-CFB6-4795-83FF-487FBCBF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3" name="clip-features2-2">
            <a:extLst xmlns:a="http://schemas.openxmlformats.org/drawingml/2006/main">
              <a:ext uri="{FF2B5EF4-FFF2-40B4-BE49-F238E27FC236}">
                <a16:creationId xmlns:a16="http://schemas.microsoft.com/office/drawing/2014/main" id="{80E50F20-B1FB-4C02-91EC-05D50E4E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4" name="clip-features2-3">
            <a:extLst xmlns:a="http://schemas.openxmlformats.org/drawingml/2006/main">
              <a:ext uri="{FF2B5EF4-FFF2-40B4-BE49-F238E27FC236}">
                <a16:creationId xmlns:a16="http://schemas.microsoft.com/office/drawing/2014/main" id="{0E9053DF-A535-4A0F-ADB4-A3C62D68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5" name="clip-features2-4">
            <a:extLst xmlns:a="http://schemas.openxmlformats.org/drawingml/2006/main">
              <a:ext uri="{FF2B5EF4-FFF2-40B4-BE49-F238E27FC236}">
                <a16:creationId xmlns:a16="http://schemas.microsoft.com/office/drawing/2014/main" id="{D8E50940-796D-46DA-A70A-C4DD0656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6" name="clip-features2-5">
            <a:extLst xmlns:a="http://schemas.openxmlformats.org/drawingml/2006/main">
              <a:ext uri="{FF2B5EF4-FFF2-40B4-BE49-F238E27FC236}">
                <a16:creationId xmlns:a16="http://schemas.microsoft.com/office/drawing/2014/main" id="{F2F07C1F-AC20-4232-ACD6-0CA917F2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7" name="clip-features3-0">
            <a:extLst xmlns:a="http://schemas.openxmlformats.org/drawingml/2006/main">
              <a:ext uri="{FF2B5EF4-FFF2-40B4-BE49-F238E27FC236}">
                <a16:creationId xmlns:a16="http://schemas.microsoft.com/office/drawing/2014/main" id="{51E960BB-8861-48F5-A8C8-73929230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8" name="clip-features3-1">
            <a:extLst xmlns:a="http://schemas.openxmlformats.org/drawingml/2006/main">
              <a:ext uri="{FF2B5EF4-FFF2-40B4-BE49-F238E27FC236}">
                <a16:creationId xmlns:a16="http://schemas.microsoft.com/office/drawing/2014/main" id="{9F4EBF1E-3EC5-41C4-8DE1-7771FE48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9" name="clip-features3-2">
            <a:extLst xmlns:a="http://schemas.openxmlformats.org/drawingml/2006/main">
              <a:ext uri="{FF2B5EF4-FFF2-40B4-BE49-F238E27FC236}">
                <a16:creationId xmlns:a16="http://schemas.microsoft.com/office/drawing/2014/main" id="{BC6C6AE1-BBD3-4DD7-AA5E-1F69DD19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0" name="clip-features3-3">
            <a:extLst xmlns:a="http://schemas.openxmlformats.org/drawingml/2006/main">
              <a:ext uri="{FF2B5EF4-FFF2-40B4-BE49-F238E27FC236}">
                <a16:creationId xmlns:a16="http://schemas.microsoft.com/office/drawing/2014/main" id="{C4F05193-106D-456D-AC29-01BFA51E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1" name="clip-features3-4">
            <a:extLst xmlns:a="http://schemas.openxmlformats.org/drawingml/2006/main">
              <a:ext uri="{FF2B5EF4-FFF2-40B4-BE49-F238E27FC236}">
                <a16:creationId xmlns:a16="http://schemas.microsoft.com/office/drawing/2014/main" id="{E1262701-F706-4586-B01C-AEA1D08E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2" name="clip-features3-5">
            <a:extLst xmlns:a="http://schemas.openxmlformats.org/drawingml/2006/main">
              <a:ext uri="{FF2B5EF4-FFF2-40B4-BE49-F238E27FC236}">
                <a16:creationId xmlns:a16="http://schemas.microsoft.com/office/drawing/2014/main" id="{BB25839C-E127-487D-909F-C124B814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3" name="clip-features4-0">
            <a:extLst xmlns:a="http://schemas.openxmlformats.org/drawingml/2006/main">
              <a:ext uri="{FF2B5EF4-FFF2-40B4-BE49-F238E27FC236}">
                <a16:creationId xmlns:a16="http://schemas.microsoft.com/office/drawing/2014/main" id="{18CB6917-941F-467A-8890-2084C367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4" name="clip-features4-1">
            <a:extLst xmlns:a="http://schemas.openxmlformats.org/drawingml/2006/main">
              <a:ext uri="{FF2B5EF4-FFF2-40B4-BE49-F238E27FC236}">
                <a16:creationId xmlns:a16="http://schemas.microsoft.com/office/drawing/2014/main" id="{DDDCAAF4-C705-4B77-8DA1-11A56ABA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5" name="clip-features4-2">
            <a:extLst xmlns:a="http://schemas.openxmlformats.org/drawingml/2006/main">
              <a:ext uri="{FF2B5EF4-FFF2-40B4-BE49-F238E27FC236}">
                <a16:creationId xmlns:a16="http://schemas.microsoft.com/office/drawing/2014/main" id="{2EA08557-61E2-498D-9C3A-BF72782C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6" name="clip-features4-3">
            <a:extLst xmlns:a="http://schemas.openxmlformats.org/drawingml/2006/main">
              <a:ext uri="{FF2B5EF4-FFF2-40B4-BE49-F238E27FC236}">
                <a16:creationId xmlns:a16="http://schemas.microsoft.com/office/drawing/2014/main" id="{7F1FB75D-F8E3-4B86-9073-398A3300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7" name="clip-features4-4">
            <a:extLst xmlns:a="http://schemas.openxmlformats.org/drawingml/2006/main">
              <a:ext uri="{FF2B5EF4-FFF2-40B4-BE49-F238E27FC236}">
                <a16:creationId xmlns:a16="http://schemas.microsoft.com/office/drawing/2014/main" id="{0D12429F-6375-4627-A375-DA18C14A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8" name="clip-features4-5">
            <a:extLst xmlns:a="http://schemas.openxmlformats.org/drawingml/2006/main">
              <a:ext uri="{FF2B5EF4-FFF2-40B4-BE49-F238E27FC236}">
                <a16:creationId xmlns:a16="http://schemas.microsoft.com/office/drawing/2014/main" id="{8A208F25-1B26-4800-9851-79044C1C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9" name="clip-features5-0">
            <a:extLst xmlns:a="http://schemas.openxmlformats.org/drawingml/2006/main">
              <a:ext uri="{FF2B5EF4-FFF2-40B4-BE49-F238E27FC236}">
                <a16:creationId xmlns:a16="http://schemas.microsoft.com/office/drawing/2014/main" id="{02891DF4-4BB8-4D79-87D8-C388E0D4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70" name="clip-features5-1">
            <a:extLst xmlns:a="http://schemas.openxmlformats.org/drawingml/2006/main">
              <a:ext uri="{FF2B5EF4-FFF2-40B4-BE49-F238E27FC236}">
                <a16:creationId xmlns:a16="http://schemas.microsoft.com/office/drawing/2014/main" id="{DAECA642-D6C9-44C2-AD3F-5256327F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71" name="clip-features5-2">
            <a:extLst xmlns:a="http://schemas.openxmlformats.org/drawingml/2006/main">
              <a:ext uri="{FF2B5EF4-FFF2-40B4-BE49-F238E27FC236}">
                <a16:creationId xmlns:a16="http://schemas.microsoft.com/office/drawing/2014/main" id="{88E50251-E26D-43FD-B9FF-55AEDE5F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72" name="clip-features5-3">
            <a:extLst xmlns:a="http://schemas.openxmlformats.org/drawingml/2006/main">
              <a:ext uri="{FF2B5EF4-FFF2-40B4-BE49-F238E27FC236}">
                <a16:creationId xmlns:a16="http://schemas.microsoft.com/office/drawing/2014/main" id="{8603DCD4-063E-45FA-A9E8-D23E8DAA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73" name="clip-features5-4">
            <a:extLst xmlns:a="http://schemas.openxmlformats.org/drawingml/2006/main">
              <a:ext uri="{FF2B5EF4-FFF2-40B4-BE49-F238E27FC236}">
                <a16:creationId xmlns:a16="http://schemas.microsoft.com/office/drawing/2014/main" id="{CAC52855-4278-4DBC-8DD1-C78D99B6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74" name="clip-features5-5">
            <a:extLst xmlns:a="http://schemas.openxmlformats.org/drawingml/2006/main">
              <a:ext uri="{FF2B5EF4-FFF2-40B4-BE49-F238E27FC236}">
                <a16:creationId xmlns:a16="http://schemas.microsoft.com/office/drawing/2014/main" id="{47A18996-4560-46D9-B944-D9E10FC9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75" name="node20">
            <a:extLst xmlns:a="http://schemas.openxmlformats.org/drawingml/2006/main">
              <a:ext uri="{FF2B5EF4-FFF2-40B4-BE49-F238E27FC236}">
                <a16:creationId xmlns:a16="http://schemas.microsoft.com/office/drawing/2014/main" id="{3D97CFC5-9239-449C-B6AE-9D91C8A5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99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6" name="node21">
            <a:extLst xmlns:a="http://schemas.openxmlformats.org/drawingml/2006/main">
              <a:ext uri="{FF2B5EF4-FFF2-40B4-BE49-F238E27FC236}">
                <a16:creationId xmlns:a16="http://schemas.microsoft.com/office/drawing/2014/main" id="{22317250-8E82-424D-89C1-4E75D64A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42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59" name=""/>
          <p:cNvCxnSpPr>
            <a:stCxn xmlns:a="http://schemas.openxmlformats.org/drawingml/2006/main" id="175" idx="3"/>
            <a:endCxn xmlns:a="http://schemas.openxmlformats.org/drawingml/2006/main" id="176" idx="1"/>
          </p:cNvCxnSpPr>
          <p:nvPr/>
        </p:nvCxnSpPr>
        <p:spPr>
          <a:xfrm xmlns:a="http://schemas.openxmlformats.org/drawingml/2006/main">
            <a:off x="4553903" y="5086351"/>
            <a:ext cx="3505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78" name="node22">
            <a:extLst xmlns:a="http://schemas.openxmlformats.org/drawingml/2006/main">
              <a:ext uri="{FF2B5EF4-FFF2-40B4-BE49-F238E27FC236}">
                <a16:creationId xmlns:a16="http://schemas.microsoft.com/office/drawing/2014/main" id="{FB451642-4AA8-40BC-BE0A-7AC8195C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99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9" name="node23">
            <a:extLst xmlns:a="http://schemas.openxmlformats.org/drawingml/2006/main">
              <a:ext uri="{FF2B5EF4-FFF2-40B4-BE49-F238E27FC236}">
                <a16:creationId xmlns:a16="http://schemas.microsoft.com/office/drawing/2014/main" id="{40C3582C-3C0D-493D-A033-09EE26B0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42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2" name=""/>
          <p:cNvCxnSpPr>
            <a:stCxn xmlns:a="http://schemas.openxmlformats.org/drawingml/2006/main" id="178" idx="3"/>
            <a:endCxn xmlns:a="http://schemas.openxmlformats.org/drawingml/2006/main" id="179" idx="1"/>
          </p:cNvCxnSpPr>
          <p:nvPr/>
        </p:nvCxnSpPr>
        <p:spPr>
          <a:xfrm xmlns:a="http://schemas.openxmlformats.org/drawingml/2006/main">
            <a:off x="4553903" y="6877051"/>
            <a:ext cx="3505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81" name="dino-dims">
            <a:extLst xmlns:a="http://schemas.openxmlformats.org/drawingml/2006/main">
              <a:ext uri="{FF2B5EF4-FFF2-40B4-BE49-F238E27FC236}">
                <a16:creationId xmlns:a16="http://schemas.microsoft.com/office/drawing/2014/main" id="{7B23F499-51DB-45F9-9278-B5E1ABF2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5782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1">
                <a:latin typeface="Cambria Math"/>
                <a:ea typeface="Cambria Math"/>
                <a:cs typeface="Cambria Math"/>
              </a:rPr>
              <a:t>h</a:t>
            </a:r>
            <a:r>
              <a:rPr sz="1458" b="0" i="0" baseline="-25000">
                <a:latin typeface="Cambria Math"/>
                <a:ea typeface="Cambria Math"/>
                <a:cs typeface="Cambria Math"/>
              </a:rPr>
              <a:t>D</a:t>
            </a:r>
            <a:r>
              <a:rPr sz="2025" b="0" i="0">
                <a:latin typeface="Cambria Math"/>
                <a:ea typeface="Cambria Math"/>
                <a:cs typeface="Cambria Math"/>
              </a:rPr>
              <a:t> × </a:t>
            </a:r>
            <a:r>
              <a:rPr sz="2025" b="0" i="1">
                <a:latin typeface="Cambria Math"/>
                <a:ea typeface="Cambria Math"/>
                <a:cs typeface="Cambria Math"/>
              </a:rPr>
              <a:t>w</a:t>
            </a:r>
            <a:r>
              <a:rPr sz="1458" b="0" i="0" baseline="-25000">
                <a:latin typeface="Cambria Math"/>
                <a:ea typeface="Cambria Math"/>
                <a:cs typeface="Cambria Math"/>
              </a:rPr>
              <a:t>D</a:t>
            </a:r>
          </a:p>
        </p:txBody>
      </p:sp>
      <p:sp>
        <p:nvSpPr>
          <p:cNvPr id="182" name="dino-channels">
            <a:extLst xmlns:a="http://schemas.openxmlformats.org/drawingml/2006/main">
              <a:ext uri="{FF2B5EF4-FFF2-40B4-BE49-F238E27FC236}">
                <a16:creationId xmlns:a16="http://schemas.microsoft.com/office/drawing/2014/main" id="{DF8BF2E3-FE5F-4637-882C-D8D3F314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19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</a:t>
            </a:r>
          </a:p>
        </p:txBody>
      </p:sp>
      <p:sp>
        <p:nvSpPr>
          <p:cNvPr id="183" name="clip-grid-dims">
            <a:extLst xmlns:a="http://schemas.openxmlformats.org/drawingml/2006/main">
              <a:ext uri="{FF2B5EF4-FFF2-40B4-BE49-F238E27FC236}">
                <a16:creationId xmlns:a16="http://schemas.microsoft.com/office/drawing/2014/main" id="{5075FDC9-04B4-4FDB-9581-3C512B26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7400925"/>
            <a:ext cx="1123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37 × 37</a:t>
            </a:r>
          </a:p>
        </p:txBody>
      </p:sp>
      <p:sp>
        <p:nvSpPr>
          <p:cNvPr id="184" name="clip-channels">
            <a:extLst xmlns:a="http://schemas.openxmlformats.org/drawingml/2006/main">
              <a:ext uri="{FF2B5EF4-FFF2-40B4-BE49-F238E27FC236}">
                <a16:creationId xmlns:a16="http://schemas.microsoft.com/office/drawing/2014/main" id="{DDB800C4-F15D-4E4C-B28D-00BC63B6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724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</a:t>
            </a:r>
          </a:p>
        </p:txBody>
      </p:sp>
      <p:sp>
        <p:nvSpPr>
          <p:cNvPr id="185" name="grid-align">
            <a:extLst xmlns:a="http://schemas.openxmlformats.org/drawingml/2006/main">
              <a:ext uri="{FF2B5EF4-FFF2-40B4-BE49-F238E27FC236}">
                <a16:creationId xmlns:a16="http://schemas.microsoft.com/office/drawing/2014/main" id="{6B9E192E-5D97-4034-A50A-A0F76730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410325"/>
            <a:ext cx="130492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Bilinear</a:t>
            </a:r>
          </a:p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grid alignment</a:t>
            </a:r>
          </a:p>
        </p:txBody>
      </p:sp>
      <p:sp>
        <p:nvSpPr>
          <p:cNvPr id="186" name="node24">
            <a:extLst xmlns:a="http://schemas.openxmlformats.org/drawingml/2006/main">
              <a:ext uri="{FF2B5EF4-FFF2-40B4-BE49-F238E27FC236}">
                <a16:creationId xmlns:a16="http://schemas.microsoft.com/office/drawing/2014/main" id="{9EBE2F1D-9387-4340-8C3C-20ADB9A1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7" name="node25">
            <a:extLst xmlns:a="http://schemas.openxmlformats.org/drawingml/2006/main">
              <a:ext uri="{FF2B5EF4-FFF2-40B4-BE49-F238E27FC236}">
                <a16:creationId xmlns:a16="http://schemas.microsoft.com/office/drawing/2014/main" id="{41DAC815-4878-4727-986E-59834CD3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34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70" name=""/>
          <p:cNvCxnSpPr>
            <a:stCxn xmlns:a="http://schemas.openxmlformats.org/drawingml/2006/main" id="186" idx="3"/>
            <a:endCxn xmlns:a="http://schemas.openxmlformats.org/drawingml/2006/main" id="187" idx="1"/>
          </p:cNvCxnSpPr>
          <p:nvPr/>
        </p:nvCxnSpPr>
        <p:spPr>
          <a:xfrm xmlns:a="http://schemas.openxmlformats.org/drawingml/2006/main">
            <a:off x="5801678" y="68770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89" name="node26">
            <a:extLst xmlns:a="http://schemas.openxmlformats.org/drawingml/2006/main">
              <a:ext uri="{FF2B5EF4-FFF2-40B4-BE49-F238E27FC236}">
                <a16:creationId xmlns:a16="http://schemas.microsoft.com/office/drawing/2014/main" id="{D691D763-0624-45AD-9437-BBB49B36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0" name="node27">
            <a:extLst xmlns:a="http://schemas.openxmlformats.org/drawingml/2006/main">
              <a:ext uri="{FF2B5EF4-FFF2-40B4-BE49-F238E27FC236}">
                <a16:creationId xmlns:a16="http://schemas.microsoft.com/office/drawing/2014/main" id="{BBC8A296-4731-4EA2-A9F1-AC84FFBB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02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73" name=""/>
          <p:cNvCxnSpPr>
            <a:stCxn xmlns:a="http://schemas.openxmlformats.org/drawingml/2006/main" id="189" idx="3"/>
            <a:endCxn xmlns:a="http://schemas.openxmlformats.org/drawingml/2006/main" id="190" idx="1"/>
          </p:cNvCxnSpPr>
          <p:nvPr/>
        </p:nvCxnSpPr>
        <p:spPr>
          <a:xfrm xmlns:a="http://schemas.openxmlformats.org/drawingml/2006/main">
            <a:off x="5801678" y="5086351"/>
            <a:ext cx="1998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92" name="node28">
            <a:extLst xmlns:a="http://schemas.openxmlformats.org/drawingml/2006/main">
              <a:ext uri="{FF2B5EF4-FFF2-40B4-BE49-F238E27FC236}">
                <a16:creationId xmlns:a16="http://schemas.microsoft.com/office/drawing/2014/main" id="{07FF6859-1C9C-4CB2-B806-1E821E5C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17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3" name="node29">
            <a:extLst xmlns:a="http://schemas.openxmlformats.org/drawingml/2006/main">
              <a:ext uri="{FF2B5EF4-FFF2-40B4-BE49-F238E27FC236}">
                <a16:creationId xmlns:a16="http://schemas.microsoft.com/office/drawing/2014/main" id="{82E5CBCC-AF08-4A6E-919F-C4AB786E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173" y="6399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76" name=""/>
          <p:cNvCxnSpPr>
            <a:stCxn xmlns:a="http://schemas.openxmlformats.org/drawingml/2006/main" id="192" idx="2"/>
            <a:endCxn xmlns:a="http://schemas.openxmlformats.org/drawingml/2006/main" id="193" idx="0"/>
          </p:cNvCxnSpPr>
          <p:nvPr/>
        </p:nvCxnSpPr>
        <p:spPr>
          <a:xfrm xmlns:a="http://schemas.openxmlformats.org/drawingml/2006/main">
            <a:off x="6715126" y="5087303"/>
            <a:ext cx="0" cy="131254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86B77"/>
            </a:solidFill>
            <a:prstDash val="dash"/>
            <a:tailEnd type="triangle" w="med" len="med"/>
          </a:ln>
        </p:spPr>
      </p:cxnSp>
      <p:sp>
        <p:nvSpPr>
          <p:cNvPr id="195" name="target-grid">
            <a:extLst xmlns:a="http://schemas.openxmlformats.org/drawingml/2006/main">
              <a:ext uri="{FF2B5EF4-FFF2-40B4-BE49-F238E27FC236}">
                <a16:creationId xmlns:a16="http://schemas.microsoft.com/office/drawing/2014/main" id="{27BC55F0-619B-44A7-A0EE-20AF670E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657850"/>
            <a:ext cx="146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target grid</a:t>
            </a:r>
          </a:p>
        </p:txBody>
      </p:sp>
      <p:sp>
        <p:nvSpPr>
          <p:cNvPr id="196" name="branch-norm-d">
            <a:extLst xmlns:a="http://schemas.openxmlformats.org/drawingml/2006/main">
              <a:ext uri="{FF2B5EF4-FFF2-40B4-BE49-F238E27FC236}">
                <a16:creationId xmlns:a16="http://schemas.microsoft.com/office/drawing/2014/main" id="{2C27636D-2DA6-47D4-A213-81E482F9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791075"/>
            <a:ext cx="9810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latin typeface="Cambria Math"/>
                <a:ea typeface="Cambria Math"/>
                <a:cs typeface="Cambria Math"/>
              </a:rPr>
              <a:t>ℓ</a:t>
            </a:r>
            <a:r>
              <a:rPr sz="1404" b="0" i="0" baseline="-25000">
                <a:latin typeface="Cambria Math"/>
                <a:ea typeface="Cambria Math"/>
                <a:cs typeface="Cambria Math"/>
              </a:rPr>
              <a:t>2</a:t>
            </a:r>
            <a:r>
              <a:rPr sz="1950" b="0" i="0">
                <a:latin typeface="Arial"/>
                <a:ea typeface="Arial"/>
                <a:cs typeface="Arial"/>
              </a:rPr>
              <a:t> norm</a:t>
            </a:r>
          </a:p>
        </p:txBody>
      </p:sp>
      <p:sp>
        <p:nvSpPr>
          <p:cNvPr id="197" name="branch-norm-c">
            <a:extLst xmlns:a="http://schemas.openxmlformats.org/drawingml/2006/main">
              <a:ext uri="{FF2B5EF4-FFF2-40B4-BE49-F238E27FC236}">
                <a16:creationId xmlns:a16="http://schemas.microsoft.com/office/drawing/2014/main" id="{EF937ABE-F6D2-41E8-B37E-898CFA27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6581775"/>
            <a:ext cx="9810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latin typeface="Cambria Math"/>
                <a:ea typeface="Cambria Math"/>
                <a:cs typeface="Cambria Math"/>
              </a:rPr>
              <a:t>ℓ</a:t>
            </a:r>
            <a:r>
              <a:rPr sz="1404" b="0" i="0" baseline="-25000">
                <a:latin typeface="Cambria Math"/>
                <a:ea typeface="Cambria Math"/>
                <a:cs typeface="Cambria Math"/>
              </a:rPr>
              <a:t>2</a:t>
            </a:r>
            <a:r>
              <a:rPr sz="1950" b="0" i="0">
                <a:latin typeface="Arial"/>
                <a:ea typeface="Arial"/>
                <a:cs typeface="Arial"/>
              </a:rPr>
              <a:t> norm</a:t>
            </a:r>
          </a:p>
        </p:txBody>
      </p:sp>
      <p:sp>
        <p:nvSpPr>
          <p:cNvPr id="198" name="node30">
            <a:extLst xmlns:a="http://schemas.openxmlformats.org/drawingml/2006/main">
              <a:ext uri="{FF2B5EF4-FFF2-40B4-BE49-F238E27FC236}">
                <a16:creationId xmlns:a16="http://schemas.microsoft.com/office/drawing/2014/main" id="{55186AF8-1208-4983-A7BA-264138A1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27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9" name="node31">
            <a:extLst xmlns:a="http://schemas.openxmlformats.org/drawingml/2006/main">
              <a:ext uri="{FF2B5EF4-FFF2-40B4-BE49-F238E27FC236}">
                <a16:creationId xmlns:a16="http://schemas.microsoft.com/office/drawing/2014/main" id="{0F2E345C-0F6A-4081-810A-FB5C79F1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02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82" name=""/>
          <p:cNvCxnSpPr>
            <a:stCxn xmlns:a="http://schemas.openxmlformats.org/drawingml/2006/main" id="198" idx="3"/>
            <a:endCxn xmlns:a="http://schemas.openxmlformats.org/drawingml/2006/main" id="199" idx="1"/>
          </p:cNvCxnSpPr>
          <p:nvPr/>
        </p:nvCxnSpPr>
        <p:spPr>
          <a:xfrm xmlns:a="http://schemas.openxmlformats.org/drawingml/2006/main">
            <a:off x="7516178" y="687705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01" name="norm-label">
            <a:extLst xmlns:a="http://schemas.openxmlformats.org/drawingml/2006/main">
              <a:ext uri="{FF2B5EF4-FFF2-40B4-BE49-F238E27FC236}">
                <a16:creationId xmlns:a16="http://schemas.microsoft.com/office/drawing/2014/main" id="{865B7233-3EB1-4859-A118-4A725040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333875"/>
            <a:ext cx="1362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Per patch</a:t>
            </a:r>
          </a:p>
        </p:txBody>
      </p:sp>
      <p:sp>
        <p:nvSpPr>
          <p:cNvPr id="202" name="joint-fusion">
            <a:extLst xmlns:a="http://schemas.openxmlformats.org/drawingml/2006/main">
              <a:ext uri="{FF2B5EF4-FFF2-40B4-BE49-F238E27FC236}">
                <a16:creationId xmlns:a16="http://schemas.microsoft.com/office/drawing/2014/main" id="{726F1BA9-D6DA-4736-B160-EBDFDAE8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867275"/>
            <a:ext cx="1657350" cy="2314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3" name="concat-title">
            <a:extLst xmlns:a="http://schemas.openxmlformats.org/drawingml/2006/main">
              <a:ext uri="{FF2B5EF4-FFF2-40B4-BE49-F238E27FC236}">
                <a16:creationId xmlns:a16="http://schemas.microsoft.com/office/drawing/2014/main" id="{51494223-E0FD-41A5-BC72-14683B18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943475"/>
            <a:ext cx="154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Concat</a:t>
            </a:r>
          </a:p>
        </p:txBody>
      </p:sp>
      <p:sp>
        <p:nvSpPr>
          <p:cNvPr id="204" name="unit-dino0">
            <a:extLst xmlns:a="http://schemas.openxmlformats.org/drawingml/2006/main">
              <a:ext uri="{FF2B5EF4-FFF2-40B4-BE49-F238E27FC236}">
                <a16:creationId xmlns:a16="http://schemas.microsoft.com/office/drawing/2014/main" id="{23325BAE-BD19-4C32-8CDE-562C1A31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5" name="unit-dino1">
            <a:extLst xmlns:a="http://schemas.openxmlformats.org/drawingml/2006/main">
              <a:ext uri="{FF2B5EF4-FFF2-40B4-BE49-F238E27FC236}">
                <a16:creationId xmlns:a16="http://schemas.microsoft.com/office/drawing/2014/main" id="{AB30B974-D3CB-4B61-93BD-ED728D60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26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6" name="unit-dino2">
            <a:extLst xmlns:a="http://schemas.openxmlformats.org/drawingml/2006/main">
              <a:ext uri="{FF2B5EF4-FFF2-40B4-BE49-F238E27FC236}">
                <a16:creationId xmlns:a16="http://schemas.microsoft.com/office/drawing/2014/main" id="{7D44179C-CE42-4905-9BA5-A5EB3293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72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7" name="unit-dino3">
            <a:extLst xmlns:a="http://schemas.openxmlformats.org/drawingml/2006/main">
              <a:ext uri="{FF2B5EF4-FFF2-40B4-BE49-F238E27FC236}">
                <a16:creationId xmlns:a16="http://schemas.microsoft.com/office/drawing/2014/main" id="{D800F250-D8ED-42BC-A59B-6C138270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18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8" name="unit-dino4">
            <a:extLst xmlns:a="http://schemas.openxmlformats.org/drawingml/2006/main">
              <a:ext uri="{FF2B5EF4-FFF2-40B4-BE49-F238E27FC236}">
                <a16:creationId xmlns:a16="http://schemas.microsoft.com/office/drawing/2014/main" id="{12BB4B86-CA24-472C-8DB0-2A6954A4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9" name="unit-clip0">
            <a:extLst xmlns:a="http://schemas.openxmlformats.org/drawingml/2006/main">
              <a:ext uri="{FF2B5EF4-FFF2-40B4-BE49-F238E27FC236}">
                <a16:creationId xmlns:a16="http://schemas.microsoft.com/office/drawing/2014/main" id="{42B02A68-92A3-4F5F-BF81-4D860435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10" name="unit-clip1">
            <a:extLst xmlns:a="http://schemas.openxmlformats.org/drawingml/2006/main">
              <a:ext uri="{FF2B5EF4-FFF2-40B4-BE49-F238E27FC236}">
                <a16:creationId xmlns:a16="http://schemas.microsoft.com/office/drawing/2014/main" id="{A248E4DD-6E25-4453-AAE2-D1DC65D9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26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11" name="unit-clip2">
            <a:extLst xmlns:a="http://schemas.openxmlformats.org/drawingml/2006/main">
              <a:ext uri="{FF2B5EF4-FFF2-40B4-BE49-F238E27FC236}">
                <a16:creationId xmlns:a16="http://schemas.microsoft.com/office/drawing/2014/main" id="{25D3A65A-25FA-419D-A1A5-96A47240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72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12" name="unit-clip3">
            <a:extLst xmlns:a="http://schemas.openxmlformats.org/drawingml/2006/main">
              <a:ext uri="{FF2B5EF4-FFF2-40B4-BE49-F238E27FC236}">
                <a16:creationId xmlns:a16="http://schemas.microsoft.com/office/drawing/2014/main" id="{58A85645-56D5-4A6B-8BD4-80951295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18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13" name="unit-clip4">
            <a:extLst xmlns:a="http://schemas.openxmlformats.org/drawingml/2006/main">
              <a:ext uri="{FF2B5EF4-FFF2-40B4-BE49-F238E27FC236}">
                <a16:creationId xmlns:a16="http://schemas.microsoft.com/office/drawing/2014/main" id="{33586E52-0A81-4426-9C11-8215BA78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14" name="equal-weights">
            <a:extLst xmlns:a="http://schemas.openxmlformats.org/drawingml/2006/main">
              <a:ext uri="{FF2B5EF4-FFF2-40B4-BE49-F238E27FC236}">
                <a16:creationId xmlns:a16="http://schemas.microsoft.com/office/drawing/2014/main" id="{3C0F5E8C-0A5B-4BB0-B60C-4305CA8A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6143625"/>
            <a:ext cx="1276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0.5 / 0.5</a:t>
            </a:r>
          </a:p>
        </p:txBody>
      </p:sp>
      <p:sp>
        <p:nvSpPr>
          <p:cNvPr id="215" name="joint-norm">
            <a:extLst xmlns:a="http://schemas.openxmlformats.org/drawingml/2006/main">
              <a:ext uri="{FF2B5EF4-FFF2-40B4-BE49-F238E27FC236}">
                <a16:creationId xmlns:a16="http://schemas.microsoft.com/office/drawing/2014/main" id="{FD1FE1C6-3D21-491A-BA55-31B2E889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686550"/>
            <a:ext cx="154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latin typeface="Arial"/>
                <a:ea typeface="Arial"/>
                <a:cs typeface="Arial"/>
              </a:rPr>
              <a:t>Joint </a:t>
            </a:r>
            <a:r>
              <a:rPr sz="1875" b="0" i="1">
                <a:latin typeface="Cambria Math"/>
                <a:ea typeface="Cambria Math"/>
                <a:cs typeface="Cambria Math"/>
              </a:rPr>
              <a:t>ℓ</a:t>
            </a:r>
            <a:r>
              <a:rPr sz="1350" b="0" i="0" baseline="-25000">
                <a:latin typeface="Cambria Math"/>
                <a:ea typeface="Cambria Math"/>
                <a:cs typeface="Cambria Math"/>
              </a:rPr>
              <a:t>2</a:t>
            </a:r>
            <a:r>
              <a:rPr sz="1875" b="1" i="0">
                <a:latin typeface="Arial"/>
                <a:ea typeface="Arial"/>
                <a:cs typeface="Arial"/>
              </a:rPr>
              <a:t> norm</a:t>
            </a:r>
          </a:p>
        </p:txBody>
      </p:sp>
      <p:sp>
        <p:nvSpPr>
          <p:cNvPr id="216" name="node32">
            <a:extLst xmlns:a="http://schemas.openxmlformats.org/drawingml/2006/main">
              <a:ext uri="{FF2B5EF4-FFF2-40B4-BE49-F238E27FC236}">
                <a16:creationId xmlns:a16="http://schemas.microsoft.com/office/drawing/2014/main" id="{04EE5535-9AEC-4573-8B98-1AD6715A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17" name="node33">
            <a:extLst xmlns:a="http://schemas.openxmlformats.org/drawingml/2006/main">
              <a:ext uri="{FF2B5EF4-FFF2-40B4-BE49-F238E27FC236}">
                <a16:creationId xmlns:a16="http://schemas.microsoft.com/office/drawing/2014/main" id="{E01BA03F-A623-4B5B-BA17-89CDE350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00" name=""/>
          <p:cNvCxnSpPr>
            <a:stCxn xmlns:a="http://schemas.openxmlformats.org/drawingml/2006/main" id="216" idx="3"/>
            <a:endCxn xmlns:a="http://schemas.openxmlformats.org/drawingml/2006/main" id="217" idx="1"/>
          </p:cNvCxnSpPr>
          <p:nvPr/>
        </p:nvCxnSpPr>
        <p:spPr>
          <a:xfrm xmlns:a="http://schemas.openxmlformats.org/drawingml/2006/main">
            <a:off x="8783003" y="5086351"/>
            <a:ext cx="2362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19" name="node34">
            <a:extLst xmlns:a="http://schemas.openxmlformats.org/drawingml/2006/main">
              <a:ext uri="{FF2B5EF4-FFF2-40B4-BE49-F238E27FC236}">
                <a16:creationId xmlns:a16="http://schemas.microsoft.com/office/drawing/2014/main" id="{A06D2E7B-F46F-478B-9574-0FF19853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0" name="node35">
            <a:extLst xmlns:a="http://schemas.openxmlformats.org/drawingml/2006/main">
              <a:ext uri="{FF2B5EF4-FFF2-40B4-BE49-F238E27FC236}">
                <a16:creationId xmlns:a16="http://schemas.microsoft.com/office/drawing/2014/main" id="{1B73C435-8586-4A3E-84CD-D7FCD5F0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580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03" name=""/>
          <p:cNvCxnSpPr>
            <a:stCxn xmlns:a="http://schemas.openxmlformats.org/drawingml/2006/main" id="219" idx="2"/>
            <a:endCxn xmlns:a="http://schemas.openxmlformats.org/drawingml/2006/main" id="220" idx="0"/>
          </p:cNvCxnSpPr>
          <p:nvPr/>
        </p:nvCxnSpPr>
        <p:spPr>
          <a:xfrm xmlns:a="http://schemas.openxmlformats.org/drawingml/2006/main">
            <a:off x="9020176" y="5087303"/>
            <a:ext cx="0" cy="4933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22" name="node36">
            <a:extLst xmlns:a="http://schemas.openxmlformats.org/drawingml/2006/main">
              <a:ext uri="{FF2B5EF4-FFF2-40B4-BE49-F238E27FC236}">
                <a16:creationId xmlns:a16="http://schemas.microsoft.com/office/drawing/2014/main" id="{68F17B27-F5F3-4166-870A-3833136F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580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3" name="node37">
            <a:extLst xmlns:a="http://schemas.openxmlformats.org/drawingml/2006/main">
              <a:ext uri="{FF2B5EF4-FFF2-40B4-BE49-F238E27FC236}">
                <a16:creationId xmlns:a16="http://schemas.microsoft.com/office/drawing/2014/main" id="{9AC43A6E-233B-4BAE-AD46-FAC4BA61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798" y="5580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06" name=""/>
          <p:cNvCxnSpPr>
            <a:stCxn xmlns:a="http://schemas.openxmlformats.org/drawingml/2006/main" id="222" idx="3"/>
            <a:endCxn xmlns:a="http://schemas.openxmlformats.org/drawingml/2006/main" id="223" idx="1"/>
          </p:cNvCxnSpPr>
          <p:nvPr/>
        </p:nvCxnSpPr>
        <p:spPr>
          <a:xfrm xmlns:a="http://schemas.openxmlformats.org/drawingml/2006/main">
            <a:off x="9021128" y="55816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25" name="node38">
            <a:extLst xmlns:a="http://schemas.openxmlformats.org/drawingml/2006/main">
              <a:ext uri="{FF2B5EF4-FFF2-40B4-BE49-F238E27FC236}">
                <a16:creationId xmlns:a16="http://schemas.microsoft.com/office/drawing/2014/main" id="{05448A7B-727F-4001-8B5C-2D2F0B5C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6" name="node39">
            <a:extLst xmlns:a="http://schemas.openxmlformats.org/drawingml/2006/main">
              <a:ext uri="{FF2B5EF4-FFF2-40B4-BE49-F238E27FC236}">
                <a16:creationId xmlns:a16="http://schemas.microsoft.com/office/drawing/2014/main" id="{A1A3C8C4-ECB9-4BAB-AC7B-CD02BEEB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09" name=""/>
          <p:cNvCxnSpPr>
            <a:stCxn xmlns:a="http://schemas.openxmlformats.org/drawingml/2006/main" id="225" idx="3"/>
            <a:endCxn xmlns:a="http://schemas.openxmlformats.org/drawingml/2006/main" id="226" idx="1"/>
          </p:cNvCxnSpPr>
          <p:nvPr/>
        </p:nvCxnSpPr>
        <p:spPr>
          <a:xfrm xmlns:a="http://schemas.openxmlformats.org/drawingml/2006/main">
            <a:off x="8783003" y="6877051"/>
            <a:ext cx="2362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28" name="node40">
            <a:extLst xmlns:a="http://schemas.openxmlformats.org/drawingml/2006/main">
              <a:ext uri="{FF2B5EF4-FFF2-40B4-BE49-F238E27FC236}">
                <a16:creationId xmlns:a16="http://schemas.microsoft.com/office/drawing/2014/main" id="{F4F84B87-B880-4BA7-BFFE-4BC0AF5A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9" name="node41">
            <a:extLst xmlns:a="http://schemas.openxmlformats.org/drawingml/2006/main">
              <a:ext uri="{FF2B5EF4-FFF2-40B4-BE49-F238E27FC236}">
                <a16:creationId xmlns:a16="http://schemas.microsoft.com/office/drawing/2014/main" id="{45D94E6F-0C21-451A-BF42-96998EAD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12" name=""/>
          <p:cNvCxnSpPr>
            <a:stCxn xmlns:a="http://schemas.openxmlformats.org/drawingml/2006/main" id="228" idx="0"/>
            <a:endCxn xmlns:a="http://schemas.openxmlformats.org/drawingml/2006/main" id="229" idx="2"/>
          </p:cNvCxnSpPr>
          <p:nvPr/>
        </p:nvCxnSpPr>
        <p:spPr>
          <a:xfrm xmlns:a="http://schemas.openxmlformats.org/drawingml/2006/main" flipV="1">
            <a:off x="9020176" y="5963603"/>
            <a:ext cx="0" cy="9124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31" name="node42">
            <a:extLst xmlns:a="http://schemas.openxmlformats.org/drawingml/2006/main">
              <a:ext uri="{FF2B5EF4-FFF2-40B4-BE49-F238E27FC236}">
                <a16:creationId xmlns:a16="http://schemas.microsoft.com/office/drawing/2014/main" id="{2F72ECEC-701C-4F5C-8433-A171BC92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32" name="node43">
            <a:extLst xmlns:a="http://schemas.openxmlformats.org/drawingml/2006/main">
              <a:ext uri="{FF2B5EF4-FFF2-40B4-BE49-F238E27FC236}">
                <a16:creationId xmlns:a16="http://schemas.microsoft.com/office/drawing/2014/main" id="{9DB1C666-65B0-4C1F-83B4-D0E8877A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798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15" name=""/>
          <p:cNvCxnSpPr>
            <a:stCxn xmlns:a="http://schemas.openxmlformats.org/drawingml/2006/main" id="231" idx="3"/>
            <a:endCxn xmlns:a="http://schemas.openxmlformats.org/drawingml/2006/main" id="232" idx="1"/>
          </p:cNvCxnSpPr>
          <p:nvPr/>
        </p:nvCxnSpPr>
        <p:spPr>
          <a:xfrm xmlns:a="http://schemas.openxmlformats.org/drawingml/2006/main">
            <a:off x="9021128" y="59626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34" name="node44">
            <a:extLst xmlns:a="http://schemas.openxmlformats.org/drawingml/2006/main">
              <a:ext uri="{FF2B5EF4-FFF2-40B4-BE49-F238E27FC236}">
                <a16:creationId xmlns:a16="http://schemas.microsoft.com/office/drawing/2014/main" id="{41D30197-9E17-464E-8748-6799241D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98" y="6476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35" name="node45">
            <a:extLst xmlns:a="http://schemas.openxmlformats.org/drawingml/2006/main">
              <a:ext uri="{FF2B5EF4-FFF2-40B4-BE49-F238E27FC236}">
                <a16:creationId xmlns:a16="http://schemas.microsoft.com/office/drawing/2014/main" id="{899E76F6-DC5C-497F-A3BA-EA6159FC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98" y="6666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18" name=""/>
          <p:cNvCxnSpPr>
            <a:stCxn xmlns:a="http://schemas.openxmlformats.org/drawingml/2006/main" id="234" idx="2"/>
            <a:endCxn xmlns:a="http://schemas.openxmlformats.org/drawingml/2006/main" id="235" idx="0"/>
          </p:cNvCxnSpPr>
          <p:nvPr/>
        </p:nvCxnSpPr>
        <p:spPr>
          <a:xfrm xmlns:a="http://schemas.openxmlformats.org/drawingml/2006/main">
            <a:off x="10077451" y="6477953"/>
            <a:ext cx="0" cy="1885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871A5"/>
            </a:solidFill>
            <a:prstDash val="solid"/>
            <a:tailEnd type="triangle" w="med" len="med"/>
          </a:ln>
        </p:spPr>
      </p:cxnSp>
      <p:sp>
        <p:nvSpPr>
          <p:cNvPr id="237" name="query-fused-vector0">
            <a:extLst xmlns:a="http://schemas.openxmlformats.org/drawingml/2006/main">
              <a:ext uri="{FF2B5EF4-FFF2-40B4-BE49-F238E27FC236}">
                <a16:creationId xmlns:a16="http://schemas.microsoft.com/office/drawing/2014/main" id="{7B67BA13-F261-4652-AD67-BD598F13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8" name="query-fused-vector1">
            <a:extLst xmlns:a="http://schemas.openxmlformats.org/drawingml/2006/main">
              <a:ext uri="{FF2B5EF4-FFF2-40B4-BE49-F238E27FC236}">
                <a16:creationId xmlns:a16="http://schemas.microsoft.com/office/drawing/2014/main" id="{9775B0A9-9003-4E60-BDA6-4BBDD7CB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9" name="query-fused-vector2">
            <a:extLst xmlns:a="http://schemas.openxmlformats.org/drawingml/2006/main">
              <a:ext uri="{FF2B5EF4-FFF2-40B4-BE49-F238E27FC236}">
                <a16:creationId xmlns:a16="http://schemas.microsoft.com/office/drawing/2014/main" id="{247002C9-69F1-4879-9116-634E058B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40" name="query-fused-vector3">
            <a:extLst xmlns:a="http://schemas.openxmlformats.org/drawingml/2006/main">
              <a:ext uri="{FF2B5EF4-FFF2-40B4-BE49-F238E27FC236}">
                <a16:creationId xmlns:a16="http://schemas.microsoft.com/office/drawing/2014/main" id="{445F12FE-9AC4-48B7-A2A3-6BE6A962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41" name="query-fused-vector4">
            <a:extLst xmlns:a="http://schemas.openxmlformats.org/drawingml/2006/main">
              <a:ext uri="{FF2B5EF4-FFF2-40B4-BE49-F238E27FC236}">
                <a16:creationId xmlns:a16="http://schemas.microsoft.com/office/drawing/2014/main" id="{8E78C84D-117C-426F-A410-931D67A3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42" name="query-fused-vector5">
            <a:extLst xmlns:a="http://schemas.openxmlformats.org/drawingml/2006/main">
              <a:ext uri="{FF2B5EF4-FFF2-40B4-BE49-F238E27FC236}">
                <a16:creationId xmlns:a16="http://schemas.microsoft.com/office/drawing/2014/main" id="{0D6E3BB5-AE91-4959-950A-B8E4C1DD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688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3" name="query-fused-vector6">
            <a:extLst xmlns:a="http://schemas.openxmlformats.org/drawingml/2006/main">
              <a:ext uri="{FF2B5EF4-FFF2-40B4-BE49-F238E27FC236}">
                <a16:creationId xmlns:a16="http://schemas.microsoft.com/office/drawing/2014/main" id="{FF759141-D43A-459A-BEE4-178B8DFC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4" name="query-fused-vector7">
            <a:extLst xmlns:a="http://schemas.openxmlformats.org/drawingml/2006/main">
              <a:ext uri="{FF2B5EF4-FFF2-40B4-BE49-F238E27FC236}">
                <a16:creationId xmlns:a16="http://schemas.microsoft.com/office/drawing/2014/main" id="{6454C165-F373-4DC0-9E79-F64BD6C1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863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5" name="query-fused-vector8">
            <a:extLst xmlns:a="http://schemas.openxmlformats.org/drawingml/2006/main">
              <a:ext uri="{FF2B5EF4-FFF2-40B4-BE49-F238E27FC236}">
                <a16:creationId xmlns:a16="http://schemas.microsoft.com/office/drawing/2014/main" id="{CC7C3A2B-160A-4A1C-BB78-632FF469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6" name="query-fused-vector9">
            <a:extLst xmlns:a="http://schemas.openxmlformats.org/drawingml/2006/main">
              <a:ext uri="{FF2B5EF4-FFF2-40B4-BE49-F238E27FC236}">
                <a16:creationId xmlns:a16="http://schemas.microsoft.com/office/drawing/2014/main" id="{267DCBE9-15C1-48AF-B8BF-5F684297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7038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7" name="node46">
            <a:extLst xmlns:a="http://schemas.openxmlformats.org/drawingml/2006/main">
              <a:ext uri="{FF2B5EF4-FFF2-40B4-BE49-F238E27FC236}">
                <a16:creationId xmlns:a16="http://schemas.microsoft.com/office/drawing/2014/main" id="{4340D48A-5E35-4312-92F9-EA65B9C9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98" y="7180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48" name="node47">
            <a:extLst xmlns:a="http://schemas.openxmlformats.org/drawingml/2006/main">
              <a:ext uri="{FF2B5EF4-FFF2-40B4-BE49-F238E27FC236}">
                <a16:creationId xmlns:a16="http://schemas.microsoft.com/office/drawing/2014/main" id="{8C762564-8CB4-4E20-B288-1CFC87E5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98" y="7457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31" name=""/>
          <p:cNvCxnSpPr>
            <a:stCxn xmlns:a="http://schemas.openxmlformats.org/drawingml/2006/main" id="247" idx="2"/>
            <a:endCxn xmlns:a="http://schemas.openxmlformats.org/drawingml/2006/main" id="248" idx="0"/>
          </p:cNvCxnSpPr>
          <p:nvPr/>
        </p:nvCxnSpPr>
        <p:spPr>
          <a:xfrm xmlns:a="http://schemas.openxmlformats.org/drawingml/2006/main">
            <a:off x="10077451" y="7182803"/>
            <a:ext cx="0" cy="2743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871A5"/>
            </a:solidFill>
            <a:prstDash val="solid"/>
            <a:tailEnd type="triangle" w="med" len="med"/>
          </a:ln>
        </p:spPr>
      </p:cxnSp>
      <p:sp>
        <p:nvSpPr>
          <p:cNvPr id="250" name="fused-symbol">
            <a:extLst xmlns:a="http://schemas.openxmlformats.org/drawingml/2006/main">
              <a:ext uri="{FF2B5EF4-FFF2-40B4-BE49-F238E27FC236}">
                <a16:creationId xmlns:a16="http://schemas.microsoft.com/office/drawing/2014/main" id="{88140877-1955-4270-8B17-F4BD9752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7858125"/>
            <a:ext cx="1971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1">
                <a:latin typeface="Cambria Math"/>
                <a:ea typeface="Cambria Math"/>
                <a:cs typeface="Cambria Math"/>
              </a:rPr>
              <a:t>f</a:t>
            </a:r>
            <a:r>
              <a:rPr sz="1458" b="0" i="0" baseline="-25000">
                <a:latin typeface="Cambria Math"/>
                <a:ea typeface="Cambria Math"/>
                <a:cs typeface="Cambria Math"/>
              </a:rPr>
              <a:t>A</a:t>
            </a:r>
            <a:r>
              <a:rPr sz="1458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458" b="0" i="1" baseline="-25000">
                <a:latin typeface="Cambria Math"/>
                <a:ea typeface="Cambria Math"/>
                <a:cs typeface="Cambria Math"/>
              </a:rPr>
              <a:t>p</a:t>
            </a:r>
            <a:r>
              <a:rPr sz="2025" b="0" i="0">
                <a:latin typeface="Cambria Math"/>
                <a:ea typeface="Cambria Math"/>
                <a:cs typeface="Cambria Math"/>
              </a:rPr>
              <a:t> ∈ ℝ</a:t>
            </a:r>
            <a:r>
              <a:rPr sz="1458" b="0" i="0" baseline="30000">
                <a:latin typeface="Cambria Math"/>
                <a:ea typeface="Cambria Math"/>
                <a:cs typeface="Cambria Math"/>
              </a:rPr>
              <a:t>1536</a:t>
            </a:r>
          </a:p>
        </p:txBody>
      </p:sp>
      <p:sp>
        <p:nvSpPr>
          <p:cNvPr id="251" name="exact-search">
            <a:extLst xmlns:a="http://schemas.openxmlformats.org/drawingml/2006/main">
              <a:ext uri="{FF2B5EF4-FFF2-40B4-BE49-F238E27FC236}">
                <a16:creationId xmlns:a16="http://schemas.microsoft.com/office/drawing/2014/main" id="{052D1F88-A558-4164-A6F8-B7E4EED2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295900"/>
            <a:ext cx="165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Exact 1-NN</a:t>
            </a:r>
          </a:p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Fused space</a:t>
            </a:r>
          </a:p>
        </p:txBody>
      </p:sp>
      <p:sp>
        <p:nvSpPr>
          <p:cNvPr id="252" name="node48">
            <a:extLst xmlns:a="http://schemas.openxmlformats.org/drawingml/2006/main">
              <a:ext uri="{FF2B5EF4-FFF2-40B4-BE49-F238E27FC236}">
                <a16:creationId xmlns:a16="http://schemas.microsoft.com/office/drawing/2014/main" id="{0B355C33-F54A-411C-ACE7-E46A07F1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673" y="7619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53" name="node49">
            <a:extLst xmlns:a="http://schemas.openxmlformats.org/drawingml/2006/main">
              <a:ext uri="{FF2B5EF4-FFF2-40B4-BE49-F238E27FC236}">
                <a16:creationId xmlns:a16="http://schemas.microsoft.com/office/drawing/2014/main" id="{D73D2F37-3938-453C-B627-C3CF7556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23" y="7619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36" name=""/>
          <p:cNvCxnSpPr>
            <a:stCxn xmlns:a="http://schemas.openxmlformats.org/drawingml/2006/main" id="252" idx="3"/>
            <a:endCxn xmlns:a="http://schemas.openxmlformats.org/drawingml/2006/main" id="253" idx="1"/>
          </p:cNvCxnSpPr>
          <p:nvPr/>
        </p:nvCxnSpPr>
        <p:spPr>
          <a:xfrm xmlns:a="http://schemas.openxmlformats.org/drawingml/2006/main">
            <a:off x="10716578" y="7620001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55" name="node50">
            <a:extLst xmlns:a="http://schemas.openxmlformats.org/drawingml/2006/main">
              <a:ext uri="{FF2B5EF4-FFF2-40B4-BE49-F238E27FC236}">
                <a16:creationId xmlns:a16="http://schemas.microsoft.com/office/drawing/2014/main" id="{6A7E5ADC-AF97-444A-B443-9B8C0363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23" y="7619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56" name="node51">
            <a:extLst xmlns:a="http://schemas.openxmlformats.org/drawingml/2006/main">
              <a:ext uri="{FF2B5EF4-FFF2-40B4-BE49-F238E27FC236}">
                <a16:creationId xmlns:a16="http://schemas.microsoft.com/office/drawing/2014/main" id="{808D960A-8C10-494B-A414-48598E30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23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39" name=""/>
          <p:cNvCxnSpPr>
            <a:stCxn xmlns:a="http://schemas.openxmlformats.org/drawingml/2006/main" id="255" idx="0"/>
            <a:endCxn xmlns:a="http://schemas.openxmlformats.org/drawingml/2006/main" id="256" idx="2"/>
          </p:cNvCxnSpPr>
          <p:nvPr/>
        </p:nvCxnSpPr>
        <p:spPr>
          <a:xfrm xmlns:a="http://schemas.openxmlformats.org/drawingml/2006/main" flipV="1">
            <a:off x="11191876" y="5925503"/>
            <a:ext cx="0" cy="169354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58" name="node52">
            <a:extLst xmlns:a="http://schemas.openxmlformats.org/drawingml/2006/main">
              <a:ext uri="{FF2B5EF4-FFF2-40B4-BE49-F238E27FC236}">
                <a16:creationId xmlns:a16="http://schemas.microsoft.com/office/drawing/2014/main" id="{D117A629-CBDA-4F61-89E1-2CCB9DAC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23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59" name="node53">
            <a:extLst xmlns:a="http://schemas.openxmlformats.org/drawingml/2006/main">
              <a:ext uri="{FF2B5EF4-FFF2-40B4-BE49-F238E27FC236}">
                <a16:creationId xmlns:a16="http://schemas.microsoft.com/office/drawing/2014/main" id="{561647FF-D404-4D13-9342-6E76BE03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29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42" name=""/>
          <p:cNvCxnSpPr>
            <a:stCxn xmlns:a="http://schemas.openxmlformats.org/drawingml/2006/main" id="258" idx="3"/>
            <a:endCxn xmlns:a="http://schemas.openxmlformats.org/drawingml/2006/main" id="259" idx="1"/>
          </p:cNvCxnSpPr>
          <p:nvPr/>
        </p:nvCxnSpPr>
        <p:spPr>
          <a:xfrm xmlns:a="http://schemas.openxmlformats.org/drawingml/2006/main">
            <a:off x="11192828" y="5924551"/>
            <a:ext cx="3314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61" name="patch-score">
            <a:extLst xmlns:a="http://schemas.openxmlformats.org/drawingml/2006/main">
              <a:ext uri="{FF2B5EF4-FFF2-40B4-BE49-F238E27FC236}">
                <a16:creationId xmlns:a16="http://schemas.microsoft.com/office/drawing/2014/main" id="{31CA855D-1726-472A-AD86-3EA2F60B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81775"/>
            <a:ext cx="157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1">
                <a:latin typeface="Cambria Math"/>
                <a:ea typeface="Cambria Math"/>
                <a:cs typeface="Cambria Math"/>
              </a:rPr>
              <a:t>a</a:t>
            </a:r>
            <a:r>
              <a:rPr sz="1566" b="0" i="1" baseline="-25000">
                <a:latin typeface="Cambria Math"/>
                <a:ea typeface="Cambria Math"/>
                <a:cs typeface="Cambria Math"/>
              </a:rPr>
              <a:t>p</a:t>
            </a:r>
            <a:r>
              <a:rPr sz="2175" b="0" i="0">
                <a:latin typeface="Cambria Math"/>
                <a:ea typeface="Cambria Math"/>
                <a:cs typeface="Cambria Math"/>
              </a:rPr>
              <a:t>(</a:t>
            </a:r>
            <a:r>
              <a:rPr sz="2175" b="1" i="1">
                <a:latin typeface="Cambria Math"/>
                <a:ea typeface="Cambria Math"/>
                <a:cs typeface="Cambria Math"/>
              </a:rPr>
              <a:t>x</a:t>
            </a:r>
            <a:r>
              <a:rPr sz="2175" b="0" i="0"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262" name="node54">
            <a:extLst xmlns:a="http://schemas.openxmlformats.org/drawingml/2006/main">
              <a:ext uri="{FF2B5EF4-FFF2-40B4-BE49-F238E27FC236}">
                <a16:creationId xmlns:a16="http://schemas.microsoft.com/office/drawing/2014/main" id="{05C6E9F9-C6B6-42AB-9C93-64924AE7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164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63" name="node55">
            <a:extLst xmlns:a="http://schemas.openxmlformats.org/drawingml/2006/main">
              <a:ext uri="{FF2B5EF4-FFF2-40B4-BE49-F238E27FC236}">
                <a16:creationId xmlns:a16="http://schemas.microsoft.com/office/drawing/2014/main" id="{826DB3C8-095D-4538-83BB-4CF52F40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24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46" name=""/>
          <p:cNvCxnSpPr>
            <a:stCxn xmlns:a="http://schemas.openxmlformats.org/drawingml/2006/main" id="262" idx="3"/>
            <a:endCxn xmlns:a="http://schemas.openxmlformats.org/drawingml/2006/main" id="263" idx="1"/>
          </p:cNvCxnSpPr>
          <p:nvPr/>
        </p:nvCxnSpPr>
        <p:spPr>
          <a:xfrm xmlns:a="http://schemas.openxmlformats.org/drawingml/2006/main">
            <a:off x="13183553" y="5924551"/>
            <a:ext cx="2266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65" name="node56">
            <a:extLst xmlns:a="http://schemas.openxmlformats.org/drawingml/2006/main">
              <a:ext uri="{FF2B5EF4-FFF2-40B4-BE49-F238E27FC236}">
                <a16:creationId xmlns:a16="http://schemas.microsoft.com/office/drawing/2014/main" id="{39EE87CB-EE84-4272-8857-E1AA10C8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24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66" name="node57">
            <a:extLst xmlns:a="http://schemas.openxmlformats.org/drawingml/2006/main">
              <a:ext uri="{FF2B5EF4-FFF2-40B4-BE49-F238E27FC236}">
                <a16:creationId xmlns:a16="http://schemas.microsoft.com/office/drawing/2014/main" id="{FB6F2EC3-CD84-45A7-A1B4-4FF41639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248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49" name=""/>
          <p:cNvCxnSpPr>
            <a:stCxn xmlns:a="http://schemas.openxmlformats.org/drawingml/2006/main" id="265" idx="0"/>
            <a:endCxn xmlns:a="http://schemas.openxmlformats.org/drawingml/2006/main" id="266" idx="2"/>
          </p:cNvCxnSpPr>
          <p:nvPr/>
        </p:nvCxnSpPr>
        <p:spPr>
          <a:xfrm xmlns:a="http://schemas.openxmlformats.org/drawingml/2006/main" flipV="1">
            <a:off x="13411201" y="4934903"/>
            <a:ext cx="0" cy="9886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68" name="node58">
            <a:extLst xmlns:a="http://schemas.openxmlformats.org/drawingml/2006/main">
              <a:ext uri="{FF2B5EF4-FFF2-40B4-BE49-F238E27FC236}">
                <a16:creationId xmlns:a16="http://schemas.microsoft.com/office/drawing/2014/main" id="{8414B5F3-6EDD-4A9F-BD3B-CC717836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248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69" name="node59">
            <a:extLst xmlns:a="http://schemas.openxmlformats.org/drawingml/2006/main">
              <a:ext uri="{FF2B5EF4-FFF2-40B4-BE49-F238E27FC236}">
                <a16:creationId xmlns:a16="http://schemas.microsoft.com/office/drawing/2014/main" id="{178F4FBD-2982-46DD-9B8B-2D616D91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773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52" name=""/>
          <p:cNvCxnSpPr>
            <a:stCxn xmlns:a="http://schemas.openxmlformats.org/drawingml/2006/main" id="268" idx="3"/>
            <a:endCxn xmlns:a="http://schemas.openxmlformats.org/drawingml/2006/main" id="269" idx="1"/>
          </p:cNvCxnSpPr>
          <p:nvPr/>
        </p:nvCxnSpPr>
        <p:spPr>
          <a:xfrm xmlns:a="http://schemas.openxmlformats.org/drawingml/2006/main">
            <a:off x="13412153" y="4933951"/>
            <a:ext cx="11506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71" name="node60">
            <a:extLst xmlns:a="http://schemas.openxmlformats.org/drawingml/2006/main">
              <a:ext uri="{FF2B5EF4-FFF2-40B4-BE49-F238E27FC236}">
                <a16:creationId xmlns:a16="http://schemas.microsoft.com/office/drawing/2014/main" id="{867E8277-BCEF-4CC7-B203-8090F2FC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773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72" name="node61">
            <a:extLst xmlns:a="http://schemas.openxmlformats.org/drawingml/2006/main">
              <a:ext uri="{FF2B5EF4-FFF2-40B4-BE49-F238E27FC236}">
                <a16:creationId xmlns:a16="http://schemas.microsoft.com/office/drawing/2014/main" id="{FED90B87-35D7-483A-88C7-80C93DD7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773" y="5237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55" name=""/>
          <p:cNvCxnSpPr>
            <a:stCxn xmlns:a="http://schemas.openxmlformats.org/drawingml/2006/main" id="271" idx="2"/>
            <a:endCxn xmlns:a="http://schemas.openxmlformats.org/drawingml/2006/main" id="272" idx="0"/>
          </p:cNvCxnSpPr>
          <p:nvPr/>
        </p:nvCxnSpPr>
        <p:spPr>
          <a:xfrm xmlns:a="http://schemas.openxmlformats.org/drawingml/2006/main">
            <a:off x="14563726" y="4934903"/>
            <a:ext cx="0" cy="3028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74" name="post-label">
            <a:extLst xmlns:a="http://schemas.openxmlformats.org/drawingml/2006/main">
              <a:ext uri="{FF2B5EF4-FFF2-40B4-BE49-F238E27FC236}">
                <a16:creationId xmlns:a16="http://schemas.microsoft.com/office/drawing/2014/main" id="{982C071C-F45E-42A8-963A-D6094128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4048125"/>
            <a:ext cx="22002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latin typeface="Arial"/>
                <a:ea typeface="Arial"/>
                <a:cs typeface="Arial"/>
              </a:rPr>
              <a:t>Resize + Gaussian
</a:t>
            </a:r>
            <a:r>
              <a:rPr sz="1725" b="0" i="1">
                <a:latin typeface="Cambria Math"/>
                <a:ea typeface="Cambria Math"/>
                <a:cs typeface="Cambria Math"/>
              </a:rPr>
              <a:t>σ</a:t>
            </a:r>
            <a:r>
              <a:rPr sz="1725" b="0" i="0">
                <a:latin typeface="Cambria Math"/>
                <a:ea typeface="Cambria Math"/>
                <a:cs typeface="Cambria Math"/>
              </a:rPr>
              <a:t> = 4</a:t>
            </a:r>
            <a:r>
              <a:rPr sz="1725" b="0" i="0">
                <a:latin typeface="Arial"/>
                <a:ea typeface="Arial"/>
                <a:cs typeface="Arial"/>
              </a:rPr>
              <a:t>
Threshold + contour</a:t>
            </a:r>
          </a:p>
        </p:txBody>
      </p:sp>
      <p:pic>
        <p:nvPicPr>
          <p:cNvPr id="557" name="DCFnet output original quer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8067841574933"/>
          <a:stretch xmlns:a="http://schemas.openxmlformats.org/drawingml/2006/main"/>
        </p:blipFill>
        <p:spPr>
          <a:xfrm xmlns:a="http://schemas.openxmlformats.org/drawingml/2006/main">
            <a:off x="13630275" y="5248275"/>
            <a:ext cx="1943100" cy="1943100"/>
          </a:xfrm>
          <a:prstGeom xmlns:a="http://schemas.openxmlformats.org/drawingml/2006/main" prst="rect">
            <a:avLst/>
          </a:prstGeom>
        </p:spPr>
      </p:pic>
      <p:sp>
        <p:nvSpPr>
          <p:cNvPr id="276" name="DCFnet output predicted contour">
            <a:extLst xmlns:a="http://schemas.openxmlformats.org/drawingml/2006/main">
              <a:ext uri="{FF2B5EF4-FFF2-40B4-BE49-F238E27FC236}">
                <a16:creationId xmlns:a16="http://schemas.microsoft.com/office/drawing/2014/main" id="{BBA41E89-6981-493F-BF8B-B397D9FD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5248275"/>
            <a:ext cx="1943100" cy="1943100"/>
          </a:xfrm>
          <a:custGeom xmlns:a="http://schemas.openxmlformats.org/drawingml/2006/main">
            <a:pathLst>
              <a:path w="4267200" h="4267200">
                <a:moveTo>
                  <a:pt x="2733675" y="3457575"/>
                </a:moveTo>
                <a:lnTo>
                  <a:pt x="2743200" y="3448050"/>
                </a:lnTo>
                <a:lnTo>
                  <a:pt x="2752725" y="3448050"/>
                </a:lnTo>
                <a:lnTo>
                  <a:pt x="2771775" y="3467100"/>
                </a:lnTo>
                <a:lnTo>
                  <a:pt x="2771775" y="3476625"/>
                </a:lnTo>
                <a:lnTo>
                  <a:pt x="2781300" y="3486150"/>
                </a:lnTo>
                <a:lnTo>
                  <a:pt x="2781300" y="3514725"/>
                </a:lnTo>
                <a:lnTo>
                  <a:pt x="2762250" y="3533775"/>
                </a:lnTo>
                <a:lnTo>
                  <a:pt x="2743200" y="3533775"/>
                </a:lnTo>
                <a:lnTo>
                  <a:pt x="2733675" y="3524250"/>
                </a:lnTo>
                <a:close/>
              </a:path>
              <a:path w="4267200" h="4267200">
                <a:moveTo>
                  <a:pt x="2447925" y="2581275"/>
                </a:moveTo>
                <a:lnTo>
                  <a:pt x="2428875" y="2600325"/>
                </a:lnTo>
                <a:lnTo>
                  <a:pt x="2428875" y="2609850"/>
                </a:lnTo>
                <a:lnTo>
                  <a:pt x="2447925" y="2628900"/>
                </a:lnTo>
                <a:lnTo>
                  <a:pt x="2486025" y="2628900"/>
                </a:lnTo>
                <a:lnTo>
                  <a:pt x="2495550" y="2619375"/>
                </a:lnTo>
                <a:lnTo>
                  <a:pt x="2495550" y="2590800"/>
                </a:lnTo>
                <a:lnTo>
                  <a:pt x="2486025" y="2590800"/>
                </a:lnTo>
                <a:lnTo>
                  <a:pt x="2476500" y="2581275"/>
                </a:lnTo>
                <a:close/>
              </a:path>
              <a:path w="4267200" h="4267200">
                <a:moveTo>
                  <a:pt x="1114425" y="2228850"/>
                </a:moveTo>
                <a:lnTo>
                  <a:pt x="1104900" y="2238375"/>
                </a:lnTo>
                <a:lnTo>
                  <a:pt x="1095375" y="2238375"/>
                </a:lnTo>
                <a:lnTo>
                  <a:pt x="1076325" y="2257425"/>
                </a:lnTo>
                <a:lnTo>
                  <a:pt x="1076325" y="2266950"/>
                </a:lnTo>
                <a:lnTo>
                  <a:pt x="1057275" y="2286000"/>
                </a:lnTo>
                <a:lnTo>
                  <a:pt x="1057275" y="2305050"/>
                </a:lnTo>
                <a:lnTo>
                  <a:pt x="1047750" y="2314575"/>
                </a:lnTo>
                <a:lnTo>
                  <a:pt x="1047750" y="2352675"/>
                </a:lnTo>
                <a:lnTo>
                  <a:pt x="1057275" y="2362200"/>
                </a:lnTo>
                <a:lnTo>
                  <a:pt x="1057275" y="2390775"/>
                </a:lnTo>
                <a:lnTo>
                  <a:pt x="1066800" y="2400300"/>
                </a:lnTo>
                <a:lnTo>
                  <a:pt x="1066800" y="2428875"/>
                </a:lnTo>
                <a:lnTo>
                  <a:pt x="1076325" y="2438400"/>
                </a:lnTo>
                <a:lnTo>
                  <a:pt x="1076325" y="2476500"/>
                </a:lnTo>
                <a:lnTo>
                  <a:pt x="1066800" y="2486025"/>
                </a:lnTo>
                <a:lnTo>
                  <a:pt x="1066800" y="2514600"/>
                </a:lnTo>
                <a:lnTo>
                  <a:pt x="1057275" y="2524125"/>
                </a:lnTo>
                <a:lnTo>
                  <a:pt x="1057275" y="2543175"/>
                </a:lnTo>
                <a:lnTo>
                  <a:pt x="1047750" y="2552700"/>
                </a:lnTo>
                <a:lnTo>
                  <a:pt x="1047750" y="2638425"/>
                </a:lnTo>
                <a:lnTo>
                  <a:pt x="1057275" y="2647950"/>
                </a:lnTo>
                <a:lnTo>
                  <a:pt x="1057275" y="2676525"/>
                </a:lnTo>
                <a:lnTo>
                  <a:pt x="1066800" y="2686050"/>
                </a:lnTo>
                <a:lnTo>
                  <a:pt x="1066800" y="2714625"/>
                </a:lnTo>
                <a:lnTo>
                  <a:pt x="1076325" y="2724150"/>
                </a:lnTo>
                <a:lnTo>
                  <a:pt x="1076325" y="3019425"/>
                </a:lnTo>
                <a:lnTo>
                  <a:pt x="1085850" y="3028950"/>
                </a:lnTo>
                <a:lnTo>
                  <a:pt x="1085850" y="3057525"/>
                </a:lnTo>
                <a:lnTo>
                  <a:pt x="1095375" y="3067050"/>
                </a:lnTo>
                <a:lnTo>
                  <a:pt x="1095375" y="3095625"/>
                </a:lnTo>
                <a:lnTo>
                  <a:pt x="1104900" y="3105150"/>
                </a:lnTo>
                <a:lnTo>
                  <a:pt x="1104900" y="3114675"/>
                </a:lnTo>
                <a:lnTo>
                  <a:pt x="1114425" y="3124200"/>
                </a:lnTo>
                <a:lnTo>
                  <a:pt x="1114425" y="3133725"/>
                </a:lnTo>
                <a:lnTo>
                  <a:pt x="1123950" y="3143250"/>
                </a:lnTo>
                <a:lnTo>
                  <a:pt x="1133475" y="3143250"/>
                </a:lnTo>
                <a:lnTo>
                  <a:pt x="1143000" y="3152775"/>
                </a:lnTo>
                <a:lnTo>
                  <a:pt x="1181100" y="3152775"/>
                </a:lnTo>
                <a:lnTo>
                  <a:pt x="1200150" y="3133725"/>
                </a:lnTo>
                <a:lnTo>
                  <a:pt x="1200150" y="3086100"/>
                </a:lnTo>
                <a:lnTo>
                  <a:pt x="1209675" y="3076575"/>
                </a:lnTo>
                <a:lnTo>
                  <a:pt x="1209675" y="2971800"/>
                </a:lnTo>
                <a:lnTo>
                  <a:pt x="1219200" y="2962275"/>
                </a:lnTo>
                <a:lnTo>
                  <a:pt x="1219200" y="2924175"/>
                </a:lnTo>
                <a:lnTo>
                  <a:pt x="1228725" y="2914650"/>
                </a:lnTo>
                <a:lnTo>
                  <a:pt x="1228725" y="2905125"/>
                </a:lnTo>
                <a:lnTo>
                  <a:pt x="1266825" y="2867025"/>
                </a:lnTo>
                <a:lnTo>
                  <a:pt x="1314450" y="2867025"/>
                </a:lnTo>
                <a:lnTo>
                  <a:pt x="1323975" y="2876550"/>
                </a:lnTo>
                <a:lnTo>
                  <a:pt x="1333500" y="2876550"/>
                </a:lnTo>
                <a:lnTo>
                  <a:pt x="1352550" y="2895600"/>
                </a:lnTo>
                <a:lnTo>
                  <a:pt x="1352550" y="2943225"/>
                </a:lnTo>
                <a:lnTo>
                  <a:pt x="1343025" y="2952750"/>
                </a:lnTo>
                <a:lnTo>
                  <a:pt x="1343025" y="2981325"/>
                </a:lnTo>
                <a:lnTo>
                  <a:pt x="1333500" y="2990850"/>
                </a:lnTo>
                <a:lnTo>
                  <a:pt x="1333500" y="3124200"/>
                </a:lnTo>
                <a:lnTo>
                  <a:pt x="1343025" y="3133725"/>
                </a:lnTo>
                <a:lnTo>
                  <a:pt x="1343025" y="3152775"/>
                </a:lnTo>
                <a:lnTo>
                  <a:pt x="1352550" y="3162300"/>
                </a:lnTo>
                <a:lnTo>
                  <a:pt x="1362075" y="3162300"/>
                </a:lnTo>
                <a:lnTo>
                  <a:pt x="1371600" y="3171825"/>
                </a:lnTo>
                <a:lnTo>
                  <a:pt x="1495425" y="3171825"/>
                </a:lnTo>
                <a:lnTo>
                  <a:pt x="1504950" y="3162300"/>
                </a:lnTo>
                <a:lnTo>
                  <a:pt x="1514475" y="3162300"/>
                </a:lnTo>
                <a:lnTo>
                  <a:pt x="1562100" y="3114675"/>
                </a:lnTo>
                <a:lnTo>
                  <a:pt x="1562100" y="3105150"/>
                </a:lnTo>
                <a:lnTo>
                  <a:pt x="1571625" y="3095625"/>
                </a:lnTo>
                <a:lnTo>
                  <a:pt x="1571625" y="3086100"/>
                </a:lnTo>
                <a:lnTo>
                  <a:pt x="1581150" y="3076575"/>
                </a:lnTo>
                <a:lnTo>
                  <a:pt x="1581150" y="3067050"/>
                </a:lnTo>
                <a:lnTo>
                  <a:pt x="1647825" y="3000375"/>
                </a:lnTo>
                <a:lnTo>
                  <a:pt x="1657350" y="3000375"/>
                </a:lnTo>
                <a:lnTo>
                  <a:pt x="1666875" y="2990850"/>
                </a:lnTo>
                <a:lnTo>
                  <a:pt x="1666875" y="2981325"/>
                </a:lnTo>
                <a:lnTo>
                  <a:pt x="1704975" y="2943225"/>
                </a:lnTo>
                <a:lnTo>
                  <a:pt x="1704975" y="2933700"/>
                </a:lnTo>
                <a:lnTo>
                  <a:pt x="1781175" y="2857500"/>
                </a:lnTo>
                <a:lnTo>
                  <a:pt x="1790700" y="2857500"/>
                </a:lnTo>
                <a:lnTo>
                  <a:pt x="1800225" y="2847975"/>
                </a:lnTo>
                <a:lnTo>
                  <a:pt x="1809750" y="2847975"/>
                </a:lnTo>
                <a:lnTo>
                  <a:pt x="1819275" y="2838450"/>
                </a:lnTo>
                <a:lnTo>
                  <a:pt x="1828800" y="2838450"/>
                </a:lnTo>
                <a:lnTo>
                  <a:pt x="1838325" y="2828925"/>
                </a:lnTo>
                <a:lnTo>
                  <a:pt x="1847850" y="2828925"/>
                </a:lnTo>
                <a:lnTo>
                  <a:pt x="1905000" y="2771775"/>
                </a:lnTo>
                <a:lnTo>
                  <a:pt x="1905000" y="2762250"/>
                </a:lnTo>
                <a:lnTo>
                  <a:pt x="1914525" y="2752725"/>
                </a:lnTo>
                <a:lnTo>
                  <a:pt x="1914525" y="2733675"/>
                </a:lnTo>
                <a:lnTo>
                  <a:pt x="1924050" y="2724150"/>
                </a:lnTo>
                <a:lnTo>
                  <a:pt x="1924050" y="2705100"/>
                </a:lnTo>
                <a:lnTo>
                  <a:pt x="1933575" y="2695575"/>
                </a:lnTo>
                <a:lnTo>
                  <a:pt x="1933575" y="2686050"/>
                </a:lnTo>
                <a:lnTo>
                  <a:pt x="1971675" y="2647950"/>
                </a:lnTo>
                <a:lnTo>
                  <a:pt x="2038350" y="2647950"/>
                </a:lnTo>
                <a:lnTo>
                  <a:pt x="2047875" y="2638425"/>
                </a:lnTo>
                <a:lnTo>
                  <a:pt x="2066925" y="2638425"/>
                </a:lnTo>
                <a:lnTo>
                  <a:pt x="2076450" y="2628900"/>
                </a:lnTo>
                <a:lnTo>
                  <a:pt x="2076450" y="2600325"/>
                </a:lnTo>
                <a:lnTo>
                  <a:pt x="2057400" y="2581275"/>
                </a:lnTo>
                <a:lnTo>
                  <a:pt x="2047875" y="2581275"/>
                </a:lnTo>
                <a:lnTo>
                  <a:pt x="2038350" y="2571750"/>
                </a:lnTo>
                <a:lnTo>
                  <a:pt x="1924050" y="2571750"/>
                </a:lnTo>
                <a:lnTo>
                  <a:pt x="1914525" y="2562225"/>
                </a:lnTo>
                <a:lnTo>
                  <a:pt x="1905000" y="2562225"/>
                </a:lnTo>
                <a:lnTo>
                  <a:pt x="1876425" y="2533650"/>
                </a:lnTo>
                <a:lnTo>
                  <a:pt x="1876425" y="2476500"/>
                </a:lnTo>
                <a:lnTo>
                  <a:pt x="1866900" y="2466975"/>
                </a:lnTo>
                <a:lnTo>
                  <a:pt x="1866900" y="2428875"/>
                </a:lnTo>
                <a:lnTo>
                  <a:pt x="1857375" y="2419350"/>
                </a:lnTo>
                <a:lnTo>
                  <a:pt x="1857375" y="2409825"/>
                </a:lnTo>
                <a:lnTo>
                  <a:pt x="1838325" y="2390775"/>
                </a:lnTo>
                <a:lnTo>
                  <a:pt x="1819275" y="2390775"/>
                </a:lnTo>
                <a:lnTo>
                  <a:pt x="1809750" y="2381250"/>
                </a:lnTo>
                <a:lnTo>
                  <a:pt x="1781175" y="2381250"/>
                </a:lnTo>
                <a:lnTo>
                  <a:pt x="1771650" y="2390775"/>
                </a:lnTo>
                <a:lnTo>
                  <a:pt x="1762125" y="2390775"/>
                </a:lnTo>
                <a:lnTo>
                  <a:pt x="1752600" y="2400300"/>
                </a:lnTo>
                <a:lnTo>
                  <a:pt x="1743075" y="2400300"/>
                </a:lnTo>
                <a:lnTo>
                  <a:pt x="1685925" y="2457450"/>
                </a:lnTo>
                <a:lnTo>
                  <a:pt x="1676400" y="2457450"/>
                </a:lnTo>
                <a:lnTo>
                  <a:pt x="1666875" y="2466975"/>
                </a:lnTo>
                <a:lnTo>
                  <a:pt x="1638300" y="2466975"/>
                </a:lnTo>
                <a:lnTo>
                  <a:pt x="1628775" y="2457450"/>
                </a:lnTo>
                <a:lnTo>
                  <a:pt x="1609725" y="2457450"/>
                </a:lnTo>
                <a:lnTo>
                  <a:pt x="1600200" y="2447925"/>
                </a:lnTo>
                <a:lnTo>
                  <a:pt x="1590675" y="2447925"/>
                </a:lnTo>
                <a:lnTo>
                  <a:pt x="1552575" y="2409825"/>
                </a:lnTo>
                <a:lnTo>
                  <a:pt x="1552575" y="2400300"/>
                </a:lnTo>
                <a:lnTo>
                  <a:pt x="1543050" y="2390775"/>
                </a:lnTo>
                <a:lnTo>
                  <a:pt x="1543050" y="2371725"/>
                </a:lnTo>
                <a:lnTo>
                  <a:pt x="1524000" y="2352675"/>
                </a:lnTo>
                <a:lnTo>
                  <a:pt x="1514475" y="2352675"/>
                </a:lnTo>
                <a:lnTo>
                  <a:pt x="1504950" y="2362200"/>
                </a:lnTo>
                <a:lnTo>
                  <a:pt x="1495425" y="2362200"/>
                </a:lnTo>
                <a:lnTo>
                  <a:pt x="1485900" y="2371725"/>
                </a:lnTo>
                <a:lnTo>
                  <a:pt x="1466850" y="2371725"/>
                </a:lnTo>
                <a:lnTo>
                  <a:pt x="1457325" y="2381250"/>
                </a:lnTo>
                <a:lnTo>
                  <a:pt x="1438275" y="2381250"/>
                </a:lnTo>
                <a:lnTo>
                  <a:pt x="1428750" y="2390775"/>
                </a:lnTo>
                <a:lnTo>
                  <a:pt x="1323975" y="2390775"/>
                </a:lnTo>
                <a:lnTo>
                  <a:pt x="1314450" y="2381250"/>
                </a:lnTo>
                <a:lnTo>
                  <a:pt x="1304925" y="2381250"/>
                </a:lnTo>
                <a:lnTo>
                  <a:pt x="1295400" y="2371725"/>
                </a:lnTo>
                <a:lnTo>
                  <a:pt x="1285875" y="2371725"/>
                </a:lnTo>
                <a:lnTo>
                  <a:pt x="1257300" y="2343150"/>
                </a:lnTo>
                <a:lnTo>
                  <a:pt x="1257300" y="2333625"/>
                </a:lnTo>
                <a:lnTo>
                  <a:pt x="1238250" y="2314575"/>
                </a:lnTo>
                <a:lnTo>
                  <a:pt x="1238250" y="2305050"/>
                </a:lnTo>
                <a:lnTo>
                  <a:pt x="1171575" y="2238375"/>
                </a:lnTo>
                <a:lnTo>
                  <a:pt x="1162050" y="2238375"/>
                </a:lnTo>
                <a:lnTo>
                  <a:pt x="1152525" y="2228850"/>
                </a:lnTo>
                <a:close/>
              </a:path>
              <a:path w="4267200" h="4267200">
                <a:moveTo>
                  <a:pt x="2619375" y="2133600"/>
                </a:moveTo>
                <a:lnTo>
                  <a:pt x="2609850" y="2143125"/>
                </a:lnTo>
                <a:lnTo>
                  <a:pt x="2600325" y="2143125"/>
                </a:lnTo>
                <a:lnTo>
                  <a:pt x="2581275" y="2162175"/>
                </a:lnTo>
                <a:lnTo>
                  <a:pt x="2581275" y="2209800"/>
                </a:lnTo>
                <a:lnTo>
                  <a:pt x="2590800" y="2219325"/>
                </a:lnTo>
                <a:lnTo>
                  <a:pt x="2600325" y="2219325"/>
                </a:lnTo>
                <a:lnTo>
                  <a:pt x="2609850" y="2228850"/>
                </a:lnTo>
                <a:lnTo>
                  <a:pt x="2619375" y="2219325"/>
                </a:lnTo>
                <a:lnTo>
                  <a:pt x="2628900" y="2219325"/>
                </a:lnTo>
                <a:lnTo>
                  <a:pt x="2628900" y="2209800"/>
                </a:lnTo>
                <a:lnTo>
                  <a:pt x="2638425" y="2200275"/>
                </a:lnTo>
                <a:lnTo>
                  <a:pt x="2638425" y="2152650"/>
                </a:lnTo>
                <a:close/>
              </a:path>
              <a:path w="4267200" h="4267200">
                <a:moveTo>
                  <a:pt x="4219575" y="2095500"/>
                </a:moveTo>
                <a:lnTo>
                  <a:pt x="4210050" y="2105025"/>
                </a:lnTo>
                <a:lnTo>
                  <a:pt x="4191000" y="2105025"/>
                </a:lnTo>
                <a:lnTo>
                  <a:pt x="4181475" y="2114550"/>
                </a:lnTo>
                <a:lnTo>
                  <a:pt x="4171950" y="2114550"/>
                </a:lnTo>
                <a:lnTo>
                  <a:pt x="4152900" y="2133600"/>
                </a:lnTo>
                <a:lnTo>
                  <a:pt x="4152900" y="2143125"/>
                </a:lnTo>
                <a:lnTo>
                  <a:pt x="4133850" y="2162175"/>
                </a:lnTo>
                <a:lnTo>
                  <a:pt x="4133850" y="2181225"/>
                </a:lnTo>
                <a:lnTo>
                  <a:pt x="4124325" y="2190750"/>
                </a:lnTo>
                <a:lnTo>
                  <a:pt x="4124325" y="2228850"/>
                </a:lnTo>
                <a:lnTo>
                  <a:pt x="4114800" y="2238375"/>
                </a:lnTo>
                <a:lnTo>
                  <a:pt x="4114800" y="2352675"/>
                </a:lnTo>
                <a:lnTo>
                  <a:pt x="4124325" y="2362200"/>
                </a:lnTo>
                <a:lnTo>
                  <a:pt x="4124325" y="2438400"/>
                </a:lnTo>
                <a:lnTo>
                  <a:pt x="4133850" y="2447925"/>
                </a:lnTo>
                <a:lnTo>
                  <a:pt x="4133850" y="2505075"/>
                </a:lnTo>
                <a:lnTo>
                  <a:pt x="4143375" y="2514600"/>
                </a:lnTo>
                <a:lnTo>
                  <a:pt x="4143375" y="2552700"/>
                </a:lnTo>
                <a:lnTo>
                  <a:pt x="4152900" y="2562225"/>
                </a:lnTo>
                <a:lnTo>
                  <a:pt x="4152900" y="2590800"/>
                </a:lnTo>
                <a:lnTo>
                  <a:pt x="4162425" y="2600325"/>
                </a:lnTo>
                <a:lnTo>
                  <a:pt x="4162425" y="2609850"/>
                </a:lnTo>
                <a:lnTo>
                  <a:pt x="4171950" y="2619375"/>
                </a:lnTo>
                <a:lnTo>
                  <a:pt x="4171950" y="2628900"/>
                </a:lnTo>
                <a:lnTo>
                  <a:pt x="4181475" y="2638425"/>
                </a:lnTo>
                <a:lnTo>
                  <a:pt x="4191000" y="2638425"/>
                </a:lnTo>
                <a:lnTo>
                  <a:pt x="4200525" y="2647950"/>
                </a:lnTo>
                <a:lnTo>
                  <a:pt x="4257675" y="2647950"/>
                </a:lnTo>
                <a:lnTo>
                  <a:pt x="4257675" y="2095500"/>
                </a:lnTo>
                <a:close/>
              </a:path>
              <a:path w="4267200" h="4267200">
                <a:moveTo>
                  <a:pt x="1743075" y="1476375"/>
                </a:moveTo>
                <a:lnTo>
                  <a:pt x="1733550" y="1485900"/>
                </a:lnTo>
                <a:lnTo>
                  <a:pt x="1685925" y="1485900"/>
                </a:lnTo>
                <a:lnTo>
                  <a:pt x="1676400" y="1495425"/>
                </a:lnTo>
                <a:lnTo>
                  <a:pt x="1666875" y="1495425"/>
                </a:lnTo>
                <a:lnTo>
                  <a:pt x="1657350" y="1504950"/>
                </a:lnTo>
                <a:lnTo>
                  <a:pt x="1647825" y="1504950"/>
                </a:lnTo>
                <a:lnTo>
                  <a:pt x="1628775" y="1524000"/>
                </a:lnTo>
                <a:lnTo>
                  <a:pt x="1628775" y="1533525"/>
                </a:lnTo>
                <a:lnTo>
                  <a:pt x="1619250" y="1543050"/>
                </a:lnTo>
                <a:lnTo>
                  <a:pt x="1619250" y="1552575"/>
                </a:lnTo>
                <a:lnTo>
                  <a:pt x="1581150" y="1590675"/>
                </a:lnTo>
                <a:lnTo>
                  <a:pt x="1571625" y="1590675"/>
                </a:lnTo>
                <a:lnTo>
                  <a:pt x="1562100" y="1600200"/>
                </a:lnTo>
                <a:lnTo>
                  <a:pt x="1552575" y="1600200"/>
                </a:lnTo>
                <a:lnTo>
                  <a:pt x="1543050" y="1609725"/>
                </a:lnTo>
                <a:lnTo>
                  <a:pt x="1533525" y="1609725"/>
                </a:lnTo>
                <a:lnTo>
                  <a:pt x="1524000" y="1619250"/>
                </a:lnTo>
                <a:lnTo>
                  <a:pt x="1514475" y="1619250"/>
                </a:lnTo>
                <a:lnTo>
                  <a:pt x="1476375" y="1657350"/>
                </a:lnTo>
                <a:lnTo>
                  <a:pt x="1476375" y="1676400"/>
                </a:lnTo>
                <a:lnTo>
                  <a:pt x="1466850" y="1685925"/>
                </a:lnTo>
                <a:lnTo>
                  <a:pt x="1466850" y="1762125"/>
                </a:lnTo>
                <a:lnTo>
                  <a:pt x="1476375" y="1771650"/>
                </a:lnTo>
                <a:lnTo>
                  <a:pt x="1514475" y="1771650"/>
                </a:lnTo>
                <a:lnTo>
                  <a:pt x="1524000" y="1762125"/>
                </a:lnTo>
                <a:lnTo>
                  <a:pt x="1533525" y="1762125"/>
                </a:lnTo>
                <a:lnTo>
                  <a:pt x="1590675" y="1704975"/>
                </a:lnTo>
                <a:lnTo>
                  <a:pt x="1600200" y="1704975"/>
                </a:lnTo>
                <a:lnTo>
                  <a:pt x="1619250" y="1685925"/>
                </a:lnTo>
                <a:lnTo>
                  <a:pt x="1628775" y="1685925"/>
                </a:lnTo>
                <a:lnTo>
                  <a:pt x="1638300" y="1676400"/>
                </a:lnTo>
                <a:lnTo>
                  <a:pt x="1685925" y="1676400"/>
                </a:lnTo>
                <a:lnTo>
                  <a:pt x="1695450" y="1685925"/>
                </a:lnTo>
                <a:lnTo>
                  <a:pt x="1704975" y="1685925"/>
                </a:lnTo>
                <a:lnTo>
                  <a:pt x="1743075" y="1724025"/>
                </a:lnTo>
                <a:lnTo>
                  <a:pt x="1743075" y="1733550"/>
                </a:lnTo>
                <a:lnTo>
                  <a:pt x="1762125" y="1752600"/>
                </a:lnTo>
                <a:lnTo>
                  <a:pt x="1762125" y="1762125"/>
                </a:lnTo>
                <a:lnTo>
                  <a:pt x="1771650" y="1771650"/>
                </a:lnTo>
                <a:lnTo>
                  <a:pt x="1781175" y="1771650"/>
                </a:lnTo>
                <a:lnTo>
                  <a:pt x="1790700" y="1781175"/>
                </a:lnTo>
                <a:lnTo>
                  <a:pt x="1800225" y="1781175"/>
                </a:lnTo>
                <a:lnTo>
                  <a:pt x="1819275" y="1762125"/>
                </a:lnTo>
                <a:lnTo>
                  <a:pt x="1819275" y="1724025"/>
                </a:lnTo>
                <a:lnTo>
                  <a:pt x="1809750" y="1714500"/>
                </a:lnTo>
                <a:lnTo>
                  <a:pt x="1809750" y="1562100"/>
                </a:lnTo>
                <a:lnTo>
                  <a:pt x="1800225" y="1552575"/>
                </a:lnTo>
                <a:lnTo>
                  <a:pt x="1800225" y="1514475"/>
                </a:lnTo>
                <a:lnTo>
                  <a:pt x="1790700" y="1504950"/>
                </a:lnTo>
                <a:lnTo>
                  <a:pt x="1790700" y="1495425"/>
                </a:lnTo>
                <a:lnTo>
                  <a:pt x="1781175" y="1485900"/>
                </a:lnTo>
                <a:lnTo>
                  <a:pt x="1762125" y="1485900"/>
                </a:lnTo>
                <a:lnTo>
                  <a:pt x="1752600" y="1476375"/>
                </a:lnTo>
                <a:close/>
              </a:path>
              <a:path w="4267200" h="4267200">
                <a:moveTo>
                  <a:pt x="2600325" y="914400"/>
                </a:moveTo>
                <a:lnTo>
                  <a:pt x="2609850" y="904875"/>
                </a:lnTo>
                <a:lnTo>
                  <a:pt x="2619375" y="904875"/>
                </a:lnTo>
                <a:lnTo>
                  <a:pt x="2647950" y="933450"/>
                </a:lnTo>
                <a:lnTo>
                  <a:pt x="2647950" y="952500"/>
                </a:lnTo>
                <a:lnTo>
                  <a:pt x="2657475" y="962025"/>
                </a:lnTo>
                <a:lnTo>
                  <a:pt x="2657475" y="971550"/>
                </a:lnTo>
                <a:lnTo>
                  <a:pt x="2647950" y="981075"/>
                </a:lnTo>
                <a:lnTo>
                  <a:pt x="2647950" y="1009650"/>
                </a:lnTo>
                <a:lnTo>
                  <a:pt x="2638425" y="1019175"/>
                </a:lnTo>
                <a:lnTo>
                  <a:pt x="2638425" y="1028700"/>
                </a:lnTo>
                <a:lnTo>
                  <a:pt x="2628900" y="1038225"/>
                </a:lnTo>
                <a:lnTo>
                  <a:pt x="2619375" y="1038225"/>
                </a:lnTo>
                <a:lnTo>
                  <a:pt x="2609850" y="1047750"/>
                </a:lnTo>
                <a:lnTo>
                  <a:pt x="2600325" y="1047750"/>
                </a:lnTo>
                <a:lnTo>
                  <a:pt x="2590800" y="1057275"/>
                </a:lnTo>
                <a:lnTo>
                  <a:pt x="2552700" y="1057275"/>
                </a:lnTo>
                <a:lnTo>
                  <a:pt x="2543175" y="1047750"/>
                </a:lnTo>
                <a:lnTo>
                  <a:pt x="2524125" y="1047750"/>
                </a:lnTo>
                <a:lnTo>
                  <a:pt x="2495550" y="1019175"/>
                </a:lnTo>
                <a:lnTo>
                  <a:pt x="2495550" y="1009650"/>
                </a:lnTo>
                <a:lnTo>
                  <a:pt x="2505075" y="1000125"/>
                </a:lnTo>
                <a:lnTo>
                  <a:pt x="2505075" y="990600"/>
                </a:lnTo>
                <a:lnTo>
                  <a:pt x="2581275" y="914400"/>
                </a:lnTo>
                <a:close/>
              </a:path>
              <a:path w="4267200" h="4267200">
                <a:moveTo>
                  <a:pt x="2838450" y="390525"/>
                </a:moveTo>
                <a:lnTo>
                  <a:pt x="2828925" y="400050"/>
                </a:lnTo>
                <a:lnTo>
                  <a:pt x="2790825" y="400050"/>
                </a:lnTo>
                <a:lnTo>
                  <a:pt x="2781300" y="409575"/>
                </a:lnTo>
                <a:lnTo>
                  <a:pt x="2752725" y="409575"/>
                </a:lnTo>
                <a:lnTo>
                  <a:pt x="2743200" y="419100"/>
                </a:lnTo>
                <a:lnTo>
                  <a:pt x="2724150" y="419100"/>
                </a:lnTo>
                <a:lnTo>
                  <a:pt x="2714625" y="428625"/>
                </a:lnTo>
                <a:lnTo>
                  <a:pt x="2705100" y="428625"/>
                </a:lnTo>
                <a:lnTo>
                  <a:pt x="2695575" y="438150"/>
                </a:lnTo>
                <a:lnTo>
                  <a:pt x="2686050" y="438150"/>
                </a:lnTo>
                <a:lnTo>
                  <a:pt x="2676525" y="447675"/>
                </a:lnTo>
                <a:lnTo>
                  <a:pt x="2676525" y="457200"/>
                </a:lnTo>
                <a:lnTo>
                  <a:pt x="2657475" y="476250"/>
                </a:lnTo>
                <a:lnTo>
                  <a:pt x="2657475" y="485775"/>
                </a:lnTo>
                <a:lnTo>
                  <a:pt x="2647950" y="495300"/>
                </a:lnTo>
                <a:lnTo>
                  <a:pt x="2647950" y="504825"/>
                </a:lnTo>
                <a:lnTo>
                  <a:pt x="2638425" y="514350"/>
                </a:lnTo>
                <a:lnTo>
                  <a:pt x="2638425" y="523875"/>
                </a:lnTo>
                <a:lnTo>
                  <a:pt x="2619375" y="542925"/>
                </a:lnTo>
                <a:lnTo>
                  <a:pt x="2552700" y="542925"/>
                </a:lnTo>
                <a:lnTo>
                  <a:pt x="2543175" y="533400"/>
                </a:lnTo>
                <a:lnTo>
                  <a:pt x="2524125" y="533400"/>
                </a:lnTo>
                <a:lnTo>
                  <a:pt x="2514600" y="523875"/>
                </a:lnTo>
                <a:lnTo>
                  <a:pt x="2438400" y="523875"/>
                </a:lnTo>
                <a:lnTo>
                  <a:pt x="2428875" y="533400"/>
                </a:lnTo>
                <a:lnTo>
                  <a:pt x="2409825" y="533400"/>
                </a:lnTo>
                <a:lnTo>
                  <a:pt x="2400300" y="542925"/>
                </a:lnTo>
                <a:lnTo>
                  <a:pt x="2390775" y="542925"/>
                </a:lnTo>
                <a:lnTo>
                  <a:pt x="2381250" y="552450"/>
                </a:lnTo>
                <a:lnTo>
                  <a:pt x="2371725" y="552450"/>
                </a:lnTo>
                <a:lnTo>
                  <a:pt x="2362200" y="561975"/>
                </a:lnTo>
                <a:lnTo>
                  <a:pt x="2352675" y="561975"/>
                </a:lnTo>
                <a:lnTo>
                  <a:pt x="2343150" y="571500"/>
                </a:lnTo>
                <a:lnTo>
                  <a:pt x="2333625" y="571500"/>
                </a:lnTo>
                <a:lnTo>
                  <a:pt x="2324100" y="581025"/>
                </a:lnTo>
                <a:lnTo>
                  <a:pt x="2314575" y="581025"/>
                </a:lnTo>
                <a:lnTo>
                  <a:pt x="2305050" y="590550"/>
                </a:lnTo>
                <a:lnTo>
                  <a:pt x="2276475" y="590550"/>
                </a:lnTo>
                <a:lnTo>
                  <a:pt x="2266950" y="600075"/>
                </a:lnTo>
                <a:lnTo>
                  <a:pt x="2228850" y="600075"/>
                </a:lnTo>
                <a:lnTo>
                  <a:pt x="2219325" y="609600"/>
                </a:lnTo>
                <a:lnTo>
                  <a:pt x="2200275" y="609600"/>
                </a:lnTo>
                <a:lnTo>
                  <a:pt x="2190750" y="619125"/>
                </a:lnTo>
                <a:lnTo>
                  <a:pt x="2171700" y="619125"/>
                </a:lnTo>
                <a:lnTo>
                  <a:pt x="2162175" y="628650"/>
                </a:lnTo>
                <a:lnTo>
                  <a:pt x="2143125" y="628650"/>
                </a:lnTo>
                <a:lnTo>
                  <a:pt x="2133600" y="638175"/>
                </a:lnTo>
                <a:lnTo>
                  <a:pt x="2085975" y="638175"/>
                </a:lnTo>
                <a:lnTo>
                  <a:pt x="2028825" y="581025"/>
                </a:lnTo>
                <a:lnTo>
                  <a:pt x="2028825" y="571500"/>
                </a:lnTo>
                <a:lnTo>
                  <a:pt x="1990725" y="533400"/>
                </a:lnTo>
                <a:lnTo>
                  <a:pt x="1981200" y="533400"/>
                </a:lnTo>
                <a:lnTo>
                  <a:pt x="1971675" y="523875"/>
                </a:lnTo>
                <a:lnTo>
                  <a:pt x="1952625" y="523875"/>
                </a:lnTo>
                <a:lnTo>
                  <a:pt x="1943100" y="514350"/>
                </a:lnTo>
                <a:lnTo>
                  <a:pt x="1885950" y="514350"/>
                </a:lnTo>
                <a:lnTo>
                  <a:pt x="1876425" y="523875"/>
                </a:lnTo>
                <a:lnTo>
                  <a:pt x="1838325" y="523875"/>
                </a:lnTo>
                <a:lnTo>
                  <a:pt x="1828800" y="533400"/>
                </a:lnTo>
                <a:lnTo>
                  <a:pt x="1724025" y="533400"/>
                </a:lnTo>
                <a:lnTo>
                  <a:pt x="1714500" y="523875"/>
                </a:lnTo>
                <a:lnTo>
                  <a:pt x="1676400" y="523875"/>
                </a:lnTo>
                <a:lnTo>
                  <a:pt x="1666875" y="514350"/>
                </a:lnTo>
                <a:lnTo>
                  <a:pt x="1647825" y="514350"/>
                </a:lnTo>
                <a:lnTo>
                  <a:pt x="1638300" y="523875"/>
                </a:lnTo>
                <a:lnTo>
                  <a:pt x="1619250" y="523875"/>
                </a:lnTo>
                <a:lnTo>
                  <a:pt x="1609725" y="533400"/>
                </a:lnTo>
                <a:lnTo>
                  <a:pt x="1600200" y="533400"/>
                </a:lnTo>
                <a:lnTo>
                  <a:pt x="1590675" y="542925"/>
                </a:lnTo>
                <a:lnTo>
                  <a:pt x="1581150" y="542925"/>
                </a:lnTo>
                <a:lnTo>
                  <a:pt x="1571625" y="552450"/>
                </a:lnTo>
                <a:lnTo>
                  <a:pt x="1562100" y="552450"/>
                </a:lnTo>
                <a:lnTo>
                  <a:pt x="1552575" y="561975"/>
                </a:lnTo>
                <a:lnTo>
                  <a:pt x="1524000" y="561975"/>
                </a:lnTo>
                <a:lnTo>
                  <a:pt x="1514475" y="571500"/>
                </a:lnTo>
                <a:lnTo>
                  <a:pt x="1485900" y="571500"/>
                </a:lnTo>
                <a:lnTo>
                  <a:pt x="1476375" y="561975"/>
                </a:lnTo>
                <a:lnTo>
                  <a:pt x="1457325" y="561975"/>
                </a:lnTo>
                <a:lnTo>
                  <a:pt x="1447800" y="552450"/>
                </a:lnTo>
                <a:lnTo>
                  <a:pt x="1400175" y="552450"/>
                </a:lnTo>
                <a:lnTo>
                  <a:pt x="1390650" y="561975"/>
                </a:lnTo>
                <a:lnTo>
                  <a:pt x="1381125" y="561975"/>
                </a:lnTo>
                <a:lnTo>
                  <a:pt x="1343025" y="600075"/>
                </a:lnTo>
                <a:lnTo>
                  <a:pt x="1333500" y="600075"/>
                </a:lnTo>
                <a:lnTo>
                  <a:pt x="1323975" y="609600"/>
                </a:lnTo>
                <a:lnTo>
                  <a:pt x="1314450" y="609600"/>
                </a:lnTo>
                <a:lnTo>
                  <a:pt x="1304925" y="619125"/>
                </a:lnTo>
                <a:lnTo>
                  <a:pt x="1266825" y="619125"/>
                </a:lnTo>
                <a:lnTo>
                  <a:pt x="1257300" y="609600"/>
                </a:lnTo>
                <a:lnTo>
                  <a:pt x="1247775" y="609600"/>
                </a:lnTo>
                <a:lnTo>
                  <a:pt x="1238250" y="600075"/>
                </a:lnTo>
                <a:lnTo>
                  <a:pt x="1228725" y="600075"/>
                </a:lnTo>
                <a:lnTo>
                  <a:pt x="1219200" y="590550"/>
                </a:lnTo>
                <a:lnTo>
                  <a:pt x="1209675" y="590550"/>
                </a:lnTo>
                <a:lnTo>
                  <a:pt x="1190625" y="571500"/>
                </a:lnTo>
                <a:lnTo>
                  <a:pt x="1181100" y="571500"/>
                </a:lnTo>
                <a:lnTo>
                  <a:pt x="1171575" y="561975"/>
                </a:lnTo>
                <a:lnTo>
                  <a:pt x="1152525" y="561975"/>
                </a:lnTo>
                <a:lnTo>
                  <a:pt x="1143000" y="552450"/>
                </a:lnTo>
                <a:lnTo>
                  <a:pt x="1114425" y="552450"/>
                </a:lnTo>
                <a:lnTo>
                  <a:pt x="1104900" y="542925"/>
                </a:lnTo>
                <a:lnTo>
                  <a:pt x="971550" y="542925"/>
                </a:lnTo>
                <a:lnTo>
                  <a:pt x="962025" y="533400"/>
                </a:lnTo>
                <a:lnTo>
                  <a:pt x="857250" y="533400"/>
                </a:lnTo>
                <a:lnTo>
                  <a:pt x="847725" y="542925"/>
                </a:lnTo>
                <a:lnTo>
                  <a:pt x="838200" y="542925"/>
                </a:lnTo>
                <a:lnTo>
                  <a:pt x="828675" y="552450"/>
                </a:lnTo>
                <a:lnTo>
                  <a:pt x="819150" y="552450"/>
                </a:lnTo>
                <a:lnTo>
                  <a:pt x="733425" y="638175"/>
                </a:lnTo>
                <a:lnTo>
                  <a:pt x="723900" y="638175"/>
                </a:lnTo>
                <a:lnTo>
                  <a:pt x="704850" y="657225"/>
                </a:lnTo>
                <a:lnTo>
                  <a:pt x="695325" y="657225"/>
                </a:lnTo>
                <a:lnTo>
                  <a:pt x="676275" y="676275"/>
                </a:lnTo>
                <a:lnTo>
                  <a:pt x="666750" y="676275"/>
                </a:lnTo>
                <a:lnTo>
                  <a:pt x="657225" y="685800"/>
                </a:lnTo>
                <a:lnTo>
                  <a:pt x="657225" y="695325"/>
                </a:lnTo>
                <a:lnTo>
                  <a:pt x="647700" y="704850"/>
                </a:lnTo>
                <a:lnTo>
                  <a:pt x="647700" y="714375"/>
                </a:lnTo>
                <a:lnTo>
                  <a:pt x="638175" y="723900"/>
                </a:lnTo>
                <a:lnTo>
                  <a:pt x="638175" y="771525"/>
                </a:lnTo>
                <a:lnTo>
                  <a:pt x="647700" y="781050"/>
                </a:lnTo>
                <a:lnTo>
                  <a:pt x="647700" y="790575"/>
                </a:lnTo>
                <a:lnTo>
                  <a:pt x="657225" y="800100"/>
                </a:lnTo>
                <a:lnTo>
                  <a:pt x="657225" y="809625"/>
                </a:lnTo>
                <a:lnTo>
                  <a:pt x="695325" y="847725"/>
                </a:lnTo>
                <a:lnTo>
                  <a:pt x="695325" y="857250"/>
                </a:lnTo>
                <a:lnTo>
                  <a:pt x="704850" y="866775"/>
                </a:lnTo>
                <a:lnTo>
                  <a:pt x="704850" y="876300"/>
                </a:lnTo>
                <a:lnTo>
                  <a:pt x="714375" y="885825"/>
                </a:lnTo>
                <a:lnTo>
                  <a:pt x="714375" y="981075"/>
                </a:lnTo>
                <a:lnTo>
                  <a:pt x="723900" y="990600"/>
                </a:lnTo>
                <a:lnTo>
                  <a:pt x="723900" y="1019175"/>
                </a:lnTo>
                <a:lnTo>
                  <a:pt x="733425" y="1028700"/>
                </a:lnTo>
                <a:lnTo>
                  <a:pt x="733425" y="1038225"/>
                </a:lnTo>
                <a:lnTo>
                  <a:pt x="742950" y="1047750"/>
                </a:lnTo>
                <a:lnTo>
                  <a:pt x="742950" y="1066800"/>
                </a:lnTo>
                <a:lnTo>
                  <a:pt x="752475" y="1076325"/>
                </a:lnTo>
                <a:lnTo>
                  <a:pt x="752475" y="1104900"/>
                </a:lnTo>
                <a:lnTo>
                  <a:pt x="762000" y="1114425"/>
                </a:lnTo>
                <a:lnTo>
                  <a:pt x="762000" y="1162050"/>
                </a:lnTo>
                <a:lnTo>
                  <a:pt x="771525" y="1171575"/>
                </a:lnTo>
                <a:lnTo>
                  <a:pt x="771525" y="1209675"/>
                </a:lnTo>
                <a:lnTo>
                  <a:pt x="781050" y="1219200"/>
                </a:lnTo>
                <a:lnTo>
                  <a:pt x="781050" y="1238250"/>
                </a:lnTo>
                <a:lnTo>
                  <a:pt x="790575" y="1247775"/>
                </a:lnTo>
                <a:lnTo>
                  <a:pt x="790575" y="1257300"/>
                </a:lnTo>
                <a:lnTo>
                  <a:pt x="800100" y="1266825"/>
                </a:lnTo>
                <a:lnTo>
                  <a:pt x="800100" y="1276350"/>
                </a:lnTo>
                <a:lnTo>
                  <a:pt x="809625" y="1285875"/>
                </a:lnTo>
                <a:lnTo>
                  <a:pt x="809625" y="1295400"/>
                </a:lnTo>
                <a:lnTo>
                  <a:pt x="828675" y="1314450"/>
                </a:lnTo>
                <a:lnTo>
                  <a:pt x="828675" y="1323975"/>
                </a:lnTo>
                <a:lnTo>
                  <a:pt x="857250" y="1352550"/>
                </a:lnTo>
                <a:lnTo>
                  <a:pt x="857250" y="1362075"/>
                </a:lnTo>
                <a:lnTo>
                  <a:pt x="876300" y="1381125"/>
                </a:lnTo>
                <a:lnTo>
                  <a:pt x="876300" y="1390650"/>
                </a:lnTo>
                <a:lnTo>
                  <a:pt x="885825" y="1400175"/>
                </a:lnTo>
                <a:lnTo>
                  <a:pt x="885825" y="1409700"/>
                </a:lnTo>
                <a:lnTo>
                  <a:pt x="895350" y="1419225"/>
                </a:lnTo>
                <a:lnTo>
                  <a:pt x="895350" y="1428750"/>
                </a:lnTo>
                <a:lnTo>
                  <a:pt x="904875" y="1438275"/>
                </a:lnTo>
                <a:lnTo>
                  <a:pt x="904875" y="1447800"/>
                </a:lnTo>
                <a:lnTo>
                  <a:pt x="914400" y="1457325"/>
                </a:lnTo>
                <a:lnTo>
                  <a:pt x="914400" y="1476375"/>
                </a:lnTo>
                <a:lnTo>
                  <a:pt x="923925" y="1485900"/>
                </a:lnTo>
                <a:lnTo>
                  <a:pt x="923925" y="1504950"/>
                </a:lnTo>
                <a:lnTo>
                  <a:pt x="933450" y="1514475"/>
                </a:lnTo>
                <a:lnTo>
                  <a:pt x="933450" y="1695450"/>
                </a:lnTo>
                <a:lnTo>
                  <a:pt x="942975" y="1704975"/>
                </a:lnTo>
                <a:lnTo>
                  <a:pt x="942975" y="1743075"/>
                </a:lnTo>
                <a:lnTo>
                  <a:pt x="952500" y="1752600"/>
                </a:lnTo>
                <a:lnTo>
                  <a:pt x="952500" y="1790700"/>
                </a:lnTo>
                <a:lnTo>
                  <a:pt x="962025" y="1800225"/>
                </a:lnTo>
                <a:lnTo>
                  <a:pt x="962025" y="1819275"/>
                </a:lnTo>
                <a:lnTo>
                  <a:pt x="971550" y="1828800"/>
                </a:lnTo>
                <a:lnTo>
                  <a:pt x="971550" y="1838325"/>
                </a:lnTo>
                <a:lnTo>
                  <a:pt x="981075" y="1847850"/>
                </a:lnTo>
                <a:lnTo>
                  <a:pt x="981075" y="1857375"/>
                </a:lnTo>
                <a:lnTo>
                  <a:pt x="1019175" y="1895475"/>
                </a:lnTo>
                <a:lnTo>
                  <a:pt x="1057275" y="1895475"/>
                </a:lnTo>
                <a:lnTo>
                  <a:pt x="1066800" y="1885950"/>
                </a:lnTo>
                <a:lnTo>
                  <a:pt x="1076325" y="1885950"/>
                </a:lnTo>
                <a:lnTo>
                  <a:pt x="1085850" y="1876425"/>
                </a:lnTo>
                <a:lnTo>
                  <a:pt x="1095375" y="1876425"/>
                </a:lnTo>
                <a:lnTo>
                  <a:pt x="1114425" y="1857375"/>
                </a:lnTo>
                <a:lnTo>
                  <a:pt x="1152525" y="1857375"/>
                </a:lnTo>
                <a:lnTo>
                  <a:pt x="1190625" y="1895475"/>
                </a:lnTo>
                <a:lnTo>
                  <a:pt x="1190625" y="1933575"/>
                </a:lnTo>
                <a:lnTo>
                  <a:pt x="1162050" y="1962150"/>
                </a:lnTo>
                <a:lnTo>
                  <a:pt x="1152525" y="1962150"/>
                </a:lnTo>
                <a:lnTo>
                  <a:pt x="1143000" y="1971675"/>
                </a:lnTo>
                <a:lnTo>
                  <a:pt x="1133475" y="1971675"/>
                </a:lnTo>
                <a:lnTo>
                  <a:pt x="1123950" y="1981200"/>
                </a:lnTo>
                <a:lnTo>
                  <a:pt x="1104900" y="1981200"/>
                </a:lnTo>
                <a:lnTo>
                  <a:pt x="1095375" y="1990725"/>
                </a:lnTo>
                <a:lnTo>
                  <a:pt x="1085850" y="1990725"/>
                </a:lnTo>
                <a:lnTo>
                  <a:pt x="1066800" y="2009775"/>
                </a:lnTo>
                <a:lnTo>
                  <a:pt x="1066800" y="2019300"/>
                </a:lnTo>
                <a:lnTo>
                  <a:pt x="1057275" y="2028825"/>
                </a:lnTo>
                <a:lnTo>
                  <a:pt x="1057275" y="2066925"/>
                </a:lnTo>
                <a:lnTo>
                  <a:pt x="1066800" y="2076450"/>
                </a:lnTo>
                <a:lnTo>
                  <a:pt x="1066800" y="2085975"/>
                </a:lnTo>
                <a:lnTo>
                  <a:pt x="1076325" y="2095500"/>
                </a:lnTo>
                <a:lnTo>
                  <a:pt x="1076325" y="2105025"/>
                </a:lnTo>
                <a:lnTo>
                  <a:pt x="1095375" y="2124075"/>
                </a:lnTo>
                <a:lnTo>
                  <a:pt x="1104900" y="2124075"/>
                </a:lnTo>
                <a:lnTo>
                  <a:pt x="1114425" y="2133600"/>
                </a:lnTo>
                <a:lnTo>
                  <a:pt x="1123950" y="2133600"/>
                </a:lnTo>
                <a:lnTo>
                  <a:pt x="1133475" y="2143125"/>
                </a:lnTo>
                <a:lnTo>
                  <a:pt x="1143000" y="2133600"/>
                </a:lnTo>
                <a:lnTo>
                  <a:pt x="1162050" y="2133600"/>
                </a:lnTo>
                <a:lnTo>
                  <a:pt x="1238250" y="2057400"/>
                </a:lnTo>
                <a:lnTo>
                  <a:pt x="1238250" y="2047875"/>
                </a:lnTo>
                <a:lnTo>
                  <a:pt x="1257300" y="2028825"/>
                </a:lnTo>
                <a:lnTo>
                  <a:pt x="1257300" y="2019300"/>
                </a:lnTo>
                <a:lnTo>
                  <a:pt x="1285875" y="1990725"/>
                </a:lnTo>
                <a:lnTo>
                  <a:pt x="1285875" y="1981200"/>
                </a:lnTo>
                <a:lnTo>
                  <a:pt x="1304925" y="1962150"/>
                </a:lnTo>
                <a:lnTo>
                  <a:pt x="1304925" y="1952625"/>
                </a:lnTo>
                <a:lnTo>
                  <a:pt x="1314450" y="1943100"/>
                </a:lnTo>
                <a:lnTo>
                  <a:pt x="1314450" y="1924050"/>
                </a:lnTo>
                <a:lnTo>
                  <a:pt x="1323975" y="1914525"/>
                </a:lnTo>
                <a:lnTo>
                  <a:pt x="1323975" y="1895475"/>
                </a:lnTo>
                <a:lnTo>
                  <a:pt x="1333500" y="1885950"/>
                </a:lnTo>
                <a:lnTo>
                  <a:pt x="1333500" y="1866900"/>
                </a:lnTo>
                <a:lnTo>
                  <a:pt x="1343025" y="1857375"/>
                </a:lnTo>
                <a:lnTo>
                  <a:pt x="1343025" y="1847850"/>
                </a:lnTo>
                <a:lnTo>
                  <a:pt x="1352550" y="1838325"/>
                </a:lnTo>
                <a:lnTo>
                  <a:pt x="1352550" y="1828800"/>
                </a:lnTo>
                <a:lnTo>
                  <a:pt x="1362075" y="1819275"/>
                </a:lnTo>
                <a:lnTo>
                  <a:pt x="1362075" y="1809750"/>
                </a:lnTo>
                <a:lnTo>
                  <a:pt x="1371600" y="1800225"/>
                </a:lnTo>
                <a:lnTo>
                  <a:pt x="1371600" y="1752600"/>
                </a:lnTo>
                <a:lnTo>
                  <a:pt x="1362075" y="1743075"/>
                </a:lnTo>
                <a:lnTo>
                  <a:pt x="1362075" y="1704975"/>
                </a:lnTo>
                <a:lnTo>
                  <a:pt x="1352550" y="1695450"/>
                </a:lnTo>
                <a:lnTo>
                  <a:pt x="1352550" y="1666875"/>
                </a:lnTo>
                <a:lnTo>
                  <a:pt x="1343025" y="1657350"/>
                </a:lnTo>
                <a:lnTo>
                  <a:pt x="1343025" y="1647825"/>
                </a:lnTo>
                <a:lnTo>
                  <a:pt x="1323975" y="1628775"/>
                </a:lnTo>
                <a:lnTo>
                  <a:pt x="1314450" y="1628775"/>
                </a:lnTo>
                <a:lnTo>
                  <a:pt x="1304925" y="1619250"/>
                </a:lnTo>
                <a:lnTo>
                  <a:pt x="1295400" y="1619250"/>
                </a:lnTo>
                <a:lnTo>
                  <a:pt x="1285875" y="1609725"/>
                </a:lnTo>
                <a:lnTo>
                  <a:pt x="1171575" y="1609725"/>
                </a:lnTo>
                <a:lnTo>
                  <a:pt x="1162050" y="1600200"/>
                </a:lnTo>
                <a:lnTo>
                  <a:pt x="1133475" y="1600200"/>
                </a:lnTo>
                <a:lnTo>
                  <a:pt x="1123950" y="1590675"/>
                </a:lnTo>
                <a:lnTo>
                  <a:pt x="1114425" y="1590675"/>
                </a:lnTo>
                <a:lnTo>
                  <a:pt x="1076325" y="1552575"/>
                </a:lnTo>
                <a:lnTo>
                  <a:pt x="1076325" y="1543050"/>
                </a:lnTo>
                <a:lnTo>
                  <a:pt x="1066800" y="1533525"/>
                </a:lnTo>
                <a:lnTo>
                  <a:pt x="1066800" y="1495425"/>
                </a:lnTo>
                <a:lnTo>
                  <a:pt x="1076325" y="1485900"/>
                </a:lnTo>
                <a:lnTo>
                  <a:pt x="1076325" y="1476375"/>
                </a:lnTo>
                <a:lnTo>
                  <a:pt x="1085850" y="1466850"/>
                </a:lnTo>
                <a:lnTo>
                  <a:pt x="1085850" y="1457325"/>
                </a:lnTo>
                <a:lnTo>
                  <a:pt x="1095375" y="1447800"/>
                </a:lnTo>
                <a:lnTo>
                  <a:pt x="1095375" y="1428750"/>
                </a:lnTo>
                <a:lnTo>
                  <a:pt x="1104900" y="1419225"/>
                </a:lnTo>
                <a:lnTo>
                  <a:pt x="1104900" y="1409700"/>
                </a:lnTo>
                <a:lnTo>
                  <a:pt x="1114425" y="1400175"/>
                </a:lnTo>
                <a:lnTo>
                  <a:pt x="1114425" y="1295400"/>
                </a:lnTo>
                <a:lnTo>
                  <a:pt x="1104900" y="1285875"/>
                </a:lnTo>
                <a:lnTo>
                  <a:pt x="1104900" y="1257300"/>
                </a:lnTo>
                <a:lnTo>
                  <a:pt x="1095375" y="1247775"/>
                </a:lnTo>
                <a:lnTo>
                  <a:pt x="1095375" y="1228725"/>
                </a:lnTo>
                <a:lnTo>
                  <a:pt x="1085850" y="1219200"/>
                </a:lnTo>
                <a:lnTo>
                  <a:pt x="1085850" y="1209675"/>
                </a:lnTo>
                <a:lnTo>
                  <a:pt x="1076325" y="1200150"/>
                </a:lnTo>
                <a:lnTo>
                  <a:pt x="1076325" y="1190625"/>
                </a:lnTo>
                <a:lnTo>
                  <a:pt x="1066800" y="1181100"/>
                </a:lnTo>
                <a:lnTo>
                  <a:pt x="1066800" y="1171575"/>
                </a:lnTo>
                <a:lnTo>
                  <a:pt x="1047750" y="1152525"/>
                </a:lnTo>
                <a:lnTo>
                  <a:pt x="1047750" y="1143000"/>
                </a:lnTo>
                <a:lnTo>
                  <a:pt x="1038225" y="1133475"/>
                </a:lnTo>
                <a:lnTo>
                  <a:pt x="1038225" y="1123950"/>
                </a:lnTo>
                <a:lnTo>
                  <a:pt x="1028700" y="1114425"/>
                </a:lnTo>
                <a:lnTo>
                  <a:pt x="1028700" y="1095375"/>
                </a:lnTo>
                <a:lnTo>
                  <a:pt x="1019175" y="1085850"/>
                </a:lnTo>
                <a:lnTo>
                  <a:pt x="1019175" y="1028700"/>
                </a:lnTo>
                <a:lnTo>
                  <a:pt x="1009650" y="1019175"/>
                </a:lnTo>
                <a:lnTo>
                  <a:pt x="1009650" y="990600"/>
                </a:lnTo>
                <a:lnTo>
                  <a:pt x="1019175" y="981075"/>
                </a:lnTo>
                <a:lnTo>
                  <a:pt x="1019175" y="952500"/>
                </a:lnTo>
                <a:lnTo>
                  <a:pt x="1028700" y="942975"/>
                </a:lnTo>
                <a:lnTo>
                  <a:pt x="1028700" y="923925"/>
                </a:lnTo>
                <a:lnTo>
                  <a:pt x="1038225" y="914400"/>
                </a:lnTo>
                <a:lnTo>
                  <a:pt x="1038225" y="904875"/>
                </a:lnTo>
                <a:lnTo>
                  <a:pt x="1085850" y="857250"/>
                </a:lnTo>
                <a:lnTo>
                  <a:pt x="1095375" y="857250"/>
                </a:lnTo>
                <a:lnTo>
                  <a:pt x="1104900" y="847725"/>
                </a:lnTo>
                <a:lnTo>
                  <a:pt x="1123950" y="847725"/>
                </a:lnTo>
                <a:lnTo>
                  <a:pt x="1133475" y="838200"/>
                </a:lnTo>
                <a:lnTo>
                  <a:pt x="1162050" y="838200"/>
                </a:lnTo>
                <a:lnTo>
                  <a:pt x="1171575" y="828675"/>
                </a:lnTo>
                <a:lnTo>
                  <a:pt x="1209675" y="828675"/>
                </a:lnTo>
                <a:lnTo>
                  <a:pt x="1219200" y="819150"/>
                </a:lnTo>
                <a:lnTo>
                  <a:pt x="1352550" y="819150"/>
                </a:lnTo>
                <a:lnTo>
                  <a:pt x="1371600" y="838200"/>
                </a:lnTo>
                <a:lnTo>
                  <a:pt x="1371600" y="857250"/>
                </a:lnTo>
                <a:lnTo>
                  <a:pt x="1362075" y="866775"/>
                </a:lnTo>
                <a:lnTo>
                  <a:pt x="1362075" y="876300"/>
                </a:lnTo>
                <a:lnTo>
                  <a:pt x="1343025" y="895350"/>
                </a:lnTo>
                <a:lnTo>
                  <a:pt x="1343025" y="904875"/>
                </a:lnTo>
                <a:lnTo>
                  <a:pt x="1333500" y="914400"/>
                </a:lnTo>
                <a:lnTo>
                  <a:pt x="1333500" y="923925"/>
                </a:lnTo>
                <a:lnTo>
                  <a:pt x="1323975" y="933450"/>
                </a:lnTo>
                <a:lnTo>
                  <a:pt x="1323975" y="942975"/>
                </a:lnTo>
                <a:lnTo>
                  <a:pt x="1314450" y="952500"/>
                </a:lnTo>
                <a:lnTo>
                  <a:pt x="1314450" y="971550"/>
                </a:lnTo>
                <a:lnTo>
                  <a:pt x="1304925" y="981075"/>
                </a:lnTo>
                <a:lnTo>
                  <a:pt x="1304925" y="1009650"/>
                </a:lnTo>
                <a:lnTo>
                  <a:pt x="1295400" y="1019175"/>
                </a:lnTo>
                <a:lnTo>
                  <a:pt x="1295400" y="1038225"/>
                </a:lnTo>
                <a:lnTo>
                  <a:pt x="1285875" y="1047750"/>
                </a:lnTo>
                <a:lnTo>
                  <a:pt x="1285875" y="1057275"/>
                </a:lnTo>
                <a:lnTo>
                  <a:pt x="1266825" y="1076325"/>
                </a:lnTo>
                <a:lnTo>
                  <a:pt x="1266825" y="1085850"/>
                </a:lnTo>
                <a:lnTo>
                  <a:pt x="1228725" y="1123950"/>
                </a:lnTo>
                <a:lnTo>
                  <a:pt x="1228725" y="1133475"/>
                </a:lnTo>
                <a:lnTo>
                  <a:pt x="1219200" y="1143000"/>
                </a:lnTo>
                <a:lnTo>
                  <a:pt x="1219200" y="1152525"/>
                </a:lnTo>
                <a:lnTo>
                  <a:pt x="1209675" y="1162050"/>
                </a:lnTo>
                <a:lnTo>
                  <a:pt x="1209675" y="1171575"/>
                </a:lnTo>
                <a:lnTo>
                  <a:pt x="1200150" y="1181100"/>
                </a:lnTo>
                <a:lnTo>
                  <a:pt x="1200150" y="1219200"/>
                </a:lnTo>
                <a:lnTo>
                  <a:pt x="1190625" y="1228725"/>
                </a:lnTo>
                <a:lnTo>
                  <a:pt x="1190625" y="1247775"/>
                </a:lnTo>
                <a:lnTo>
                  <a:pt x="1200150" y="1257300"/>
                </a:lnTo>
                <a:lnTo>
                  <a:pt x="1200150" y="1276350"/>
                </a:lnTo>
                <a:lnTo>
                  <a:pt x="1209675" y="1285875"/>
                </a:lnTo>
                <a:lnTo>
                  <a:pt x="1219200" y="1285875"/>
                </a:lnTo>
                <a:lnTo>
                  <a:pt x="1228725" y="1295400"/>
                </a:lnTo>
                <a:lnTo>
                  <a:pt x="1266825" y="1295400"/>
                </a:lnTo>
                <a:lnTo>
                  <a:pt x="1276350" y="1285875"/>
                </a:lnTo>
                <a:lnTo>
                  <a:pt x="1285875" y="1285875"/>
                </a:lnTo>
                <a:lnTo>
                  <a:pt x="1314450" y="1257300"/>
                </a:lnTo>
                <a:lnTo>
                  <a:pt x="1314450" y="1247775"/>
                </a:lnTo>
                <a:lnTo>
                  <a:pt x="1352550" y="1209675"/>
                </a:lnTo>
                <a:lnTo>
                  <a:pt x="1390650" y="1209675"/>
                </a:lnTo>
                <a:lnTo>
                  <a:pt x="1428750" y="1247775"/>
                </a:lnTo>
                <a:lnTo>
                  <a:pt x="1428750" y="1257300"/>
                </a:lnTo>
                <a:lnTo>
                  <a:pt x="1438275" y="1266825"/>
                </a:lnTo>
                <a:lnTo>
                  <a:pt x="1438275" y="1276350"/>
                </a:lnTo>
                <a:lnTo>
                  <a:pt x="1447800" y="1285875"/>
                </a:lnTo>
                <a:lnTo>
                  <a:pt x="1447800" y="1295400"/>
                </a:lnTo>
                <a:lnTo>
                  <a:pt x="1457325" y="1304925"/>
                </a:lnTo>
                <a:lnTo>
                  <a:pt x="1457325" y="1314450"/>
                </a:lnTo>
                <a:lnTo>
                  <a:pt x="1466850" y="1323975"/>
                </a:lnTo>
                <a:lnTo>
                  <a:pt x="1466850" y="1333500"/>
                </a:lnTo>
                <a:lnTo>
                  <a:pt x="1485900" y="1352550"/>
                </a:lnTo>
                <a:lnTo>
                  <a:pt x="1485900" y="1362075"/>
                </a:lnTo>
                <a:lnTo>
                  <a:pt x="1495425" y="1371600"/>
                </a:lnTo>
                <a:lnTo>
                  <a:pt x="1504950" y="1371600"/>
                </a:lnTo>
                <a:lnTo>
                  <a:pt x="1524000" y="1390650"/>
                </a:lnTo>
                <a:lnTo>
                  <a:pt x="1562100" y="1390650"/>
                </a:lnTo>
                <a:lnTo>
                  <a:pt x="1571625" y="1381125"/>
                </a:lnTo>
                <a:lnTo>
                  <a:pt x="1581150" y="1381125"/>
                </a:lnTo>
                <a:lnTo>
                  <a:pt x="1590675" y="1371600"/>
                </a:lnTo>
                <a:lnTo>
                  <a:pt x="1600200" y="1371600"/>
                </a:lnTo>
                <a:lnTo>
                  <a:pt x="1619250" y="1352550"/>
                </a:lnTo>
                <a:lnTo>
                  <a:pt x="1628775" y="1352550"/>
                </a:lnTo>
                <a:lnTo>
                  <a:pt x="1638300" y="1343025"/>
                </a:lnTo>
                <a:lnTo>
                  <a:pt x="1685925" y="1343025"/>
                </a:lnTo>
                <a:lnTo>
                  <a:pt x="1695450" y="1352550"/>
                </a:lnTo>
                <a:lnTo>
                  <a:pt x="1704975" y="1352550"/>
                </a:lnTo>
                <a:lnTo>
                  <a:pt x="1714500" y="1362075"/>
                </a:lnTo>
                <a:lnTo>
                  <a:pt x="1724025" y="1362075"/>
                </a:lnTo>
                <a:lnTo>
                  <a:pt x="1733550" y="1371600"/>
                </a:lnTo>
                <a:lnTo>
                  <a:pt x="1743075" y="1371600"/>
                </a:lnTo>
                <a:lnTo>
                  <a:pt x="1752600" y="1381125"/>
                </a:lnTo>
                <a:lnTo>
                  <a:pt x="1828800" y="1381125"/>
                </a:lnTo>
                <a:lnTo>
                  <a:pt x="1838325" y="1371600"/>
                </a:lnTo>
                <a:lnTo>
                  <a:pt x="1847850" y="1371600"/>
                </a:lnTo>
                <a:lnTo>
                  <a:pt x="1857375" y="1362075"/>
                </a:lnTo>
                <a:lnTo>
                  <a:pt x="1866900" y="1362075"/>
                </a:lnTo>
                <a:lnTo>
                  <a:pt x="1876425" y="1352550"/>
                </a:lnTo>
                <a:lnTo>
                  <a:pt x="1876425" y="1343025"/>
                </a:lnTo>
                <a:lnTo>
                  <a:pt x="1885950" y="1333500"/>
                </a:lnTo>
                <a:lnTo>
                  <a:pt x="1885950" y="1323975"/>
                </a:lnTo>
                <a:lnTo>
                  <a:pt x="1895475" y="1314450"/>
                </a:lnTo>
                <a:lnTo>
                  <a:pt x="1895475" y="1295400"/>
                </a:lnTo>
                <a:lnTo>
                  <a:pt x="1905000" y="1285875"/>
                </a:lnTo>
                <a:lnTo>
                  <a:pt x="1905000" y="1247775"/>
                </a:lnTo>
                <a:lnTo>
                  <a:pt x="1914525" y="1238250"/>
                </a:lnTo>
                <a:lnTo>
                  <a:pt x="1914525" y="1200150"/>
                </a:lnTo>
                <a:lnTo>
                  <a:pt x="1924050" y="1190625"/>
                </a:lnTo>
                <a:lnTo>
                  <a:pt x="1924050" y="1171575"/>
                </a:lnTo>
                <a:lnTo>
                  <a:pt x="1933575" y="1162050"/>
                </a:lnTo>
                <a:lnTo>
                  <a:pt x="1933575" y="1152525"/>
                </a:lnTo>
                <a:lnTo>
                  <a:pt x="1971675" y="1114425"/>
                </a:lnTo>
                <a:lnTo>
                  <a:pt x="1990725" y="1114425"/>
                </a:lnTo>
                <a:lnTo>
                  <a:pt x="2000250" y="1104900"/>
                </a:lnTo>
                <a:lnTo>
                  <a:pt x="2009775" y="1104900"/>
                </a:lnTo>
                <a:lnTo>
                  <a:pt x="2028825" y="1085850"/>
                </a:lnTo>
                <a:lnTo>
                  <a:pt x="2028825" y="1076325"/>
                </a:lnTo>
                <a:lnTo>
                  <a:pt x="2038350" y="1066800"/>
                </a:lnTo>
                <a:lnTo>
                  <a:pt x="2038350" y="1047750"/>
                </a:lnTo>
                <a:lnTo>
                  <a:pt x="2047875" y="1038225"/>
                </a:lnTo>
                <a:lnTo>
                  <a:pt x="2047875" y="1019175"/>
                </a:lnTo>
                <a:lnTo>
                  <a:pt x="2057400" y="1009650"/>
                </a:lnTo>
                <a:lnTo>
                  <a:pt x="2057400" y="1000125"/>
                </a:lnTo>
                <a:lnTo>
                  <a:pt x="2095500" y="962025"/>
                </a:lnTo>
                <a:lnTo>
                  <a:pt x="2105025" y="962025"/>
                </a:lnTo>
                <a:lnTo>
                  <a:pt x="2114550" y="952500"/>
                </a:lnTo>
                <a:lnTo>
                  <a:pt x="2133600" y="952500"/>
                </a:lnTo>
                <a:lnTo>
                  <a:pt x="2143125" y="942975"/>
                </a:lnTo>
                <a:lnTo>
                  <a:pt x="2219325" y="942975"/>
                </a:lnTo>
                <a:lnTo>
                  <a:pt x="2228850" y="952500"/>
                </a:lnTo>
                <a:lnTo>
                  <a:pt x="2247900" y="952500"/>
                </a:lnTo>
                <a:lnTo>
                  <a:pt x="2257425" y="962025"/>
                </a:lnTo>
                <a:lnTo>
                  <a:pt x="2286000" y="962025"/>
                </a:lnTo>
                <a:lnTo>
                  <a:pt x="2295525" y="971550"/>
                </a:lnTo>
                <a:lnTo>
                  <a:pt x="2324100" y="971550"/>
                </a:lnTo>
                <a:lnTo>
                  <a:pt x="2333625" y="981075"/>
                </a:lnTo>
                <a:lnTo>
                  <a:pt x="2352675" y="981075"/>
                </a:lnTo>
                <a:lnTo>
                  <a:pt x="2362200" y="990600"/>
                </a:lnTo>
                <a:lnTo>
                  <a:pt x="2371725" y="990600"/>
                </a:lnTo>
                <a:lnTo>
                  <a:pt x="2419350" y="1038225"/>
                </a:lnTo>
                <a:lnTo>
                  <a:pt x="2419350" y="1066800"/>
                </a:lnTo>
                <a:lnTo>
                  <a:pt x="2409825" y="1076325"/>
                </a:lnTo>
                <a:lnTo>
                  <a:pt x="2409825" y="1104900"/>
                </a:lnTo>
                <a:lnTo>
                  <a:pt x="2400300" y="1114425"/>
                </a:lnTo>
                <a:lnTo>
                  <a:pt x="2400300" y="1123950"/>
                </a:lnTo>
                <a:lnTo>
                  <a:pt x="2390775" y="1133475"/>
                </a:lnTo>
                <a:lnTo>
                  <a:pt x="2390775" y="1143000"/>
                </a:lnTo>
                <a:lnTo>
                  <a:pt x="2381250" y="1152525"/>
                </a:lnTo>
                <a:lnTo>
                  <a:pt x="2381250" y="1162050"/>
                </a:lnTo>
                <a:lnTo>
                  <a:pt x="2371725" y="1171575"/>
                </a:lnTo>
                <a:lnTo>
                  <a:pt x="2371725" y="1181100"/>
                </a:lnTo>
                <a:lnTo>
                  <a:pt x="2324100" y="1228725"/>
                </a:lnTo>
                <a:lnTo>
                  <a:pt x="2266950" y="1228725"/>
                </a:lnTo>
                <a:lnTo>
                  <a:pt x="2257425" y="1219200"/>
                </a:lnTo>
                <a:lnTo>
                  <a:pt x="2219325" y="1219200"/>
                </a:lnTo>
                <a:lnTo>
                  <a:pt x="2209800" y="1209675"/>
                </a:lnTo>
                <a:lnTo>
                  <a:pt x="2200275" y="1209675"/>
                </a:lnTo>
                <a:lnTo>
                  <a:pt x="2190750" y="1219200"/>
                </a:lnTo>
                <a:lnTo>
                  <a:pt x="2162175" y="1219200"/>
                </a:lnTo>
                <a:lnTo>
                  <a:pt x="2133600" y="1247775"/>
                </a:lnTo>
                <a:lnTo>
                  <a:pt x="2133600" y="1314450"/>
                </a:lnTo>
                <a:lnTo>
                  <a:pt x="2143125" y="1323975"/>
                </a:lnTo>
                <a:lnTo>
                  <a:pt x="2143125" y="1343025"/>
                </a:lnTo>
                <a:lnTo>
                  <a:pt x="2152650" y="1352550"/>
                </a:lnTo>
                <a:lnTo>
                  <a:pt x="2152650" y="1362075"/>
                </a:lnTo>
                <a:lnTo>
                  <a:pt x="2162175" y="1371600"/>
                </a:lnTo>
                <a:lnTo>
                  <a:pt x="2162175" y="1381125"/>
                </a:lnTo>
                <a:lnTo>
                  <a:pt x="2171700" y="1390650"/>
                </a:lnTo>
                <a:lnTo>
                  <a:pt x="2171700" y="1447800"/>
                </a:lnTo>
                <a:lnTo>
                  <a:pt x="2162175" y="1457325"/>
                </a:lnTo>
                <a:lnTo>
                  <a:pt x="2162175" y="1571625"/>
                </a:lnTo>
                <a:lnTo>
                  <a:pt x="2171700" y="1581150"/>
                </a:lnTo>
                <a:lnTo>
                  <a:pt x="2171700" y="1590675"/>
                </a:lnTo>
                <a:lnTo>
                  <a:pt x="2181225" y="1600200"/>
                </a:lnTo>
                <a:lnTo>
                  <a:pt x="2181225" y="1619250"/>
                </a:lnTo>
                <a:lnTo>
                  <a:pt x="2190750" y="1628775"/>
                </a:lnTo>
                <a:lnTo>
                  <a:pt x="2190750" y="1657350"/>
                </a:lnTo>
                <a:lnTo>
                  <a:pt x="2181225" y="1666875"/>
                </a:lnTo>
                <a:lnTo>
                  <a:pt x="2181225" y="1676400"/>
                </a:lnTo>
                <a:lnTo>
                  <a:pt x="2152650" y="1704975"/>
                </a:lnTo>
                <a:lnTo>
                  <a:pt x="2152650" y="1714500"/>
                </a:lnTo>
                <a:lnTo>
                  <a:pt x="2133600" y="1733550"/>
                </a:lnTo>
                <a:lnTo>
                  <a:pt x="2133600" y="1743075"/>
                </a:lnTo>
                <a:lnTo>
                  <a:pt x="2124075" y="1752600"/>
                </a:lnTo>
                <a:lnTo>
                  <a:pt x="2124075" y="1819275"/>
                </a:lnTo>
                <a:lnTo>
                  <a:pt x="2133600" y="1828800"/>
                </a:lnTo>
                <a:lnTo>
                  <a:pt x="2133600" y="1838325"/>
                </a:lnTo>
                <a:lnTo>
                  <a:pt x="2143125" y="1847850"/>
                </a:lnTo>
                <a:lnTo>
                  <a:pt x="2143125" y="1857375"/>
                </a:lnTo>
                <a:lnTo>
                  <a:pt x="2162175" y="1876425"/>
                </a:lnTo>
                <a:lnTo>
                  <a:pt x="2171700" y="1876425"/>
                </a:lnTo>
                <a:lnTo>
                  <a:pt x="2190750" y="1895475"/>
                </a:lnTo>
                <a:lnTo>
                  <a:pt x="2200275" y="1895475"/>
                </a:lnTo>
                <a:lnTo>
                  <a:pt x="2209800" y="1905000"/>
                </a:lnTo>
                <a:lnTo>
                  <a:pt x="2219325" y="1905000"/>
                </a:lnTo>
                <a:lnTo>
                  <a:pt x="2228850" y="1914525"/>
                </a:lnTo>
                <a:lnTo>
                  <a:pt x="2238375" y="1914525"/>
                </a:lnTo>
                <a:lnTo>
                  <a:pt x="2247900" y="1924050"/>
                </a:lnTo>
                <a:lnTo>
                  <a:pt x="2257425" y="1924050"/>
                </a:lnTo>
                <a:lnTo>
                  <a:pt x="2266950" y="1933575"/>
                </a:lnTo>
                <a:lnTo>
                  <a:pt x="2276475" y="1933575"/>
                </a:lnTo>
                <a:lnTo>
                  <a:pt x="2286000" y="1943100"/>
                </a:lnTo>
                <a:lnTo>
                  <a:pt x="2333625" y="1943100"/>
                </a:lnTo>
                <a:lnTo>
                  <a:pt x="2362200" y="1914525"/>
                </a:lnTo>
                <a:lnTo>
                  <a:pt x="2362200" y="1895475"/>
                </a:lnTo>
                <a:lnTo>
                  <a:pt x="2371725" y="1885950"/>
                </a:lnTo>
                <a:lnTo>
                  <a:pt x="2371725" y="1838325"/>
                </a:lnTo>
                <a:lnTo>
                  <a:pt x="2381250" y="1828800"/>
                </a:lnTo>
                <a:lnTo>
                  <a:pt x="2381250" y="1809750"/>
                </a:lnTo>
                <a:lnTo>
                  <a:pt x="2428875" y="1762125"/>
                </a:lnTo>
                <a:lnTo>
                  <a:pt x="2476500" y="1762125"/>
                </a:lnTo>
                <a:lnTo>
                  <a:pt x="2495550" y="1781175"/>
                </a:lnTo>
                <a:lnTo>
                  <a:pt x="2505075" y="1781175"/>
                </a:lnTo>
                <a:lnTo>
                  <a:pt x="2543175" y="1819275"/>
                </a:lnTo>
                <a:lnTo>
                  <a:pt x="2543175" y="1828800"/>
                </a:lnTo>
                <a:lnTo>
                  <a:pt x="2609850" y="1895475"/>
                </a:lnTo>
                <a:lnTo>
                  <a:pt x="2619375" y="1895475"/>
                </a:lnTo>
                <a:lnTo>
                  <a:pt x="2628900" y="1905000"/>
                </a:lnTo>
                <a:lnTo>
                  <a:pt x="2657475" y="1905000"/>
                </a:lnTo>
                <a:lnTo>
                  <a:pt x="2667000" y="1914525"/>
                </a:lnTo>
                <a:lnTo>
                  <a:pt x="2857500" y="1914525"/>
                </a:lnTo>
                <a:lnTo>
                  <a:pt x="2886075" y="1943100"/>
                </a:lnTo>
                <a:lnTo>
                  <a:pt x="2895600" y="1943100"/>
                </a:lnTo>
                <a:lnTo>
                  <a:pt x="2905125" y="1952625"/>
                </a:lnTo>
                <a:lnTo>
                  <a:pt x="2924175" y="1952625"/>
                </a:lnTo>
                <a:lnTo>
                  <a:pt x="2933700" y="1962150"/>
                </a:lnTo>
                <a:lnTo>
                  <a:pt x="2962275" y="1962150"/>
                </a:lnTo>
                <a:lnTo>
                  <a:pt x="2971800" y="1971675"/>
                </a:lnTo>
                <a:lnTo>
                  <a:pt x="3076575" y="1971675"/>
                </a:lnTo>
                <a:lnTo>
                  <a:pt x="3086100" y="1981200"/>
                </a:lnTo>
                <a:lnTo>
                  <a:pt x="3105150" y="1981200"/>
                </a:lnTo>
                <a:lnTo>
                  <a:pt x="3143250" y="2019300"/>
                </a:lnTo>
                <a:lnTo>
                  <a:pt x="3143250" y="2028825"/>
                </a:lnTo>
                <a:lnTo>
                  <a:pt x="3152775" y="2038350"/>
                </a:lnTo>
                <a:lnTo>
                  <a:pt x="3152775" y="2057400"/>
                </a:lnTo>
                <a:lnTo>
                  <a:pt x="3162300" y="2066925"/>
                </a:lnTo>
                <a:lnTo>
                  <a:pt x="3162300" y="2105025"/>
                </a:lnTo>
                <a:lnTo>
                  <a:pt x="3171825" y="2114550"/>
                </a:lnTo>
                <a:lnTo>
                  <a:pt x="3171825" y="2219325"/>
                </a:lnTo>
                <a:lnTo>
                  <a:pt x="3133725" y="2257425"/>
                </a:lnTo>
                <a:lnTo>
                  <a:pt x="3124200" y="2257425"/>
                </a:lnTo>
                <a:lnTo>
                  <a:pt x="3114675" y="2266950"/>
                </a:lnTo>
                <a:lnTo>
                  <a:pt x="3105150" y="2266950"/>
                </a:lnTo>
                <a:lnTo>
                  <a:pt x="3095625" y="2276475"/>
                </a:lnTo>
                <a:lnTo>
                  <a:pt x="3076575" y="2276475"/>
                </a:lnTo>
                <a:lnTo>
                  <a:pt x="3048000" y="2305050"/>
                </a:lnTo>
                <a:lnTo>
                  <a:pt x="3038475" y="2305050"/>
                </a:lnTo>
                <a:lnTo>
                  <a:pt x="3009900" y="2333625"/>
                </a:lnTo>
                <a:lnTo>
                  <a:pt x="3000375" y="2333625"/>
                </a:lnTo>
                <a:lnTo>
                  <a:pt x="2990850" y="2343150"/>
                </a:lnTo>
                <a:lnTo>
                  <a:pt x="2971800" y="2343150"/>
                </a:lnTo>
                <a:lnTo>
                  <a:pt x="2962275" y="2333625"/>
                </a:lnTo>
                <a:lnTo>
                  <a:pt x="2933700" y="2333625"/>
                </a:lnTo>
                <a:lnTo>
                  <a:pt x="2924175" y="2324100"/>
                </a:lnTo>
                <a:lnTo>
                  <a:pt x="2876550" y="2324100"/>
                </a:lnTo>
                <a:lnTo>
                  <a:pt x="2867025" y="2314575"/>
                </a:lnTo>
                <a:lnTo>
                  <a:pt x="2828925" y="2314575"/>
                </a:lnTo>
                <a:lnTo>
                  <a:pt x="2819400" y="2324100"/>
                </a:lnTo>
                <a:lnTo>
                  <a:pt x="2743200" y="2324100"/>
                </a:lnTo>
                <a:lnTo>
                  <a:pt x="2733675" y="2333625"/>
                </a:lnTo>
                <a:lnTo>
                  <a:pt x="2714625" y="2333625"/>
                </a:lnTo>
                <a:lnTo>
                  <a:pt x="2705100" y="2343150"/>
                </a:lnTo>
                <a:lnTo>
                  <a:pt x="2695575" y="2343150"/>
                </a:lnTo>
                <a:lnTo>
                  <a:pt x="2686050" y="2352675"/>
                </a:lnTo>
                <a:lnTo>
                  <a:pt x="2676525" y="2352675"/>
                </a:lnTo>
                <a:lnTo>
                  <a:pt x="2628900" y="2400300"/>
                </a:lnTo>
                <a:lnTo>
                  <a:pt x="2628900" y="2409825"/>
                </a:lnTo>
                <a:lnTo>
                  <a:pt x="2619375" y="2419350"/>
                </a:lnTo>
                <a:lnTo>
                  <a:pt x="2619375" y="2428875"/>
                </a:lnTo>
                <a:lnTo>
                  <a:pt x="2609850" y="2438400"/>
                </a:lnTo>
                <a:lnTo>
                  <a:pt x="2609850" y="2514600"/>
                </a:lnTo>
                <a:lnTo>
                  <a:pt x="2619375" y="2524125"/>
                </a:lnTo>
                <a:lnTo>
                  <a:pt x="2619375" y="2533650"/>
                </a:lnTo>
                <a:lnTo>
                  <a:pt x="2628900" y="2543175"/>
                </a:lnTo>
                <a:lnTo>
                  <a:pt x="2628900" y="2552700"/>
                </a:lnTo>
                <a:lnTo>
                  <a:pt x="2686050" y="2609850"/>
                </a:lnTo>
                <a:lnTo>
                  <a:pt x="2695575" y="2609850"/>
                </a:lnTo>
                <a:lnTo>
                  <a:pt x="2733675" y="2647950"/>
                </a:lnTo>
                <a:lnTo>
                  <a:pt x="2733675" y="2657475"/>
                </a:lnTo>
                <a:lnTo>
                  <a:pt x="2743200" y="2667000"/>
                </a:lnTo>
                <a:lnTo>
                  <a:pt x="2743200" y="2705100"/>
                </a:lnTo>
                <a:lnTo>
                  <a:pt x="2752725" y="2714625"/>
                </a:lnTo>
                <a:lnTo>
                  <a:pt x="2752725" y="2743200"/>
                </a:lnTo>
                <a:lnTo>
                  <a:pt x="2762250" y="2752725"/>
                </a:lnTo>
                <a:lnTo>
                  <a:pt x="2762250" y="2771775"/>
                </a:lnTo>
                <a:lnTo>
                  <a:pt x="2771775" y="2781300"/>
                </a:lnTo>
                <a:lnTo>
                  <a:pt x="2771775" y="2790825"/>
                </a:lnTo>
                <a:lnTo>
                  <a:pt x="2838450" y="2857500"/>
                </a:lnTo>
                <a:lnTo>
                  <a:pt x="2847975" y="2857500"/>
                </a:lnTo>
                <a:lnTo>
                  <a:pt x="2876550" y="2886075"/>
                </a:lnTo>
                <a:lnTo>
                  <a:pt x="2876550" y="2895600"/>
                </a:lnTo>
                <a:lnTo>
                  <a:pt x="2886075" y="2905125"/>
                </a:lnTo>
                <a:lnTo>
                  <a:pt x="2886075" y="2924175"/>
                </a:lnTo>
                <a:lnTo>
                  <a:pt x="2895600" y="2933700"/>
                </a:lnTo>
                <a:lnTo>
                  <a:pt x="2895600" y="2990850"/>
                </a:lnTo>
                <a:lnTo>
                  <a:pt x="2905125" y="3000375"/>
                </a:lnTo>
                <a:lnTo>
                  <a:pt x="2905125" y="3019425"/>
                </a:lnTo>
                <a:lnTo>
                  <a:pt x="2924175" y="3038475"/>
                </a:lnTo>
                <a:lnTo>
                  <a:pt x="2924175" y="3048000"/>
                </a:lnTo>
                <a:lnTo>
                  <a:pt x="2933700" y="3057525"/>
                </a:lnTo>
                <a:lnTo>
                  <a:pt x="2933700" y="3067050"/>
                </a:lnTo>
                <a:lnTo>
                  <a:pt x="2952750" y="3086100"/>
                </a:lnTo>
                <a:lnTo>
                  <a:pt x="2952750" y="3124200"/>
                </a:lnTo>
                <a:lnTo>
                  <a:pt x="2943225" y="3133725"/>
                </a:lnTo>
                <a:lnTo>
                  <a:pt x="2933700" y="3133725"/>
                </a:lnTo>
                <a:lnTo>
                  <a:pt x="2924175" y="3143250"/>
                </a:lnTo>
                <a:lnTo>
                  <a:pt x="2886075" y="3143250"/>
                </a:lnTo>
                <a:lnTo>
                  <a:pt x="2876550" y="3133725"/>
                </a:lnTo>
                <a:lnTo>
                  <a:pt x="2867025" y="3133725"/>
                </a:lnTo>
                <a:lnTo>
                  <a:pt x="2857500" y="3124200"/>
                </a:lnTo>
                <a:lnTo>
                  <a:pt x="2857500" y="3114675"/>
                </a:lnTo>
                <a:lnTo>
                  <a:pt x="2847975" y="3105150"/>
                </a:lnTo>
                <a:lnTo>
                  <a:pt x="2847975" y="3095625"/>
                </a:lnTo>
                <a:lnTo>
                  <a:pt x="2838450" y="3086100"/>
                </a:lnTo>
                <a:lnTo>
                  <a:pt x="2838450" y="3076575"/>
                </a:lnTo>
                <a:lnTo>
                  <a:pt x="2828925" y="3067050"/>
                </a:lnTo>
                <a:lnTo>
                  <a:pt x="2828925" y="3057525"/>
                </a:lnTo>
                <a:lnTo>
                  <a:pt x="2819400" y="3048000"/>
                </a:lnTo>
                <a:lnTo>
                  <a:pt x="2819400" y="3038475"/>
                </a:lnTo>
                <a:lnTo>
                  <a:pt x="2809875" y="3028950"/>
                </a:lnTo>
                <a:lnTo>
                  <a:pt x="2800350" y="3028950"/>
                </a:lnTo>
                <a:lnTo>
                  <a:pt x="2790825" y="3019425"/>
                </a:lnTo>
                <a:lnTo>
                  <a:pt x="2781300" y="3019425"/>
                </a:lnTo>
                <a:lnTo>
                  <a:pt x="2771775" y="3009900"/>
                </a:lnTo>
                <a:lnTo>
                  <a:pt x="2752725" y="3009900"/>
                </a:lnTo>
                <a:lnTo>
                  <a:pt x="2743200" y="3000375"/>
                </a:lnTo>
                <a:lnTo>
                  <a:pt x="2705100" y="3000375"/>
                </a:lnTo>
                <a:lnTo>
                  <a:pt x="2695575" y="2990850"/>
                </a:lnTo>
                <a:lnTo>
                  <a:pt x="2571750" y="2990850"/>
                </a:lnTo>
                <a:lnTo>
                  <a:pt x="2562225" y="3000375"/>
                </a:lnTo>
                <a:lnTo>
                  <a:pt x="2543175" y="3000375"/>
                </a:lnTo>
                <a:lnTo>
                  <a:pt x="2533650" y="3009900"/>
                </a:lnTo>
                <a:lnTo>
                  <a:pt x="2514600" y="3009900"/>
                </a:lnTo>
                <a:lnTo>
                  <a:pt x="2505075" y="3019425"/>
                </a:lnTo>
                <a:lnTo>
                  <a:pt x="2476500" y="3019425"/>
                </a:lnTo>
                <a:lnTo>
                  <a:pt x="2466975" y="3028950"/>
                </a:lnTo>
                <a:lnTo>
                  <a:pt x="2343150" y="3028950"/>
                </a:lnTo>
                <a:lnTo>
                  <a:pt x="2333625" y="3038475"/>
                </a:lnTo>
                <a:lnTo>
                  <a:pt x="2286000" y="3038475"/>
                </a:lnTo>
                <a:lnTo>
                  <a:pt x="2276475" y="3048000"/>
                </a:lnTo>
                <a:lnTo>
                  <a:pt x="2247900" y="3048000"/>
                </a:lnTo>
                <a:lnTo>
                  <a:pt x="2238375" y="3057525"/>
                </a:lnTo>
                <a:lnTo>
                  <a:pt x="2209800" y="3057525"/>
                </a:lnTo>
                <a:lnTo>
                  <a:pt x="2200275" y="3067050"/>
                </a:lnTo>
                <a:lnTo>
                  <a:pt x="2124075" y="3067050"/>
                </a:lnTo>
                <a:lnTo>
                  <a:pt x="2105025" y="3048000"/>
                </a:lnTo>
                <a:lnTo>
                  <a:pt x="2105025" y="3028950"/>
                </a:lnTo>
                <a:lnTo>
                  <a:pt x="2095500" y="3019425"/>
                </a:lnTo>
                <a:lnTo>
                  <a:pt x="2095500" y="2971800"/>
                </a:lnTo>
                <a:lnTo>
                  <a:pt x="2085975" y="2962275"/>
                </a:lnTo>
                <a:lnTo>
                  <a:pt x="2085975" y="2943225"/>
                </a:lnTo>
                <a:lnTo>
                  <a:pt x="2066925" y="2924175"/>
                </a:lnTo>
                <a:lnTo>
                  <a:pt x="2047875" y="2924175"/>
                </a:lnTo>
                <a:lnTo>
                  <a:pt x="2019300" y="2952750"/>
                </a:lnTo>
                <a:lnTo>
                  <a:pt x="2019300" y="2971800"/>
                </a:lnTo>
                <a:lnTo>
                  <a:pt x="2009775" y="2981325"/>
                </a:lnTo>
                <a:lnTo>
                  <a:pt x="2009775" y="3019425"/>
                </a:lnTo>
                <a:lnTo>
                  <a:pt x="2019300" y="3028950"/>
                </a:lnTo>
                <a:lnTo>
                  <a:pt x="2019300" y="3038475"/>
                </a:lnTo>
                <a:lnTo>
                  <a:pt x="2028825" y="3048000"/>
                </a:lnTo>
                <a:lnTo>
                  <a:pt x="2038350" y="3048000"/>
                </a:lnTo>
                <a:lnTo>
                  <a:pt x="2047875" y="3057525"/>
                </a:lnTo>
                <a:lnTo>
                  <a:pt x="2057400" y="3057525"/>
                </a:lnTo>
                <a:lnTo>
                  <a:pt x="2085975" y="3086100"/>
                </a:lnTo>
                <a:lnTo>
                  <a:pt x="2085975" y="3095625"/>
                </a:lnTo>
                <a:lnTo>
                  <a:pt x="2047875" y="3133725"/>
                </a:lnTo>
                <a:lnTo>
                  <a:pt x="2038350" y="3133725"/>
                </a:lnTo>
                <a:lnTo>
                  <a:pt x="2028825" y="3143250"/>
                </a:lnTo>
                <a:lnTo>
                  <a:pt x="2019300" y="3143250"/>
                </a:lnTo>
                <a:lnTo>
                  <a:pt x="2000250" y="3162300"/>
                </a:lnTo>
                <a:lnTo>
                  <a:pt x="1990725" y="3162300"/>
                </a:lnTo>
                <a:lnTo>
                  <a:pt x="1990725" y="3171825"/>
                </a:lnTo>
                <a:lnTo>
                  <a:pt x="1981200" y="3181350"/>
                </a:lnTo>
                <a:lnTo>
                  <a:pt x="1981200" y="3190875"/>
                </a:lnTo>
                <a:lnTo>
                  <a:pt x="1971675" y="3200400"/>
                </a:lnTo>
                <a:lnTo>
                  <a:pt x="1971675" y="3238500"/>
                </a:lnTo>
                <a:lnTo>
                  <a:pt x="1962150" y="3248025"/>
                </a:lnTo>
                <a:lnTo>
                  <a:pt x="1962150" y="3333750"/>
                </a:lnTo>
                <a:lnTo>
                  <a:pt x="1971675" y="3343275"/>
                </a:lnTo>
                <a:lnTo>
                  <a:pt x="1971675" y="3362325"/>
                </a:lnTo>
                <a:lnTo>
                  <a:pt x="1981200" y="3371850"/>
                </a:lnTo>
                <a:lnTo>
                  <a:pt x="1990725" y="3371850"/>
                </a:lnTo>
                <a:lnTo>
                  <a:pt x="2000250" y="3381375"/>
                </a:lnTo>
                <a:lnTo>
                  <a:pt x="2019300" y="3381375"/>
                </a:lnTo>
                <a:lnTo>
                  <a:pt x="2057400" y="3419475"/>
                </a:lnTo>
                <a:lnTo>
                  <a:pt x="2057400" y="3476625"/>
                </a:lnTo>
                <a:lnTo>
                  <a:pt x="2047875" y="3486150"/>
                </a:lnTo>
                <a:lnTo>
                  <a:pt x="2047875" y="3495675"/>
                </a:lnTo>
                <a:lnTo>
                  <a:pt x="2038350" y="3505200"/>
                </a:lnTo>
                <a:lnTo>
                  <a:pt x="2038350" y="3533775"/>
                </a:lnTo>
                <a:lnTo>
                  <a:pt x="2047875" y="3543300"/>
                </a:lnTo>
                <a:lnTo>
                  <a:pt x="2047875" y="3552825"/>
                </a:lnTo>
                <a:lnTo>
                  <a:pt x="2057400" y="3562350"/>
                </a:lnTo>
                <a:lnTo>
                  <a:pt x="2057400" y="3571875"/>
                </a:lnTo>
                <a:lnTo>
                  <a:pt x="2085975" y="3600450"/>
                </a:lnTo>
                <a:lnTo>
                  <a:pt x="2085975" y="3609975"/>
                </a:lnTo>
                <a:lnTo>
                  <a:pt x="2105025" y="3629025"/>
                </a:lnTo>
                <a:lnTo>
                  <a:pt x="2105025" y="3657600"/>
                </a:lnTo>
                <a:lnTo>
                  <a:pt x="2114550" y="3667125"/>
                </a:lnTo>
                <a:lnTo>
                  <a:pt x="2105025" y="3676650"/>
                </a:lnTo>
                <a:lnTo>
                  <a:pt x="2105025" y="3705225"/>
                </a:lnTo>
                <a:lnTo>
                  <a:pt x="2095500" y="3714750"/>
                </a:lnTo>
                <a:lnTo>
                  <a:pt x="2095500" y="3724275"/>
                </a:lnTo>
                <a:lnTo>
                  <a:pt x="2085975" y="3733800"/>
                </a:lnTo>
                <a:lnTo>
                  <a:pt x="2085975" y="3743325"/>
                </a:lnTo>
                <a:lnTo>
                  <a:pt x="2057400" y="3771900"/>
                </a:lnTo>
                <a:lnTo>
                  <a:pt x="2038350" y="3771900"/>
                </a:lnTo>
                <a:lnTo>
                  <a:pt x="2028825" y="3762375"/>
                </a:lnTo>
                <a:lnTo>
                  <a:pt x="2019300" y="3762375"/>
                </a:lnTo>
                <a:lnTo>
                  <a:pt x="2000250" y="3743325"/>
                </a:lnTo>
                <a:lnTo>
                  <a:pt x="1990725" y="3743325"/>
                </a:lnTo>
                <a:lnTo>
                  <a:pt x="1981200" y="3733800"/>
                </a:lnTo>
                <a:lnTo>
                  <a:pt x="1971675" y="3733800"/>
                </a:lnTo>
                <a:lnTo>
                  <a:pt x="1933575" y="3695700"/>
                </a:lnTo>
                <a:lnTo>
                  <a:pt x="1933575" y="3686175"/>
                </a:lnTo>
                <a:lnTo>
                  <a:pt x="1924050" y="3676650"/>
                </a:lnTo>
                <a:lnTo>
                  <a:pt x="1924050" y="3667125"/>
                </a:lnTo>
                <a:lnTo>
                  <a:pt x="1914525" y="3657600"/>
                </a:lnTo>
                <a:lnTo>
                  <a:pt x="1914525" y="3629025"/>
                </a:lnTo>
                <a:lnTo>
                  <a:pt x="1905000" y="3619500"/>
                </a:lnTo>
                <a:lnTo>
                  <a:pt x="1905000" y="3419475"/>
                </a:lnTo>
                <a:lnTo>
                  <a:pt x="1895475" y="3409950"/>
                </a:lnTo>
                <a:lnTo>
                  <a:pt x="1857375" y="3409950"/>
                </a:lnTo>
                <a:lnTo>
                  <a:pt x="1847850" y="3400425"/>
                </a:lnTo>
                <a:lnTo>
                  <a:pt x="1771650" y="3400425"/>
                </a:lnTo>
                <a:lnTo>
                  <a:pt x="1762125" y="3390900"/>
                </a:lnTo>
                <a:lnTo>
                  <a:pt x="1724025" y="3390900"/>
                </a:lnTo>
                <a:lnTo>
                  <a:pt x="1714500" y="3381375"/>
                </a:lnTo>
                <a:lnTo>
                  <a:pt x="1685925" y="3381375"/>
                </a:lnTo>
                <a:lnTo>
                  <a:pt x="1676400" y="3371850"/>
                </a:lnTo>
                <a:lnTo>
                  <a:pt x="1657350" y="3371850"/>
                </a:lnTo>
                <a:lnTo>
                  <a:pt x="1647825" y="3362325"/>
                </a:lnTo>
                <a:lnTo>
                  <a:pt x="1628775" y="3362325"/>
                </a:lnTo>
                <a:lnTo>
                  <a:pt x="1619250" y="3352800"/>
                </a:lnTo>
                <a:lnTo>
                  <a:pt x="1609725" y="3352800"/>
                </a:lnTo>
                <a:lnTo>
                  <a:pt x="1600200" y="3343275"/>
                </a:lnTo>
                <a:lnTo>
                  <a:pt x="1590675" y="3343275"/>
                </a:lnTo>
                <a:lnTo>
                  <a:pt x="1581150" y="3333750"/>
                </a:lnTo>
                <a:lnTo>
                  <a:pt x="1562100" y="3333750"/>
                </a:lnTo>
                <a:lnTo>
                  <a:pt x="1552575" y="3324225"/>
                </a:lnTo>
                <a:lnTo>
                  <a:pt x="1533525" y="3324225"/>
                </a:lnTo>
                <a:lnTo>
                  <a:pt x="1524000" y="3314700"/>
                </a:lnTo>
                <a:lnTo>
                  <a:pt x="1485900" y="3314700"/>
                </a:lnTo>
                <a:lnTo>
                  <a:pt x="1476375" y="3305175"/>
                </a:lnTo>
                <a:lnTo>
                  <a:pt x="1419225" y="3305175"/>
                </a:lnTo>
                <a:lnTo>
                  <a:pt x="1409700" y="3295650"/>
                </a:lnTo>
                <a:lnTo>
                  <a:pt x="1381125" y="3295650"/>
                </a:lnTo>
                <a:lnTo>
                  <a:pt x="1371600" y="3286125"/>
                </a:lnTo>
                <a:lnTo>
                  <a:pt x="1362075" y="3286125"/>
                </a:lnTo>
                <a:lnTo>
                  <a:pt x="1352550" y="3276600"/>
                </a:lnTo>
                <a:lnTo>
                  <a:pt x="1343025" y="3276600"/>
                </a:lnTo>
                <a:lnTo>
                  <a:pt x="1323975" y="3257550"/>
                </a:lnTo>
                <a:lnTo>
                  <a:pt x="1314450" y="3257550"/>
                </a:lnTo>
                <a:lnTo>
                  <a:pt x="1304925" y="3248025"/>
                </a:lnTo>
                <a:lnTo>
                  <a:pt x="1295400" y="3248025"/>
                </a:lnTo>
                <a:lnTo>
                  <a:pt x="1285875" y="3238500"/>
                </a:lnTo>
                <a:lnTo>
                  <a:pt x="1266825" y="3238500"/>
                </a:lnTo>
                <a:lnTo>
                  <a:pt x="1257300" y="3248025"/>
                </a:lnTo>
                <a:lnTo>
                  <a:pt x="1247775" y="3248025"/>
                </a:lnTo>
                <a:lnTo>
                  <a:pt x="1228725" y="3267075"/>
                </a:lnTo>
                <a:lnTo>
                  <a:pt x="1228725" y="3276600"/>
                </a:lnTo>
                <a:lnTo>
                  <a:pt x="1219200" y="3286125"/>
                </a:lnTo>
                <a:lnTo>
                  <a:pt x="1219200" y="3295650"/>
                </a:lnTo>
                <a:lnTo>
                  <a:pt x="1200150" y="3314700"/>
                </a:lnTo>
                <a:lnTo>
                  <a:pt x="1200150" y="3324225"/>
                </a:lnTo>
                <a:lnTo>
                  <a:pt x="1190625" y="3333750"/>
                </a:lnTo>
                <a:lnTo>
                  <a:pt x="1190625" y="3343275"/>
                </a:lnTo>
                <a:lnTo>
                  <a:pt x="1181100" y="3352800"/>
                </a:lnTo>
                <a:lnTo>
                  <a:pt x="1181100" y="3362325"/>
                </a:lnTo>
                <a:lnTo>
                  <a:pt x="1171575" y="3371850"/>
                </a:lnTo>
                <a:lnTo>
                  <a:pt x="1171575" y="3381375"/>
                </a:lnTo>
                <a:lnTo>
                  <a:pt x="1162050" y="3390900"/>
                </a:lnTo>
                <a:lnTo>
                  <a:pt x="1162050" y="3400425"/>
                </a:lnTo>
                <a:lnTo>
                  <a:pt x="1152525" y="3409950"/>
                </a:lnTo>
                <a:lnTo>
                  <a:pt x="1152525" y="3429000"/>
                </a:lnTo>
                <a:lnTo>
                  <a:pt x="1143000" y="3438525"/>
                </a:lnTo>
                <a:lnTo>
                  <a:pt x="1143000" y="3457575"/>
                </a:lnTo>
                <a:lnTo>
                  <a:pt x="1133475" y="3467100"/>
                </a:lnTo>
                <a:lnTo>
                  <a:pt x="1133475" y="3514725"/>
                </a:lnTo>
                <a:lnTo>
                  <a:pt x="1123950" y="3524250"/>
                </a:lnTo>
                <a:lnTo>
                  <a:pt x="1133475" y="3533775"/>
                </a:lnTo>
                <a:lnTo>
                  <a:pt x="1133475" y="3581400"/>
                </a:lnTo>
                <a:lnTo>
                  <a:pt x="1143000" y="3590925"/>
                </a:lnTo>
                <a:lnTo>
                  <a:pt x="1143000" y="3609975"/>
                </a:lnTo>
                <a:lnTo>
                  <a:pt x="1152525" y="3619500"/>
                </a:lnTo>
                <a:lnTo>
                  <a:pt x="1152525" y="3638550"/>
                </a:lnTo>
                <a:lnTo>
                  <a:pt x="1162050" y="3648075"/>
                </a:lnTo>
                <a:lnTo>
                  <a:pt x="1162050" y="3667125"/>
                </a:lnTo>
                <a:lnTo>
                  <a:pt x="1171575" y="3676650"/>
                </a:lnTo>
                <a:lnTo>
                  <a:pt x="1171575" y="3695700"/>
                </a:lnTo>
                <a:lnTo>
                  <a:pt x="1181100" y="3705225"/>
                </a:lnTo>
                <a:lnTo>
                  <a:pt x="1181100" y="3733800"/>
                </a:lnTo>
                <a:lnTo>
                  <a:pt x="1190625" y="3743325"/>
                </a:lnTo>
                <a:lnTo>
                  <a:pt x="1190625" y="3762375"/>
                </a:lnTo>
                <a:lnTo>
                  <a:pt x="1200150" y="3771900"/>
                </a:lnTo>
                <a:lnTo>
                  <a:pt x="1200150" y="3781425"/>
                </a:lnTo>
                <a:lnTo>
                  <a:pt x="1209675" y="3790950"/>
                </a:lnTo>
                <a:lnTo>
                  <a:pt x="1209675" y="3800475"/>
                </a:lnTo>
                <a:lnTo>
                  <a:pt x="1295400" y="3886200"/>
                </a:lnTo>
                <a:lnTo>
                  <a:pt x="1295400" y="3905250"/>
                </a:lnTo>
                <a:lnTo>
                  <a:pt x="1304925" y="3914775"/>
                </a:lnTo>
                <a:lnTo>
                  <a:pt x="1304925" y="3933825"/>
                </a:lnTo>
                <a:lnTo>
                  <a:pt x="1314450" y="3943350"/>
                </a:lnTo>
                <a:lnTo>
                  <a:pt x="1314450" y="3971925"/>
                </a:lnTo>
                <a:lnTo>
                  <a:pt x="1323975" y="3981450"/>
                </a:lnTo>
                <a:lnTo>
                  <a:pt x="1323975" y="3990975"/>
                </a:lnTo>
                <a:lnTo>
                  <a:pt x="1333500" y="4000500"/>
                </a:lnTo>
                <a:lnTo>
                  <a:pt x="1333500" y="4010025"/>
                </a:lnTo>
                <a:lnTo>
                  <a:pt x="1371600" y="4048125"/>
                </a:lnTo>
                <a:lnTo>
                  <a:pt x="1371600" y="4057650"/>
                </a:lnTo>
                <a:lnTo>
                  <a:pt x="1400175" y="4086225"/>
                </a:lnTo>
                <a:lnTo>
                  <a:pt x="1400175" y="4095750"/>
                </a:lnTo>
                <a:lnTo>
                  <a:pt x="1466850" y="4162425"/>
                </a:lnTo>
                <a:lnTo>
                  <a:pt x="1476375" y="4162425"/>
                </a:lnTo>
                <a:lnTo>
                  <a:pt x="1485900" y="4171950"/>
                </a:lnTo>
                <a:lnTo>
                  <a:pt x="1514475" y="4171950"/>
                </a:lnTo>
                <a:lnTo>
                  <a:pt x="1524000" y="4181475"/>
                </a:lnTo>
                <a:lnTo>
                  <a:pt x="1590675" y="4181475"/>
                </a:lnTo>
                <a:lnTo>
                  <a:pt x="1600200" y="4171950"/>
                </a:lnTo>
                <a:lnTo>
                  <a:pt x="1685925" y="4171950"/>
                </a:lnTo>
                <a:lnTo>
                  <a:pt x="1695450" y="4181475"/>
                </a:lnTo>
                <a:lnTo>
                  <a:pt x="1704975" y="4181475"/>
                </a:lnTo>
                <a:lnTo>
                  <a:pt x="1733550" y="4210050"/>
                </a:lnTo>
                <a:lnTo>
                  <a:pt x="1733550" y="4248150"/>
                </a:lnTo>
                <a:lnTo>
                  <a:pt x="1743075" y="4257675"/>
                </a:lnTo>
                <a:lnTo>
                  <a:pt x="1838325" y="4257675"/>
                </a:lnTo>
                <a:lnTo>
                  <a:pt x="1838325" y="4248150"/>
                </a:lnTo>
                <a:lnTo>
                  <a:pt x="1828800" y="4238625"/>
                </a:lnTo>
                <a:lnTo>
                  <a:pt x="1828800" y="4181475"/>
                </a:lnTo>
                <a:lnTo>
                  <a:pt x="1819275" y="4171950"/>
                </a:lnTo>
                <a:lnTo>
                  <a:pt x="1819275" y="4162425"/>
                </a:lnTo>
                <a:lnTo>
                  <a:pt x="1809750" y="4152900"/>
                </a:lnTo>
                <a:lnTo>
                  <a:pt x="1809750" y="4143375"/>
                </a:lnTo>
                <a:lnTo>
                  <a:pt x="1800225" y="4133850"/>
                </a:lnTo>
                <a:lnTo>
                  <a:pt x="1800225" y="4114800"/>
                </a:lnTo>
                <a:lnTo>
                  <a:pt x="1790700" y="4105275"/>
                </a:lnTo>
                <a:lnTo>
                  <a:pt x="1790700" y="4038600"/>
                </a:lnTo>
                <a:lnTo>
                  <a:pt x="1800225" y="4029075"/>
                </a:lnTo>
                <a:lnTo>
                  <a:pt x="1800225" y="4019550"/>
                </a:lnTo>
                <a:lnTo>
                  <a:pt x="1857375" y="3962400"/>
                </a:lnTo>
                <a:lnTo>
                  <a:pt x="1866900" y="3962400"/>
                </a:lnTo>
                <a:lnTo>
                  <a:pt x="1914525" y="3914775"/>
                </a:lnTo>
                <a:lnTo>
                  <a:pt x="1924050" y="3914775"/>
                </a:lnTo>
                <a:lnTo>
                  <a:pt x="1952625" y="3886200"/>
                </a:lnTo>
                <a:lnTo>
                  <a:pt x="1962150" y="3886200"/>
                </a:lnTo>
                <a:lnTo>
                  <a:pt x="1981200" y="3867150"/>
                </a:lnTo>
                <a:lnTo>
                  <a:pt x="1990725" y="3867150"/>
                </a:lnTo>
                <a:lnTo>
                  <a:pt x="2028825" y="3829050"/>
                </a:lnTo>
                <a:lnTo>
                  <a:pt x="2038350" y="3829050"/>
                </a:lnTo>
                <a:lnTo>
                  <a:pt x="2047875" y="3819525"/>
                </a:lnTo>
                <a:lnTo>
                  <a:pt x="2076450" y="3819525"/>
                </a:lnTo>
                <a:lnTo>
                  <a:pt x="2085975" y="3829050"/>
                </a:lnTo>
                <a:lnTo>
                  <a:pt x="2095500" y="3829050"/>
                </a:lnTo>
                <a:lnTo>
                  <a:pt x="2114550" y="3848100"/>
                </a:lnTo>
                <a:lnTo>
                  <a:pt x="2124075" y="3848100"/>
                </a:lnTo>
                <a:lnTo>
                  <a:pt x="2133600" y="3857625"/>
                </a:lnTo>
                <a:lnTo>
                  <a:pt x="2219325" y="3857625"/>
                </a:lnTo>
                <a:lnTo>
                  <a:pt x="2228850" y="3848100"/>
                </a:lnTo>
                <a:lnTo>
                  <a:pt x="2238375" y="3848100"/>
                </a:lnTo>
                <a:lnTo>
                  <a:pt x="2247900" y="3838575"/>
                </a:lnTo>
                <a:lnTo>
                  <a:pt x="2257425" y="3838575"/>
                </a:lnTo>
                <a:lnTo>
                  <a:pt x="2276475" y="3819525"/>
                </a:lnTo>
                <a:lnTo>
                  <a:pt x="2286000" y="3819525"/>
                </a:lnTo>
                <a:lnTo>
                  <a:pt x="2295525" y="3810000"/>
                </a:lnTo>
                <a:lnTo>
                  <a:pt x="2305050" y="3810000"/>
                </a:lnTo>
                <a:lnTo>
                  <a:pt x="2314575" y="3800475"/>
                </a:lnTo>
                <a:lnTo>
                  <a:pt x="2333625" y="3800475"/>
                </a:lnTo>
                <a:lnTo>
                  <a:pt x="2343150" y="3790950"/>
                </a:lnTo>
                <a:lnTo>
                  <a:pt x="2381250" y="3790950"/>
                </a:lnTo>
                <a:lnTo>
                  <a:pt x="2390775" y="3800475"/>
                </a:lnTo>
                <a:lnTo>
                  <a:pt x="2457450" y="3800475"/>
                </a:lnTo>
                <a:lnTo>
                  <a:pt x="2466975" y="3790950"/>
                </a:lnTo>
                <a:lnTo>
                  <a:pt x="2495550" y="3790950"/>
                </a:lnTo>
                <a:lnTo>
                  <a:pt x="2505075" y="3781425"/>
                </a:lnTo>
                <a:lnTo>
                  <a:pt x="2524125" y="3781425"/>
                </a:lnTo>
                <a:lnTo>
                  <a:pt x="2543175" y="3762375"/>
                </a:lnTo>
                <a:lnTo>
                  <a:pt x="2552700" y="3762375"/>
                </a:lnTo>
                <a:lnTo>
                  <a:pt x="2562225" y="3752850"/>
                </a:lnTo>
                <a:lnTo>
                  <a:pt x="2571750" y="3752850"/>
                </a:lnTo>
                <a:lnTo>
                  <a:pt x="2581275" y="3743325"/>
                </a:lnTo>
                <a:lnTo>
                  <a:pt x="2590800" y="3743325"/>
                </a:lnTo>
                <a:lnTo>
                  <a:pt x="2600325" y="3733800"/>
                </a:lnTo>
                <a:lnTo>
                  <a:pt x="2609850" y="3733800"/>
                </a:lnTo>
                <a:lnTo>
                  <a:pt x="2619375" y="3724275"/>
                </a:lnTo>
                <a:lnTo>
                  <a:pt x="2628900" y="3724275"/>
                </a:lnTo>
                <a:lnTo>
                  <a:pt x="2638425" y="3714750"/>
                </a:lnTo>
                <a:lnTo>
                  <a:pt x="2667000" y="3714750"/>
                </a:lnTo>
                <a:lnTo>
                  <a:pt x="2676525" y="3705225"/>
                </a:lnTo>
                <a:lnTo>
                  <a:pt x="2724150" y="3705225"/>
                </a:lnTo>
                <a:lnTo>
                  <a:pt x="2733675" y="3695700"/>
                </a:lnTo>
                <a:lnTo>
                  <a:pt x="2752725" y="3695700"/>
                </a:lnTo>
                <a:lnTo>
                  <a:pt x="2762250" y="3705225"/>
                </a:lnTo>
                <a:lnTo>
                  <a:pt x="2838450" y="3705225"/>
                </a:lnTo>
                <a:lnTo>
                  <a:pt x="2847975" y="3714750"/>
                </a:lnTo>
                <a:lnTo>
                  <a:pt x="2933700" y="3714750"/>
                </a:lnTo>
                <a:lnTo>
                  <a:pt x="2943225" y="3705225"/>
                </a:lnTo>
                <a:lnTo>
                  <a:pt x="2952750" y="3705225"/>
                </a:lnTo>
                <a:lnTo>
                  <a:pt x="2962275" y="3695700"/>
                </a:lnTo>
                <a:lnTo>
                  <a:pt x="2971800" y="3695700"/>
                </a:lnTo>
                <a:lnTo>
                  <a:pt x="3009900" y="3657600"/>
                </a:lnTo>
                <a:lnTo>
                  <a:pt x="3095625" y="3657600"/>
                </a:lnTo>
                <a:lnTo>
                  <a:pt x="3105150" y="3648075"/>
                </a:lnTo>
                <a:lnTo>
                  <a:pt x="3114675" y="3648075"/>
                </a:lnTo>
                <a:lnTo>
                  <a:pt x="3133725" y="3629025"/>
                </a:lnTo>
                <a:lnTo>
                  <a:pt x="3143250" y="3629025"/>
                </a:lnTo>
                <a:lnTo>
                  <a:pt x="3181350" y="3590925"/>
                </a:lnTo>
                <a:lnTo>
                  <a:pt x="3190875" y="3590925"/>
                </a:lnTo>
                <a:lnTo>
                  <a:pt x="3200400" y="3581400"/>
                </a:lnTo>
                <a:lnTo>
                  <a:pt x="3219450" y="3581400"/>
                </a:lnTo>
                <a:lnTo>
                  <a:pt x="3228975" y="3571875"/>
                </a:lnTo>
                <a:lnTo>
                  <a:pt x="3257550" y="3571875"/>
                </a:lnTo>
                <a:lnTo>
                  <a:pt x="3267075" y="3562350"/>
                </a:lnTo>
                <a:lnTo>
                  <a:pt x="3371850" y="3562350"/>
                </a:lnTo>
                <a:lnTo>
                  <a:pt x="3381375" y="3552825"/>
                </a:lnTo>
                <a:lnTo>
                  <a:pt x="3429000" y="3552825"/>
                </a:lnTo>
                <a:lnTo>
                  <a:pt x="3438525" y="3543300"/>
                </a:lnTo>
                <a:lnTo>
                  <a:pt x="3457575" y="3543300"/>
                </a:lnTo>
                <a:lnTo>
                  <a:pt x="3467100" y="3533775"/>
                </a:lnTo>
                <a:lnTo>
                  <a:pt x="3476625" y="3533775"/>
                </a:lnTo>
                <a:lnTo>
                  <a:pt x="3505200" y="3505200"/>
                </a:lnTo>
                <a:lnTo>
                  <a:pt x="3514725" y="3505200"/>
                </a:lnTo>
                <a:lnTo>
                  <a:pt x="3571875" y="3448050"/>
                </a:lnTo>
                <a:lnTo>
                  <a:pt x="3581400" y="3448050"/>
                </a:lnTo>
                <a:lnTo>
                  <a:pt x="3590925" y="3438525"/>
                </a:lnTo>
                <a:lnTo>
                  <a:pt x="3600450" y="3438525"/>
                </a:lnTo>
                <a:lnTo>
                  <a:pt x="3609975" y="3429000"/>
                </a:lnTo>
                <a:lnTo>
                  <a:pt x="3619500" y="3429000"/>
                </a:lnTo>
                <a:lnTo>
                  <a:pt x="3629025" y="3419475"/>
                </a:lnTo>
                <a:lnTo>
                  <a:pt x="3629025" y="3400425"/>
                </a:lnTo>
                <a:lnTo>
                  <a:pt x="3638550" y="3390900"/>
                </a:lnTo>
                <a:lnTo>
                  <a:pt x="3638550" y="3381375"/>
                </a:lnTo>
                <a:lnTo>
                  <a:pt x="3629025" y="3371850"/>
                </a:lnTo>
                <a:lnTo>
                  <a:pt x="3629025" y="3333750"/>
                </a:lnTo>
                <a:lnTo>
                  <a:pt x="3619500" y="3324225"/>
                </a:lnTo>
                <a:lnTo>
                  <a:pt x="3619500" y="3295650"/>
                </a:lnTo>
                <a:lnTo>
                  <a:pt x="3609975" y="3286125"/>
                </a:lnTo>
                <a:lnTo>
                  <a:pt x="3609975" y="3257550"/>
                </a:lnTo>
                <a:lnTo>
                  <a:pt x="3600450" y="3248025"/>
                </a:lnTo>
                <a:lnTo>
                  <a:pt x="3600450" y="3228975"/>
                </a:lnTo>
                <a:lnTo>
                  <a:pt x="3590925" y="3219450"/>
                </a:lnTo>
                <a:lnTo>
                  <a:pt x="3590925" y="3190875"/>
                </a:lnTo>
                <a:lnTo>
                  <a:pt x="3581400" y="3181350"/>
                </a:lnTo>
                <a:lnTo>
                  <a:pt x="3581400" y="3028950"/>
                </a:lnTo>
                <a:lnTo>
                  <a:pt x="3571875" y="3019425"/>
                </a:lnTo>
                <a:lnTo>
                  <a:pt x="3571875" y="2981325"/>
                </a:lnTo>
                <a:lnTo>
                  <a:pt x="3552825" y="2962275"/>
                </a:lnTo>
                <a:lnTo>
                  <a:pt x="3552825" y="2952750"/>
                </a:lnTo>
                <a:lnTo>
                  <a:pt x="3543300" y="2952750"/>
                </a:lnTo>
                <a:lnTo>
                  <a:pt x="3533775" y="2943225"/>
                </a:lnTo>
                <a:lnTo>
                  <a:pt x="3524250" y="2943225"/>
                </a:lnTo>
                <a:lnTo>
                  <a:pt x="3514725" y="2933700"/>
                </a:lnTo>
                <a:lnTo>
                  <a:pt x="3476625" y="2933700"/>
                </a:lnTo>
                <a:lnTo>
                  <a:pt x="3467100" y="2924175"/>
                </a:lnTo>
                <a:lnTo>
                  <a:pt x="3457575" y="2924175"/>
                </a:lnTo>
                <a:lnTo>
                  <a:pt x="3429000" y="2895600"/>
                </a:lnTo>
                <a:lnTo>
                  <a:pt x="3429000" y="2876550"/>
                </a:lnTo>
                <a:lnTo>
                  <a:pt x="3419475" y="2867025"/>
                </a:lnTo>
                <a:lnTo>
                  <a:pt x="3419475" y="2828925"/>
                </a:lnTo>
                <a:lnTo>
                  <a:pt x="3429000" y="2819400"/>
                </a:lnTo>
                <a:lnTo>
                  <a:pt x="3429000" y="2781300"/>
                </a:lnTo>
                <a:lnTo>
                  <a:pt x="3438525" y="2771775"/>
                </a:lnTo>
                <a:lnTo>
                  <a:pt x="3438525" y="2752725"/>
                </a:lnTo>
                <a:lnTo>
                  <a:pt x="3457575" y="2733675"/>
                </a:lnTo>
                <a:lnTo>
                  <a:pt x="3457575" y="2724150"/>
                </a:lnTo>
                <a:lnTo>
                  <a:pt x="3486150" y="2695575"/>
                </a:lnTo>
                <a:lnTo>
                  <a:pt x="3495675" y="2695575"/>
                </a:lnTo>
                <a:lnTo>
                  <a:pt x="3514725" y="2676525"/>
                </a:lnTo>
                <a:lnTo>
                  <a:pt x="3524250" y="2676525"/>
                </a:lnTo>
                <a:lnTo>
                  <a:pt x="3533775" y="2667000"/>
                </a:lnTo>
                <a:lnTo>
                  <a:pt x="3543300" y="2667000"/>
                </a:lnTo>
                <a:lnTo>
                  <a:pt x="3552825" y="2657475"/>
                </a:lnTo>
                <a:lnTo>
                  <a:pt x="3562350" y="2657475"/>
                </a:lnTo>
                <a:lnTo>
                  <a:pt x="3571875" y="2647950"/>
                </a:lnTo>
                <a:lnTo>
                  <a:pt x="3581400" y="2647950"/>
                </a:lnTo>
                <a:lnTo>
                  <a:pt x="3609975" y="2619375"/>
                </a:lnTo>
                <a:lnTo>
                  <a:pt x="3609975" y="2609850"/>
                </a:lnTo>
                <a:lnTo>
                  <a:pt x="3619500" y="2600325"/>
                </a:lnTo>
                <a:lnTo>
                  <a:pt x="3619500" y="2590800"/>
                </a:lnTo>
                <a:lnTo>
                  <a:pt x="3609975" y="2581275"/>
                </a:lnTo>
                <a:lnTo>
                  <a:pt x="3609975" y="2571750"/>
                </a:lnTo>
                <a:lnTo>
                  <a:pt x="3600450" y="2562225"/>
                </a:lnTo>
                <a:lnTo>
                  <a:pt x="3600450" y="2552700"/>
                </a:lnTo>
                <a:lnTo>
                  <a:pt x="3524250" y="2476500"/>
                </a:lnTo>
                <a:lnTo>
                  <a:pt x="3514725" y="2476500"/>
                </a:lnTo>
                <a:lnTo>
                  <a:pt x="3467100" y="2428875"/>
                </a:lnTo>
                <a:lnTo>
                  <a:pt x="3467100" y="2409825"/>
                </a:lnTo>
                <a:lnTo>
                  <a:pt x="3457575" y="2400300"/>
                </a:lnTo>
                <a:lnTo>
                  <a:pt x="3457575" y="2238375"/>
                </a:lnTo>
                <a:lnTo>
                  <a:pt x="3448050" y="2228850"/>
                </a:lnTo>
                <a:lnTo>
                  <a:pt x="3448050" y="2209800"/>
                </a:lnTo>
                <a:lnTo>
                  <a:pt x="3438525" y="2200275"/>
                </a:lnTo>
                <a:lnTo>
                  <a:pt x="3438525" y="2190750"/>
                </a:lnTo>
                <a:lnTo>
                  <a:pt x="3409950" y="2162175"/>
                </a:lnTo>
                <a:lnTo>
                  <a:pt x="3409950" y="2152650"/>
                </a:lnTo>
                <a:lnTo>
                  <a:pt x="3400425" y="2143125"/>
                </a:lnTo>
                <a:lnTo>
                  <a:pt x="3400425" y="2124075"/>
                </a:lnTo>
                <a:lnTo>
                  <a:pt x="3390900" y="2114550"/>
                </a:lnTo>
                <a:lnTo>
                  <a:pt x="3390900" y="2095500"/>
                </a:lnTo>
                <a:lnTo>
                  <a:pt x="3381375" y="2085975"/>
                </a:lnTo>
                <a:lnTo>
                  <a:pt x="3381375" y="1933575"/>
                </a:lnTo>
                <a:lnTo>
                  <a:pt x="3390900" y="1924050"/>
                </a:lnTo>
                <a:lnTo>
                  <a:pt x="3390900" y="1914525"/>
                </a:lnTo>
                <a:lnTo>
                  <a:pt x="3409950" y="1895475"/>
                </a:lnTo>
                <a:lnTo>
                  <a:pt x="3409950" y="1885950"/>
                </a:lnTo>
                <a:lnTo>
                  <a:pt x="3438525" y="1857375"/>
                </a:lnTo>
                <a:lnTo>
                  <a:pt x="3438525" y="1847850"/>
                </a:lnTo>
                <a:lnTo>
                  <a:pt x="3448050" y="1838325"/>
                </a:lnTo>
                <a:lnTo>
                  <a:pt x="3448050" y="1809750"/>
                </a:lnTo>
                <a:lnTo>
                  <a:pt x="3457575" y="1800225"/>
                </a:lnTo>
                <a:lnTo>
                  <a:pt x="3457575" y="1781175"/>
                </a:lnTo>
                <a:lnTo>
                  <a:pt x="3448050" y="1771650"/>
                </a:lnTo>
                <a:lnTo>
                  <a:pt x="3448050" y="1752600"/>
                </a:lnTo>
                <a:lnTo>
                  <a:pt x="3438525" y="1743075"/>
                </a:lnTo>
                <a:lnTo>
                  <a:pt x="3438525" y="1733550"/>
                </a:lnTo>
                <a:lnTo>
                  <a:pt x="3409950" y="1704975"/>
                </a:lnTo>
                <a:lnTo>
                  <a:pt x="3400425" y="1704975"/>
                </a:lnTo>
                <a:lnTo>
                  <a:pt x="3352800" y="1657350"/>
                </a:lnTo>
                <a:lnTo>
                  <a:pt x="3352800" y="1647825"/>
                </a:lnTo>
                <a:lnTo>
                  <a:pt x="3343275" y="1638300"/>
                </a:lnTo>
                <a:lnTo>
                  <a:pt x="3343275" y="1533525"/>
                </a:lnTo>
                <a:lnTo>
                  <a:pt x="3333750" y="1524000"/>
                </a:lnTo>
                <a:lnTo>
                  <a:pt x="3333750" y="1504950"/>
                </a:lnTo>
                <a:lnTo>
                  <a:pt x="3314700" y="1485900"/>
                </a:lnTo>
                <a:lnTo>
                  <a:pt x="3314700" y="1476375"/>
                </a:lnTo>
                <a:lnTo>
                  <a:pt x="3295650" y="1457325"/>
                </a:lnTo>
                <a:lnTo>
                  <a:pt x="3286125" y="1457325"/>
                </a:lnTo>
                <a:lnTo>
                  <a:pt x="3267075" y="1438275"/>
                </a:lnTo>
                <a:lnTo>
                  <a:pt x="3257550" y="1438275"/>
                </a:lnTo>
                <a:lnTo>
                  <a:pt x="3248025" y="1428750"/>
                </a:lnTo>
                <a:lnTo>
                  <a:pt x="3181350" y="1428750"/>
                </a:lnTo>
                <a:lnTo>
                  <a:pt x="3171825" y="1438275"/>
                </a:lnTo>
                <a:lnTo>
                  <a:pt x="3152775" y="1438275"/>
                </a:lnTo>
                <a:lnTo>
                  <a:pt x="3143250" y="1428750"/>
                </a:lnTo>
                <a:lnTo>
                  <a:pt x="3133725" y="1428750"/>
                </a:lnTo>
                <a:lnTo>
                  <a:pt x="3105150" y="1400175"/>
                </a:lnTo>
                <a:lnTo>
                  <a:pt x="3105150" y="1390650"/>
                </a:lnTo>
                <a:lnTo>
                  <a:pt x="3124200" y="1371600"/>
                </a:lnTo>
                <a:lnTo>
                  <a:pt x="3133725" y="1371600"/>
                </a:lnTo>
                <a:lnTo>
                  <a:pt x="3143250" y="1362075"/>
                </a:lnTo>
                <a:lnTo>
                  <a:pt x="3152775" y="1371600"/>
                </a:lnTo>
                <a:lnTo>
                  <a:pt x="3181350" y="1371600"/>
                </a:lnTo>
                <a:lnTo>
                  <a:pt x="3190875" y="1381125"/>
                </a:lnTo>
                <a:lnTo>
                  <a:pt x="3238500" y="1381125"/>
                </a:lnTo>
                <a:lnTo>
                  <a:pt x="3248025" y="1371600"/>
                </a:lnTo>
                <a:lnTo>
                  <a:pt x="3257550" y="1371600"/>
                </a:lnTo>
                <a:lnTo>
                  <a:pt x="3276600" y="1352550"/>
                </a:lnTo>
                <a:lnTo>
                  <a:pt x="3286125" y="1352550"/>
                </a:lnTo>
                <a:lnTo>
                  <a:pt x="3295650" y="1343025"/>
                </a:lnTo>
                <a:lnTo>
                  <a:pt x="3295650" y="1333500"/>
                </a:lnTo>
                <a:lnTo>
                  <a:pt x="3314700" y="1314450"/>
                </a:lnTo>
                <a:lnTo>
                  <a:pt x="3314700" y="1304925"/>
                </a:lnTo>
                <a:lnTo>
                  <a:pt x="3324225" y="1295400"/>
                </a:lnTo>
                <a:lnTo>
                  <a:pt x="3324225" y="1228725"/>
                </a:lnTo>
                <a:lnTo>
                  <a:pt x="3314700" y="1219200"/>
                </a:lnTo>
                <a:lnTo>
                  <a:pt x="3314700" y="1200150"/>
                </a:lnTo>
                <a:lnTo>
                  <a:pt x="3305175" y="1190625"/>
                </a:lnTo>
                <a:lnTo>
                  <a:pt x="3305175" y="1181100"/>
                </a:lnTo>
                <a:lnTo>
                  <a:pt x="3276600" y="1152525"/>
                </a:lnTo>
                <a:lnTo>
                  <a:pt x="3276600" y="1143000"/>
                </a:lnTo>
                <a:lnTo>
                  <a:pt x="3267075" y="1143000"/>
                </a:lnTo>
                <a:lnTo>
                  <a:pt x="3228975" y="1104900"/>
                </a:lnTo>
                <a:lnTo>
                  <a:pt x="3219450" y="1104900"/>
                </a:lnTo>
                <a:lnTo>
                  <a:pt x="3209925" y="1095375"/>
                </a:lnTo>
                <a:lnTo>
                  <a:pt x="3209925" y="1085850"/>
                </a:lnTo>
                <a:lnTo>
                  <a:pt x="3190875" y="1066800"/>
                </a:lnTo>
                <a:lnTo>
                  <a:pt x="3190875" y="1047750"/>
                </a:lnTo>
                <a:lnTo>
                  <a:pt x="3181350" y="1038225"/>
                </a:lnTo>
                <a:lnTo>
                  <a:pt x="3181350" y="981075"/>
                </a:lnTo>
                <a:lnTo>
                  <a:pt x="3190875" y="971550"/>
                </a:lnTo>
                <a:lnTo>
                  <a:pt x="3190875" y="952500"/>
                </a:lnTo>
                <a:lnTo>
                  <a:pt x="3200400" y="942975"/>
                </a:lnTo>
                <a:lnTo>
                  <a:pt x="3200400" y="933450"/>
                </a:lnTo>
                <a:lnTo>
                  <a:pt x="3209925" y="923925"/>
                </a:lnTo>
                <a:lnTo>
                  <a:pt x="3209925" y="914400"/>
                </a:lnTo>
                <a:lnTo>
                  <a:pt x="3248025" y="876300"/>
                </a:lnTo>
                <a:lnTo>
                  <a:pt x="3248025" y="866775"/>
                </a:lnTo>
                <a:lnTo>
                  <a:pt x="3257550" y="857250"/>
                </a:lnTo>
                <a:lnTo>
                  <a:pt x="3257550" y="847725"/>
                </a:lnTo>
                <a:lnTo>
                  <a:pt x="3267075" y="838200"/>
                </a:lnTo>
                <a:lnTo>
                  <a:pt x="3267075" y="771525"/>
                </a:lnTo>
                <a:lnTo>
                  <a:pt x="3257550" y="762000"/>
                </a:lnTo>
                <a:lnTo>
                  <a:pt x="3257550" y="742950"/>
                </a:lnTo>
                <a:lnTo>
                  <a:pt x="3248025" y="733425"/>
                </a:lnTo>
                <a:lnTo>
                  <a:pt x="3248025" y="723900"/>
                </a:lnTo>
                <a:lnTo>
                  <a:pt x="3238500" y="714375"/>
                </a:lnTo>
                <a:lnTo>
                  <a:pt x="3238500" y="704850"/>
                </a:lnTo>
                <a:lnTo>
                  <a:pt x="3228975" y="695325"/>
                </a:lnTo>
                <a:lnTo>
                  <a:pt x="3228975" y="685800"/>
                </a:lnTo>
                <a:lnTo>
                  <a:pt x="3209925" y="666750"/>
                </a:lnTo>
                <a:lnTo>
                  <a:pt x="3209925" y="647700"/>
                </a:lnTo>
                <a:lnTo>
                  <a:pt x="3200400" y="638175"/>
                </a:lnTo>
                <a:lnTo>
                  <a:pt x="3200400" y="628650"/>
                </a:lnTo>
                <a:lnTo>
                  <a:pt x="3190875" y="619125"/>
                </a:lnTo>
                <a:lnTo>
                  <a:pt x="3190875" y="609600"/>
                </a:lnTo>
                <a:lnTo>
                  <a:pt x="3162300" y="581025"/>
                </a:lnTo>
                <a:lnTo>
                  <a:pt x="3162300" y="571500"/>
                </a:lnTo>
                <a:lnTo>
                  <a:pt x="3152775" y="571500"/>
                </a:lnTo>
                <a:lnTo>
                  <a:pt x="3124200" y="542925"/>
                </a:lnTo>
                <a:lnTo>
                  <a:pt x="3114675" y="542925"/>
                </a:lnTo>
                <a:lnTo>
                  <a:pt x="3105150" y="533400"/>
                </a:lnTo>
                <a:lnTo>
                  <a:pt x="3095625" y="533400"/>
                </a:lnTo>
                <a:lnTo>
                  <a:pt x="3048000" y="485775"/>
                </a:lnTo>
                <a:lnTo>
                  <a:pt x="3048000" y="476250"/>
                </a:lnTo>
                <a:lnTo>
                  <a:pt x="3009900" y="438150"/>
                </a:lnTo>
                <a:lnTo>
                  <a:pt x="3000375" y="438150"/>
                </a:lnTo>
                <a:lnTo>
                  <a:pt x="2990850" y="428625"/>
                </a:lnTo>
                <a:lnTo>
                  <a:pt x="2981325" y="428625"/>
                </a:lnTo>
                <a:lnTo>
                  <a:pt x="2971800" y="419100"/>
                </a:lnTo>
                <a:lnTo>
                  <a:pt x="2962275" y="419100"/>
                </a:lnTo>
                <a:lnTo>
                  <a:pt x="2952750" y="409575"/>
                </a:lnTo>
                <a:lnTo>
                  <a:pt x="2933700" y="409575"/>
                </a:lnTo>
                <a:lnTo>
                  <a:pt x="2924175" y="400050"/>
                </a:lnTo>
                <a:lnTo>
                  <a:pt x="2886075" y="400050"/>
                </a:lnTo>
                <a:lnTo>
                  <a:pt x="2876550" y="390525"/>
                </a:lnTo>
                <a:close/>
              </a:path>
              <a:path w="4267200" h="4267200">
                <a:moveTo>
                  <a:pt x="4210050" y="152400"/>
                </a:moveTo>
                <a:lnTo>
                  <a:pt x="4200525" y="161925"/>
                </a:lnTo>
                <a:lnTo>
                  <a:pt x="4181475" y="161925"/>
                </a:lnTo>
                <a:lnTo>
                  <a:pt x="4171950" y="171450"/>
                </a:lnTo>
                <a:lnTo>
                  <a:pt x="4162425" y="171450"/>
                </a:lnTo>
                <a:lnTo>
                  <a:pt x="4152900" y="180975"/>
                </a:lnTo>
                <a:lnTo>
                  <a:pt x="4143375" y="180975"/>
                </a:lnTo>
                <a:lnTo>
                  <a:pt x="4114800" y="209550"/>
                </a:lnTo>
                <a:lnTo>
                  <a:pt x="4114800" y="228600"/>
                </a:lnTo>
                <a:lnTo>
                  <a:pt x="4105275" y="238125"/>
                </a:lnTo>
                <a:lnTo>
                  <a:pt x="4105275" y="314325"/>
                </a:lnTo>
                <a:lnTo>
                  <a:pt x="4114800" y="323850"/>
                </a:lnTo>
                <a:lnTo>
                  <a:pt x="4114800" y="466725"/>
                </a:lnTo>
                <a:lnTo>
                  <a:pt x="4105275" y="476250"/>
                </a:lnTo>
                <a:lnTo>
                  <a:pt x="4105275" y="866775"/>
                </a:lnTo>
                <a:lnTo>
                  <a:pt x="4095750" y="876300"/>
                </a:lnTo>
                <a:lnTo>
                  <a:pt x="4095750" y="885825"/>
                </a:lnTo>
                <a:lnTo>
                  <a:pt x="4076700" y="904875"/>
                </a:lnTo>
                <a:lnTo>
                  <a:pt x="4076700" y="914400"/>
                </a:lnTo>
                <a:lnTo>
                  <a:pt x="4048125" y="942975"/>
                </a:lnTo>
                <a:lnTo>
                  <a:pt x="4048125" y="952500"/>
                </a:lnTo>
                <a:lnTo>
                  <a:pt x="4029075" y="971550"/>
                </a:lnTo>
                <a:lnTo>
                  <a:pt x="4029075" y="981075"/>
                </a:lnTo>
                <a:lnTo>
                  <a:pt x="4019550" y="990600"/>
                </a:lnTo>
                <a:lnTo>
                  <a:pt x="4019550" y="1009650"/>
                </a:lnTo>
                <a:lnTo>
                  <a:pt x="4010025" y="1019175"/>
                </a:lnTo>
                <a:lnTo>
                  <a:pt x="4010025" y="1038225"/>
                </a:lnTo>
                <a:lnTo>
                  <a:pt x="4000500" y="1047750"/>
                </a:lnTo>
                <a:lnTo>
                  <a:pt x="4000500" y="1076325"/>
                </a:lnTo>
                <a:lnTo>
                  <a:pt x="3990975" y="1085850"/>
                </a:lnTo>
                <a:lnTo>
                  <a:pt x="3990975" y="1228725"/>
                </a:lnTo>
                <a:lnTo>
                  <a:pt x="4000500" y="1238250"/>
                </a:lnTo>
                <a:lnTo>
                  <a:pt x="4000500" y="1257300"/>
                </a:lnTo>
                <a:lnTo>
                  <a:pt x="3990975" y="1266825"/>
                </a:lnTo>
                <a:lnTo>
                  <a:pt x="3990975" y="1314450"/>
                </a:lnTo>
                <a:lnTo>
                  <a:pt x="3981450" y="1323975"/>
                </a:lnTo>
                <a:lnTo>
                  <a:pt x="3981450" y="1362075"/>
                </a:lnTo>
                <a:lnTo>
                  <a:pt x="3971925" y="1371600"/>
                </a:lnTo>
                <a:lnTo>
                  <a:pt x="3971925" y="1447800"/>
                </a:lnTo>
                <a:lnTo>
                  <a:pt x="3981450" y="1457325"/>
                </a:lnTo>
                <a:lnTo>
                  <a:pt x="3981450" y="1514475"/>
                </a:lnTo>
                <a:lnTo>
                  <a:pt x="3990975" y="1524000"/>
                </a:lnTo>
                <a:lnTo>
                  <a:pt x="3990975" y="1571625"/>
                </a:lnTo>
                <a:lnTo>
                  <a:pt x="4000500" y="1581150"/>
                </a:lnTo>
                <a:lnTo>
                  <a:pt x="4000500" y="1609725"/>
                </a:lnTo>
                <a:lnTo>
                  <a:pt x="4010025" y="1619250"/>
                </a:lnTo>
                <a:lnTo>
                  <a:pt x="4010025" y="1638300"/>
                </a:lnTo>
                <a:lnTo>
                  <a:pt x="4019550" y="1647825"/>
                </a:lnTo>
                <a:lnTo>
                  <a:pt x="4019550" y="1666875"/>
                </a:lnTo>
                <a:lnTo>
                  <a:pt x="4029075" y="1676400"/>
                </a:lnTo>
                <a:lnTo>
                  <a:pt x="4029075" y="1695450"/>
                </a:lnTo>
                <a:lnTo>
                  <a:pt x="4038600" y="1704975"/>
                </a:lnTo>
                <a:lnTo>
                  <a:pt x="4038600" y="1724025"/>
                </a:lnTo>
                <a:lnTo>
                  <a:pt x="4048125" y="1733550"/>
                </a:lnTo>
                <a:lnTo>
                  <a:pt x="4048125" y="1752600"/>
                </a:lnTo>
                <a:lnTo>
                  <a:pt x="4057650" y="1762125"/>
                </a:lnTo>
                <a:lnTo>
                  <a:pt x="4057650" y="1809750"/>
                </a:lnTo>
                <a:lnTo>
                  <a:pt x="4067175" y="1819275"/>
                </a:lnTo>
                <a:lnTo>
                  <a:pt x="4067175" y="1866900"/>
                </a:lnTo>
                <a:lnTo>
                  <a:pt x="4076700" y="1876425"/>
                </a:lnTo>
                <a:lnTo>
                  <a:pt x="4076700" y="1895475"/>
                </a:lnTo>
                <a:lnTo>
                  <a:pt x="4086225" y="1905000"/>
                </a:lnTo>
                <a:lnTo>
                  <a:pt x="4086225" y="1914525"/>
                </a:lnTo>
                <a:lnTo>
                  <a:pt x="4114800" y="1943100"/>
                </a:lnTo>
                <a:lnTo>
                  <a:pt x="4124325" y="1943100"/>
                </a:lnTo>
                <a:lnTo>
                  <a:pt x="4143375" y="1962150"/>
                </a:lnTo>
                <a:lnTo>
                  <a:pt x="4162425" y="1962150"/>
                </a:lnTo>
                <a:lnTo>
                  <a:pt x="4171950" y="1971675"/>
                </a:lnTo>
                <a:lnTo>
                  <a:pt x="4181475" y="1971675"/>
                </a:lnTo>
                <a:lnTo>
                  <a:pt x="4191000" y="1981200"/>
                </a:lnTo>
                <a:lnTo>
                  <a:pt x="4238625" y="1981200"/>
                </a:lnTo>
                <a:lnTo>
                  <a:pt x="4248150" y="1990725"/>
                </a:lnTo>
                <a:lnTo>
                  <a:pt x="4257675" y="1990725"/>
                </a:lnTo>
                <a:lnTo>
                  <a:pt x="4257675" y="152400"/>
                </a:lnTo>
                <a:close/>
              </a:path>
              <a:path w="4267200" h="4267200">
                <a:moveTo>
                  <a:pt x="190500" y="133350"/>
                </a:moveTo>
                <a:lnTo>
                  <a:pt x="180975" y="142875"/>
                </a:lnTo>
                <a:lnTo>
                  <a:pt x="161925" y="142875"/>
                </a:lnTo>
                <a:lnTo>
                  <a:pt x="142875" y="161925"/>
                </a:lnTo>
                <a:lnTo>
                  <a:pt x="142875" y="171450"/>
                </a:lnTo>
                <a:lnTo>
                  <a:pt x="133350" y="180975"/>
                </a:lnTo>
                <a:lnTo>
                  <a:pt x="133350" y="219075"/>
                </a:lnTo>
                <a:lnTo>
                  <a:pt x="142875" y="228600"/>
                </a:lnTo>
                <a:lnTo>
                  <a:pt x="142875" y="238125"/>
                </a:lnTo>
                <a:lnTo>
                  <a:pt x="152400" y="247650"/>
                </a:lnTo>
                <a:lnTo>
                  <a:pt x="161925" y="247650"/>
                </a:lnTo>
                <a:lnTo>
                  <a:pt x="171450" y="257175"/>
                </a:lnTo>
                <a:lnTo>
                  <a:pt x="228600" y="257175"/>
                </a:lnTo>
                <a:lnTo>
                  <a:pt x="257175" y="228600"/>
                </a:lnTo>
                <a:lnTo>
                  <a:pt x="257175" y="171450"/>
                </a:lnTo>
                <a:lnTo>
                  <a:pt x="247650" y="161925"/>
                </a:lnTo>
                <a:lnTo>
                  <a:pt x="247650" y="152400"/>
                </a:lnTo>
                <a:lnTo>
                  <a:pt x="238125" y="152400"/>
                </a:lnTo>
                <a:lnTo>
                  <a:pt x="228600" y="142875"/>
                </a:lnTo>
                <a:lnTo>
                  <a:pt x="219075" y="142875"/>
                </a:lnTo>
                <a:lnTo>
                  <a:pt x="209550" y="1333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FF382E"/>
            </a:solidFill>
          </a:ln>
        </p:spPr>
      </p:sp>
      <p:sp>
        <p:nvSpPr>
          <p:cNvPr id="277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0C5AE0EE-B3A0-4E4A-87EB-D84D48DA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248525"/>
            <a:ext cx="2152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Predicted outline</a:t>
            </a:r>
          </a:p>
        </p:txBody>
      </p:sp>
      <p:sp>
        <p:nvSpPr>
          <p:cNvPr id="278" name="contour-label">
            <a:extLst xmlns:a="http://schemas.openxmlformats.org/drawingml/2006/main">
              <a:ext uri="{FF2B5EF4-FFF2-40B4-BE49-F238E27FC236}">
                <a16:creationId xmlns:a16="http://schemas.microsoft.com/office/drawing/2014/main" id="{4F78CC73-D14D-4387-AA27-D404EF4F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677150"/>
            <a:ext cx="2209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Illustrative threshold</a:t>
            </a:r>
          </a:p>
        </p:txBody>
      </p:sp>
      <p:sp>
        <p:nvSpPr>
          <p:cNvPr id="279" name="resolution">
            <a:extLst xmlns:a="http://schemas.openxmlformats.org/drawingml/2006/main">
              <a:ext uri="{FF2B5EF4-FFF2-40B4-BE49-F238E27FC236}">
                <a16:creationId xmlns:a16="http://schemas.microsoft.com/office/drawing/2014/main" id="{B4EA3A64-154C-4E7E-AABE-AEF2DC0C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20050"/>
            <a:ext cx="2028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448 × 448</a:t>
            </a:r>
          </a:p>
        </p:txBody>
      </p:sp>
      <p:sp>
        <p:nvSpPr>
          <p:cNvPr id="28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2637A16-E5C0-4C5F-8469-DDBE7E1B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3534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281" name="score-equation">
            <a:extLst xmlns:a="http://schemas.openxmlformats.org/drawingml/2006/main">
              <a:ext uri="{FF2B5EF4-FFF2-40B4-BE49-F238E27FC236}">
                <a16:creationId xmlns:a16="http://schemas.microsoft.com/office/drawing/2014/main" id="{012523E7-3B19-41A2-B3A0-E2AF997A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496300"/>
            <a:ext cx="7448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latin typeface="Cambria Math"/>
                <a:ea typeface="Cambria Math"/>
                <a:cs typeface="Cambria Math"/>
              </a:rPr>
              <a:t>a</a:t>
            </a:r>
            <a:r>
              <a:rPr sz="1620" b="0" i="1" baseline="-25000"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latin typeface="Cambria Math"/>
                <a:ea typeface="Cambria Math"/>
                <a:cs typeface="Cambria Math"/>
              </a:rPr>
              <a:t>(</a:t>
            </a:r>
            <a:r>
              <a:rPr sz="2250" b="1" i="1">
                <a:latin typeface="Cambria Math"/>
                <a:ea typeface="Cambria Math"/>
                <a:cs typeface="Cambria Math"/>
              </a:rPr>
              <a:t>x</a:t>
            </a:r>
            <a:r>
              <a:rPr sz="2250" b="0" i="0">
                <a:latin typeface="Cambria Math"/>
                <a:ea typeface="Cambria Math"/>
                <a:cs typeface="Cambria Math"/>
              </a:rPr>
              <a:t>) = ½ min</a:t>
            </a:r>
            <a:r>
              <a:rPr sz="1620" b="1" i="1" baseline="-25000">
                <a:latin typeface="Cambria Math"/>
                <a:ea typeface="Cambria Math"/>
                <a:cs typeface="Cambria Math"/>
              </a:rPr>
              <a:t>m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 ∈ </a:t>
            </a:r>
            <a:r>
              <a:rPr sz="1620" b="1" i="1" baseline="-25000">
                <a:latin typeface="Cambria Math"/>
                <a:ea typeface="Cambria Math"/>
                <a:cs typeface="Cambria Math"/>
              </a:rPr>
              <a:t>M</a:t>
            </a:r>
            <a:r>
              <a:rPr sz="1260" b="0" i="1" baseline="-41000">
                <a:latin typeface="Cambria Math"/>
                <a:ea typeface="Cambria Math"/>
                <a:cs typeface="Cambria Math"/>
              </a:rPr>
              <a:t>c</a:t>
            </a:r>
            <a:r>
              <a:rPr sz="2250" b="0" i="0">
                <a:latin typeface="Cambria Math"/>
                <a:ea typeface="Cambria Math"/>
                <a:cs typeface="Cambria Math"/>
              </a:rPr>
              <a:t> ‖</a:t>
            </a:r>
            <a:r>
              <a:rPr sz="2250" b="1" i="1">
                <a:latin typeface="Cambria Math"/>
                <a:ea typeface="Cambria Math"/>
                <a:cs typeface="Cambria Math"/>
              </a:rPr>
              <a:t>f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A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620" b="0" i="1" baseline="-25000"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latin typeface="Cambria Math"/>
                <a:ea typeface="Cambria Math"/>
                <a:cs typeface="Cambria Math"/>
              </a:rPr>
              <a:t>(</a:t>
            </a:r>
            <a:r>
              <a:rPr sz="2250" b="1" i="1">
                <a:latin typeface="Cambria Math"/>
                <a:ea typeface="Cambria Math"/>
                <a:cs typeface="Cambria Math"/>
              </a:rPr>
              <a:t>x</a:t>
            </a:r>
            <a:r>
              <a:rPr sz="2250" b="0" i="0">
                <a:latin typeface="Cambria Math"/>
                <a:ea typeface="Cambria Math"/>
                <a:cs typeface="Cambria Math"/>
              </a:rPr>
              <a:t>) − </a:t>
            </a:r>
            <a:r>
              <a:rPr sz="2250" b="1" i="1">
                <a:latin typeface="Cambria Math"/>
                <a:ea typeface="Cambria Math"/>
                <a:cs typeface="Cambria Math"/>
              </a:rPr>
              <a:t>m</a:t>
            </a:r>
            <a:r>
              <a:rPr sz="2250" b="0" i="0">
                <a:latin typeface="Cambria Math"/>
                <a:ea typeface="Cambria Math"/>
                <a:cs typeface="Cambria Math"/>
              </a:rPr>
              <a:t>‖₂²</a:t>
            </a:r>
          </a:p>
        </p:txBody>
      </p:sp>
      <p:sp>
        <p:nvSpPr>
          <p:cNvPr id="282" name="image-equation">
            <a:extLst xmlns:a="http://schemas.openxmlformats.org/drawingml/2006/main">
              <a:ext uri="{FF2B5EF4-FFF2-40B4-BE49-F238E27FC236}">
                <a16:creationId xmlns:a16="http://schemas.microsoft.com/office/drawing/2014/main" id="{06602F8F-623A-402D-9E90-212DC09A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8496300"/>
            <a:ext cx="5772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latin typeface="Cambria Math"/>
                <a:ea typeface="Cambria Math"/>
                <a:cs typeface="Cambria Math"/>
              </a:rPr>
              <a:t>s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img</a:t>
            </a:r>
            <a:r>
              <a:rPr sz="2250" b="0" i="0">
                <a:latin typeface="Cambria Math"/>
                <a:ea typeface="Cambria Math"/>
                <a:cs typeface="Cambria Math"/>
              </a:rPr>
              <a:t>(</a:t>
            </a:r>
            <a:r>
              <a:rPr sz="2250" b="1" i="1">
                <a:latin typeface="Cambria Math"/>
                <a:ea typeface="Cambria Math"/>
                <a:cs typeface="Cambria Math"/>
              </a:rPr>
              <a:t>x</a:t>
            </a:r>
            <a:r>
              <a:rPr sz="2250" b="0" i="0">
                <a:latin typeface="Cambria Math"/>
                <a:ea typeface="Cambria Math"/>
                <a:cs typeface="Cambria Math"/>
              </a:rPr>
              <a:t>) = max</a:t>
            </a:r>
            <a:r>
              <a:rPr sz="1620" b="0" i="1" baseline="-25000">
                <a:latin typeface="Cambria Math"/>
                <a:ea typeface="Cambria Math"/>
                <a:cs typeface="Cambria Math"/>
              </a:rPr>
              <a:t>u</a:t>
            </a:r>
            <a:r>
              <a:rPr sz="2250" b="0" i="0">
                <a:latin typeface="Cambria Math"/>
                <a:ea typeface="Cambria Math"/>
                <a:cs typeface="Cambria Math"/>
              </a:rPr>
              <a:t> </a:t>
            </a:r>
            <a:r>
              <a:rPr sz="2250" b="1" i="1">
                <a:latin typeface="Cambria Math"/>
                <a:ea typeface="Cambria Math"/>
                <a:cs typeface="Cambria Math"/>
              </a:rPr>
              <a:t>S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448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620" b="0" i="1" baseline="-25000">
                <a:latin typeface="Cambria Math"/>
                <a:ea typeface="Cambria Math"/>
                <a:cs typeface="Cambria Math"/>
              </a:rPr>
              <a:t>u</a:t>
            </a:r>
            <a:r>
              <a:rPr sz="2250" b="0" i="0">
                <a:latin typeface="Cambria Math"/>
                <a:ea typeface="Cambria Math"/>
                <a:cs typeface="Cambria Math"/>
              </a:rPr>
              <a:t>(</a:t>
            </a:r>
            <a:r>
              <a:rPr sz="2250" b="1" i="1">
                <a:latin typeface="Cambria Math"/>
                <a:ea typeface="Cambria Math"/>
                <a:cs typeface="Cambria Math"/>
              </a:rPr>
              <a:t>x</a:t>
            </a:r>
            <a:r>
              <a:rPr sz="2250" b="0" i="0">
                <a:latin typeface="Cambria Math"/>
                <a:ea typeface="Cambria Math"/>
                <a:cs typeface="Cambria Math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40182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2" name="title">
            <a:extLst xmlns:a="http://schemas.openxmlformats.org/drawingml/2006/main">
              <a:ext uri="{FF2B5EF4-FFF2-40B4-BE49-F238E27FC236}">
                <a16:creationId xmlns:a16="http://schemas.microsoft.com/office/drawing/2014/main" id="{C3FDFC10-836E-449C-96D0-30A27484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5316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Fig. 2   Spatial calibration and fixed feature fusion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9712DB-7EAA-427B-9966-26BD25D4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47725"/>
            <a:ext cx="1531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Common spatial sampling, normalized branch magnitudes, and a joint descriptor</a:t>
            </a:r>
          </a:p>
        </p:txBody>
      </p:sp>
      <p:sp>
        <p:nvSpPr>
          <p:cNvPr id="3" name="headrule">
            <a:extLst xmlns:a="http://schemas.openxmlformats.org/drawingml/2006/main">
              <a:ext uri="{FF2B5EF4-FFF2-40B4-BE49-F238E27FC236}">
                <a16:creationId xmlns:a16="http://schemas.microsoft.com/office/drawing/2014/main" id="{02FD364D-E964-49BC-9B19-3EDF95C9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192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4" name="section62">
            <a:extLst xmlns:a="http://schemas.openxmlformats.org/drawingml/2006/main">
              <a:ext uri="{FF2B5EF4-FFF2-40B4-BE49-F238E27FC236}">
                <a16:creationId xmlns:a16="http://schemas.microsoft.com/office/drawing/2014/main" id="{2FDFD034-B807-4FDA-973D-EDF98DE8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00200"/>
            <a:ext cx="1531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(a) Align the CLIP grid to the DINO lattice</a:t>
            </a:r>
          </a:p>
        </p:txBody>
      </p:sp>
      <p:sp>
        <p:nvSpPr>
          <p:cNvPr id="5" name="d-label">
            <a:extLst xmlns:a="http://schemas.openxmlformats.org/drawingml/2006/main">
              <a:ext uri="{FF2B5EF4-FFF2-40B4-BE49-F238E27FC236}">
                <a16:creationId xmlns:a16="http://schemas.microsoft.com/office/drawing/2014/main" id="{5457B50C-0DAA-47D8-B281-B76DDE13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336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DINO reference grid</a:t>
            </a:r>
          </a:p>
        </p:txBody>
      </p:sp>
      <p:sp>
        <p:nvSpPr>
          <p:cNvPr id="6" name="d-grid0-0">
            <a:extLst xmlns:a="http://schemas.openxmlformats.org/drawingml/2006/main">
              <a:ext uri="{FF2B5EF4-FFF2-40B4-BE49-F238E27FC236}">
                <a16:creationId xmlns:a16="http://schemas.microsoft.com/office/drawing/2014/main" id="{7D25A5D0-4FA3-4933-9F31-96A3E82A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" name="d-grid0-1">
            <a:extLst xmlns:a="http://schemas.openxmlformats.org/drawingml/2006/main">
              <a:ext uri="{FF2B5EF4-FFF2-40B4-BE49-F238E27FC236}">
                <a16:creationId xmlns:a16="http://schemas.microsoft.com/office/drawing/2014/main" id="{E1627BAA-E623-4A23-A190-B302F19A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8" name="d-grid0-2">
            <a:extLst xmlns:a="http://schemas.openxmlformats.org/drawingml/2006/main">
              <a:ext uri="{FF2B5EF4-FFF2-40B4-BE49-F238E27FC236}">
                <a16:creationId xmlns:a16="http://schemas.microsoft.com/office/drawing/2014/main" id="{6C28BA3E-2B3D-4F65-BE0F-759A23B5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" name="d-grid0-3">
            <a:extLst xmlns:a="http://schemas.openxmlformats.org/drawingml/2006/main">
              <a:ext uri="{FF2B5EF4-FFF2-40B4-BE49-F238E27FC236}">
                <a16:creationId xmlns:a16="http://schemas.microsoft.com/office/drawing/2014/main" id="{730F89B9-FC4E-4BD5-8219-86FFEF34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" name="d-grid0-4">
            <a:extLst xmlns:a="http://schemas.openxmlformats.org/drawingml/2006/main">
              <a:ext uri="{FF2B5EF4-FFF2-40B4-BE49-F238E27FC236}">
                <a16:creationId xmlns:a16="http://schemas.microsoft.com/office/drawing/2014/main" id="{57A71E98-42A8-4C78-AB4C-E159F31A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" name="d-grid0-5">
            <a:extLst xmlns:a="http://schemas.openxmlformats.org/drawingml/2006/main">
              <a:ext uri="{FF2B5EF4-FFF2-40B4-BE49-F238E27FC236}">
                <a16:creationId xmlns:a16="http://schemas.microsoft.com/office/drawing/2014/main" id="{18BC1023-8EF6-47E1-916C-AEFA4C79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" name="d-grid1-0">
            <a:extLst xmlns:a="http://schemas.openxmlformats.org/drawingml/2006/main">
              <a:ext uri="{FF2B5EF4-FFF2-40B4-BE49-F238E27FC236}">
                <a16:creationId xmlns:a16="http://schemas.microsoft.com/office/drawing/2014/main" id="{7700E3E1-E1F9-4507-92E4-0BF0D3B9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" name="d-grid1-1">
            <a:extLst xmlns:a="http://schemas.openxmlformats.org/drawingml/2006/main">
              <a:ext uri="{FF2B5EF4-FFF2-40B4-BE49-F238E27FC236}">
                <a16:creationId xmlns:a16="http://schemas.microsoft.com/office/drawing/2014/main" id="{73B79976-EA92-4A62-8FC8-55382E39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" name="d-grid1-2">
            <a:extLst xmlns:a="http://schemas.openxmlformats.org/drawingml/2006/main">
              <a:ext uri="{FF2B5EF4-FFF2-40B4-BE49-F238E27FC236}">
                <a16:creationId xmlns:a16="http://schemas.microsoft.com/office/drawing/2014/main" id="{171D6FC1-9704-43EE-A665-EF9F1441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C9C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" name="d-grid1-3">
            <a:extLst xmlns:a="http://schemas.openxmlformats.org/drawingml/2006/main">
              <a:ext uri="{FF2B5EF4-FFF2-40B4-BE49-F238E27FC236}">
                <a16:creationId xmlns:a16="http://schemas.microsoft.com/office/drawing/2014/main" id="{882925BC-93C3-47BE-A8C1-5A424D09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6" name="d-grid1-4">
            <a:extLst xmlns:a="http://schemas.openxmlformats.org/drawingml/2006/main">
              <a:ext uri="{FF2B5EF4-FFF2-40B4-BE49-F238E27FC236}">
                <a16:creationId xmlns:a16="http://schemas.microsoft.com/office/drawing/2014/main" id="{C8267F40-EBD3-4957-A28A-3FEDB93F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7" name="d-grid1-5">
            <a:extLst xmlns:a="http://schemas.openxmlformats.org/drawingml/2006/main">
              <a:ext uri="{FF2B5EF4-FFF2-40B4-BE49-F238E27FC236}">
                <a16:creationId xmlns:a16="http://schemas.microsoft.com/office/drawing/2014/main" id="{A218433C-EB9B-44BE-A7D4-E05DFE0B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8" name="d-grid2-0">
            <a:extLst xmlns:a="http://schemas.openxmlformats.org/drawingml/2006/main">
              <a:ext uri="{FF2B5EF4-FFF2-40B4-BE49-F238E27FC236}">
                <a16:creationId xmlns:a16="http://schemas.microsoft.com/office/drawing/2014/main" id="{D649487E-4AE0-42D7-9305-80A641A7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9" name="d-grid2-1">
            <a:extLst xmlns:a="http://schemas.openxmlformats.org/drawingml/2006/main">
              <a:ext uri="{FF2B5EF4-FFF2-40B4-BE49-F238E27FC236}">
                <a16:creationId xmlns:a16="http://schemas.microsoft.com/office/drawing/2014/main" id="{1B07053E-C01F-47C4-91D0-8D9277F6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0" name="d-grid2-2">
            <a:extLst xmlns:a="http://schemas.openxmlformats.org/drawingml/2006/main">
              <a:ext uri="{FF2B5EF4-FFF2-40B4-BE49-F238E27FC236}">
                <a16:creationId xmlns:a16="http://schemas.microsoft.com/office/drawing/2014/main" id="{DE875448-4068-45C7-95AF-781F747A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" name="d-grid2-3">
            <a:extLst xmlns:a="http://schemas.openxmlformats.org/drawingml/2006/main">
              <a:ext uri="{FF2B5EF4-FFF2-40B4-BE49-F238E27FC236}">
                <a16:creationId xmlns:a16="http://schemas.microsoft.com/office/drawing/2014/main" id="{6DD7E7A8-4466-4B3B-B5BF-E1BB5705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" name="d-grid2-4">
            <a:extLst xmlns:a="http://schemas.openxmlformats.org/drawingml/2006/main">
              <a:ext uri="{FF2B5EF4-FFF2-40B4-BE49-F238E27FC236}">
                <a16:creationId xmlns:a16="http://schemas.microsoft.com/office/drawing/2014/main" id="{D81B19AA-2F68-453E-B574-936D6259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" name="d-grid2-5">
            <a:extLst xmlns:a="http://schemas.openxmlformats.org/drawingml/2006/main">
              <a:ext uri="{FF2B5EF4-FFF2-40B4-BE49-F238E27FC236}">
                <a16:creationId xmlns:a16="http://schemas.microsoft.com/office/drawing/2014/main" id="{E640C74B-C09F-45BB-9B9C-65D030E1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4" name="d-grid3-0">
            <a:extLst xmlns:a="http://schemas.openxmlformats.org/drawingml/2006/main">
              <a:ext uri="{FF2B5EF4-FFF2-40B4-BE49-F238E27FC236}">
                <a16:creationId xmlns:a16="http://schemas.microsoft.com/office/drawing/2014/main" id="{6EBA5991-28E0-406B-BD74-BBC36FE7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5" name="d-grid3-1">
            <a:extLst xmlns:a="http://schemas.openxmlformats.org/drawingml/2006/main">
              <a:ext uri="{FF2B5EF4-FFF2-40B4-BE49-F238E27FC236}">
                <a16:creationId xmlns:a16="http://schemas.microsoft.com/office/drawing/2014/main" id="{76D44807-3FF7-4D5A-9C3D-1694D558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6" name="d-grid3-2">
            <a:extLst xmlns:a="http://schemas.openxmlformats.org/drawingml/2006/main">
              <a:ext uri="{FF2B5EF4-FFF2-40B4-BE49-F238E27FC236}">
                <a16:creationId xmlns:a16="http://schemas.microsoft.com/office/drawing/2014/main" id="{98B72F14-1312-4C5B-A2B2-A6726E11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7" name="d-grid3-3">
            <a:extLst xmlns:a="http://schemas.openxmlformats.org/drawingml/2006/main">
              <a:ext uri="{FF2B5EF4-FFF2-40B4-BE49-F238E27FC236}">
                <a16:creationId xmlns:a16="http://schemas.microsoft.com/office/drawing/2014/main" id="{1AA7BA25-F5B8-400F-AC42-6FE4162F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8" name="d-grid3-4">
            <a:extLst xmlns:a="http://schemas.openxmlformats.org/drawingml/2006/main">
              <a:ext uri="{FF2B5EF4-FFF2-40B4-BE49-F238E27FC236}">
                <a16:creationId xmlns:a16="http://schemas.microsoft.com/office/drawing/2014/main" id="{8221DB53-46A2-4C9E-BC0F-034B03EA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9" name="d-grid3-5">
            <a:extLst xmlns:a="http://schemas.openxmlformats.org/drawingml/2006/main">
              <a:ext uri="{FF2B5EF4-FFF2-40B4-BE49-F238E27FC236}">
                <a16:creationId xmlns:a16="http://schemas.microsoft.com/office/drawing/2014/main" id="{0A66C999-B29D-4862-B3FC-DC1BE31A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0" name="d-grid-dim">
            <a:extLst xmlns:a="http://schemas.openxmlformats.org/drawingml/2006/main">
              <a:ext uri="{FF2B5EF4-FFF2-40B4-BE49-F238E27FC236}">
                <a16:creationId xmlns:a16="http://schemas.microsoft.com/office/drawing/2014/main" id="{538B7889-7211-47B6-BF33-0F31EF30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1">
                <a:latin typeface="Cambria Math"/>
                <a:ea typeface="Cambria Math"/>
                <a:cs typeface="Cambria Math"/>
              </a:rPr>
              <a:t>h</a:t>
            </a:r>
            <a:r>
              <a:rPr sz="1566" b="0" i="0" baseline="-25000">
                <a:latin typeface="Cambria Math"/>
                <a:ea typeface="Cambria Math"/>
                <a:cs typeface="Cambria Math"/>
              </a:rPr>
              <a:t>D</a:t>
            </a:r>
            <a:r>
              <a:rPr sz="2175" b="0" i="0">
                <a:latin typeface="Cambria Math"/>
                <a:ea typeface="Cambria Math"/>
                <a:cs typeface="Cambria Math"/>
              </a:rPr>
              <a:t> × </a:t>
            </a:r>
            <a:r>
              <a:rPr sz="2175" b="0" i="1">
                <a:latin typeface="Cambria Math"/>
                <a:ea typeface="Cambria Math"/>
                <a:cs typeface="Cambria Math"/>
              </a:rPr>
              <a:t>w</a:t>
            </a:r>
            <a:r>
              <a:rPr sz="1566" b="0" i="0" baseline="-25000">
                <a:latin typeface="Cambria Math"/>
                <a:ea typeface="Cambria Math"/>
                <a:cs typeface="Cambria Math"/>
              </a:rPr>
              <a:t>D</a:t>
            </a:r>
          </a:p>
        </p:txBody>
      </p:sp>
      <p:sp>
        <p:nvSpPr>
          <p:cNvPr id="31" name="c-label">
            <a:extLst xmlns:a="http://schemas.openxmlformats.org/drawingml/2006/main">
              <a:ext uri="{FF2B5EF4-FFF2-40B4-BE49-F238E27FC236}">
                <a16:creationId xmlns:a16="http://schemas.microsoft.com/office/drawing/2014/main" id="{1DFA4EFC-6D22-41EB-8A7C-6EF6221B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3360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CLIP grid</a:t>
            </a:r>
          </a:p>
        </p:txBody>
      </p:sp>
      <p:sp>
        <p:nvSpPr>
          <p:cNvPr id="32" name="c-grid0-0">
            <a:extLst xmlns:a="http://schemas.openxmlformats.org/drawingml/2006/main">
              <a:ext uri="{FF2B5EF4-FFF2-40B4-BE49-F238E27FC236}">
                <a16:creationId xmlns:a16="http://schemas.microsoft.com/office/drawing/2014/main" id="{BAD4C135-00F1-46F2-88F7-C69A20BE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3" name="c-grid0-1">
            <a:extLst xmlns:a="http://schemas.openxmlformats.org/drawingml/2006/main">
              <a:ext uri="{FF2B5EF4-FFF2-40B4-BE49-F238E27FC236}">
                <a16:creationId xmlns:a16="http://schemas.microsoft.com/office/drawing/2014/main" id="{8DBE8871-22CF-477E-86FD-F6370808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4" name="c-grid0-2">
            <a:extLst xmlns:a="http://schemas.openxmlformats.org/drawingml/2006/main">
              <a:ext uri="{FF2B5EF4-FFF2-40B4-BE49-F238E27FC236}">
                <a16:creationId xmlns:a16="http://schemas.microsoft.com/office/drawing/2014/main" id="{9C9ED106-536A-47B3-B059-E2B5EA91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5" name="c-grid0-3">
            <a:extLst xmlns:a="http://schemas.openxmlformats.org/drawingml/2006/main">
              <a:ext uri="{FF2B5EF4-FFF2-40B4-BE49-F238E27FC236}">
                <a16:creationId xmlns:a16="http://schemas.microsoft.com/office/drawing/2014/main" id="{C1CF7823-0200-48AD-8AB1-D0B11DB7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6" name="c-grid0-4">
            <a:extLst xmlns:a="http://schemas.openxmlformats.org/drawingml/2006/main">
              <a:ext uri="{FF2B5EF4-FFF2-40B4-BE49-F238E27FC236}">
                <a16:creationId xmlns:a16="http://schemas.microsoft.com/office/drawing/2014/main" id="{0813105A-DF7C-4469-8657-C5471B29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7" name="c-grid0-5">
            <a:extLst xmlns:a="http://schemas.openxmlformats.org/drawingml/2006/main">
              <a:ext uri="{FF2B5EF4-FFF2-40B4-BE49-F238E27FC236}">
                <a16:creationId xmlns:a16="http://schemas.microsoft.com/office/drawing/2014/main" id="{D4EA00E0-01CA-4CBB-80D9-78F3AC0F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8" name="c-grid0-6">
            <a:extLst xmlns:a="http://schemas.openxmlformats.org/drawingml/2006/main">
              <a:ext uri="{FF2B5EF4-FFF2-40B4-BE49-F238E27FC236}">
                <a16:creationId xmlns:a16="http://schemas.microsoft.com/office/drawing/2014/main" id="{6E0478DF-3D0E-4896-B21C-5B0A492E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9" name="c-grid1-0">
            <a:extLst xmlns:a="http://schemas.openxmlformats.org/drawingml/2006/main">
              <a:ext uri="{FF2B5EF4-FFF2-40B4-BE49-F238E27FC236}">
                <a16:creationId xmlns:a16="http://schemas.microsoft.com/office/drawing/2014/main" id="{BD80A404-230A-4F14-B583-4877650B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0" name="c-grid1-1">
            <a:extLst xmlns:a="http://schemas.openxmlformats.org/drawingml/2006/main">
              <a:ext uri="{FF2B5EF4-FFF2-40B4-BE49-F238E27FC236}">
                <a16:creationId xmlns:a16="http://schemas.microsoft.com/office/drawing/2014/main" id="{888282F9-0BF9-4E40-B68B-E5124375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1" name="c-grid1-2">
            <a:extLst xmlns:a="http://schemas.openxmlformats.org/drawingml/2006/main">
              <a:ext uri="{FF2B5EF4-FFF2-40B4-BE49-F238E27FC236}">
                <a16:creationId xmlns:a16="http://schemas.microsoft.com/office/drawing/2014/main" id="{AEA50D23-86C5-4B79-A3F4-DEAC9673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39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2" name="c-grid1-3">
            <a:extLst xmlns:a="http://schemas.openxmlformats.org/drawingml/2006/main">
              <a:ext uri="{FF2B5EF4-FFF2-40B4-BE49-F238E27FC236}">
                <a16:creationId xmlns:a16="http://schemas.microsoft.com/office/drawing/2014/main" id="{615E2874-D682-40E3-B14F-3D8C269D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3" name="c-grid1-4">
            <a:extLst xmlns:a="http://schemas.openxmlformats.org/drawingml/2006/main">
              <a:ext uri="{FF2B5EF4-FFF2-40B4-BE49-F238E27FC236}">
                <a16:creationId xmlns:a16="http://schemas.microsoft.com/office/drawing/2014/main" id="{4B4BFB29-C7E2-4BD2-803A-B538AD09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4" name="c-grid1-5">
            <a:extLst xmlns:a="http://schemas.openxmlformats.org/drawingml/2006/main">
              <a:ext uri="{FF2B5EF4-FFF2-40B4-BE49-F238E27FC236}">
                <a16:creationId xmlns:a16="http://schemas.microsoft.com/office/drawing/2014/main" id="{7D102C46-954E-4D88-8A8F-E40E9DA4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5" name="c-grid1-6">
            <a:extLst xmlns:a="http://schemas.openxmlformats.org/drawingml/2006/main">
              <a:ext uri="{FF2B5EF4-FFF2-40B4-BE49-F238E27FC236}">
                <a16:creationId xmlns:a16="http://schemas.microsoft.com/office/drawing/2014/main" id="{93D38305-17E9-4BB7-AFD3-8D5A4258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6" name="c-grid2-0">
            <a:extLst xmlns:a="http://schemas.openxmlformats.org/drawingml/2006/main">
              <a:ext uri="{FF2B5EF4-FFF2-40B4-BE49-F238E27FC236}">
                <a16:creationId xmlns:a16="http://schemas.microsoft.com/office/drawing/2014/main" id="{AE86CC0E-DE5F-4C87-BBE7-BA0879A1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7" name="c-grid2-1">
            <a:extLst xmlns:a="http://schemas.openxmlformats.org/drawingml/2006/main">
              <a:ext uri="{FF2B5EF4-FFF2-40B4-BE49-F238E27FC236}">
                <a16:creationId xmlns:a16="http://schemas.microsoft.com/office/drawing/2014/main" id="{7EDF3FD7-0C36-498F-9F63-33899643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8" name="c-grid2-2">
            <a:extLst xmlns:a="http://schemas.openxmlformats.org/drawingml/2006/main">
              <a:ext uri="{FF2B5EF4-FFF2-40B4-BE49-F238E27FC236}">
                <a16:creationId xmlns:a16="http://schemas.microsoft.com/office/drawing/2014/main" id="{2C230F8E-1DCD-4709-A15D-31A12153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9" name="c-grid2-3">
            <a:extLst xmlns:a="http://schemas.openxmlformats.org/drawingml/2006/main">
              <a:ext uri="{FF2B5EF4-FFF2-40B4-BE49-F238E27FC236}">
                <a16:creationId xmlns:a16="http://schemas.microsoft.com/office/drawing/2014/main" id="{0C42DD88-3E22-406D-BF55-F140A7C5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0" name="c-grid2-4">
            <a:extLst xmlns:a="http://schemas.openxmlformats.org/drawingml/2006/main">
              <a:ext uri="{FF2B5EF4-FFF2-40B4-BE49-F238E27FC236}">
                <a16:creationId xmlns:a16="http://schemas.microsoft.com/office/drawing/2014/main" id="{56B942AC-7707-4656-9781-9C9B5D35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1" name="c-grid2-5">
            <a:extLst xmlns:a="http://schemas.openxmlformats.org/drawingml/2006/main">
              <a:ext uri="{FF2B5EF4-FFF2-40B4-BE49-F238E27FC236}">
                <a16:creationId xmlns:a16="http://schemas.microsoft.com/office/drawing/2014/main" id="{41648D21-200C-49F7-9BCE-1B71AFC3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2" name="c-grid2-6">
            <a:extLst xmlns:a="http://schemas.openxmlformats.org/drawingml/2006/main">
              <a:ext uri="{FF2B5EF4-FFF2-40B4-BE49-F238E27FC236}">
                <a16:creationId xmlns:a16="http://schemas.microsoft.com/office/drawing/2014/main" id="{F9EB0261-9163-4F93-B7D0-3A810327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3" name="c-grid3-0">
            <a:extLst xmlns:a="http://schemas.openxmlformats.org/drawingml/2006/main">
              <a:ext uri="{FF2B5EF4-FFF2-40B4-BE49-F238E27FC236}">
                <a16:creationId xmlns:a16="http://schemas.microsoft.com/office/drawing/2014/main" id="{DFEE9192-AC3D-4977-87AC-CC4467A8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4" name="c-grid3-1">
            <a:extLst xmlns:a="http://schemas.openxmlformats.org/drawingml/2006/main">
              <a:ext uri="{FF2B5EF4-FFF2-40B4-BE49-F238E27FC236}">
                <a16:creationId xmlns:a16="http://schemas.microsoft.com/office/drawing/2014/main" id="{ACA36B02-255B-4F33-A8E6-8EED59E8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5" name="c-grid3-2">
            <a:extLst xmlns:a="http://schemas.openxmlformats.org/drawingml/2006/main">
              <a:ext uri="{FF2B5EF4-FFF2-40B4-BE49-F238E27FC236}">
                <a16:creationId xmlns:a16="http://schemas.microsoft.com/office/drawing/2014/main" id="{19283484-B865-43E7-9820-DE9E9404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6" name="c-grid3-3">
            <a:extLst xmlns:a="http://schemas.openxmlformats.org/drawingml/2006/main">
              <a:ext uri="{FF2B5EF4-FFF2-40B4-BE49-F238E27FC236}">
                <a16:creationId xmlns:a16="http://schemas.microsoft.com/office/drawing/2014/main" id="{A77502B9-BC30-4515-BFD5-2EC6020B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7" name="c-grid3-4">
            <a:extLst xmlns:a="http://schemas.openxmlformats.org/drawingml/2006/main">
              <a:ext uri="{FF2B5EF4-FFF2-40B4-BE49-F238E27FC236}">
                <a16:creationId xmlns:a16="http://schemas.microsoft.com/office/drawing/2014/main" id="{618B196D-14BE-429E-BAC9-DBAEE51A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8" name="c-grid3-5">
            <a:extLst xmlns:a="http://schemas.openxmlformats.org/drawingml/2006/main">
              <a:ext uri="{FF2B5EF4-FFF2-40B4-BE49-F238E27FC236}">
                <a16:creationId xmlns:a16="http://schemas.microsoft.com/office/drawing/2014/main" id="{9A557C39-8DE5-45F3-B569-1C696B77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9" name="c-grid3-6">
            <a:extLst xmlns:a="http://schemas.openxmlformats.org/drawingml/2006/main">
              <a:ext uri="{FF2B5EF4-FFF2-40B4-BE49-F238E27FC236}">
                <a16:creationId xmlns:a16="http://schemas.microsoft.com/office/drawing/2014/main" id="{3932C4B4-001D-4548-BA5D-BF96E49E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0" name="c-grid4-0">
            <a:extLst xmlns:a="http://schemas.openxmlformats.org/drawingml/2006/main">
              <a:ext uri="{FF2B5EF4-FFF2-40B4-BE49-F238E27FC236}">
                <a16:creationId xmlns:a16="http://schemas.microsoft.com/office/drawing/2014/main" id="{D55EA41B-DE2D-4B7C-8AA2-9950CA52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1" name="c-grid4-1">
            <a:extLst xmlns:a="http://schemas.openxmlformats.org/drawingml/2006/main">
              <a:ext uri="{FF2B5EF4-FFF2-40B4-BE49-F238E27FC236}">
                <a16:creationId xmlns:a16="http://schemas.microsoft.com/office/drawing/2014/main" id="{0342ABC6-5804-4027-92D0-F205EEA4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2" name="c-grid4-2">
            <a:extLst xmlns:a="http://schemas.openxmlformats.org/drawingml/2006/main">
              <a:ext uri="{FF2B5EF4-FFF2-40B4-BE49-F238E27FC236}">
                <a16:creationId xmlns:a16="http://schemas.microsoft.com/office/drawing/2014/main" id="{8015F8DE-0280-4892-909A-6C3D7C6B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3" name="c-grid4-3">
            <a:extLst xmlns:a="http://schemas.openxmlformats.org/drawingml/2006/main">
              <a:ext uri="{FF2B5EF4-FFF2-40B4-BE49-F238E27FC236}">
                <a16:creationId xmlns:a16="http://schemas.microsoft.com/office/drawing/2014/main" id="{64AE11D8-7C01-4A4C-BB50-672B25BC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4" name="c-grid4-4">
            <a:extLst xmlns:a="http://schemas.openxmlformats.org/drawingml/2006/main">
              <a:ext uri="{FF2B5EF4-FFF2-40B4-BE49-F238E27FC236}">
                <a16:creationId xmlns:a16="http://schemas.microsoft.com/office/drawing/2014/main" id="{C3A9C463-FEBF-417E-A024-B1F4DD2A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5" name="c-grid4-5">
            <a:extLst xmlns:a="http://schemas.openxmlformats.org/drawingml/2006/main">
              <a:ext uri="{FF2B5EF4-FFF2-40B4-BE49-F238E27FC236}">
                <a16:creationId xmlns:a16="http://schemas.microsoft.com/office/drawing/2014/main" id="{257DDD19-76FD-47C8-9630-3382B5BA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6" name="c-grid4-6">
            <a:extLst xmlns:a="http://schemas.openxmlformats.org/drawingml/2006/main">
              <a:ext uri="{FF2B5EF4-FFF2-40B4-BE49-F238E27FC236}">
                <a16:creationId xmlns:a16="http://schemas.microsoft.com/office/drawing/2014/main" id="{FC878315-84C0-4AE2-A980-30A517D8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7" name="c-grid5-0">
            <a:extLst xmlns:a="http://schemas.openxmlformats.org/drawingml/2006/main">
              <a:ext uri="{FF2B5EF4-FFF2-40B4-BE49-F238E27FC236}">
                <a16:creationId xmlns:a16="http://schemas.microsoft.com/office/drawing/2014/main" id="{E5EEF335-0C06-4445-ABD7-33543777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8" name="c-grid5-1">
            <a:extLst xmlns:a="http://schemas.openxmlformats.org/drawingml/2006/main">
              <a:ext uri="{FF2B5EF4-FFF2-40B4-BE49-F238E27FC236}">
                <a16:creationId xmlns:a16="http://schemas.microsoft.com/office/drawing/2014/main" id="{FA8AADC4-CA8E-49AE-8825-44C479EE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9" name="c-grid5-2">
            <a:extLst xmlns:a="http://schemas.openxmlformats.org/drawingml/2006/main">
              <a:ext uri="{FF2B5EF4-FFF2-40B4-BE49-F238E27FC236}">
                <a16:creationId xmlns:a16="http://schemas.microsoft.com/office/drawing/2014/main" id="{5FB33CA0-423B-42FE-992A-7FDA65D9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0" name="c-grid5-3">
            <a:extLst xmlns:a="http://schemas.openxmlformats.org/drawingml/2006/main">
              <a:ext uri="{FF2B5EF4-FFF2-40B4-BE49-F238E27FC236}">
                <a16:creationId xmlns:a16="http://schemas.microsoft.com/office/drawing/2014/main" id="{4CEAF34B-DCF4-41F4-AF85-B65F03BC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1" name="c-grid5-4">
            <a:extLst xmlns:a="http://schemas.openxmlformats.org/drawingml/2006/main">
              <a:ext uri="{FF2B5EF4-FFF2-40B4-BE49-F238E27FC236}">
                <a16:creationId xmlns:a16="http://schemas.microsoft.com/office/drawing/2014/main" id="{11E8F0B0-ACCF-4F77-BE4F-2120246C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2" name="c-grid5-5">
            <a:extLst xmlns:a="http://schemas.openxmlformats.org/drawingml/2006/main">
              <a:ext uri="{FF2B5EF4-FFF2-40B4-BE49-F238E27FC236}">
                <a16:creationId xmlns:a16="http://schemas.microsoft.com/office/drawing/2014/main" id="{AC114E42-472E-4D4C-AB2F-182FC643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3" name="c-grid5-6">
            <a:extLst xmlns:a="http://schemas.openxmlformats.org/drawingml/2006/main">
              <a:ext uri="{FF2B5EF4-FFF2-40B4-BE49-F238E27FC236}">
                <a16:creationId xmlns:a16="http://schemas.microsoft.com/office/drawing/2014/main" id="{FDDC4C54-D7B7-4342-BA0B-D6B6F14C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4" name="c-grid6-0">
            <a:extLst xmlns:a="http://schemas.openxmlformats.org/drawingml/2006/main">
              <a:ext uri="{FF2B5EF4-FFF2-40B4-BE49-F238E27FC236}">
                <a16:creationId xmlns:a16="http://schemas.microsoft.com/office/drawing/2014/main" id="{96EA936F-3E8E-49BD-A4C3-A90AFEBC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5" name="c-grid6-1">
            <a:extLst xmlns:a="http://schemas.openxmlformats.org/drawingml/2006/main">
              <a:ext uri="{FF2B5EF4-FFF2-40B4-BE49-F238E27FC236}">
                <a16:creationId xmlns:a16="http://schemas.microsoft.com/office/drawing/2014/main" id="{2D047151-196F-4FD3-87D7-A67490AB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6" name="c-grid6-2">
            <a:extLst xmlns:a="http://schemas.openxmlformats.org/drawingml/2006/main">
              <a:ext uri="{FF2B5EF4-FFF2-40B4-BE49-F238E27FC236}">
                <a16:creationId xmlns:a16="http://schemas.microsoft.com/office/drawing/2014/main" id="{68C09343-DD04-43DC-9526-7F250D6D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7" name="c-grid6-3">
            <a:extLst xmlns:a="http://schemas.openxmlformats.org/drawingml/2006/main">
              <a:ext uri="{FF2B5EF4-FFF2-40B4-BE49-F238E27FC236}">
                <a16:creationId xmlns:a16="http://schemas.microsoft.com/office/drawing/2014/main" id="{D82BF2F8-3851-492F-A271-950EE639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8" name="c-grid6-4">
            <a:extLst xmlns:a="http://schemas.openxmlformats.org/drawingml/2006/main">
              <a:ext uri="{FF2B5EF4-FFF2-40B4-BE49-F238E27FC236}">
                <a16:creationId xmlns:a16="http://schemas.microsoft.com/office/drawing/2014/main" id="{64BBE099-623C-401D-89B2-656FE293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9" name="c-grid6-5">
            <a:extLst xmlns:a="http://schemas.openxmlformats.org/drawingml/2006/main">
              <a:ext uri="{FF2B5EF4-FFF2-40B4-BE49-F238E27FC236}">
                <a16:creationId xmlns:a16="http://schemas.microsoft.com/office/drawing/2014/main" id="{BAAB4F6F-6DC5-479E-9DA1-A69F30B8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0" name="c-grid6-6">
            <a:extLst xmlns:a="http://schemas.openxmlformats.org/drawingml/2006/main">
              <a:ext uri="{FF2B5EF4-FFF2-40B4-BE49-F238E27FC236}">
                <a16:creationId xmlns:a16="http://schemas.microsoft.com/office/drawing/2014/main" id="{E1440AE2-B8CB-4C89-B13D-D293B7EB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1" name="c-grid-dim">
            <a:extLst xmlns:a="http://schemas.openxmlformats.org/drawingml/2006/main">
              <a:ext uri="{FF2B5EF4-FFF2-40B4-BE49-F238E27FC236}">
                <a16:creationId xmlns:a16="http://schemas.microsoft.com/office/drawing/2014/main" id="{1E56D6A0-D31E-4796-B052-284781F3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43375"/>
            <a:ext cx="1628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37 × 37</a:t>
            </a:r>
          </a:p>
        </p:txBody>
      </p:sp>
      <p:sp>
        <p:nvSpPr>
          <p:cNvPr id="82" name="resize">
            <a:extLst xmlns:a="http://schemas.openxmlformats.org/drawingml/2006/main">
              <a:ext uri="{FF2B5EF4-FFF2-40B4-BE49-F238E27FC236}">
                <a16:creationId xmlns:a16="http://schemas.microsoft.com/office/drawing/2014/main" id="{3B946489-9C06-418F-AFB3-01328B4C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38450"/>
            <a:ext cx="23241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Bilinear</a:t>
            </a:r>
          </a:p>
          <a:p xmlns:a="http://schemas.openxmlformats.org/drawingml/2006/main">
            <a:pPr algn="ctr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resizing</a:t>
            </a:r>
          </a:p>
        </p:txBody>
      </p:sp>
      <p:sp>
        <p:nvSpPr>
          <p:cNvPr id="83" name="node63">
            <a:extLst xmlns:a="http://schemas.openxmlformats.org/drawingml/2006/main">
              <a:ext uri="{FF2B5EF4-FFF2-40B4-BE49-F238E27FC236}">
                <a16:creationId xmlns:a16="http://schemas.microsoft.com/office/drawing/2014/main" id="{A0A390D5-42F5-450C-9ED3-CCFCD7A7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348" y="3351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4" name="node64">
            <a:extLst xmlns:a="http://schemas.openxmlformats.org/drawingml/2006/main">
              <a:ext uri="{FF2B5EF4-FFF2-40B4-BE49-F238E27FC236}">
                <a16:creationId xmlns:a16="http://schemas.microsoft.com/office/drawing/2014/main" id="{857DA294-E8E6-4393-90DC-4E290898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748" y="3351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26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5830253" y="3352801"/>
            <a:ext cx="9124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6" name="node65">
            <a:extLst xmlns:a="http://schemas.openxmlformats.org/drawingml/2006/main">
              <a:ext uri="{FF2B5EF4-FFF2-40B4-BE49-F238E27FC236}">
                <a16:creationId xmlns:a16="http://schemas.microsoft.com/office/drawing/2014/main" id="{EEBB63FA-6DEE-4F2F-9D01-88D63604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723" y="3170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7" name="node66">
            <a:extLst xmlns:a="http://schemas.openxmlformats.org/drawingml/2006/main">
              <a:ext uri="{FF2B5EF4-FFF2-40B4-BE49-F238E27FC236}">
                <a16:creationId xmlns:a16="http://schemas.microsoft.com/office/drawing/2014/main" id="{E6DE08A6-B2D5-4385-A4F7-DA291C8F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98" y="3170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29" name="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2734628" y="3171826"/>
            <a:ext cx="9029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86B77"/>
            </a:solidFill>
            <a:prstDash val="dash"/>
            <a:tailEnd type="none" w="med" len="med"/>
          </a:ln>
        </p:spPr>
      </p:cxnSp>
      <p:sp>
        <p:nvSpPr>
          <p:cNvPr id="89" name="node67">
            <a:extLst xmlns:a="http://schemas.openxmlformats.org/drawingml/2006/main">
              <a:ext uri="{FF2B5EF4-FFF2-40B4-BE49-F238E27FC236}">
                <a16:creationId xmlns:a16="http://schemas.microsoft.com/office/drawing/2014/main" id="{128007A2-7D03-463A-AB65-4E9F166F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98" y="3170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0" name="node68">
            <a:extLst xmlns:a="http://schemas.openxmlformats.org/drawingml/2006/main">
              <a:ext uri="{FF2B5EF4-FFF2-40B4-BE49-F238E27FC236}">
                <a16:creationId xmlns:a16="http://schemas.microsoft.com/office/drawing/2014/main" id="{289C12D4-1B59-4993-A992-8489F236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98" y="205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32" name=""/>
          <p:cNvCxnSpPr>
            <a:stCxn xmlns:a="http://schemas.openxmlformats.org/drawingml/2006/main" id="89" idx="0"/>
            <a:endCxn xmlns:a="http://schemas.openxmlformats.org/drawingml/2006/main" id="90" idx="2"/>
          </p:cNvCxnSpPr>
          <p:nvPr/>
        </p:nvCxnSpPr>
        <p:spPr>
          <a:xfrm xmlns:a="http://schemas.openxmlformats.org/drawingml/2006/main" flipV="1">
            <a:off x="3638551" y="2058353"/>
            <a:ext cx="0" cy="11125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86B77"/>
            </a:solidFill>
            <a:prstDash val="dash"/>
            <a:tailEnd type="none" w="med" len="med"/>
          </a:ln>
        </p:spPr>
      </p:cxnSp>
      <p:sp>
        <p:nvSpPr>
          <p:cNvPr id="92" name="node69">
            <a:extLst xmlns:a="http://schemas.openxmlformats.org/drawingml/2006/main">
              <a:ext uri="{FF2B5EF4-FFF2-40B4-BE49-F238E27FC236}">
                <a16:creationId xmlns:a16="http://schemas.microsoft.com/office/drawing/2014/main" id="{CC50487F-31C6-4ED1-9509-FB23FA6D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98" y="205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3" name="node70">
            <a:extLst xmlns:a="http://schemas.openxmlformats.org/drawingml/2006/main">
              <a:ext uri="{FF2B5EF4-FFF2-40B4-BE49-F238E27FC236}">
                <a16:creationId xmlns:a16="http://schemas.microsoft.com/office/drawing/2014/main" id="{0027EFAC-C2C0-411F-9F89-26FAE998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798" y="205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35" name=""/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3639503" y="2057401"/>
            <a:ext cx="42652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86B77"/>
            </a:solidFill>
            <a:prstDash val="dash"/>
            <a:tailEnd type="none" w="med" len="med"/>
          </a:ln>
        </p:spPr>
      </p:cxnSp>
      <p:sp>
        <p:nvSpPr>
          <p:cNvPr id="95" name="node71">
            <a:extLst xmlns:a="http://schemas.openxmlformats.org/drawingml/2006/main">
              <a:ext uri="{FF2B5EF4-FFF2-40B4-BE49-F238E27FC236}">
                <a16:creationId xmlns:a16="http://schemas.microsoft.com/office/drawing/2014/main" id="{D0DE7C0D-4D82-4597-9775-53DAEB6E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798" y="205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6" name="node72">
            <a:extLst xmlns:a="http://schemas.openxmlformats.org/drawingml/2006/main">
              <a:ext uri="{FF2B5EF4-FFF2-40B4-BE49-F238E27FC236}">
                <a16:creationId xmlns:a16="http://schemas.microsoft.com/office/drawing/2014/main" id="{3CCA4726-89AA-4782-88D3-23C23DA0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798" y="2837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38" name=""/>
          <p:cNvCxnSpPr>
            <a:stCxn xmlns:a="http://schemas.openxmlformats.org/drawingml/2006/main" id="95" idx="2"/>
            <a:endCxn xmlns:a="http://schemas.openxmlformats.org/drawingml/2006/main" id="96" idx="0"/>
          </p:cNvCxnSpPr>
          <p:nvPr/>
        </p:nvCxnSpPr>
        <p:spPr>
          <a:xfrm xmlns:a="http://schemas.openxmlformats.org/drawingml/2006/main">
            <a:off x="7905751" y="2058353"/>
            <a:ext cx="0" cy="7791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86B77"/>
            </a:solidFill>
            <a:prstDash val="dash"/>
            <a:tailEnd type="triangle" w="med" len="med"/>
          </a:ln>
        </p:spPr>
      </p:cxnSp>
      <p:sp>
        <p:nvSpPr>
          <p:cNvPr id="98" name="grid-target">
            <a:extLst xmlns:a="http://schemas.openxmlformats.org/drawingml/2006/main">
              <a:ext uri="{FF2B5EF4-FFF2-40B4-BE49-F238E27FC236}">
                <a16:creationId xmlns:a16="http://schemas.microsoft.com/office/drawing/2014/main" id="{992AAC98-1193-41F6-AFBD-7DAB09D5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90750"/>
            <a:ext cx="1838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target size</a:t>
            </a:r>
          </a:p>
        </p:txBody>
      </p:sp>
      <p:sp>
        <p:nvSpPr>
          <p:cNvPr id="99" name="resize-options">
            <a:extLst xmlns:a="http://schemas.openxmlformats.org/drawingml/2006/main">
              <a:ext uri="{FF2B5EF4-FFF2-40B4-BE49-F238E27FC236}">
                <a16:creationId xmlns:a16="http://schemas.microsoft.com/office/drawing/2014/main" id="{00F4CC52-6CE6-4B96-9BB3-9AA93849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71925"/>
            <a:ext cx="3228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align_corners = False</a:t>
            </a:r>
          </a:p>
        </p:txBody>
      </p:sp>
      <p:sp>
        <p:nvSpPr>
          <p:cNvPr id="100" name="c-aligned0-0">
            <a:extLst xmlns:a="http://schemas.openxmlformats.org/drawingml/2006/main">
              <a:ext uri="{FF2B5EF4-FFF2-40B4-BE49-F238E27FC236}">
                <a16:creationId xmlns:a16="http://schemas.microsoft.com/office/drawing/2014/main" id="{6A1B953F-F8BE-4F3E-9531-CFA37F80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1" name="c-aligned0-1">
            <a:extLst xmlns:a="http://schemas.openxmlformats.org/drawingml/2006/main">
              <a:ext uri="{FF2B5EF4-FFF2-40B4-BE49-F238E27FC236}">
                <a16:creationId xmlns:a16="http://schemas.microsoft.com/office/drawing/2014/main" id="{2ED2C08F-5E5A-4819-AE1D-A9FE4E6E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2" name="c-aligned0-2">
            <a:extLst xmlns:a="http://schemas.openxmlformats.org/drawingml/2006/main">
              <a:ext uri="{FF2B5EF4-FFF2-40B4-BE49-F238E27FC236}">
                <a16:creationId xmlns:a16="http://schemas.microsoft.com/office/drawing/2014/main" id="{E4EC774D-5CBD-4940-9232-661FD08F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3" name="c-aligned0-3">
            <a:extLst xmlns:a="http://schemas.openxmlformats.org/drawingml/2006/main">
              <a:ext uri="{FF2B5EF4-FFF2-40B4-BE49-F238E27FC236}">
                <a16:creationId xmlns:a16="http://schemas.microsoft.com/office/drawing/2014/main" id="{90514995-11DD-4808-BC86-F17BF0F5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4" name="c-aligned0-4">
            <a:extLst xmlns:a="http://schemas.openxmlformats.org/drawingml/2006/main">
              <a:ext uri="{FF2B5EF4-FFF2-40B4-BE49-F238E27FC236}">
                <a16:creationId xmlns:a16="http://schemas.microsoft.com/office/drawing/2014/main" id="{2AE97F12-FA4E-4FAD-AE33-57BC5998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5" name="c-aligned0-5">
            <a:extLst xmlns:a="http://schemas.openxmlformats.org/drawingml/2006/main">
              <a:ext uri="{FF2B5EF4-FFF2-40B4-BE49-F238E27FC236}">
                <a16:creationId xmlns:a16="http://schemas.microsoft.com/office/drawing/2014/main" id="{EA004A7A-F737-402F-8B92-6404482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6" name="c-aligned1-0">
            <a:extLst xmlns:a="http://schemas.openxmlformats.org/drawingml/2006/main">
              <a:ext uri="{FF2B5EF4-FFF2-40B4-BE49-F238E27FC236}">
                <a16:creationId xmlns:a16="http://schemas.microsoft.com/office/drawing/2014/main" id="{BC5DF5C6-D45D-468B-B25E-1D8A9E90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7" name="c-aligned1-1">
            <a:extLst xmlns:a="http://schemas.openxmlformats.org/drawingml/2006/main">
              <a:ext uri="{FF2B5EF4-FFF2-40B4-BE49-F238E27FC236}">
                <a16:creationId xmlns:a16="http://schemas.microsoft.com/office/drawing/2014/main" id="{85858F9D-5319-4971-A35E-FB88370E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8" name="c-aligned1-2">
            <a:extLst xmlns:a="http://schemas.openxmlformats.org/drawingml/2006/main">
              <a:ext uri="{FF2B5EF4-FFF2-40B4-BE49-F238E27FC236}">
                <a16:creationId xmlns:a16="http://schemas.microsoft.com/office/drawing/2014/main" id="{1328A1BA-D290-4F83-B4C6-2F665CC9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39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9" name="c-aligned1-3">
            <a:extLst xmlns:a="http://schemas.openxmlformats.org/drawingml/2006/main">
              <a:ext uri="{FF2B5EF4-FFF2-40B4-BE49-F238E27FC236}">
                <a16:creationId xmlns:a16="http://schemas.microsoft.com/office/drawing/2014/main" id="{7BCA41A1-4E16-4BDF-9F96-AFB5B61E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0" name="c-aligned1-4">
            <a:extLst xmlns:a="http://schemas.openxmlformats.org/drawingml/2006/main">
              <a:ext uri="{FF2B5EF4-FFF2-40B4-BE49-F238E27FC236}">
                <a16:creationId xmlns:a16="http://schemas.microsoft.com/office/drawing/2014/main" id="{D04F03E6-493C-4B33-B6F6-CA62386D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1" name="c-aligned1-5">
            <a:extLst xmlns:a="http://schemas.openxmlformats.org/drawingml/2006/main">
              <a:ext uri="{FF2B5EF4-FFF2-40B4-BE49-F238E27FC236}">
                <a16:creationId xmlns:a16="http://schemas.microsoft.com/office/drawing/2014/main" id="{24C57DA5-A1A0-4EA5-830E-76FB3EF0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2" name="c-aligned2-0">
            <a:extLst xmlns:a="http://schemas.openxmlformats.org/drawingml/2006/main">
              <a:ext uri="{FF2B5EF4-FFF2-40B4-BE49-F238E27FC236}">
                <a16:creationId xmlns:a16="http://schemas.microsoft.com/office/drawing/2014/main" id="{196C60C4-1835-4D36-984F-725658E9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3" name="c-aligned2-1">
            <a:extLst xmlns:a="http://schemas.openxmlformats.org/drawingml/2006/main">
              <a:ext uri="{FF2B5EF4-FFF2-40B4-BE49-F238E27FC236}">
                <a16:creationId xmlns:a16="http://schemas.microsoft.com/office/drawing/2014/main" id="{5B81ED31-C262-487C-8727-E6A8DF31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4" name="c-aligned2-2">
            <a:extLst xmlns:a="http://schemas.openxmlformats.org/drawingml/2006/main">
              <a:ext uri="{FF2B5EF4-FFF2-40B4-BE49-F238E27FC236}">
                <a16:creationId xmlns:a16="http://schemas.microsoft.com/office/drawing/2014/main" id="{CAEE915E-03AC-49D0-90E3-72EF90E0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5" name="c-aligned2-3">
            <a:extLst xmlns:a="http://schemas.openxmlformats.org/drawingml/2006/main">
              <a:ext uri="{FF2B5EF4-FFF2-40B4-BE49-F238E27FC236}">
                <a16:creationId xmlns:a16="http://schemas.microsoft.com/office/drawing/2014/main" id="{273AF312-151B-47D8-9F52-55548FE0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6" name="c-aligned2-4">
            <a:extLst xmlns:a="http://schemas.openxmlformats.org/drawingml/2006/main">
              <a:ext uri="{FF2B5EF4-FFF2-40B4-BE49-F238E27FC236}">
                <a16:creationId xmlns:a16="http://schemas.microsoft.com/office/drawing/2014/main" id="{DFE2C23D-BC78-4220-A0D1-1B174F29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7" name="c-aligned2-5">
            <a:extLst xmlns:a="http://schemas.openxmlformats.org/drawingml/2006/main">
              <a:ext uri="{FF2B5EF4-FFF2-40B4-BE49-F238E27FC236}">
                <a16:creationId xmlns:a16="http://schemas.microsoft.com/office/drawing/2014/main" id="{5B89AF57-0133-46D6-97E6-85EB8890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8" name="c-aligned3-0">
            <a:extLst xmlns:a="http://schemas.openxmlformats.org/drawingml/2006/main">
              <a:ext uri="{FF2B5EF4-FFF2-40B4-BE49-F238E27FC236}">
                <a16:creationId xmlns:a16="http://schemas.microsoft.com/office/drawing/2014/main" id="{CAB97D12-45D2-42DF-B62B-7BECB955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9" name="c-aligned3-1">
            <a:extLst xmlns:a="http://schemas.openxmlformats.org/drawingml/2006/main">
              <a:ext uri="{FF2B5EF4-FFF2-40B4-BE49-F238E27FC236}">
                <a16:creationId xmlns:a16="http://schemas.microsoft.com/office/drawing/2014/main" id="{D503A3BC-E41B-421E-BC10-DD52AD86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0" name="c-aligned3-2">
            <a:extLst xmlns:a="http://schemas.openxmlformats.org/drawingml/2006/main">
              <a:ext uri="{FF2B5EF4-FFF2-40B4-BE49-F238E27FC236}">
                <a16:creationId xmlns:a16="http://schemas.microsoft.com/office/drawing/2014/main" id="{1826C03C-70F6-4354-BB0F-3A089BE4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1" name="c-aligned3-3">
            <a:extLst xmlns:a="http://schemas.openxmlformats.org/drawingml/2006/main">
              <a:ext uri="{FF2B5EF4-FFF2-40B4-BE49-F238E27FC236}">
                <a16:creationId xmlns:a16="http://schemas.microsoft.com/office/drawing/2014/main" id="{9A524835-8D27-47E6-8120-5224FF4F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2" name="c-aligned3-4">
            <a:extLst xmlns:a="http://schemas.openxmlformats.org/drawingml/2006/main">
              <a:ext uri="{FF2B5EF4-FFF2-40B4-BE49-F238E27FC236}">
                <a16:creationId xmlns:a16="http://schemas.microsoft.com/office/drawing/2014/main" id="{35E889B7-38C0-402A-B550-4681B771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3" name="c-aligned3-5">
            <a:extLst xmlns:a="http://schemas.openxmlformats.org/drawingml/2006/main">
              <a:ext uri="{FF2B5EF4-FFF2-40B4-BE49-F238E27FC236}">
                <a16:creationId xmlns:a16="http://schemas.microsoft.com/office/drawing/2014/main" id="{5273452E-45BF-4D36-A696-A20073F4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4" name="node73">
            <a:extLst xmlns:a="http://schemas.openxmlformats.org/drawingml/2006/main">
              <a:ext uri="{FF2B5EF4-FFF2-40B4-BE49-F238E27FC236}">
                <a16:creationId xmlns:a16="http://schemas.microsoft.com/office/drawing/2014/main" id="{562625E5-52C9-4B26-8240-6A4886D8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848" y="3351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25" name="node74">
            <a:extLst xmlns:a="http://schemas.openxmlformats.org/drawingml/2006/main">
              <a:ext uri="{FF2B5EF4-FFF2-40B4-BE49-F238E27FC236}">
                <a16:creationId xmlns:a16="http://schemas.microsoft.com/office/drawing/2014/main" id="{C5BE4CEE-A549-486E-836E-38C926F1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423" y="3351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67" name=""/>
          <p:cNvCxnSpPr>
            <a:stCxn xmlns:a="http://schemas.openxmlformats.org/drawingml/2006/main" id="124" idx="3"/>
            <a:endCxn xmlns:a="http://schemas.openxmlformats.org/drawingml/2006/main" id="125" idx="1"/>
          </p:cNvCxnSpPr>
          <p:nvPr/>
        </p:nvCxnSpPr>
        <p:spPr>
          <a:xfrm xmlns:a="http://schemas.openxmlformats.org/drawingml/2006/main">
            <a:off x="9068753" y="3352801"/>
            <a:ext cx="788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27" name="c-aligned-dim">
            <a:extLst xmlns:a="http://schemas.openxmlformats.org/drawingml/2006/main">
              <a:ext uri="{FF2B5EF4-FFF2-40B4-BE49-F238E27FC236}">
                <a16:creationId xmlns:a16="http://schemas.microsoft.com/office/drawing/2014/main" id="{AF4C9553-34AA-4E59-9890-A39B3CE3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528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1">
                <a:latin typeface="Cambria Math"/>
                <a:ea typeface="Cambria Math"/>
                <a:cs typeface="Cambria Math"/>
              </a:rPr>
              <a:t>h</a:t>
            </a:r>
            <a:r>
              <a:rPr sz="1566" b="0" i="0" baseline="-25000">
                <a:latin typeface="Cambria Math"/>
                <a:ea typeface="Cambria Math"/>
                <a:cs typeface="Cambria Math"/>
              </a:rPr>
              <a:t>D</a:t>
            </a:r>
            <a:r>
              <a:rPr sz="2175" b="0" i="0">
                <a:latin typeface="Cambria Math"/>
                <a:ea typeface="Cambria Math"/>
                <a:cs typeface="Cambria Math"/>
              </a:rPr>
              <a:t> × </a:t>
            </a:r>
            <a:r>
              <a:rPr sz="2175" b="0" i="1">
                <a:latin typeface="Cambria Math"/>
                <a:ea typeface="Cambria Math"/>
                <a:cs typeface="Cambria Math"/>
              </a:rPr>
              <a:t>w</a:t>
            </a:r>
            <a:r>
              <a:rPr sz="1566" b="0" i="0" baseline="-25000">
                <a:latin typeface="Cambria Math"/>
                <a:ea typeface="Cambria Math"/>
                <a:cs typeface="Cambria Math"/>
              </a:rPr>
              <a:t>D</a:t>
            </a:r>
          </a:p>
        </p:txBody>
      </p:sp>
      <p:sp>
        <p:nvSpPr>
          <p:cNvPr id="128" name="paired-location">
            <a:extLst xmlns:a="http://schemas.openxmlformats.org/drawingml/2006/main">
              <a:ext uri="{FF2B5EF4-FFF2-40B4-BE49-F238E27FC236}">
                <a16:creationId xmlns:a16="http://schemas.microsoft.com/office/drawing/2014/main" id="{84D45106-28CD-4D8D-9DD9-6E7A1408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238375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latin typeface="Arial"/>
                <a:ea typeface="Arial"/>
                <a:cs typeface="Arial"/>
              </a:rPr>
              <a:t>Same grid location </a:t>
            </a:r>
            <a:r>
              <a:rPr sz="2175" b="0" i="1">
                <a:latin typeface="Cambria Math"/>
                <a:ea typeface="Cambria Math"/>
                <a:cs typeface="Cambria Math"/>
              </a:rPr>
              <a:t>p</a:t>
            </a:r>
          </a:p>
        </p:txBody>
      </p:sp>
      <p:sp>
        <p:nvSpPr>
          <p:cNvPr id="129" name="pair-d0-0">
            <a:extLst xmlns:a="http://schemas.openxmlformats.org/drawingml/2006/main">
              <a:ext uri="{FF2B5EF4-FFF2-40B4-BE49-F238E27FC236}">
                <a16:creationId xmlns:a16="http://schemas.microsoft.com/office/drawing/2014/main" id="{D8852E22-BB3A-45EE-929C-5AA28F22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0" name="pair-d0-1">
            <a:extLst xmlns:a="http://schemas.openxmlformats.org/drawingml/2006/main">
              <a:ext uri="{FF2B5EF4-FFF2-40B4-BE49-F238E27FC236}">
                <a16:creationId xmlns:a16="http://schemas.microsoft.com/office/drawing/2014/main" id="{E721343E-1D52-4662-83F6-A316F23B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1" name="pair-d0-2">
            <a:extLst xmlns:a="http://schemas.openxmlformats.org/drawingml/2006/main">
              <a:ext uri="{FF2B5EF4-FFF2-40B4-BE49-F238E27FC236}">
                <a16:creationId xmlns:a16="http://schemas.microsoft.com/office/drawing/2014/main" id="{0690E470-B14F-4E6A-8761-1FA0976E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2" name="pair-d0-3">
            <a:extLst xmlns:a="http://schemas.openxmlformats.org/drawingml/2006/main">
              <a:ext uri="{FF2B5EF4-FFF2-40B4-BE49-F238E27FC236}">
                <a16:creationId xmlns:a16="http://schemas.microsoft.com/office/drawing/2014/main" id="{A81FD76D-58EA-48E6-B56C-62F1F937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3" name="pair-d1-0">
            <a:extLst xmlns:a="http://schemas.openxmlformats.org/drawingml/2006/main">
              <a:ext uri="{FF2B5EF4-FFF2-40B4-BE49-F238E27FC236}">
                <a16:creationId xmlns:a16="http://schemas.microsoft.com/office/drawing/2014/main" id="{B50321F0-1BE8-4CFD-83CB-28EF16B5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4" name="pair-d1-1">
            <a:extLst xmlns:a="http://schemas.openxmlformats.org/drawingml/2006/main">
              <a:ext uri="{FF2B5EF4-FFF2-40B4-BE49-F238E27FC236}">
                <a16:creationId xmlns:a16="http://schemas.microsoft.com/office/drawing/2014/main" id="{23586A53-9191-4FD6-B027-1AC82418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5" name="pair-d1-2">
            <a:extLst xmlns:a="http://schemas.openxmlformats.org/drawingml/2006/main">
              <a:ext uri="{FF2B5EF4-FFF2-40B4-BE49-F238E27FC236}">
                <a16:creationId xmlns:a16="http://schemas.microsoft.com/office/drawing/2014/main" id="{D47BDB67-ED5E-4950-9CB1-9E772249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C9C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6" name="pair-d1-3">
            <a:extLst xmlns:a="http://schemas.openxmlformats.org/drawingml/2006/main">
              <a:ext uri="{FF2B5EF4-FFF2-40B4-BE49-F238E27FC236}">
                <a16:creationId xmlns:a16="http://schemas.microsoft.com/office/drawing/2014/main" id="{25987797-AD79-4CCB-9FC6-7728D8B9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7" name="pair-d2-0">
            <a:extLst xmlns:a="http://schemas.openxmlformats.org/drawingml/2006/main">
              <a:ext uri="{FF2B5EF4-FFF2-40B4-BE49-F238E27FC236}">
                <a16:creationId xmlns:a16="http://schemas.microsoft.com/office/drawing/2014/main" id="{7AF07CFC-70D4-4D12-9458-1B13A64C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8" name="pair-d2-1">
            <a:extLst xmlns:a="http://schemas.openxmlformats.org/drawingml/2006/main">
              <a:ext uri="{FF2B5EF4-FFF2-40B4-BE49-F238E27FC236}">
                <a16:creationId xmlns:a16="http://schemas.microsoft.com/office/drawing/2014/main" id="{C46A2499-D3B5-4A5A-9E6E-9204D42E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9" name="pair-d2-2">
            <a:extLst xmlns:a="http://schemas.openxmlformats.org/drawingml/2006/main">
              <a:ext uri="{FF2B5EF4-FFF2-40B4-BE49-F238E27FC236}">
                <a16:creationId xmlns:a16="http://schemas.microsoft.com/office/drawing/2014/main" id="{D2325783-3EE6-4EBD-A734-7005C819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0" name="pair-d2-3">
            <a:extLst xmlns:a="http://schemas.openxmlformats.org/drawingml/2006/main">
              <a:ext uri="{FF2B5EF4-FFF2-40B4-BE49-F238E27FC236}">
                <a16:creationId xmlns:a16="http://schemas.microsoft.com/office/drawing/2014/main" id="{BA1042CE-3256-49B5-9A2A-BE1A791E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1" name="pair-c0-0">
            <a:extLst xmlns:a="http://schemas.openxmlformats.org/drawingml/2006/main">
              <a:ext uri="{FF2B5EF4-FFF2-40B4-BE49-F238E27FC236}">
                <a16:creationId xmlns:a16="http://schemas.microsoft.com/office/drawing/2014/main" id="{4B5420A1-210A-44F6-B8D9-4A4D07CA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2" name="pair-c0-1">
            <a:extLst xmlns:a="http://schemas.openxmlformats.org/drawingml/2006/main">
              <a:ext uri="{FF2B5EF4-FFF2-40B4-BE49-F238E27FC236}">
                <a16:creationId xmlns:a16="http://schemas.microsoft.com/office/drawing/2014/main" id="{68E4AD15-E2DC-4E70-8BAF-6C81D651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3" name="pair-c0-2">
            <a:extLst xmlns:a="http://schemas.openxmlformats.org/drawingml/2006/main">
              <a:ext uri="{FF2B5EF4-FFF2-40B4-BE49-F238E27FC236}">
                <a16:creationId xmlns:a16="http://schemas.microsoft.com/office/drawing/2014/main" id="{28345B82-3D2C-486A-AFAF-24DA021D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4" name="pair-c0-3">
            <a:extLst xmlns:a="http://schemas.openxmlformats.org/drawingml/2006/main">
              <a:ext uri="{FF2B5EF4-FFF2-40B4-BE49-F238E27FC236}">
                <a16:creationId xmlns:a16="http://schemas.microsoft.com/office/drawing/2014/main" id="{84DFF740-1634-41CB-B29A-82796C55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5" name="pair-c1-0">
            <a:extLst xmlns:a="http://schemas.openxmlformats.org/drawingml/2006/main">
              <a:ext uri="{FF2B5EF4-FFF2-40B4-BE49-F238E27FC236}">
                <a16:creationId xmlns:a16="http://schemas.microsoft.com/office/drawing/2014/main" id="{67099834-8DC3-4812-A094-14ABF2C1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6" name="pair-c1-1">
            <a:extLst xmlns:a="http://schemas.openxmlformats.org/drawingml/2006/main">
              <a:ext uri="{FF2B5EF4-FFF2-40B4-BE49-F238E27FC236}">
                <a16:creationId xmlns:a16="http://schemas.microsoft.com/office/drawing/2014/main" id="{A57D24AE-F47B-4354-B575-24F6875A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7" name="pair-c1-2">
            <a:extLst xmlns:a="http://schemas.openxmlformats.org/drawingml/2006/main">
              <a:ext uri="{FF2B5EF4-FFF2-40B4-BE49-F238E27FC236}">
                <a16:creationId xmlns:a16="http://schemas.microsoft.com/office/drawing/2014/main" id="{6EC2E79E-664D-445B-838E-2CF549CB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39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8" name="pair-c1-3">
            <a:extLst xmlns:a="http://schemas.openxmlformats.org/drawingml/2006/main">
              <a:ext uri="{FF2B5EF4-FFF2-40B4-BE49-F238E27FC236}">
                <a16:creationId xmlns:a16="http://schemas.microsoft.com/office/drawing/2014/main" id="{404BE666-CE84-4502-B97E-F4957E23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9" name="pair-c2-0">
            <a:extLst xmlns:a="http://schemas.openxmlformats.org/drawingml/2006/main">
              <a:ext uri="{FF2B5EF4-FFF2-40B4-BE49-F238E27FC236}">
                <a16:creationId xmlns:a16="http://schemas.microsoft.com/office/drawing/2014/main" id="{B94F9E2F-111D-4499-9DDA-9FC261A4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0" name="pair-c2-1">
            <a:extLst xmlns:a="http://schemas.openxmlformats.org/drawingml/2006/main">
              <a:ext uri="{FF2B5EF4-FFF2-40B4-BE49-F238E27FC236}">
                <a16:creationId xmlns:a16="http://schemas.microsoft.com/office/drawing/2014/main" id="{9592F17C-2FF7-4F36-92B7-93DF9FA4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1" name="pair-c2-2">
            <a:extLst xmlns:a="http://schemas.openxmlformats.org/drawingml/2006/main">
              <a:ext uri="{FF2B5EF4-FFF2-40B4-BE49-F238E27FC236}">
                <a16:creationId xmlns:a16="http://schemas.microsoft.com/office/drawing/2014/main" id="{1758949C-83BD-4277-AF0E-4076F8A5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2" name="pair-c2-3">
            <a:extLst xmlns:a="http://schemas.openxmlformats.org/drawingml/2006/main">
              <a:ext uri="{FF2B5EF4-FFF2-40B4-BE49-F238E27FC236}">
                <a16:creationId xmlns:a16="http://schemas.microsoft.com/office/drawing/2014/main" id="{1481CD71-B96F-491B-8F56-6B3BC23A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3" name="node75">
            <a:extLst xmlns:a="http://schemas.openxmlformats.org/drawingml/2006/main">
              <a:ext uri="{FF2B5EF4-FFF2-40B4-BE49-F238E27FC236}">
                <a16:creationId xmlns:a16="http://schemas.microsoft.com/office/drawing/2014/main" id="{7A8B8DBC-CF02-4090-8990-C4361BAF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4523" y="3256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54" name="node76">
            <a:extLst xmlns:a="http://schemas.openxmlformats.org/drawingml/2006/main">
              <a:ext uri="{FF2B5EF4-FFF2-40B4-BE49-F238E27FC236}">
                <a16:creationId xmlns:a16="http://schemas.microsoft.com/office/drawing/2014/main" id="{E3197EBE-84CA-44C4-87FE-E2A35B3B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6523" y="3256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96" name=""/>
          <p:cNvCxnSpPr>
            <a:stCxn xmlns:a="http://schemas.openxmlformats.org/drawingml/2006/main" id="153" idx="3"/>
            <a:endCxn xmlns:a="http://schemas.openxmlformats.org/drawingml/2006/main" id="154" idx="1"/>
          </p:cNvCxnSpPr>
          <p:nvPr/>
        </p:nvCxnSpPr>
        <p:spPr>
          <a:xfrm xmlns:a="http://schemas.openxmlformats.org/drawingml/2006/main">
            <a:off x="13326428" y="3257551"/>
            <a:ext cx="76009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86B77"/>
            </a:solidFill>
            <a:prstDash val="dash"/>
            <a:tailEnd type="none" w="med" len="med"/>
          </a:ln>
        </p:spPr>
      </p:cxnSp>
      <p:sp>
        <p:nvSpPr>
          <p:cNvPr id="156" name="pair-note">
            <a:extLst xmlns:a="http://schemas.openxmlformats.org/drawingml/2006/main">
              <a:ext uri="{FF2B5EF4-FFF2-40B4-BE49-F238E27FC236}">
                <a16:creationId xmlns:a16="http://schemas.microsoft.com/office/drawing/2014/main" id="{E92AD5FB-4A56-4D53-BAE6-98AA2D4D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819525"/>
            <a:ext cx="3209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 per branch</a:t>
            </a:r>
          </a:p>
        </p:txBody>
      </p:sp>
      <p:sp>
        <p:nvSpPr>
          <p:cNvPr id="157" name="midrule">
            <a:extLst xmlns:a="http://schemas.openxmlformats.org/drawingml/2006/main">
              <a:ext uri="{FF2B5EF4-FFF2-40B4-BE49-F238E27FC236}">
                <a16:creationId xmlns:a16="http://schemas.microsoft.com/office/drawing/2014/main" id="{7E539BCA-ABF5-4377-BFAA-31716A8A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6196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158" name="section77">
            <a:extLst xmlns:a="http://schemas.openxmlformats.org/drawingml/2006/main">
              <a:ext uri="{FF2B5EF4-FFF2-40B4-BE49-F238E27FC236}">
                <a16:creationId xmlns:a16="http://schemas.microsoft.com/office/drawing/2014/main" id="{49F7D1D0-1FDB-4F96-8A4F-E7722114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91075"/>
            <a:ext cx="1531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(b) Normalize, scale and concatenate each patch pair</a:t>
            </a:r>
          </a:p>
        </p:txBody>
      </p:sp>
      <p:sp>
        <p:nvSpPr>
          <p:cNvPr id="159" name="d-raw0">
            <a:extLst xmlns:a="http://schemas.openxmlformats.org/drawingml/2006/main">
              <a:ext uri="{FF2B5EF4-FFF2-40B4-BE49-F238E27FC236}">
                <a16:creationId xmlns:a16="http://schemas.microsoft.com/office/drawing/2014/main" id="{5F2D3CFC-450F-447B-8101-CF6901B2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60" name="d-raw1">
            <a:extLst xmlns:a="http://schemas.openxmlformats.org/drawingml/2006/main">
              <a:ext uri="{FF2B5EF4-FFF2-40B4-BE49-F238E27FC236}">
                <a16:creationId xmlns:a16="http://schemas.microsoft.com/office/drawing/2014/main" id="{CC22C284-CF5C-4E82-9770-16FAED8C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8293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61" name="d-raw2">
            <a:extLst xmlns:a="http://schemas.openxmlformats.org/drawingml/2006/main">
              <a:ext uri="{FF2B5EF4-FFF2-40B4-BE49-F238E27FC236}">
                <a16:creationId xmlns:a16="http://schemas.microsoft.com/office/drawing/2014/main" id="{CB3ECAD3-1116-45F2-8FD8-58F1B866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293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62" name="d-raw3">
            <a:extLst xmlns:a="http://schemas.openxmlformats.org/drawingml/2006/main">
              <a:ext uri="{FF2B5EF4-FFF2-40B4-BE49-F238E27FC236}">
                <a16:creationId xmlns:a16="http://schemas.microsoft.com/office/drawing/2014/main" id="{7C66505C-1A92-4307-BDE1-0C38AC86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8293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63" name="d-raw4">
            <a:extLst xmlns:a="http://schemas.openxmlformats.org/drawingml/2006/main">
              <a:ext uri="{FF2B5EF4-FFF2-40B4-BE49-F238E27FC236}">
                <a16:creationId xmlns:a16="http://schemas.microsoft.com/office/drawing/2014/main" id="{EDF09573-995D-4E05-AEB4-6E5C20B6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293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64" name="c-raw0">
            <a:extLst xmlns:a="http://schemas.openxmlformats.org/drawingml/2006/main">
              <a:ext uri="{FF2B5EF4-FFF2-40B4-BE49-F238E27FC236}">
                <a16:creationId xmlns:a16="http://schemas.microsoft.com/office/drawing/2014/main" id="{1945BC50-800D-43A6-A095-F663E0C3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866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165" name="c-raw1">
            <a:extLst xmlns:a="http://schemas.openxmlformats.org/drawingml/2006/main">
              <a:ext uri="{FF2B5EF4-FFF2-40B4-BE49-F238E27FC236}">
                <a16:creationId xmlns:a16="http://schemas.microsoft.com/office/drawing/2014/main" id="{F6FF4B82-D45C-47FC-8AF7-0A0A5B1F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70866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166" name="c-raw2">
            <a:extLst xmlns:a="http://schemas.openxmlformats.org/drawingml/2006/main">
              <a:ext uri="{FF2B5EF4-FFF2-40B4-BE49-F238E27FC236}">
                <a16:creationId xmlns:a16="http://schemas.microsoft.com/office/drawing/2014/main" id="{E5F2EEBE-B2FA-40D0-9666-9ED28D78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0866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167" name="c-raw3">
            <a:extLst xmlns:a="http://schemas.openxmlformats.org/drawingml/2006/main">
              <a:ext uri="{FF2B5EF4-FFF2-40B4-BE49-F238E27FC236}">
                <a16:creationId xmlns:a16="http://schemas.microsoft.com/office/drawing/2014/main" id="{0C2122B3-EA39-4B6D-B35F-A86E64A4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70866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168" name="c-raw4">
            <a:extLst xmlns:a="http://schemas.openxmlformats.org/drawingml/2006/main">
              <a:ext uri="{FF2B5EF4-FFF2-40B4-BE49-F238E27FC236}">
                <a16:creationId xmlns:a16="http://schemas.microsoft.com/office/drawing/2014/main" id="{45B848D3-D49C-4E34-975B-B07AC38F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0866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169" name="d-raw-symbol">
            <a:extLst xmlns:a="http://schemas.openxmlformats.org/drawingml/2006/main">
              <a:ext uri="{FF2B5EF4-FFF2-40B4-BE49-F238E27FC236}">
                <a16:creationId xmlns:a16="http://schemas.microsoft.com/office/drawing/2014/main" id="{EF29BB2B-ECCB-483B-A110-35BE5CF1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5305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 i="1">
                <a:latin typeface="Cambria Math"/>
                <a:ea typeface="Cambria Math"/>
                <a:cs typeface="Cambria Math"/>
              </a:rPr>
              <a:t>f</a:t>
            </a:r>
            <a:r>
              <a:rPr sz="1674" b="0" i="0" baseline="-25000">
                <a:latin typeface="Cambria Math"/>
                <a:ea typeface="Cambria Math"/>
                <a:cs typeface="Cambria Math"/>
              </a:rPr>
              <a:t>D</a:t>
            </a:r>
            <a:r>
              <a:rPr sz="1674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674" b="0" i="1" baseline="-25000">
                <a:latin typeface="Cambria Math"/>
                <a:ea typeface="Cambria Math"/>
                <a:cs typeface="Cambria Math"/>
              </a:rPr>
              <a:t>p</a:t>
            </a:r>
          </a:p>
        </p:txBody>
      </p:sp>
      <p:sp>
        <p:nvSpPr>
          <p:cNvPr id="170" name="c-raw-symbol">
            <a:extLst xmlns:a="http://schemas.openxmlformats.org/drawingml/2006/main">
              <a:ext uri="{FF2B5EF4-FFF2-40B4-BE49-F238E27FC236}">
                <a16:creationId xmlns:a16="http://schemas.microsoft.com/office/drawing/2014/main" id="{68B2768E-1FE7-4BC4-BAA6-19455A00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56285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1">
                <a:latin typeface="Cambria Math"/>
                <a:ea typeface="Cambria Math"/>
                <a:cs typeface="Cambria Math"/>
              </a:rPr>
              <a:t>f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C→D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620" b="0" i="1" baseline="-25000">
                <a:latin typeface="Cambria Math"/>
                <a:ea typeface="Cambria Math"/>
                <a:cs typeface="Cambria Math"/>
              </a:rPr>
              <a:t>p</a:t>
            </a:r>
          </a:p>
        </p:txBody>
      </p:sp>
      <p:sp>
        <p:nvSpPr>
          <p:cNvPr id="171" name="dn">
            <a:extLst xmlns:a="http://schemas.openxmlformats.org/drawingml/2006/main">
              <a:ext uri="{FF2B5EF4-FFF2-40B4-BE49-F238E27FC236}">
                <a16:creationId xmlns:a16="http://schemas.microsoft.com/office/drawing/2014/main" id="{DEA2EC31-5788-4A9E-9E12-BF471B06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724525"/>
            <a:ext cx="15049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0" i="1">
                <a:latin typeface="Cambria Math"/>
                <a:ea typeface="Cambria Math"/>
                <a:cs typeface="Cambria Math"/>
              </a:rPr>
              <a:t>ℓ</a:t>
            </a:r>
            <a:r>
              <a:rPr sz="1566" b="0" i="0" baseline="-25000">
                <a:latin typeface="Cambria Math"/>
                <a:ea typeface="Cambria Math"/>
                <a:cs typeface="Cambria Math"/>
              </a:rPr>
              <a:t>2</a:t>
            </a:r>
            <a:r>
              <a:rPr sz="2175" b="0" i="0">
                <a:latin typeface="Arial"/>
                <a:ea typeface="Arial"/>
                <a:cs typeface="Arial"/>
              </a:rPr>
              <a:t> norm</a:t>
            </a:r>
          </a:p>
        </p:txBody>
      </p:sp>
      <p:sp>
        <p:nvSpPr>
          <p:cNvPr id="172" name="cn">
            <a:extLst xmlns:a="http://schemas.openxmlformats.org/drawingml/2006/main">
              <a:ext uri="{FF2B5EF4-FFF2-40B4-BE49-F238E27FC236}">
                <a16:creationId xmlns:a16="http://schemas.microsoft.com/office/drawing/2014/main" id="{62D1BDB1-C7D5-4C97-89BF-FEE56E4D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981825"/>
            <a:ext cx="15049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0" i="1">
                <a:latin typeface="Cambria Math"/>
                <a:ea typeface="Cambria Math"/>
                <a:cs typeface="Cambria Math"/>
              </a:rPr>
              <a:t>ℓ</a:t>
            </a:r>
            <a:r>
              <a:rPr sz="1566" b="0" i="0" baseline="-25000">
                <a:latin typeface="Cambria Math"/>
                <a:ea typeface="Cambria Math"/>
                <a:cs typeface="Cambria Math"/>
              </a:rPr>
              <a:t>2</a:t>
            </a:r>
            <a:r>
              <a:rPr sz="2175" b="0" i="0">
                <a:latin typeface="Arial"/>
                <a:ea typeface="Arial"/>
                <a:cs typeface="Arial"/>
              </a:rPr>
              <a:t> norm</a:t>
            </a:r>
          </a:p>
        </p:txBody>
      </p:sp>
      <p:sp>
        <p:nvSpPr>
          <p:cNvPr id="173" name="node78">
            <a:extLst xmlns:a="http://schemas.openxmlformats.org/drawingml/2006/main">
              <a:ext uri="{FF2B5EF4-FFF2-40B4-BE49-F238E27FC236}">
                <a16:creationId xmlns:a16="http://schemas.microsoft.com/office/drawing/2014/main" id="{A6D18697-516B-4C67-81A2-FBE3A449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073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4" name="node79">
            <a:extLst xmlns:a="http://schemas.openxmlformats.org/drawingml/2006/main">
              <a:ext uri="{FF2B5EF4-FFF2-40B4-BE49-F238E27FC236}">
                <a16:creationId xmlns:a16="http://schemas.microsoft.com/office/drawing/2014/main" id="{A8FE1FD5-CA5C-4A45-8518-E3CF6877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198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16" name=""/>
          <p:cNvCxnSpPr>
            <a:stCxn xmlns:a="http://schemas.openxmlformats.org/drawingml/2006/main" id="173" idx="3"/>
            <a:endCxn xmlns:a="http://schemas.openxmlformats.org/drawingml/2006/main" id="174" idx="1"/>
          </p:cNvCxnSpPr>
          <p:nvPr/>
        </p:nvCxnSpPr>
        <p:spPr>
          <a:xfrm xmlns:a="http://schemas.openxmlformats.org/drawingml/2006/main">
            <a:off x="2486978" y="6029326"/>
            <a:ext cx="6172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76" name="node80">
            <a:extLst xmlns:a="http://schemas.openxmlformats.org/drawingml/2006/main">
              <a:ext uri="{FF2B5EF4-FFF2-40B4-BE49-F238E27FC236}">
                <a16:creationId xmlns:a16="http://schemas.microsoft.com/office/drawing/2014/main" id="{67810C9E-9D30-48B1-B146-7EA10950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073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7" name="node81">
            <a:extLst xmlns:a="http://schemas.openxmlformats.org/drawingml/2006/main">
              <a:ext uri="{FF2B5EF4-FFF2-40B4-BE49-F238E27FC236}">
                <a16:creationId xmlns:a16="http://schemas.microsoft.com/office/drawing/2014/main" id="{C8EA254C-0F53-41C0-9C98-C16D56A1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198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19" name=""/>
          <p:cNvCxnSpPr>
            <a:stCxn xmlns:a="http://schemas.openxmlformats.org/drawingml/2006/main" id="176" idx="3"/>
            <a:endCxn xmlns:a="http://schemas.openxmlformats.org/drawingml/2006/main" id="177" idx="1"/>
          </p:cNvCxnSpPr>
          <p:nvPr/>
        </p:nvCxnSpPr>
        <p:spPr>
          <a:xfrm xmlns:a="http://schemas.openxmlformats.org/drawingml/2006/main">
            <a:off x="2486978" y="7286626"/>
            <a:ext cx="6172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79" name="dw">
            <a:extLst xmlns:a="http://schemas.openxmlformats.org/drawingml/2006/main">
              <a:ext uri="{FF2B5EF4-FFF2-40B4-BE49-F238E27FC236}">
                <a16:creationId xmlns:a16="http://schemas.microsoft.com/office/drawing/2014/main" id="{298495E9-C0FF-4192-9207-19644D1B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724525"/>
            <a:ext cx="11715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× 0.5</a:t>
            </a:r>
          </a:p>
        </p:txBody>
      </p:sp>
      <p:sp>
        <p:nvSpPr>
          <p:cNvPr id="180" name="cw">
            <a:extLst xmlns:a="http://schemas.openxmlformats.org/drawingml/2006/main">
              <a:ext uri="{FF2B5EF4-FFF2-40B4-BE49-F238E27FC236}">
                <a16:creationId xmlns:a16="http://schemas.microsoft.com/office/drawing/2014/main" id="{338396B0-F758-449E-8C73-905C9C9F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6981825"/>
            <a:ext cx="11715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× 0.5</a:t>
            </a:r>
          </a:p>
        </p:txBody>
      </p:sp>
      <p:sp>
        <p:nvSpPr>
          <p:cNvPr id="181" name="node82">
            <a:extLst xmlns:a="http://schemas.openxmlformats.org/drawingml/2006/main">
              <a:ext uri="{FF2B5EF4-FFF2-40B4-BE49-F238E27FC236}">
                <a16:creationId xmlns:a16="http://schemas.microsoft.com/office/drawing/2014/main" id="{81CCC50B-404D-4ED4-BB73-A83CB929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148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2" name="node83">
            <a:extLst xmlns:a="http://schemas.openxmlformats.org/drawingml/2006/main">
              <a:ext uri="{FF2B5EF4-FFF2-40B4-BE49-F238E27FC236}">
                <a16:creationId xmlns:a16="http://schemas.microsoft.com/office/drawing/2014/main" id="{0BE9227F-1E0C-4C10-BFF2-B2010EB7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223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24" name=""/>
          <p:cNvCxnSpPr>
            <a:stCxn xmlns:a="http://schemas.openxmlformats.org/drawingml/2006/main" id="181" idx="3"/>
            <a:endCxn xmlns:a="http://schemas.openxmlformats.org/drawingml/2006/main" id="182" idx="1"/>
          </p:cNvCxnSpPr>
          <p:nvPr/>
        </p:nvCxnSpPr>
        <p:spPr>
          <a:xfrm xmlns:a="http://schemas.openxmlformats.org/drawingml/2006/main">
            <a:off x="4611053" y="6029326"/>
            <a:ext cx="5981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84" name="node84">
            <a:extLst xmlns:a="http://schemas.openxmlformats.org/drawingml/2006/main">
              <a:ext uri="{FF2B5EF4-FFF2-40B4-BE49-F238E27FC236}">
                <a16:creationId xmlns:a16="http://schemas.microsoft.com/office/drawing/2014/main" id="{CD24514A-8189-4E9D-88C5-180AA75A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148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5" name="node85">
            <a:extLst xmlns:a="http://schemas.openxmlformats.org/drawingml/2006/main">
              <a:ext uri="{FF2B5EF4-FFF2-40B4-BE49-F238E27FC236}">
                <a16:creationId xmlns:a16="http://schemas.microsoft.com/office/drawing/2014/main" id="{71B7DAAA-33EE-4454-A68F-10D704AE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223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27" name=""/>
          <p:cNvCxnSpPr>
            <a:stCxn xmlns:a="http://schemas.openxmlformats.org/drawingml/2006/main" id="184" idx="3"/>
            <a:endCxn xmlns:a="http://schemas.openxmlformats.org/drawingml/2006/main" id="185" idx="1"/>
          </p:cNvCxnSpPr>
          <p:nvPr/>
        </p:nvCxnSpPr>
        <p:spPr>
          <a:xfrm xmlns:a="http://schemas.openxmlformats.org/drawingml/2006/main">
            <a:off x="4611053" y="7286626"/>
            <a:ext cx="5981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87" name="d-unit">
            <a:extLst xmlns:a="http://schemas.openxmlformats.org/drawingml/2006/main">
              <a:ext uri="{FF2B5EF4-FFF2-40B4-BE49-F238E27FC236}">
                <a16:creationId xmlns:a16="http://schemas.microsoft.com/office/drawing/2014/main" id="{7FA1BC76-CD9D-4345-8FEC-BD3EB91E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276850"/>
            <a:ext cx="1409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1">
                <a:latin typeface="Cambria Math"/>
                <a:ea typeface="Cambria Math"/>
                <a:cs typeface="Cambria Math"/>
              </a:rPr>
              <a:t>g</a:t>
            </a:r>
            <a:r>
              <a:rPr sz="1512" b="0" i="0" baseline="-25000">
                <a:latin typeface="Cambria Math"/>
                <a:ea typeface="Cambria Math"/>
                <a:cs typeface="Cambria Math"/>
              </a:rPr>
              <a:t>D</a:t>
            </a:r>
            <a:r>
              <a:rPr sz="1512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512" b="0" i="1" baseline="-25000">
                <a:latin typeface="Cambria Math"/>
                <a:ea typeface="Cambria Math"/>
                <a:cs typeface="Cambria Math"/>
              </a:rPr>
              <a:t>p</a:t>
            </a:r>
          </a:p>
        </p:txBody>
      </p:sp>
      <p:sp>
        <p:nvSpPr>
          <p:cNvPr id="188" name="c-unit">
            <a:extLst xmlns:a="http://schemas.openxmlformats.org/drawingml/2006/main">
              <a:ext uri="{FF2B5EF4-FFF2-40B4-BE49-F238E27FC236}">
                <a16:creationId xmlns:a16="http://schemas.microsoft.com/office/drawing/2014/main" id="{C878670A-FACF-4A7E-A038-5D7239CC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7629525"/>
            <a:ext cx="1409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1">
                <a:latin typeface="Cambria Math"/>
                <a:ea typeface="Cambria Math"/>
                <a:cs typeface="Cambria Math"/>
              </a:rPr>
              <a:t>g</a:t>
            </a:r>
            <a:r>
              <a:rPr sz="1512" b="0" i="0" baseline="-25000">
                <a:latin typeface="Cambria Math"/>
                <a:ea typeface="Cambria Math"/>
                <a:cs typeface="Cambria Math"/>
              </a:rPr>
              <a:t>C</a:t>
            </a:r>
            <a:r>
              <a:rPr sz="1512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512" b="0" i="1" baseline="-25000">
                <a:latin typeface="Cambria Math"/>
                <a:ea typeface="Cambria Math"/>
                <a:cs typeface="Cambria Math"/>
              </a:rPr>
              <a:t>p</a:t>
            </a:r>
          </a:p>
        </p:txBody>
      </p:sp>
      <p:sp>
        <p:nvSpPr>
          <p:cNvPr id="189" name="concat">
            <a:extLst xmlns:a="http://schemas.openxmlformats.org/drawingml/2006/main">
              <a:ext uri="{FF2B5EF4-FFF2-40B4-BE49-F238E27FC236}">
                <a16:creationId xmlns:a16="http://schemas.microsoft.com/office/drawing/2014/main" id="{EE87AEC5-0695-4E09-82A2-6FAA3E9A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6191250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Channel</a:t>
            </a:r>
          </a:p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concatenation</a:t>
            </a:r>
          </a:p>
        </p:txBody>
      </p:sp>
      <p:sp>
        <p:nvSpPr>
          <p:cNvPr id="190" name="node86">
            <a:extLst xmlns:a="http://schemas.openxmlformats.org/drawingml/2006/main">
              <a:ext uri="{FF2B5EF4-FFF2-40B4-BE49-F238E27FC236}">
                <a16:creationId xmlns:a16="http://schemas.microsoft.com/office/drawing/2014/main" id="{18906B41-6139-4BAB-8493-F9B8F6EB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0798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1" name="node87">
            <a:extLst xmlns:a="http://schemas.openxmlformats.org/drawingml/2006/main">
              <a:ext uri="{FF2B5EF4-FFF2-40B4-BE49-F238E27FC236}">
                <a16:creationId xmlns:a16="http://schemas.microsoft.com/office/drawing/2014/main" id="{7B46FDDC-4AC5-4D3B-843D-99AE7A2E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33" name=""/>
          <p:cNvCxnSpPr>
            <a:stCxn xmlns:a="http://schemas.openxmlformats.org/drawingml/2006/main" id="190" idx="3"/>
            <a:endCxn xmlns:a="http://schemas.openxmlformats.org/drawingml/2006/main" id="191" idx="1"/>
          </p:cNvCxnSpPr>
          <p:nvPr/>
        </p:nvCxnSpPr>
        <p:spPr>
          <a:xfrm xmlns:a="http://schemas.openxmlformats.org/drawingml/2006/main">
            <a:off x="6382703" y="6029326"/>
            <a:ext cx="3790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93" name="node88">
            <a:extLst xmlns:a="http://schemas.openxmlformats.org/drawingml/2006/main">
              <a:ext uri="{FF2B5EF4-FFF2-40B4-BE49-F238E27FC236}">
                <a16:creationId xmlns:a16="http://schemas.microsoft.com/office/drawing/2014/main" id="{3614964F-926D-4727-B274-69181692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4" name="node89">
            <a:extLst xmlns:a="http://schemas.openxmlformats.org/drawingml/2006/main">
              <a:ext uri="{FF2B5EF4-FFF2-40B4-BE49-F238E27FC236}">
                <a16:creationId xmlns:a16="http://schemas.microsoft.com/office/drawing/2014/main" id="{184A101C-E60E-4FAB-989E-578B3089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36" name=""/>
          <p:cNvCxnSpPr>
            <a:stCxn xmlns:a="http://schemas.openxmlformats.org/drawingml/2006/main" id="193" idx="2"/>
            <a:endCxn xmlns:a="http://schemas.openxmlformats.org/drawingml/2006/main" id="194" idx="0"/>
          </p:cNvCxnSpPr>
          <p:nvPr/>
        </p:nvCxnSpPr>
        <p:spPr>
          <a:xfrm xmlns:a="http://schemas.openxmlformats.org/drawingml/2006/main">
            <a:off x="6762751" y="6030278"/>
            <a:ext cx="0" cy="4648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96" name="node90">
            <a:extLst xmlns:a="http://schemas.openxmlformats.org/drawingml/2006/main">
              <a:ext uri="{FF2B5EF4-FFF2-40B4-BE49-F238E27FC236}">
                <a16:creationId xmlns:a16="http://schemas.microsoft.com/office/drawing/2014/main" id="{B1B6BE17-531B-4404-8E21-09B9D0BA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7" name="node91">
            <a:extLst xmlns:a="http://schemas.openxmlformats.org/drawingml/2006/main">
              <a:ext uri="{FF2B5EF4-FFF2-40B4-BE49-F238E27FC236}">
                <a16:creationId xmlns:a16="http://schemas.microsoft.com/office/drawing/2014/main" id="{182547D8-B572-478F-9B44-B6CD10D5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323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39" name=""/>
          <p:cNvCxnSpPr>
            <a:stCxn xmlns:a="http://schemas.openxmlformats.org/drawingml/2006/main" id="196" idx="3"/>
            <a:endCxn xmlns:a="http://schemas.openxmlformats.org/drawingml/2006/main" id="197" idx="1"/>
          </p:cNvCxnSpPr>
          <p:nvPr/>
        </p:nvCxnSpPr>
        <p:spPr>
          <a:xfrm xmlns:a="http://schemas.openxmlformats.org/drawingml/2006/main">
            <a:off x="6763703" y="6496051"/>
            <a:ext cx="3886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99" name="node92">
            <a:extLst xmlns:a="http://schemas.openxmlformats.org/drawingml/2006/main">
              <a:ext uri="{FF2B5EF4-FFF2-40B4-BE49-F238E27FC236}">
                <a16:creationId xmlns:a16="http://schemas.microsoft.com/office/drawing/2014/main" id="{292DEF6F-61C1-4CE1-B57E-BC9A2B60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0798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00" name="node93">
            <a:extLst xmlns:a="http://schemas.openxmlformats.org/drawingml/2006/main">
              <a:ext uri="{FF2B5EF4-FFF2-40B4-BE49-F238E27FC236}">
                <a16:creationId xmlns:a16="http://schemas.microsoft.com/office/drawing/2014/main" id="{4D5603FC-4A28-488B-86BA-4B858F28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42" name=""/>
          <p:cNvCxnSpPr>
            <a:stCxn xmlns:a="http://schemas.openxmlformats.org/drawingml/2006/main" id="199" idx="3"/>
            <a:endCxn xmlns:a="http://schemas.openxmlformats.org/drawingml/2006/main" id="200" idx="1"/>
          </p:cNvCxnSpPr>
          <p:nvPr/>
        </p:nvCxnSpPr>
        <p:spPr>
          <a:xfrm xmlns:a="http://schemas.openxmlformats.org/drawingml/2006/main">
            <a:off x="6382703" y="7286626"/>
            <a:ext cx="3790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02" name="node94">
            <a:extLst xmlns:a="http://schemas.openxmlformats.org/drawingml/2006/main">
              <a:ext uri="{FF2B5EF4-FFF2-40B4-BE49-F238E27FC236}">
                <a16:creationId xmlns:a16="http://schemas.microsoft.com/office/drawing/2014/main" id="{D6457AF1-CDF0-47CF-918F-98D6CD14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03" name="node95">
            <a:extLst xmlns:a="http://schemas.openxmlformats.org/drawingml/2006/main">
              <a:ext uri="{FF2B5EF4-FFF2-40B4-BE49-F238E27FC236}">
                <a16:creationId xmlns:a16="http://schemas.microsoft.com/office/drawing/2014/main" id="{DEF413B6-FD0B-4D72-B50A-58B9D867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818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45" name=""/>
          <p:cNvCxnSpPr>
            <a:stCxn xmlns:a="http://schemas.openxmlformats.org/drawingml/2006/main" id="202" idx="0"/>
            <a:endCxn xmlns:a="http://schemas.openxmlformats.org/drawingml/2006/main" id="203" idx="2"/>
          </p:cNvCxnSpPr>
          <p:nvPr/>
        </p:nvCxnSpPr>
        <p:spPr>
          <a:xfrm xmlns:a="http://schemas.openxmlformats.org/drawingml/2006/main" flipV="1">
            <a:off x="6762751" y="6820853"/>
            <a:ext cx="0" cy="4648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05" name="node96">
            <a:extLst xmlns:a="http://schemas.openxmlformats.org/drawingml/2006/main">
              <a:ext uri="{FF2B5EF4-FFF2-40B4-BE49-F238E27FC236}">
                <a16:creationId xmlns:a16="http://schemas.microsoft.com/office/drawing/2014/main" id="{5B797019-34AF-4053-AAAF-E9C344EE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818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06" name="node97">
            <a:extLst xmlns:a="http://schemas.openxmlformats.org/drawingml/2006/main">
              <a:ext uri="{FF2B5EF4-FFF2-40B4-BE49-F238E27FC236}">
                <a16:creationId xmlns:a16="http://schemas.microsoft.com/office/drawing/2014/main" id="{F320D151-264B-48B5-A74B-2986BE90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323" y="6818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48" name=""/>
          <p:cNvCxnSpPr>
            <a:stCxn xmlns:a="http://schemas.openxmlformats.org/drawingml/2006/main" id="205" idx="3"/>
            <a:endCxn xmlns:a="http://schemas.openxmlformats.org/drawingml/2006/main" id="206" idx="1"/>
          </p:cNvCxnSpPr>
          <p:nvPr/>
        </p:nvCxnSpPr>
        <p:spPr>
          <a:xfrm xmlns:a="http://schemas.openxmlformats.org/drawingml/2006/main">
            <a:off x="6763703" y="6819901"/>
            <a:ext cx="3886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08" name="pre-joint0">
            <a:extLst xmlns:a="http://schemas.openxmlformats.org/drawingml/2006/main">
              <a:ext uri="{FF2B5EF4-FFF2-40B4-BE49-F238E27FC236}">
                <a16:creationId xmlns:a16="http://schemas.microsoft.com/office/drawing/2014/main" id="{AF02892D-B9D6-4D6A-B4CF-7A335D75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09" name="pre-joint1">
            <a:extLst xmlns:a="http://schemas.openxmlformats.org/drawingml/2006/main">
              <a:ext uri="{FF2B5EF4-FFF2-40B4-BE49-F238E27FC236}">
                <a16:creationId xmlns:a16="http://schemas.microsoft.com/office/drawing/2014/main" id="{208FED06-FE49-451E-A0E4-91E66082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25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0" name="pre-joint2">
            <a:extLst xmlns:a="http://schemas.openxmlformats.org/drawingml/2006/main">
              <a:ext uri="{FF2B5EF4-FFF2-40B4-BE49-F238E27FC236}">
                <a16:creationId xmlns:a16="http://schemas.microsoft.com/office/drawing/2014/main" id="{D0659AA8-CEBB-4AD4-9EAD-0F6EBB3B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13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1" name="pre-joint3">
            <a:extLst xmlns:a="http://schemas.openxmlformats.org/drawingml/2006/main">
              <a:ext uri="{FF2B5EF4-FFF2-40B4-BE49-F238E27FC236}">
                <a16:creationId xmlns:a16="http://schemas.microsoft.com/office/drawing/2014/main" id="{D950841A-7BC5-49F4-AB32-65026C4A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01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2" name="pre-joint4">
            <a:extLst xmlns:a="http://schemas.openxmlformats.org/drawingml/2006/main">
              <a:ext uri="{FF2B5EF4-FFF2-40B4-BE49-F238E27FC236}">
                <a16:creationId xmlns:a16="http://schemas.microsoft.com/office/drawing/2014/main" id="{0F798C77-32B9-4517-B571-1ABD6900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89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3" name="pre-joint5">
            <a:extLst xmlns:a="http://schemas.openxmlformats.org/drawingml/2006/main">
              <a:ext uri="{FF2B5EF4-FFF2-40B4-BE49-F238E27FC236}">
                <a16:creationId xmlns:a16="http://schemas.microsoft.com/office/drawing/2014/main" id="{480292D2-890D-41FA-B961-E8D6B01A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4" name="pre-joint6">
            <a:extLst xmlns:a="http://schemas.openxmlformats.org/drawingml/2006/main">
              <a:ext uri="{FF2B5EF4-FFF2-40B4-BE49-F238E27FC236}">
                <a16:creationId xmlns:a16="http://schemas.microsoft.com/office/drawing/2014/main" id="{4068C6AC-7269-43A5-A8D5-1EB8B8F4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65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5" name="pre-joint7">
            <a:extLst xmlns:a="http://schemas.openxmlformats.org/drawingml/2006/main">
              <a:ext uri="{FF2B5EF4-FFF2-40B4-BE49-F238E27FC236}">
                <a16:creationId xmlns:a16="http://schemas.microsoft.com/office/drawing/2014/main" id="{E5FF42ED-00AA-49AB-B964-E16643BD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853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6" name="pre-joint8">
            <a:extLst xmlns:a="http://schemas.openxmlformats.org/drawingml/2006/main">
              <a:ext uri="{FF2B5EF4-FFF2-40B4-BE49-F238E27FC236}">
                <a16:creationId xmlns:a16="http://schemas.microsoft.com/office/drawing/2014/main" id="{48DA0122-80BC-4649-8E3B-CB12A41D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41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7" name="pre-joint9">
            <a:extLst xmlns:a="http://schemas.openxmlformats.org/drawingml/2006/main">
              <a:ext uri="{FF2B5EF4-FFF2-40B4-BE49-F238E27FC236}">
                <a16:creationId xmlns:a16="http://schemas.microsoft.com/office/drawing/2014/main" id="{F5E185B5-F31F-412C-9066-77F2EB58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429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8" name="node98">
            <a:extLst xmlns:a="http://schemas.openxmlformats.org/drawingml/2006/main">
              <a:ext uri="{FF2B5EF4-FFF2-40B4-BE49-F238E27FC236}">
                <a16:creationId xmlns:a16="http://schemas.microsoft.com/office/drawing/2014/main" id="{1E5957E0-7037-47CB-B137-9A82E550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3073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19" name="node99">
            <a:extLst xmlns:a="http://schemas.openxmlformats.org/drawingml/2006/main">
              <a:ext uri="{FF2B5EF4-FFF2-40B4-BE49-F238E27FC236}">
                <a16:creationId xmlns:a16="http://schemas.microsoft.com/office/drawing/2014/main" id="{97FF7627-EC28-47FB-8F54-9F810B15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423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1" name=""/>
          <p:cNvCxnSpPr>
            <a:stCxn xmlns:a="http://schemas.openxmlformats.org/drawingml/2006/main" id="218" idx="3"/>
            <a:endCxn xmlns:a="http://schemas.openxmlformats.org/drawingml/2006/main" id="219" idx="1"/>
          </p:cNvCxnSpPr>
          <p:nvPr/>
        </p:nvCxnSpPr>
        <p:spPr>
          <a:xfrm xmlns:a="http://schemas.openxmlformats.org/drawingml/2006/main">
            <a:off x="9344978" y="6657976"/>
            <a:ext cx="5124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21" name="joint">
            <a:extLst xmlns:a="http://schemas.openxmlformats.org/drawingml/2006/main">
              <a:ext uri="{FF2B5EF4-FFF2-40B4-BE49-F238E27FC236}">
                <a16:creationId xmlns:a16="http://schemas.microsoft.com/office/drawing/2014/main" id="{DCDC7879-FC3D-4000-895B-6FB9A9F4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191250"/>
            <a:ext cx="1562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latin typeface="Arial"/>
                <a:ea typeface="Arial"/>
                <a:cs typeface="Arial"/>
              </a:rPr>
              <a:t>Joint
</a:t>
            </a:r>
            <a:r>
              <a:rPr sz="2100" b="0" i="1">
                <a:latin typeface="Cambria Math"/>
                <a:ea typeface="Cambria Math"/>
                <a:cs typeface="Cambria Math"/>
              </a:rPr>
              <a:t>ℓ</a:t>
            </a:r>
            <a:r>
              <a:rPr sz="1512" b="0" i="0" baseline="-25000">
                <a:latin typeface="Cambria Math"/>
                <a:ea typeface="Cambria Math"/>
                <a:cs typeface="Cambria Math"/>
              </a:rPr>
              <a:t>2</a:t>
            </a:r>
            <a:r>
              <a:rPr sz="2100" b="1" i="0">
                <a:latin typeface="Arial"/>
                <a:ea typeface="Arial"/>
                <a:cs typeface="Arial"/>
              </a:rPr>
              <a:t> norm</a:t>
            </a:r>
          </a:p>
        </p:txBody>
      </p:sp>
      <p:sp>
        <p:nvSpPr>
          <p:cNvPr id="222" name="node100">
            <a:extLst xmlns:a="http://schemas.openxmlformats.org/drawingml/2006/main">
              <a:ext uri="{FF2B5EF4-FFF2-40B4-BE49-F238E27FC236}">
                <a16:creationId xmlns:a16="http://schemas.microsoft.com/office/drawing/2014/main" id="{E114DD3D-4A9F-42EE-89A6-E22E30CB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6223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3" name="node101">
            <a:extLst xmlns:a="http://schemas.openxmlformats.org/drawingml/2006/main">
              <a:ext uri="{FF2B5EF4-FFF2-40B4-BE49-F238E27FC236}">
                <a16:creationId xmlns:a16="http://schemas.microsoft.com/office/drawing/2014/main" id="{3430BEB6-D943-48D5-BEAB-53A7ED57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5798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5" name=""/>
          <p:cNvCxnSpPr>
            <a:stCxn xmlns:a="http://schemas.openxmlformats.org/drawingml/2006/main" id="222" idx="3"/>
            <a:endCxn xmlns:a="http://schemas.openxmlformats.org/drawingml/2006/main" id="223" idx="1"/>
          </p:cNvCxnSpPr>
          <p:nvPr/>
        </p:nvCxnSpPr>
        <p:spPr>
          <a:xfrm xmlns:a="http://schemas.openxmlformats.org/drawingml/2006/main">
            <a:off x="11688128" y="6657976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25" name="final-vec0">
            <a:extLst xmlns:a="http://schemas.openxmlformats.org/drawingml/2006/main">
              <a:ext uri="{FF2B5EF4-FFF2-40B4-BE49-F238E27FC236}">
                <a16:creationId xmlns:a16="http://schemas.microsoft.com/office/drawing/2014/main" id="{C19A9AE9-AAC4-4D9E-B872-1705C598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6" name="final-vec1">
            <a:extLst xmlns:a="http://schemas.openxmlformats.org/drawingml/2006/main">
              <a:ext uri="{FF2B5EF4-FFF2-40B4-BE49-F238E27FC236}">
                <a16:creationId xmlns:a16="http://schemas.microsoft.com/office/drawing/2014/main" id="{A7B92AFC-4372-431D-8EB0-1B2D8665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559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7" name="final-vec2">
            <a:extLst xmlns:a="http://schemas.openxmlformats.org/drawingml/2006/main">
              <a:ext uri="{FF2B5EF4-FFF2-40B4-BE49-F238E27FC236}">
                <a16:creationId xmlns:a16="http://schemas.microsoft.com/office/drawing/2014/main" id="{69DEBF7A-78E2-4F72-A794-C62E0BB3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418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8" name="final-vec3">
            <a:extLst xmlns:a="http://schemas.openxmlformats.org/drawingml/2006/main">
              <a:ext uri="{FF2B5EF4-FFF2-40B4-BE49-F238E27FC236}">
                <a16:creationId xmlns:a16="http://schemas.microsoft.com/office/drawing/2014/main" id="{D39D9D79-D926-46ED-A7B5-90714B67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277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9" name="final-vec4">
            <a:extLst xmlns:a="http://schemas.openxmlformats.org/drawingml/2006/main">
              <a:ext uri="{FF2B5EF4-FFF2-40B4-BE49-F238E27FC236}">
                <a16:creationId xmlns:a16="http://schemas.microsoft.com/office/drawing/2014/main" id="{CBEBACC7-9827-4717-BACA-5727076B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136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0" name="final-vec5">
            <a:extLst xmlns:a="http://schemas.openxmlformats.org/drawingml/2006/main">
              <a:ext uri="{FF2B5EF4-FFF2-40B4-BE49-F238E27FC236}">
                <a16:creationId xmlns:a16="http://schemas.microsoft.com/office/drawing/2014/main" id="{26F6135F-0084-4D57-A069-47A16DF8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1" name="final-vec6">
            <a:extLst xmlns:a="http://schemas.openxmlformats.org/drawingml/2006/main">
              <a:ext uri="{FF2B5EF4-FFF2-40B4-BE49-F238E27FC236}">
                <a16:creationId xmlns:a16="http://schemas.microsoft.com/office/drawing/2014/main" id="{B8FA1D7A-3424-40B6-8CAC-AFFE1F30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854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2" name="final-vec7">
            <a:extLst xmlns:a="http://schemas.openxmlformats.org/drawingml/2006/main">
              <a:ext uri="{FF2B5EF4-FFF2-40B4-BE49-F238E27FC236}">
                <a16:creationId xmlns:a16="http://schemas.microsoft.com/office/drawing/2014/main" id="{5DFBCAB9-33D9-4564-9466-8B143B09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713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3" name="final-vec8">
            <a:extLst xmlns:a="http://schemas.openxmlformats.org/drawingml/2006/main">
              <a:ext uri="{FF2B5EF4-FFF2-40B4-BE49-F238E27FC236}">
                <a16:creationId xmlns:a16="http://schemas.microsoft.com/office/drawing/2014/main" id="{80AC9CC0-9998-4532-80EA-719D48BC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572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4" name="final-vec9">
            <a:extLst xmlns:a="http://schemas.openxmlformats.org/drawingml/2006/main">
              <a:ext uri="{FF2B5EF4-FFF2-40B4-BE49-F238E27FC236}">
                <a16:creationId xmlns:a16="http://schemas.microsoft.com/office/drawing/2014/main" id="{4E684C12-83EA-408A-A644-04F42245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431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5" name="node102">
            <a:extLst xmlns:a="http://schemas.openxmlformats.org/drawingml/2006/main">
              <a:ext uri="{FF2B5EF4-FFF2-40B4-BE49-F238E27FC236}">
                <a16:creationId xmlns:a16="http://schemas.microsoft.com/office/drawing/2014/main" id="{4113CCC6-AC46-43F0-B998-811CB288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7898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36" name="node103">
            <a:extLst xmlns:a="http://schemas.openxmlformats.org/drawingml/2006/main">
              <a:ext uri="{FF2B5EF4-FFF2-40B4-BE49-F238E27FC236}">
                <a16:creationId xmlns:a16="http://schemas.microsoft.com/office/drawing/2014/main" id="{427350DC-6222-42DE-9D44-57C3B167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6048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78" name=""/>
          <p:cNvCxnSpPr>
            <a:stCxn xmlns:a="http://schemas.openxmlformats.org/drawingml/2006/main" id="235" idx="3"/>
            <a:endCxn xmlns:a="http://schemas.openxmlformats.org/drawingml/2006/main" id="236" idx="1"/>
          </p:cNvCxnSpPr>
          <p:nvPr/>
        </p:nvCxnSpPr>
        <p:spPr>
          <a:xfrm xmlns:a="http://schemas.openxmlformats.org/drawingml/2006/main">
            <a:off x="13659803" y="6657976"/>
            <a:ext cx="4362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38" name="final-symbol">
            <a:extLst xmlns:a="http://schemas.openxmlformats.org/drawingml/2006/main">
              <a:ext uri="{FF2B5EF4-FFF2-40B4-BE49-F238E27FC236}">
                <a16:creationId xmlns:a16="http://schemas.microsoft.com/office/drawing/2014/main" id="{EF6C16D3-EE7C-4546-86A1-78F8F36B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58293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 i="1">
                <a:latin typeface="Cambria Math"/>
                <a:ea typeface="Cambria Math"/>
                <a:cs typeface="Cambria Math"/>
              </a:rPr>
              <a:t>f</a:t>
            </a:r>
            <a:r>
              <a:rPr sz="1674" b="0" i="0" baseline="-25000">
                <a:latin typeface="Cambria Math"/>
                <a:ea typeface="Cambria Math"/>
                <a:cs typeface="Cambria Math"/>
              </a:rPr>
              <a:t>A</a:t>
            </a:r>
            <a:r>
              <a:rPr sz="1674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674" b="0" i="1" baseline="-25000">
                <a:latin typeface="Cambria Math"/>
                <a:ea typeface="Cambria Math"/>
                <a:cs typeface="Cambria Math"/>
              </a:rPr>
              <a:t>p</a:t>
            </a:r>
          </a:p>
        </p:txBody>
      </p:sp>
      <p:sp>
        <p:nvSpPr>
          <p:cNvPr id="239" name="final-dim">
            <a:extLst xmlns:a="http://schemas.openxmlformats.org/drawingml/2006/main">
              <a:ext uri="{FF2B5EF4-FFF2-40B4-BE49-F238E27FC236}">
                <a16:creationId xmlns:a16="http://schemas.microsoft.com/office/drawing/2014/main" id="{BD72421D-5704-476E-B23A-FDD9D2C2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21042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1536-D</a:t>
            </a:r>
          </a:p>
        </p:txBody>
      </p:sp>
      <p:sp>
        <p:nvSpPr>
          <p:cNvPr id="240" name="footrule">
            <a:extLst xmlns:a="http://schemas.openxmlformats.org/drawingml/2006/main">
              <a:ext uri="{FF2B5EF4-FFF2-40B4-BE49-F238E27FC236}">
                <a16:creationId xmlns:a16="http://schemas.microsoft.com/office/drawing/2014/main" id="{53618726-8EC9-44F2-BCB1-F6372842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8197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241" name="fusion-eq">
            <a:extLst xmlns:a="http://schemas.openxmlformats.org/drawingml/2006/main">
              <a:ext uri="{FF2B5EF4-FFF2-40B4-BE49-F238E27FC236}">
                <a16:creationId xmlns:a16="http://schemas.microsoft.com/office/drawing/2014/main" id="{92CBF812-C169-49DF-9700-1F5F6278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353425"/>
            <a:ext cx="12763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1">
                <a:latin typeface="Cambria Math"/>
                <a:ea typeface="Cambria Math"/>
                <a:cs typeface="Cambria Math"/>
              </a:rPr>
              <a:t>f</a:t>
            </a:r>
            <a:r>
              <a:rPr sz="1836" b="0" i="0" baseline="-25000">
                <a:latin typeface="Cambria Math"/>
                <a:ea typeface="Cambria Math"/>
                <a:cs typeface="Cambria Math"/>
              </a:rPr>
              <a:t>A</a:t>
            </a:r>
            <a:r>
              <a:rPr sz="1836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836" b="0" i="1" baseline="-25000">
                <a:latin typeface="Cambria Math"/>
                <a:ea typeface="Cambria Math"/>
                <a:cs typeface="Cambria Math"/>
              </a:rPr>
              <a:t>p</a:t>
            </a:r>
            <a:r>
              <a:rPr sz="2550" b="0" i="0">
                <a:latin typeface="Cambria Math"/>
                <a:ea typeface="Cambria Math"/>
                <a:cs typeface="Cambria Math"/>
              </a:rPr>
              <a:t> = Norm([0.5 </a:t>
            </a:r>
            <a:r>
              <a:rPr sz="2550" b="1" i="1">
                <a:latin typeface="Cambria Math"/>
                <a:ea typeface="Cambria Math"/>
                <a:cs typeface="Cambria Math"/>
              </a:rPr>
              <a:t>g</a:t>
            </a:r>
            <a:r>
              <a:rPr sz="1836" b="0" i="0" baseline="-25000">
                <a:latin typeface="Cambria Math"/>
                <a:ea typeface="Cambria Math"/>
                <a:cs typeface="Cambria Math"/>
              </a:rPr>
              <a:t>D</a:t>
            </a:r>
            <a:r>
              <a:rPr sz="1836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836" b="0" i="1" baseline="-25000">
                <a:latin typeface="Cambria Math"/>
                <a:ea typeface="Cambria Math"/>
                <a:cs typeface="Cambria Math"/>
              </a:rPr>
              <a:t>p</a:t>
            </a:r>
            <a:r>
              <a:rPr sz="2550" b="0" i="0">
                <a:latin typeface="Cambria Math"/>
                <a:ea typeface="Cambria Math"/>
                <a:cs typeface="Cambria Math"/>
              </a:rPr>
              <a:t>; 0.5 </a:t>
            </a:r>
            <a:r>
              <a:rPr sz="2550" b="1" i="1">
                <a:latin typeface="Cambria Math"/>
                <a:ea typeface="Cambria Math"/>
                <a:cs typeface="Cambria Math"/>
              </a:rPr>
              <a:t>g</a:t>
            </a:r>
            <a:r>
              <a:rPr sz="1836" b="0" i="0" baseline="-25000">
                <a:latin typeface="Cambria Math"/>
                <a:ea typeface="Cambria Math"/>
                <a:cs typeface="Cambria Math"/>
              </a:rPr>
              <a:t>C</a:t>
            </a:r>
            <a:r>
              <a:rPr sz="1836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836" b="0" i="1" baseline="-25000">
                <a:latin typeface="Cambria Math"/>
                <a:ea typeface="Cambria Math"/>
                <a:cs typeface="Cambria Math"/>
              </a:rPr>
              <a:t>p</a:t>
            </a:r>
            <a:r>
              <a:rPr sz="2550" b="0" i="0">
                <a:latin typeface="Cambria Math"/>
                <a:ea typeface="Cambria Math"/>
                <a:cs typeface="Cambria Math"/>
              </a:rPr>
              <a:t>]) = [</a:t>
            </a:r>
            <a:r>
              <a:rPr sz="2550" b="1" i="1">
                <a:latin typeface="Cambria Math"/>
                <a:ea typeface="Cambria Math"/>
                <a:cs typeface="Cambria Math"/>
              </a:rPr>
              <a:t>g</a:t>
            </a:r>
            <a:r>
              <a:rPr sz="1836" b="0" i="0" baseline="-25000">
                <a:latin typeface="Cambria Math"/>
                <a:ea typeface="Cambria Math"/>
                <a:cs typeface="Cambria Math"/>
              </a:rPr>
              <a:t>D</a:t>
            </a:r>
            <a:r>
              <a:rPr sz="1836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836" b="0" i="1" baseline="-25000">
                <a:latin typeface="Cambria Math"/>
                <a:ea typeface="Cambria Math"/>
                <a:cs typeface="Cambria Math"/>
              </a:rPr>
              <a:t>p</a:t>
            </a:r>
            <a:r>
              <a:rPr sz="2550" b="0" i="0">
                <a:latin typeface="Cambria Math"/>
                <a:ea typeface="Cambria Math"/>
                <a:cs typeface="Cambria Math"/>
              </a:rPr>
              <a:t>; </a:t>
            </a:r>
            <a:r>
              <a:rPr sz="2550" b="1" i="1">
                <a:latin typeface="Cambria Math"/>
                <a:ea typeface="Cambria Math"/>
                <a:cs typeface="Cambria Math"/>
              </a:rPr>
              <a:t>g</a:t>
            </a:r>
            <a:r>
              <a:rPr sz="1836" b="0" i="0" baseline="-25000">
                <a:latin typeface="Cambria Math"/>
                <a:ea typeface="Cambria Math"/>
                <a:cs typeface="Cambria Math"/>
              </a:rPr>
              <a:t>C</a:t>
            </a:r>
            <a:r>
              <a:rPr sz="1836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836" b="0" i="1" baseline="-25000">
                <a:latin typeface="Cambria Math"/>
                <a:ea typeface="Cambria Math"/>
                <a:cs typeface="Cambria Math"/>
              </a:rPr>
              <a:t>p</a:t>
            </a:r>
            <a:r>
              <a:rPr sz="2550" b="0" i="0">
                <a:latin typeface="Cambria Math"/>
                <a:ea typeface="Cambria Math"/>
                <a:cs typeface="Cambria Math"/>
              </a:rPr>
              <a:t>] / √2</a:t>
            </a:r>
          </a:p>
        </p:txBody>
      </p:sp>
    </p:spTree>
    <p:extLst>
      <p:ext uri="{BB962C8B-B14F-4D97-AF65-F5344CB8AC3E}">
        <p14:creationId xmlns:p14="http://schemas.microsoft.com/office/powerpoint/2010/main" val="761108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7" name="title">
            <a:extLst xmlns:a="http://schemas.openxmlformats.org/drawingml/2006/main">
              <a:ext uri="{FF2B5EF4-FFF2-40B4-BE49-F238E27FC236}">
                <a16:creationId xmlns:a16="http://schemas.microsoft.com/office/drawing/2014/main" id="{B2F97697-F444-4F33-A0D6-5DB5E97F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5316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Fig. 3   Normal memory construction and exact anomaly scoring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0E8AC2-77EF-4302-B7C1-AF80C192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47725"/>
            <a:ext cx="1531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Category-specific support patches define one fixed search space for every query patch</a:t>
            </a:r>
          </a:p>
        </p:txBody>
      </p:sp>
      <p:sp>
        <p:nvSpPr>
          <p:cNvPr id="3" name="headrule">
            <a:extLst xmlns:a="http://schemas.openxmlformats.org/drawingml/2006/main">
              <a:ext uri="{FF2B5EF4-FFF2-40B4-BE49-F238E27FC236}">
                <a16:creationId xmlns:a16="http://schemas.microsoft.com/office/drawing/2014/main" id="{3C2F2B26-CFF3-4BC4-BEE4-9ED655C5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192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4" name="section104">
            <a:extLst xmlns:a="http://schemas.openxmlformats.org/drawingml/2006/main">
              <a:ext uri="{FF2B5EF4-FFF2-40B4-BE49-F238E27FC236}">
                <a16:creationId xmlns:a16="http://schemas.microsoft.com/office/drawing/2014/main" id="{C23B3CCA-21AB-42DC-90B1-0F84434F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00200"/>
            <a:ext cx="1531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(a) Build the category-specific memory once</a:t>
            </a:r>
          </a:p>
        </p:txBody>
      </p:sp>
      <p:pic>
        <p:nvPicPr>
          <p:cNvPr id="251" name="support-00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ede8f1d964c49"/>
          <a:stretch xmlns:a="http://schemas.openxmlformats.org/drawingml/2006/main"/>
        </p:blipFill>
        <p:spPr>
          <a:xfrm xmlns:a="http://schemas.openxmlformats.org/drawingml/2006/main">
            <a:off x="457200" y="2286000"/>
            <a:ext cx="790575" cy="790575"/>
          </a:xfrm>
          <a:prstGeom xmlns:a="http://schemas.openxmlformats.org/drawingml/2006/main" prst="rect">
            <a:avLst/>
          </a:prstGeom>
        </p:spPr>
      </p:pic>
      <p:pic>
        <p:nvPicPr>
          <p:cNvPr id="252" name="support-0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5933dcb7d4179"/>
          <a:stretch xmlns:a="http://schemas.openxmlformats.org/drawingml/2006/main"/>
        </p:blipFill>
        <p:spPr>
          <a:xfrm xmlns:a="http://schemas.openxmlformats.org/drawingml/2006/main">
            <a:off x="1323975" y="2286000"/>
            <a:ext cx="790575" cy="790575"/>
          </a:xfrm>
          <a:prstGeom xmlns:a="http://schemas.openxmlformats.org/drawingml/2006/main" prst="rect">
            <a:avLst/>
          </a:prstGeom>
        </p:spPr>
      </p:pic>
      <p:pic>
        <p:nvPicPr>
          <p:cNvPr id="253" name="support-0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78a10f2d34521"/>
          <a:stretch xmlns:a="http://schemas.openxmlformats.org/drawingml/2006/main"/>
        </p:blipFill>
        <p:spPr>
          <a:xfrm xmlns:a="http://schemas.openxmlformats.org/drawingml/2006/main">
            <a:off x="2438400" y="2286000"/>
            <a:ext cx="790575" cy="790575"/>
          </a:xfrm>
          <a:prstGeom xmlns:a="http://schemas.openxmlformats.org/drawingml/2006/main" prst="rect">
            <a:avLst/>
          </a:prstGeom>
        </p:spPr>
      </p:pic>
      <p:sp>
        <p:nvSpPr>
          <p:cNvPr id="8" name="support-ellipsis">
            <a:extLst xmlns:a="http://schemas.openxmlformats.org/drawingml/2006/main">
              <a:ext uri="{FF2B5EF4-FFF2-40B4-BE49-F238E27FC236}">
                <a16:creationId xmlns:a16="http://schemas.microsoft.com/office/drawing/2014/main" id="{0AD89E43-DDC9-46D1-9167-BB0A6107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384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9" name="support-index1">
            <a:extLst xmlns:a="http://schemas.openxmlformats.org/drawingml/2006/main">
              <a:ext uri="{FF2B5EF4-FFF2-40B4-BE49-F238E27FC236}">
                <a16:creationId xmlns:a16="http://schemas.microsoft.com/office/drawing/2014/main" id="{00AC9D84-08B8-46F5-9FB8-947C9C1B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1">
                <a:latin typeface="Cambria Math"/>
                <a:ea typeface="Cambria Math"/>
                <a:cs typeface="Cambria Math"/>
              </a:rPr>
              <a:t>x</a:t>
            </a:r>
            <a:r>
              <a:rPr sz="1458" b="0" i="1" baseline="30000">
                <a:latin typeface="Cambria Math"/>
                <a:ea typeface="Cambria Math"/>
                <a:cs typeface="Cambria Math"/>
              </a:rPr>
              <a:t>c</a:t>
            </a:r>
            <a:r>
              <a:rPr sz="1458" b="0" i="0" baseline="-25000">
                <a:latin typeface="Cambria Math"/>
                <a:ea typeface="Cambria Math"/>
                <a:cs typeface="Cambria Math"/>
              </a:rPr>
              <a:t>1</a:t>
            </a:r>
          </a:p>
        </p:txBody>
      </p:sp>
      <p:sp>
        <p:nvSpPr>
          <p:cNvPr id="10" name="support-index2">
            <a:extLst xmlns:a="http://schemas.openxmlformats.org/drawingml/2006/main">
              <a:ext uri="{FF2B5EF4-FFF2-40B4-BE49-F238E27FC236}">
                <a16:creationId xmlns:a16="http://schemas.microsoft.com/office/drawing/2014/main" id="{BA564CA7-D3EA-42A0-AAAF-78D8FCA8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146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1">
                <a:latin typeface="Cambria Math"/>
                <a:ea typeface="Cambria Math"/>
                <a:cs typeface="Cambria Math"/>
              </a:rPr>
              <a:t>x</a:t>
            </a:r>
            <a:r>
              <a:rPr sz="1458" b="0" i="1" baseline="30000">
                <a:latin typeface="Cambria Math"/>
                <a:ea typeface="Cambria Math"/>
                <a:cs typeface="Cambria Math"/>
              </a:rPr>
              <a:t>c</a:t>
            </a:r>
            <a:r>
              <a:rPr sz="1458" b="0" i="0" baseline="-25000">
                <a:latin typeface="Cambria Math"/>
                <a:ea typeface="Cambria Math"/>
                <a:cs typeface="Cambria Math"/>
              </a:rPr>
              <a:t>2</a:t>
            </a:r>
          </a:p>
        </p:txBody>
      </p:sp>
      <p:sp>
        <p:nvSpPr>
          <p:cNvPr id="11" name="support-indexK">
            <a:extLst xmlns:a="http://schemas.openxmlformats.org/drawingml/2006/main">
              <a:ext uri="{FF2B5EF4-FFF2-40B4-BE49-F238E27FC236}">
                <a16:creationId xmlns:a16="http://schemas.microsoft.com/office/drawing/2014/main" id="{A619CFE4-9B62-4ADC-B87F-274A4F68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146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1">
                <a:latin typeface="Cambria Math"/>
                <a:ea typeface="Cambria Math"/>
                <a:cs typeface="Cambria Math"/>
              </a:rPr>
              <a:t>x</a:t>
            </a:r>
            <a:r>
              <a:rPr sz="1458" b="0" i="1" baseline="30000">
                <a:latin typeface="Cambria Math"/>
                <a:ea typeface="Cambria Math"/>
                <a:cs typeface="Cambria Math"/>
              </a:rPr>
              <a:t>c</a:t>
            </a:r>
            <a:r>
              <a:rPr sz="1458" b="0" i="1" baseline="-25000"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2" name="normal-label">
            <a:extLst xmlns:a="http://schemas.openxmlformats.org/drawingml/2006/main">
              <a:ext uri="{FF2B5EF4-FFF2-40B4-BE49-F238E27FC236}">
                <a16:creationId xmlns:a16="http://schemas.microsoft.com/office/drawing/2014/main" id="{DE62287C-995F-4CC1-871A-7A147F15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95675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latin typeface="Cambria Math"/>
                <a:ea typeface="Cambria Math"/>
                <a:cs typeface="Cambria Math"/>
              </a:rPr>
              <a:t>K</a:t>
            </a:r>
            <a:r>
              <a:rPr sz="1875" b="0" i="0">
                <a:latin typeface="Arial"/>
                <a:ea typeface="Arial"/>
                <a:cs typeface="Arial"/>
              </a:rPr>
              <a:t> normal images of category </a:t>
            </a:r>
            <a:r>
              <a:rPr sz="1875" b="0" i="1">
                <a:latin typeface="Cambria Math"/>
                <a:ea typeface="Cambria Math"/>
                <a:cs typeface="Cambria Math"/>
              </a:rPr>
              <a:t>c</a:t>
            </a:r>
          </a:p>
        </p:txBody>
      </p:sp>
      <p:sp>
        <p:nvSpPr>
          <p:cNvPr id="13" name="extract">
            <a:extLst xmlns:a="http://schemas.openxmlformats.org/drawingml/2006/main">
              <a:ext uri="{FF2B5EF4-FFF2-40B4-BE49-F238E27FC236}">
                <a16:creationId xmlns:a16="http://schemas.microsoft.com/office/drawing/2014/main" id="{78AAA90A-8737-4686-BD02-86A95EA6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86000"/>
            <a:ext cx="28479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Shared frozen encoders</a:t>
            </a:r>
          </a:p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Align, normalize, fuse</a:t>
            </a:r>
          </a:p>
        </p:txBody>
      </p:sp>
      <p:sp>
        <p:nvSpPr>
          <p:cNvPr id="14" name="node105">
            <a:extLst xmlns:a="http://schemas.openxmlformats.org/drawingml/2006/main">
              <a:ext uri="{FF2B5EF4-FFF2-40B4-BE49-F238E27FC236}">
                <a16:creationId xmlns:a16="http://schemas.microsoft.com/office/drawing/2014/main" id="{5375B691-1745-4BE9-8D2B-60B807C8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023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5" name="node106">
            <a:extLst xmlns:a="http://schemas.openxmlformats.org/drawingml/2006/main">
              <a:ext uri="{FF2B5EF4-FFF2-40B4-BE49-F238E27FC236}">
                <a16:creationId xmlns:a16="http://schemas.microsoft.com/office/drawing/2014/main" id="{7C610886-A305-4D07-9961-A8A4B296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998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62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229928" y="2676526"/>
            <a:ext cx="5600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7" name="support-grid00-0">
            <a:extLst xmlns:a="http://schemas.openxmlformats.org/drawingml/2006/main">
              <a:ext uri="{FF2B5EF4-FFF2-40B4-BE49-F238E27FC236}">
                <a16:creationId xmlns:a16="http://schemas.microsoft.com/office/drawing/2014/main" id="{C99B0C23-9346-445B-A7CF-52E56D78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3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18" name="support-grid00-1">
            <a:extLst xmlns:a="http://schemas.openxmlformats.org/drawingml/2006/main">
              <a:ext uri="{FF2B5EF4-FFF2-40B4-BE49-F238E27FC236}">
                <a16:creationId xmlns:a16="http://schemas.microsoft.com/office/drawing/2014/main" id="{84A832CB-5C17-47A7-A841-CCB80CB7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13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19" name="support-grid00-2">
            <a:extLst xmlns:a="http://schemas.openxmlformats.org/drawingml/2006/main">
              <a:ext uri="{FF2B5EF4-FFF2-40B4-BE49-F238E27FC236}">
                <a16:creationId xmlns:a16="http://schemas.microsoft.com/office/drawing/2014/main" id="{259016D3-8970-44FD-A092-9F077189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13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0" name="support-grid00-3">
            <a:extLst xmlns:a="http://schemas.openxmlformats.org/drawingml/2006/main">
              <a:ext uri="{FF2B5EF4-FFF2-40B4-BE49-F238E27FC236}">
                <a16:creationId xmlns:a16="http://schemas.microsoft.com/office/drawing/2014/main" id="{2D7410CA-37C3-43F0-AC96-57F4558A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3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1" name="support-grid00-4">
            <a:extLst xmlns:a="http://schemas.openxmlformats.org/drawingml/2006/main">
              <a:ext uri="{FF2B5EF4-FFF2-40B4-BE49-F238E27FC236}">
                <a16:creationId xmlns:a16="http://schemas.microsoft.com/office/drawing/2014/main" id="{08819A36-DD09-4119-8CAD-2104EAB5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3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2" name="support-grid01-0">
            <a:extLst xmlns:a="http://schemas.openxmlformats.org/drawingml/2006/main">
              <a:ext uri="{FF2B5EF4-FFF2-40B4-BE49-F238E27FC236}">
                <a16:creationId xmlns:a16="http://schemas.microsoft.com/office/drawing/2014/main" id="{707F31F5-696D-4AA3-8356-C2CA5636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305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3" name="support-grid01-1">
            <a:extLst xmlns:a="http://schemas.openxmlformats.org/drawingml/2006/main">
              <a:ext uri="{FF2B5EF4-FFF2-40B4-BE49-F238E27FC236}">
                <a16:creationId xmlns:a16="http://schemas.microsoft.com/office/drawing/2014/main" id="{30BEA598-3BE5-471B-82C3-BE63A12D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305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4" name="support-grid01-2">
            <a:extLst xmlns:a="http://schemas.openxmlformats.org/drawingml/2006/main">
              <a:ext uri="{FF2B5EF4-FFF2-40B4-BE49-F238E27FC236}">
                <a16:creationId xmlns:a16="http://schemas.microsoft.com/office/drawing/2014/main" id="{F9DAD054-9FD8-4F0C-A609-AB6E238F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05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71A5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5" name="support-grid01-3">
            <a:extLst xmlns:a="http://schemas.openxmlformats.org/drawingml/2006/main">
              <a:ext uri="{FF2B5EF4-FFF2-40B4-BE49-F238E27FC236}">
                <a16:creationId xmlns:a16="http://schemas.microsoft.com/office/drawing/2014/main" id="{BFE1F9F0-4132-40BC-BD39-8F4FFED0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05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6" name="support-grid01-4">
            <a:extLst xmlns:a="http://schemas.openxmlformats.org/drawingml/2006/main">
              <a:ext uri="{FF2B5EF4-FFF2-40B4-BE49-F238E27FC236}">
                <a16:creationId xmlns:a16="http://schemas.microsoft.com/office/drawing/2014/main" id="{290E29FC-FCA9-4DFD-BDFD-87ABDEFE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05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7" name="support-grid02-0">
            <a:extLst xmlns:a="http://schemas.openxmlformats.org/drawingml/2006/main">
              <a:ext uri="{FF2B5EF4-FFF2-40B4-BE49-F238E27FC236}">
                <a16:creationId xmlns:a16="http://schemas.microsoft.com/office/drawing/2014/main" id="{8589FBD0-77AA-4E9F-BE09-AF45EE55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76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8" name="support-grid02-1">
            <a:extLst xmlns:a="http://schemas.openxmlformats.org/drawingml/2006/main">
              <a:ext uri="{FF2B5EF4-FFF2-40B4-BE49-F238E27FC236}">
                <a16:creationId xmlns:a16="http://schemas.microsoft.com/office/drawing/2014/main" id="{88ED5082-519E-400E-A2B9-71864623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476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9" name="support-grid02-2">
            <a:extLst xmlns:a="http://schemas.openxmlformats.org/drawingml/2006/main">
              <a:ext uri="{FF2B5EF4-FFF2-40B4-BE49-F238E27FC236}">
                <a16:creationId xmlns:a16="http://schemas.microsoft.com/office/drawing/2014/main" id="{03F7D26B-50B3-40A9-8247-16EB0D36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76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0" name="support-grid02-3">
            <a:extLst xmlns:a="http://schemas.openxmlformats.org/drawingml/2006/main">
              <a:ext uri="{FF2B5EF4-FFF2-40B4-BE49-F238E27FC236}">
                <a16:creationId xmlns:a16="http://schemas.microsoft.com/office/drawing/2014/main" id="{627FAED5-5D27-4A33-8861-D59DCA8A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76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1" name="support-grid02-4">
            <a:extLst xmlns:a="http://schemas.openxmlformats.org/drawingml/2006/main">
              <a:ext uri="{FF2B5EF4-FFF2-40B4-BE49-F238E27FC236}">
                <a16:creationId xmlns:a16="http://schemas.microsoft.com/office/drawing/2014/main" id="{F097854B-6F44-40F5-BBB9-C20D0878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76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2" name="support-grid10-0">
            <a:extLst xmlns:a="http://schemas.openxmlformats.org/drawingml/2006/main">
              <a:ext uri="{FF2B5EF4-FFF2-40B4-BE49-F238E27FC236}">
                <a16:creationId xmlns:a16="http://schemas.microsoft.com/office/drawing/2014/main" id="{D7FE2D1B-AEF4-4A73-AA81-A0AE745E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3" name="support-grid10-1">
            <a:extLst xmlns:a="http://schemas.openxmlformats.org/drawingml/2006/main">
              <a:ext uri="{FF2B5EF4-FFF2-40B4-BE49-F238E27FC236}">
                <a16:creationId xmlns:a16="http://schemas.microsoft.com/office/drawing/2014/main" id="{312282C1-2B9B-4586-AE7C-B53ECE5C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4" name="support-grid10-2">
            <a:extLst xmlns:a="http://schemas.openxmlformats.org/drawingml/2006/main">
              <a:ext uri="{FF2B5EF4-FFF2-40B4-BE49-F238E27FC236}">
                <a16:creationId xmlns:a16="http://schemas.microsoft.com/office/drawing/2014/main" id="{A233CF48-39BA-4DDA-BD09-45AF6A81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5" name="support-grid10-3">
            <a:extLst xmlns:a="http://schemas.openxmlformats.org/drawingml/2006/main">
              <a:ext uri="{FF2B5EF4-FFF2-40B4-BE49-F238E27FC236}">
                <a16:creationId xmlns:a16="http://schemas.microsoft.com/office/drawing/2014/main" id="{C225E180-3F68-4E7A-9A42-2CE8B84F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6" name="support-grid10-4">
            <a:extLst xmlns:a="http://schemas.openxmlformats.org/drawingml/2006/main">
              <a:ext uri="{FF2B5EF4-FFF2-40B4-BE49-F238E27FC236}">
                <a16:creationId xmlns:a16="http://schemas.microsoft.com/office/drawing/2014/main" id="{3D1F827D-9F1C-491A-B475-76090318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7" name="support-grid11-0">
            <a:extLst xmlns:a="http://schemas.openxmlformats.org/drawingml/2006/main">
              <a:ext uri="{FF2B5EF4-FFF2-40B4-BE49-F238E27FC236}">
                <a16:creationId xmlns:a16="http://schemas.microsoft.com/office/drawing/2014/main" id="{20AA9C89-AC1B-469E-AE6F-65EE8E23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14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8" name="support-grid11-1">
            <a:extLst xmlns:a="http://schemas.openxmlformats.org/drawingml/2006/main">
              <a:ext uri="{FF2B5EF4-FFF2-40B4-BE49-F238E27FC236}">
                <a16:creationId xmlns:a16="http://schemas.microsoft.com/office/drawing/2014/main" id="{0C8F3DD3-94F2-4798-98FF-02CF5CCF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14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9" name="support-grid11-2">
            <a:extLst xmlns:a="http://schemas.openxmlformats.org/drawingml/2006/main">
              <a:ext uri="{FF2B5EF4-FFF2-40B4-BE49-F238E27FC236}">
                <a16:creationId xmlns:a16="http://schemas.microsoft.com/office/drawing/2014/main" id="{333A1BA9-C04F-4C50-8E5C-B87E6FB8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14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71A5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0" name="support-grid11-3">
            <a:extLst xmlns:a="http://schemas.openxmlformats.org/drawingml/2006/main">
              <a:ext uri="{FF2B5EF4-FFF2-40B4-BE49-F238E27FC236}">
                <a16:creationId xmlns:a16="http://schemas.microsoft.com/office/drawing/2014/main" id="{A126EAC7-6380-4C40-AC74-255007D7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1" name="support-grid11-4">
            <a:extLst xmlns:a="http://schemas.openxmlformats.org/drawingml/2006/main">
              <a:ext uri="{FF2B5EF4-FFF2-40B4-BE49-F238E27FC236}">
                <a16:creationId xmlns:a16="http://schemas.microsoft.com/office/drawing/2014/main" id="{19B30EFB-D7BE-4DB3-A53B-E420842E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2" name="support-grid12-0">
            <a:extLst xmlns:a="http://schemas.openxmlformats.org/drawingml/2006/main">
              <a:ext uri="{FF2B5EF4-FFF2-40B4-BE49-F238E27FC236}">
                <a16:creationId xmlns:a16="http://schemas.microsoft.com/office/drawing/2014/main" id="{BD85F535-98EC-43E3-916D-2B054B09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3" name="support-grid12-1">
            <a:extLst xmlns:a="http://schemas.openxmlformats.org/drawingml/2006/main">
              <a:ext uri="{FF2B5EF4-FFF2-40B4-BE49-F238E27FC236}">
                <a16:creationId xmlns:a16="http://schemas.microsoft.com/office/drawing/2014/main" id="{552AEC6C-929A-4A44-9446-3FE93F77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4" name="support-grid12-2">
            <a:extLst xmlns:a="http://schemas.openxmlformats.org/drawingml/2006/main">
              <a:ext uri="{FF2B5EF4-FFF2-40B4-BE49-F238E27FC236}">
                <a16:creationId xmlns:a16="http://schemas.microsoft.com/office/drawing/2014/main" id="{88F6E72B-49DA-45BB-90D0-DCE7E1A5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5" name="support-grid12-3">
            <a:extLst xmlns:a="http://schemas.openxmlformats.org/drawingml/2006/main">
              <a:ext uri="{FF2B5EF4-FFF2-40B4-BE49-F238E27FC236}">
                <a16:creationId xmlns:a16="http://schemas.microsoft.com/office/drawing/2014/main" id="{2009383D-F456-4BC5-A469-9BE75A1E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6" name="support-grid12-4">
            <a:extLst xmlns:a="http://schemas.openxmlformats.org/drawingml/2006/main">
              <a:ext uri="{FF2B5EF4-FFF2-40B4-BE49-F238E27FC236}">
                <a16:creationId xmlns:a16="http://schemas.microsoft.com/office/drawing/2014/main" id="{D60E934A-B22D-4538-BBBD-634085F9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7" name="support-grid20-0">
            <a:extLst xmlns:a="http://schemas.openxmlformats.org/drawingml/2006/main">
              <a:ext uri="{FF2B5EF4-FFF2-40B4-BE49-F238E27FC236}">
                <a16:creationId xmlns:a16="http://schemas.microsoft.com/office/drawing/2014/main" id="{882B3AB9-CA06-4FEF-8FE6-5AD1E8A5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52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8" name="support-grid20-1">
            <a:extLst xmlns:a="http://schemas.openxmlformats.org/drawingml/2006/main">
              <a:ext uri="{FF2B5EF4-FFF2-40B4-BE49-F238E27FC236}">
                <a16:creationId xmlns:a16="http://schemas.microsoft.com/office/drawing/2014/main" id="{923BD100-DE77-48EF-A2B0-83BD58BC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552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9" name="support-grid20-2">
            <a:extLst xmlns:a="http://schemas.openxmlformats.org/drawingml/2006/main">
              <a:ext uri="{FF2B5EF4-FFF2-40B4-BE49-F238E27FC236}">
                <a16:creationId xmlns:a16="http://schemas.microsoft.com/office/drawing/2014/main" id="{FE68FFF7-4F90-4E1E-8B63-736B13FD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52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0" name="support-grid20-3">
            <a:extLst xmlns:a="http://schemas.openxmlformats.org/drawingml/2006/main">
              <a:ext uri="{FF2B5EF4-FFF2-40B4-BE49-F238E27FC236}">
                <a16:creationId xmlns:a16="http://schemas.microsoft.com/office/drawing/2014/main" id="{F0BBF5BE-714B-41A3-B7F1-31580323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52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1" name="support-grid20-4">
            <a:extLst xmlns:a="http://schemas.openxmlformats.org/drawingml/2006/main">
              <a:ext uri="{FF2B5EF4-FFF2-40B4-BE49-F238E27FC236}">
                <a16:creationId xmlns:a16="http://schemas.microsoft.com/office/drawing/2014/main" id="{7788F125-5D17-40DD-82A1-F7A187F8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52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2" name="support-grid21-0">
            <a:extLst xmlns:a="http://schemas.openxmlformats.org/drawingml/2006/main">
              <a:ext uri="{FF2B5EF4-FFF2-40B4-BE49-F238E27FC236}">
                <a16:creationId xmlns:a16="http://schemas.microsoft.com/office/drawing/2014/main" id="{B189D48D-BDCF-47EA-90E2-EFC6ECCA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24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3" name="support-grid21-1">
            <a:extLst xmlns:a="http://schemas.openxmlformats.org/drawingml/2006/main">
              <a:ext uri="{FF2B5EF4-FFF2-40B4-BE49-F238E27FC236}">
                <a16:creationId xmlns:a16="http://schemas.microsoft.com/office/drawing/2014/main" id="{18BFF6AE-1822-47DA-B622-267B682C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4" name="support-grid21-2">
            <a:extLst xmlns:a="http://schemas.openxmlformats.org/drawingml/2006/main">
              <a:ext uri="{FF2B5EF4-FFF2-40B4-BE49-F238E27FC236}">
                <a16:creationId xmlns:a16="http://schemas.microsoft.com/office/drawing/2014/main" id="{3C80A59D-E76C-4913-9491-ED3E0845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24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71A5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5" name="support-grid21-3">
            <a:extLst xmlns:a="http://schemas.openxmlformats.org/drawingml/2006/main">
              <a:ext uri="{FF2B5EF4-FFF2-40B4-BE49-F238E27FC236}">
                <a16:creationId xmlns:a16="http://schemas.microsoft.com/office/drawing/2014/main" id="{5A7632BF-AB40-4FBD-9B04-CAF40D8A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24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6" name="support-grid21-4">
            <a:extLst xmlns:a="http://schemas.openxmlformats.org/drawingml/2006/main">
              <a:ext uri="{FF2B5EF4-FFF2-40B4-BE49-F238E27FC236}">
                <a16:creationId xmlns:a16="http://schemas.microsoft.com/office/drawing/2014/main" id="{45FB1C7D-9565-40E7-80B4-FAA44FF9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24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7" name="support-grid22-0">
            <a:extLst xmlns:a="http://schemas.openxmlformats.org/drawingml/2006/main">
              <a:ext uri="{FF2B5EF4-FFF2-40B4-BE49-F238E27FC236}">
                <a16:creationId xmlns:a16="http://schemas.microsoft.com/office/drawing/2014/main" id="{2DE4F1A5-66AA-41BA-96F6-07BE6F13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95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8" name="support-grid22-1">
            <a:extLst xmlns:a="http://schemas.openxmlformats.org/drawingml/2006/main">
              <a:ext uri="{FF2B5EF4-FFF2-40B4-BE49-F238E27FC236}">
                <a16:creationId xmlns:a16="http://schemas.microsoft.com/office/drawing/2014/main" id="{50A4F86C-837E-4EDB-9C9D-3B07B52A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95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9" name="support-grid22-2">
            <a:extLst xmlns:a="http://schemas.openxmlformats.org/drawingml/2006/main">
              <a:ext uri="{FF2B5EF4-FFF2-40B4-BE49-F238E27FC236}">
                <a16:creationId xmlns:a16="http://schemas.microsoft.com/office/drawing/2014/main" id="{11D0B260-5FB7-4F76-8BE8-9F52FFAD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95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60" name="support-grid22-3">
            <a:extLst xmlns:a="http://schemas.openxmlformats.org/drawingml/2006/main">
              <a:ext uri="{FF2B5EF4-FFF2-40B4-BE49-F238E27FC236}">
                <a16:creationId xmlns:a16="http://schemas.microsoft.com/office/drawing/2014/main" id="{4CECA530-8CE8-44EC-BA9E-B13CF603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95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61" name="support-grid22-4">
            <a:extLst xmlns:a="http://schemas.openxmlformats.org/drawingml/2006/main">
              <a:ext uri="{FF2B5EF4-FFF2-40B4-BE49-F238E27FC236}">
                <a16:creationId xmlns:a16="http://schemas.microsoft.com/office/drawing/2014/main" id="{24DFCDB7-89A2-4857-A7C2-4BED4DCF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95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62" name="node107">
            <a:extLst xmlns:a="http://schemas.openxmlformats.org/drawingml/2006/main">
              <a:ext uri="{FF2B5EF4-FFF2-40B4-BE49-F238E27FC236}">
                <a16:creationId xmlns:a16="http://schemas.microsoft.com/office/drawing/2014/main" id="{B23BCD31-103D-40ED-9808-45EBCF30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63" name="node108">
            <a:extLst xmlns:a="http://schemas.openxmlformats.org/drawingml/2006/main">
              <a:ext uri="{FF2B5EF4-FFF2-40B4-BE49-F238E27FC236}">
                <a16:creationId xmlns:a16="http://schemas.microsoft.com/office/drawing/2014/main" id="{9E2E6C63-6C51-47E4-BAD6-45E79A00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298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10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6639878" y="2676526"/>
            <a:ext cx="6934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65" name="retain">
            <a:extLst xmlns:a="http://schemas.openxmlformats.org/drawingml/2006/main">
              <a:ext uri="{FF2B5EF4-FFF2-40B4-BE49-F238E27FC236}">
                <a16:creationId xmlns:a16="http://schemas.microsoft.com/office/drawing/2014/main" id="{22A0E16B-3FBC-477F-A546-9EA93675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38525"/>
            <a:ext cx="27717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All patch locations</a:t>
            </a:r>
          </a:p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from every support image</a:t>
            </a:r>
          </a:p>
        </p:txBody>
      </p:sp>
      <p:sp>
        <p:nvSpPr>
          <p:cNvPr id="66" name="collect">
            <a:extLst xmlns:a="http://schemas.openxmlformats.org/drawingml/2006/main">
              <a:ext uri="{FF2B5EF4-FFF2-40B4-BE49-F238E27FC236}">
                <a16:creationId xmlns:a16="http://schemas.microsoft.com/office/drawing/2014/main" id="{E7CF69D4-BA17-4ADE-B5F2-5865F160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286000"/>
            <a:ext cx="2352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Flatten and collect</a:t>
            </a:r>
          </a:p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1536-D unit vectors</a:t>
            </a:r>
          </a:p>
        </p:txBody>
      </p:sp>
      <p:sp>
        <p:nvSpPr>
          <p:cNvPr id="67" name="node109">
            <a:extLst xmlns:a="http://schemas.openxmlformats.org/drawingml/2006/main">
              <a:ext uri="{FF2B5EF4-FFF2-40B4-BE49-F238E27FC236}">
                <a16:creationId xmlns:a16="http://schemas.microsoft.com/office/drawing/2014/main" id="{FC93F199-37C9-477F-991D-879D9D28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823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68" name="node110">
            <a:extLst xmlns:a="http://schemas.openxmlformats.org/drawingml/2006/main">
              <a:ext uri="{FF2B5EF4-FFF2-40B4-BE49-F238E27FC236}">
                <a16:creationId xmlns:a16="http://schemas.microsoft.com/office/drawing/2014/main" id="{0BF2FFB1-B951-47DE-9223-ACB1A022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273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15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868728" y="2676526"/>
            <a:ext cx="13125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70" name="fixed-bank">
            <a:extLst xmlns:a="http://schemas.openxmlformats.org/drawingml/2006/main">
              <a:ext uri="{FF2B5EF4-FFF2-40B4-BE49-F238E27FC236}">
                <a16:creationId xmlns:a16="http://schemas.microsoft.com/office/drawing/2014/main" id="{B601F1EB-1934-4607-9E2B-13758CC9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2190750"/>
            <a:ext cx="22764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bankrow00">
            <a:extLst xmlns:a="http://schemas.openxmlformats.org/drawingml/2006/main">
              <a:ext uri="{FF2B5EF4-FFF2-40B4-BE49-F238E27FC236}">
                <a16:creationId xmlns:a16="http://schemas.microsoft.com/office/drawing/2014/main" id="{DDFB6215-D18A-4262-B859-096B63BB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2" name="bankrow01">
            <a:extLst xmlns:a="http://schemas.openxmlformats.org/drawingml/2006/main">
              <a:ext uri="{FF2B5EF4-FFF2-40B4-BE49-F238E27FC236}">
                <a16:creationId xmlns:a16="http://schemas.microsoft.com/office/drawing/2014/main" id="{95F69D4A-8B2E-4010-B5D7-E3335BE7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9803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3" name="bankrow02">
            <a:extLst xmlns:a="http://schemas.openxmlformats.org/drawingml/2006/main">
              <a:ext uri="{FF2B5EF4-FFF2-40B4-BE49-F238E27FC236}">
                <a16:creationId xmlns:a16="http://schemas.microsoft.com/office/drawing/2014/main" id="{74ED4D31-36E3-4A33-A9E9-A9A3569D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255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4" name="bankrow03">
            <a:extLst xmlns:a="http://schemas.openxmlformats.org/drawingml/2006/main">
              <a:ext uri="{FF2B5EF4-FFF2-40B4-BE49-F238E27FC236}">
                <a16:creationId xmlns:a16="http://schemas.microsoft.com/office/drawing/2014/main" id="{B7FB6BE6-7389-40B5-A51D-553A1521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2708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5" name="bankrow04">
            <a:extLst xmlns:a="http://schemas.openxmlformats.org/drawingml/2006/main">
              <a:ext uri="{FF2B5EF4-FFF2-40B4-BE49-F238E27FC236}">
                <a16:creationId xmlns:a16="http://schemas.microsoft.com/office/drawing/2014/main" id="{0724B620-D0E5-4481-BB3D-92612570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160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6" name="bankrow05">
            <a:extLst xmlns:a="http://schemas.openxmlformats.org/drawingml/2006/main">
              <a:ext uri="{FF2B5EF4-FFF2-40B4-BE49-F238E27FC236}">
                <a16:creationId xmlns:a16="http://schemas.microsoft.com/office/drawing/2014/main" id="{AAC918BB-8BD0-4A39-99C4-FFAA493F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5613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7" name="bankrow06">
            <a:extLst xmlns:a="http://schemas.openxmlformats.org/drawingml/2006/main">
              <a:ext uri="{FF2B5EF4-FFF2-40B4-BE49-F238E27FC236}">
                <a16:creationId xmlns:a16="http://schemas.microsoft.com/office/drawing/2014/main" id="{E5A4365E-3111-4AA6-AEF0-49C99CFB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7065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8" name="bankrow07">
            <a:extLst xmlns:a="http://schemas.openxmlformats.org/drawingml/2006/main">
              <a:ext uri="{FF2B5EF4-FFF2-40B4-BE49-F238E27FC236}">
                <a16:creationId xmlns:a16="http://schemas.microsoft.com/office/drawing/2014/main" id="{F592816E-65E3-4257-8C1A-F1FF1061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8518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9" name="bankrow08">
            <a:extLst xmlns:a="http://schemas.openxmlformats.org/drawingml/2006/main">
              <a:ext uri="{FF2B5EF4-FFF2-40B4-BE49-F238E27FC236}">
                <a16:creationId xmlns:a16="http://schemas.microsoft.com/office/drawing/2014/main" id="{C6956D99-99A2-4D04-83EA-A51F1A54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9970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0" name="bankrow09">
            <a:extLst xmlns:a="http://schemas.openxmlformats.org/drawingml/2006/main">
              <a:ext uri="{FF2B5EF4-FFF2-40B4-BE49-F238E27FC236}">
                <a16:creationId xmlns:a16="http://schemas.microsoft.com/office/drawing/2014/main" id="{FBCC3D25-F4AC-40AB-9479-089EC32D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1423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1" name="bankrow10">
            <a:extLst xmlns:a="http://schemas.openxmlformats.org/drawingml/2006/main">
              <a:ext uri="{FF2B5EF4-FFF2-40B4-BE49-F238E27FC236}">
                <a16:creationId xmlns:a16="http://schemas.microsoft.com/office/drawing/2014/main" id="{E215F7B4-EE3C-4B0F-8766-C02657EB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82" name="bankrow11">
            <a:extLst xmlns:a="http://schemas.openxmlformats.org/drawingml/2006/main">
              <a:ext uri="{FF2B5EF4-FFF2-40B4-BE49-F238E27FC236}">
                <a16:creationId xmlns:a16="http://schemas.microsoft.com/office/drawing/2014/main" id="{90F3A42F-317F-45C3-91E4-B460E1B0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9803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83" name="bankrow12">
            <a:extLst xmlns:a="http://schemas.openxmlformats.org/drawingml/2006/main">
              <a:ext uri="{FF2B5EF4-FFF2-40B4-BE49-F238E27FC236}">
                <a16:creationId xmlns:a16="http://schemas.microsoft.com/office/drawing/2014/main" id="{F667B74C-6D5B-4353-BDCD-70839145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255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84" name="bankrow13">
            <a:extLst xmlns:a="http://schemas.openxmlformats.org/drawingml/2006/main">
              <a:ext uri="{FF2B5EF4-FFF2-40B4-BE49-F238E27FC236}">
                <a16:creationId xmlns:a16="http://schemas.microsoft.com/office/drawing/2014/main" id="{139FA4E4-0E31-481B-AB8B-E0CDA951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2708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85" name="bankrow14">
            <a:extLst xmlns:a="http://schemas.openxmlformats.org/drawingml/2006/main">
              <a:ext uri="{FF2B5EF4-FFF2-40B4-BE49-F238E27FC236}">
                <a16:creationId xmlns:a16="http://schemas.microsoft.com/office/drawing/2014/main" id="{D4886767-AB7B-4D84-B39D-9DCEC027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160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86" name="bankrow15">
            <a:extLst xmlns:a="http://schemas.openxmlformats.org/drawingml/2006/main">
              <a:ext uri="{FF2B5EF4-FFF2-40B4-BE49-F238E27FC236}">
                <a16:creationId xmlns:a16="http://schemas.microsoft.com/office/drawing/2014/main" id="{0BE254D1-878F-4D88-AFCE-B129B052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5613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7" name="bankrow16">
            <a:extLst xmlns:a="http://schemas.openxmlformats.org/drawingml/2006/main">
              <a:ext uri="{FF2B5EF4-FFF2-40B4-BE49-F238E27FC236}">
                <a16:creationId xmlns:a16="http://schemas.microsoft.com/office/drawing/2014/main" id="{5C5C8362-C0C4-4520-828F-6FDB2313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7065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8" name="bankrow17">
            <a:extLst xmlns:a="http://schemas.openxmlformats.org/drawingml/2006/main">
              <a:ext uri="{FF2B5EF4-FFF2-40B4-BE49-F238E27FC236}">
                <a16:creationId xmlns:a16="http://schemas.microsoft.com/office/drawing/2014/main" id="{6B4365BD-CA4A-48CD-80CA-52128C0E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8518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9" name="bankrow18">
            <a:extLst xmlns:a="http://schemas.openxmlformats.org/drawingml/2006/main">
              <a:ext uri="{FF2B5EF4-FFF2-40B4-BE49-F238E27FC236}">
                <a16:creationId xmlns:a16="http://schemas.microsoft.com/office/drawing/2014/main" id="{E0067934-E17B-44BB-8CA1-3131BA39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9970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0" name="bankrow19">
            <a:extLst xmlns:a="http://schemas.openxmlformats.org/drawingml/2006/main">
              <a:ext uri="{FF2B5EF4-FFF2-40B4-BE49-F238E27FC236}">
                <a16:creationId xmlns:a16="http://schemas.microsoft.com/office/drawing/2014/main" id="{049B7D5D-762E-4154-8D2F-55061C1E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1423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1" name="bankrow20">
            <a:extLst xmlns:a="http://schemas.openxmlformats.org/drawingml/2006/main">
              <a:ext uri="{FF2B5EF4-FFF2-40B4-BE49-F238E27FC236}">
                <a16:creationId xmlns:a16="http://schemas.microsoft.com/office/drawing/2014/main" id="{2A78F093-4157-488F-90A0-AE23967A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2" name="bankrow21">
            <a:extLst xmlns:a="http://schemas.openxmlformats.org/drawingml/2006/main">
              <a:ext uri="{FF2B5EF4-FFF2-40B4-BE49-F238E27FC236}">
                <a16:creationId xmlns:a16="http://schemas.microsoft.com/office/drawing/2014/main" id="{4D1BC8C9-9F5F-4B41-8781-6113D185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9803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3" name="bankrow22">
            <a:extLst xmlns:a="http://schemas.openxmlformats.org/drawingml/2006/main">
              <a:ext uri="{FF2B5EF4-FFF2-40B4-BE49-F238E27FC236}">
                <a16:creationId xmlns:a16="http://schemas.microsoft.com/office/drawing/2014/main" id="{937814D8-D7B0-4830-BB2B-7BFD3CA0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255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4" name="bankrow23">
            <a:extLst xmlns:a="http://schemas.openxmlformats.org/drawingml/2006/main">
              <a:ext uri="{FF2B5EF4-FFF2-40B4-BE49-F238E27FC236}">
                <a16:creationId xmlns:a16="http://schemas.microsoft.com/office/drawing/2014/main" id="{F6FC87C7-4AAA-44D2-9691-F0438599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2708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5" name="bankrow24">
            <a:extLst xmlns:a="http://schemas.openxmlformats.org/drawingml/2006/main">
              <a:ext uri="{FF2B5EF4-FFF2-40B4-BE49-F238E27FC236}">
                <a16:creationId xmlns:a16="http://schemas.microsoft.com/office/drawing/2014/main" id="{1E92DF21-2359-4F9E-B964-34F3B5C8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160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6" name="bankrow25">
            <a:extLst xmlns:a="http://schemas.openxmlformats.org/drawingml/2006/main">
              <a:ext uri="{FF2B5EF4-FFF2-40B4-BE49-F238E27FC236}">
                <a16:creationId xmlns:a16="http://schemas.microsoft.com/office/drawing/2014/main" id="{58B9C734-47B4-48F9-BEAB-95750FFE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5613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7" name="bankrow26">
            <a:extLst xmlns:a="http://schemas.openxmlformats.org/drawingml/2006/main">
              <a:ext uri="{FF2B5EF4-FFF2-40B4-BE49-F238E27FC236}">
                <a16:creationId xmlns:a16="http://schemas.microsoft.com/office/drawing/2014/main" id="{E00531B0-D86B-43AF-9BCF-DBFC6505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7065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8" name="bankrow27">
            <a:extLst xmlns:a="http://schemas.openxmlformats.org/drawingml/2006/main">
              <a:ext uri="{FF2B5EF4-FFF2-40B4-BE49-F238E27FC236}">
                <a16:creationId xmlns:a16="http://schemas.microsoft.com/office/drawing/2014/main" id="{742B743B-FECF-43A1-99C3-5A56C415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8518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9" name="bankrow28">
            <a:extLst xmlns:a="http://schemas.openxmlformats.org/drawingml/2006/main">
              <a:ext uri="{FF2B5EF4-FFF2-40B4-BE49-F238E27FC236}">
                <a16:creationId xmlns:a16="http://schemas.microsoft.com/office/drawing/2014/main" id="{064B3489-BCF6-4B20-BD32-D4353EA7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9970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0" name="bankrow29">
            <a:extLst xmlns:a="http://schemas.openxmlformats.org/drawingml/2006/main">
              <a:ext uri="{FF2B5EF4-FFF2-40B4-BE49-F238E27FC236}">
                <a16:creationId xmlns:a16="http://schemas.microsoft.com/office/drawing/2014/main" id="{6ECB457D-849B-4FB8-9AC8-51F9B9F9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1423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1" name="bankrow30">
            <a:extLst xmlns:a="http://schemas.openxmlformats.org/drawingml/2006/main">
              <a:ext uri="{FF2B5EF4-FFF2-40B4-BE49-F238E27FC236}">
                <a16:creationId xmlns:a16="http://schemas.microsoft.com/office/drawing/2014/main" id="{A5B0F996-F262-4F24-AF2B-9495D24B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2" name="bankrow31">
            <a:extLst xmlns:a="http://schemas.openxmlformats.org/drawingml/2006/main">
              <a:ext uri="{FF2B5EF4-FFF2-40B4-BE49-F238E27FC236}">
                <a16:creationId xmlns:a16="http://schemas.microsoft.com/office/drawing/2014/main" id="{0EF4A730-B168-4B89-9CBD-31C1CC96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9803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3" name="bankrow32">
            <a:extLst xmlns:a="http://schemas.openxmlformats.org/drawingml/2006/main">
              <a:ext uri="{FF2B5EF4-FFF2-40B4-BE49-F238E27FC236}">
                <a16:creationId xmlns:a16="http://schemas.microsoft.com/office/drawing/2014/main" id="{D242839D-5A03-4A83-89A5-BC9049FD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255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4" name="bankrow33">
            <a:extLst xmlns:a="http://schemas.openxmlformats.org/drawingml/2006/main">
              <a:ext uri="{FF2B5EF4-FFF2-40B4-BE49-F238E27FC236}">
                <a16:creationId xmlns:a16="http://schemas.microsoft.com/office/drawing/2014/main" id="{6F1A920F-AE8C-4385-AF96-A1FC76D3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2708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5" name="bankrow34">
            <a:extLst xmlns:a="http://schemas.openxmlformats.org/drawingml/2006/main">
              <a:ext uri="{FF2B5EF4-FFF2-40B4-BE49-F238E27FC236}">
                <a16:creationId xmlns:a16="http://schemas.microsoft.com/office/drawing/2014/main" id="{5E3E62AB-EB85-4A1C-8A28-04F256EB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160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6" name="bankrow35">
            <a:extLst xmlns:a="http://schemas.openxmlformats.org/drawingml/2006/main">
              <a:ext uri="{FF2B5EF4-FFF2-40B4-BE49-F238E27FC236}">
                <a16:creationId xmlns:a16="http://schemas.microsoft.com/office/drawing/2014/main" id="{3022E1B0-B388-4249-AEFC-768FCF6B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5613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7" name="bankrow36">
            <a:extLst xmlns:a="http://schemas.openxmlformats.org/drawingml/2006/main">
              <a:ext uri="{FF2B5EF4-FFF2-40B4-BE49-F238E27FC236}">
                <a16:creationId xmlns:a16="http://schemas.microsoft.com/office/drawing/2014/main" id="{4389203A-8F1E-4FE2-8862-DC213475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7065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8" name="bankrow37">
            <a:extLst xmlns:a="http://schemas.openxmlformats.org/drawingml/2006/main">
              <a:ext uri="{FF2B5EF4-FFF2-40B4-BE49-F238E27FC236}">
                <a16:creationId xmlns:a16="http://schemas.microsoft.com/office/drawing/2014/main" id="{C4179030-7B9F-4345-ACC4-6625CF2D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8518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9" name="bankrow38">
            <a:extLst xmlns:a="http://schemas.openxmlformats.org/drawingml/2006/main">
              <a:ext uri="{FF2B5EF4-FFF2-40B4-BE49-F238E27FC236}">
                <a16:creationId xmlns:a16="http://schemas.microsoft.com/office/drawing/2014/main" id="{AC1E74D0-D099-4B19-AC41-337E84AC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9970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0" name="bankrow39">
            <a:extLst xmlns:a="http://schemas.openxmlformats.org/drawingml/2006/main">
              <a:ext uri="{FF2B5EF4-FFF2-40B4-BE49-F238E27FC236}">
                <a16:creationId xmlns:a16="http://schemas.microsoft.com/office/drawing/2014/main" id="{CE331356-A4E3-48B6-B146-25D16A16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1423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1" name="node111">
            <a:extLst xmlns:a="http://schemas.openxmlformats.org/drawingml/2006/main">
              <a:ext uri="{FF2B5EF4-FFF2-40B4-BE49-F238E27FC236}">
                <a16:creationId xmlns:a16="http://schemas.microsoft.com/office/drawing/2014/main" id="{3DEB20CD-87AD-40B1-8F4C-85649711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3948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12" name="node112">
            <a:extLst xmlns:a="http://schemas.openxmlformats.org/drawingml/2006/main">
              <a:ext uri="{FF2B5EF4-FFF2-40B4-BE49-F238E27FC236}">
                <a16:creationId xmlns:a16="http://schemas.microsoft.com/office/drawing/2014/main" id="{A87918BF-DC50-4F13-ACB5-8441065E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5948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59" name=""/>
          <p:cNvCxnSpPr>
            <a:stCxn xmlns:a="http://schemas.openxmlformats.org/drawingml/2006/main" id="111" idx="3"/>
            <a:endCxn xmlns:a="http://schemas.openxmlformats.org/drawingml/2006/main" id="112" idx="1"/>
          </p:cNvCxnSpPr>
          <p:nvPr/>
        </p:nvCxnSpPr>
        <p:spPr>
          <a:xfrm xmlns:a="http://schemas.openxmlformats.org/drawingml/2006/main">
            <a:off x="12535853" y="2676526"/>
            <a:ext cx="7600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14" name="bank-dim">
            <a:extLst xmlns:a="http://schemas.openxmlformats.org/drawingml/2006/main">
              <a:ext uri="{FF2B5EF4-FFF2-40B4-BE49-F238E27FC236}">
                <a16:creationId xmlns:a16="http://schemas.microsoft.com/office/drawing/2014/main" id="{5AE4C0FD-6887-430B-81D8-9DC27125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3590925"/>
            <a:ext cx="2905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1">
                <a:latin typeface="Cambria Math"/>
                <a:ea typeface="Cambria Math"/>
                <a:cs typeface="Cambria Math"/>
              </a:rPr>
              <a:t>M</a:t>
            </a:r>
            <a:r>
              <a:rPr sz="1458" b="0" i="1" baseline="-25000">
                <a:latin typeface="Cambria Math"/>
                <a:ea typeface="Cambria Math"/>
                <a:cs typeface="Cambria Math"/>
              </a:rPr>
              <a:t>c</a:t>
            </a:r>
            <a:r>
              <a:rPr sz="2025" b="0" i="0">
                <a:latin typeface="Cambria Math"/>
                <a:ea typeface="Cambria Math"/>
                <a:cs typeface="Cambria Math"/>
              </a:rPr>
              <a:t>: </a:t>
            </a:r>
            <a:r>
              <a:rPr sz="2025" b="0" i="1">
                <a:latin typeface="Cambria Math"/>
                <a:ea typeface="Cambria Math"/>
                <a:cs typeface="Cambria Math"/>
              </a:rPr>
              <a:t>N</a:t>
            </a:r>
            <a:r>
              <a:rPr sz="1458" b="0" i="1" baseline="-25000">
                <a:latin typeface="Cambria Math"/>
                <a:ea typeface="Cambria Math"/>
                <a:cs typeface="Cambria Math"/>
              </a:rPr>
              <a:t>c</a:t>
            </a:r>
            <a:r>
              <a:rPr sz="2025" b="0" i="0">
                <a:latin typeface="Cambria Math"/>
                <a:ea typeface="Cambria Math"/>
                <a:cs typeface="Cambria Math"/>
              </a:rPr>
              <a:t> × 1536</a:t>
            </a:r>
          </a:p>
        </p:txBody>
      </p:sp>
      <p:sp>
        <p:nvSpPr>
          <p:cNvPr id="115" name="bank-count">
            <a:extLst xmlns:a="http://schemas.openxmlformats.org/drawingml/2006/main">
              <a:ext uri="{FF2B5EF4-FFF2-40B4-BE49-F238E27FC236}">
                <a16:creationId xmlns:a16="http://schemas.microsoft.com/office/drawing/2014/main" id="{0B93B5E9-07AB-4D0A-95AE-1A1B5EFB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9975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1">
                <a:latin typeface="Cambria Math"/>
                <a:ea typeface="Cambria Math"/>
                <a:cs typeface="Cambria Math"/>
              </a:rPr>
              <a:t>N</a:t>
            </a:r>
            <a:r>
              <a:rPr sz="1512" b="0" i="1" baseline="-25000">
                <a:latin typeface="Cambria Math"/>
                <a:ea typeface="Cambria Math"/>
                <a:cs typeface="Cambria Math"/>
              </a:rPr>
              <a:t>c</a:t>
            </a:r>
            <a:r>
              <a:rPr sz="2100" b="0" i="0">
                <a:latin typeface="Cambria Math"/>
                <a:ea typeface="Cambria Math"/>
                <a:cs typeface="Cambria Math"/>
              </a:rPr>
              <a:t> = </a:t>
            </a:r>
            <a:r>
              <a:rPr sz="2100" b="0" i="1">
                <a:latin typeface="Cambria Math"/>
                <a:ea typeface="Cambria Math"/>
                <a:cs typeface="Cambria Math"/>
              </a:rPr>
              <a:t>K</a:t>
            </a:r>
            <a:r>
              <a:rPr sz="2100" b="0" i="1">
                <a:latin typeface="Cambria Math"/>
                <a:ea typeface="Cambria Math"/>
                <a:cs typeface="Cambria Math"/>
              </a:rPr>
              <a:t>P</a:t>
            </a:r>
          </a:p>
        </p:txBody>
      </p:sp>
      <p:sp>
        <p:nvSpPr>
          <p:cNvPr id="116" name="common-grid-note">
            <a:extLst xmlns:a="http://schemas.openxmlformats.org/drawingml/2006/main">
              <a:ext uri="{FF2B5EF4-FFF2-40B4-BE49-F238E27FC236}">
                <a16:creationId xmlns:a16="http://schemas.microsoft.com/office/drawing/2014/main" id="{09476599-A00D-4B8C-B49B-70E8DA2A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For a common patch grid</a:t>
            </a:r>
          </a:p>
        </p:txBody>
      </p:sp>
      <p:sp>
        <p:nvSpPr>
          <p:cNvPr id="117" name="bank-note">
            <a:extLst xmlns:a="http://schemas.openxmlformats.org/drawingml/2006/main">
              <a:ext uri="{FF2B5EF4-FFF2-40B4-BE49-F238E27FC236}">
                <a16:creationId xmlns:a16="http://schemas.microsoft.com/office/drawing/2014/main" id="{37AB3A2A-A291-4E0C-8641-4115EEBD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86225"/>
            <a:ext cx="5962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5485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856C"/>
                </a:solidFill>
                <a:latin typeface="Arial"/>
                <a:ea typeface="Arial"/>
                <a:cs typeface="Arial"/>
              </a:rPr>
              <a:t>All patches retained; fixed after construction</a:t>
            </a:r>
          </a:p>
        </p:txBody>
      </p:sp>
      <p:sp>
        <p:nvSpPr>
          <p:cNvPr id="118" name="midrule">
            <a:extLst xmlns:a="http://schemas.openxmlformats.org/drawingml/2006/main">
              <a:ext uri="{FF2B5EF4-FFF2-40B4-BE49-F238E27FC236}">
                <a16:creationId xmlns:a16="http://schemas.microsoft.com/office/drawing/2014/main" id="{67251E34-C51D-4036-BEE3-5F08FFC0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6247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119" name="section113">
            <a:extLst xmlns:a="http://schemas.openxmlformats.org/drawingml/2006/main">
              <a:ext uri="{FF2B5EF4-FFF2-40B4-BE49-F238E27FC236}">
                <a16:creationId xmlns:a16="http://schemas.microsoft.com/office/drawing/2014/main" id="{AAF77A1C-E911-48F5-82C7-7FA187C4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05350"/>
            <a:ext cx="1531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(b) Retrieve one joint-space neighbor for each query patch</a:t>
            </a:r>
          </a:p>
        </p:txBody>
      </p:sp>
      <p:sp>
        <p:nvSpPr>
          <p:cNvPr id="120" name="query-patch0">
            <a:extLst xmlns:a="http://schemas.openxmlformats.org/drawingml/2006/main">
              <a:ext uri="{FF2B5EF4-FFF2-40B4-BE49-F238E27FC236}">
                <a16:creationId xmlns:a16="http://schemas.microsoft.com/office/drawing/2014/main" id="{51027B7D-31FB-456E-96CC-F00715FA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1" name="query-patch1">
            <a:extLst xmlns:a="http://schemas.openxmlformats.org/drawingml/2006/main">
              <a:ext uri="{FF2B5EF4-FFF2-40B4-BE49-F238E27FC236}">
                <a16:creationId xmlns:a16="http://schemas.microsoft.com/office/drawing/2014/main" id="{4BB9FE2E-E21B-4337-8782-9CF4A90F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2" name="query-patch2">
            <a:extLst xmlns:a="http://schemas.openxmlformats.org/drawingml/2006/main">
              <a:ext uri="{FF2B5EF4-FFF2-40B4-BE49-F238E27FC236}">
                <a16:creationId xmlns:a16="http://schemas.microsoft.com/office/drawing/2014/main" id="{367B5952-B668-41CB-A734-C25375FA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3" name="query-patch3">
            <a:extLst xmlns:a="http://schemas.openxmlformats.org/drawingml/2006/main">
              <a:ext uri="{FF2B5EF4-FFF2-40B4-BE49-F238E27FC236}">
                <a16:creationId xmlns:a16="http://schemas.microsoft.com/office/drawing/2014/main" id="{DED56065-4A1E-43A6-B673-445415A1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4" name="query-patch4">
            <a:extLst xmlns:a="http://schemas.openxmlformats.org/drawingml/2006/main">
              <a:ext uri="{FF2B5EF4-FFF2-40B4-BE49-F238E27FC236}">
                <a16:creationId xmlns:a16="http://schemas.microsoft.com/office/drawing/2014/main" id="{1B77958E-1BFA-4D05-B977-70EBEB43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5" name="query-patch5">
            <a:extLst xmlns:a="http://schemas.openxmlformats.org/drawingml/2006/main">
              <a:ext uri="{FF2B5EF4-FFF2-40B4-BE49-F238E27FC236}">
                <a16:creationId xmlns:a16="http://schemas.microsoft.com/office/drawing/2014/main" id="{1D104E11-462E-4E7C-AEE6-54FD8ADD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6" name="query-patch6">
            <a:extLst xmlns:a="http://schemas.openxmlformats.org/drawingml/2006/main">
              <a:ext uri="{FF2B5EF4-FFF2-40B4-BE49-F238E27FC236}">
                <a16:creationId xmlns:a16="http://schemas.microsoft.com/office/drawing/2014/main" id="{56F9AB5F-3CC5-4B11-8F0E-F0622C7C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7" name="query-patch7">
            <a:extLst xmlns:a="http://schemas.openxmlformats.org/drawingml/2006/main">
              <a:ext uri="{FF2B5EF4-FFF2-40B4-BE49-F238E27FC236}">
                <a16:creationId xmlns:a16="http://schemas.microsoft.com/office/drawing/2014/main" id="{82056BC7-83A1-444D-B580-4AC1D12C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88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8" name="query-patch8">
            <a:extLst xmlns:a="http://schemas.openxmlformats.org/drawingml/2006/main">
              <a:ext uri="{FF2B5EF4-FFF2-40B4-BE49-F238E27FC236}">
                <a16:creationId xmlns:a16="http://schemas.microsoft.com/office/drawing/2014/main" id="{636D8D4E-FE28-45B6-A4D6-5FB4A22D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76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9" name="query-patch9">
            <a:extLst xmlns:a="http://schemas.openxmlformats.org/drawingml/2006/main">
              <a:ext uri="{FF2B5EF4-FFF2-40B4-BE49-F238E27FC236}">
                <a16:creationId xmlns:a16="http://schemas.microsoft.com/office/drawing/2014/main" id="{DBAB0A52-75C6-4C29-AE27-6823FC5E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64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0" name="query-f">
            <a:extLst xmlns:a="http://schemas.openxmlformats.org/drawingml/2006/main">
              <a:ext uri="{FF2B5EF4-FFF2-40B4-BE49-F238E27FC236}">
                <a16:creationId xmlns:a16="http://schemas.microsoft.com/office/drawing/2014/main" id="{5C047B94-AEDF-40A4-89DC-D94E8F25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1531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1">
                <a:latin typeface="Cambria Math"/>
                <a:ea typeface="Cambria Math"/>
                <a:cs typeface="Cambria Math"/>
              </a:rPr>
              <a:t>f</a:t>
            </a:r>
            <a:r>
              <a:rPr sz="1566" b="0" i="0" baseline="-25000">
                <a:latin typeface="Cambria Math"/>
                <a:ea typeface="Cambria Math"/>
                <a:cs typeface="Cambria Math"/>
              </a:rPr>
              <a:t>A</a:t>
            </a:r>
            <a:r>
              <a:rPr sz="1566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566" b="0" i="1" baseline="-25000">
                <a:latin typeface="Cambria Math"/>
                <a:ea typeface="Cambria Math"/>
                <a:cs typeface="Cambria Math"/>
              </a:rPr>
              <a:t>p</a:t>
            </a:r>
            <a:r>
              <a:rPr sz="2175" b="0" i="0">
                <a:latin typeface="Cambria Math"/>
                <a:ea typeface="Cambria Math"/>
                <a:cs typeface="Cambria Math"/>
              </a:rPr>
              <a:t>(</a:t>
            </a:r>
            <a:r>
              <a:rPr sz="2175" b="1" i="1">
                <a:latin typeface="Cambria Math"/>
                <a:ea typeface="Cambria Math"/>
                <a:cs typeface="Cambria Math"/>
              </a:rPr>
              <a:t>x</a:t>
            </a:r>
            <a:r>
              <a:rPr sz="2175" b="0" i="0"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31" name="unit-query">
            <a:extLst xmlns:a="http://schemas.openxmlformats.org/drawingml/2006/main">
              <a:ext uri="{FF2B5EF4-FFF2-40B4-BE49-F238E27FC236}">
                <a16:creationId xmlns:a16="http://schemas.microsoft.com/office/drawing/2014/main" id="{71B49FE0-099D-4CEB-BC80-C7C8721F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198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Unit fused descriptor</a:t>
            </a:r>
          </a:p>
        </p:txBody>
      </p:sp>
      <p:sp>
        <p:nvSpPr>
          <p:cNvPr id="132" name="candidates">
            <a:extLst xmlns:a="http://schemas.openxmlformats.org/drawingml/2006/main">
              <a:ext uri="{FF2B5EF4-FFF2-40B4-BE49-F238E27FC236}">
                <a16:creationId xmlns:a16="http://schemas.microsoft.com/office/drawing/2014/main" id="{23B9F577-16C4-4C69-9D98-93856C3D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391150"/>
            <a:ext cx="28003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3" name="candidate00">
            <a:extLst xmlns:a="http://schemas.openxmlformats.org/drawingml/2006/main">
              <a:ext uri="{FF2B5EF4-FFF2-40B4-BE49-F238E27FC236}">
                <a16:creationId xmlns:a16="http://schemas.microsoft.com/office/drawing/2014/main" id="{7C008C78-66B5-4BD1-A655-F968BEE9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4" name="candidate01">
            <a:extLst xmlns:a="http://schemas.openxmlformats.org/drawingml/2006/main">
              <a:ext uri="{FF2B5EF4-FFF2-40B4-BE49-F238E27FC236}">
                <a16:creationId xmlns:a16="http://schemas.microsoft.com/office/drawing/2014/main" id="{DF4CA54B-602A-4986-8EBA-A6232ADA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5" name="candidate02">
            <a:extLst xmlns:a="http://schemas.openxmlformats.org/drawingml/2006/main">
              <a:ext uri="{FF2B5EF4-FFF2-40B4-BE49-F238E27FC236}">
                <a16:creationId xmlns:a16="http://schemas.microsoft.com/office/drawing/2014/main" id="{BDB1B288-7FC0-4915-B6D8-AFDE00DB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6" name="candidate03">
            <a:extLst xmlns:a="http://schemas.openxmlformats.org/drawingml/2006/main">
              <a:ext uri="{FF2B5EF4-FFF2-40B4-BE49-F238E27FC236}">
                <a16:creationId xmlns:a16="http://schemas.microsoft.com/office/drawing/2014/main" id="{C1E836F1-942B-47A8-99D9-32AC9167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7" name="candidate04">
            <a:extLst xmlns:a="http://schemas.openxmlformats.org/drawingml/2006/main">
              <a:ext uri="{FF2B5EF4-FFF2-40B4-BE49-F238E27FC236}">
                <a16:creationId xmlns:a16="http://schemas.microsoft.com/office/drawing/2014/main" id="{1B2C12FF-68EB-4083-AE10-82CE3FDB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8" name="candidate05">
            <a:extLst xmlns:a="http://schemas.openxmlformats.org/drawingml/2006/main">
              <a:ext uri="{FF2B5EF4-FFF2-40B4-BE49-F238E27FC236}">
                <a16:creationId xmlns:a16="http://schemas.microsoft.com/office/drawing/2014/main" id="{4A7F251A-50EA-4284-B0EB-35991907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9" name="candidate06">
            <a:extLst xmlns:a="http://schemas.openxmlformats.org/drawingml/2006/main">
              <a:ext uri="{FF2B5EF4-FFF2-40B4-BE49-F238E27FC236}">
                <a16:creationId xmlns:a16="http://schemas.microsoft.com/office/drawing/2014/main" id="{05201319-88EA-4AC1-93DE-E5153E8C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0" name="candidate07">
            <a:extLst xmlns:a="http://schemas.openxmlformats.org/drawingml/2006/main">
              <a:ext uri="{FF2B5EF4-FFF2-40B4-BE49-F238E27FC236}">
                <a16:creationId xmlns:a16="http://schemas.microsoft.com/office/drawing/2014/main" id="{CA1FDC80-E3DF-43CC-82E4-9281405A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1" name="candidate08">
            <a:extLst xmlns:a="http://schemas.openxmlformats.org/drawingml/2006/main">
              <a:ext uri="{FF2B5EF4-FFF2-40B4-BE49-F238E27FC236}">
                <a16:creationId xmlns:a16="http://schemas.microsoft.com/office/drawing/2014/main" id="{0B51F27E-1B17-4BD5-870F-7EF668D1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2" name="candidate09">
            <a:extLst xmlns:a="http://schemas.openxmlformats.org/drawingml/2006/main">
              <a:ext uri="{FF2B5EF4-FFF2-40B4-BE49-F238E27FC236}">
                <a16:creationId xmlns:a16="http://schemas.microsoft.com/office/drawing/2014/main" id="{87C51B95-E530-4780-BCBB-5A6A795B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3" name="candidate10">
            <a:extLst xmlns:a="http://schemas.openxmlformats.org/drawingml/2006/main">
              <a:ext uri="{FF2B5EF4-FFF2-40B4-BE49-F238E27FC236}">
                <a16:creationId xmlns:a16="http://schemas.microsoft.com/office/drawing/2014/main" id="{05187B39-4746-4ED8-B73A-A57F6D2D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4" name="candidate11">
            <a:extLst xmlns:a="http://schemas.openxmlformats.org/drawingml/2006/main">
              <a:ext uri="{FF2B5EF4-FFF2-40B4-BE49-F238E27FC236}">
                <a16:creationId xmlns:a16="http://schemas.microsoft.com/office/drawing/2014/main" id="{B2C36492-75AC-4E7A-9349-E8C64268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5" name="candidate12">
            <a:extLst xmlns:a="http://schemas.openxmlformats.org/drawingml/2006/main">
              <a:ext uri="{FF2B5EF4-FFF2-40B4-BE49-F238E27FC236}">
                <a16:creationId xmlns:a16="http://schemas.microsoft.com/office/drawing/2014/main" id="{98ECE5DD-ED0E-4E50-A613-12D09F1E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6" name="candidate13">
            <a:extLst xmlns:a="http://schemas.openxmlformats.org/drawingml/2006/main">
              <a:ext uri="{FF2B5EF4-FFF2-40B4-BE49-F238E27FC236}">
                <a16:creationId xmlns:a16="http://schemas.microsoft.com/office/drawing/2014/main" id="{BA3E792D-82BF-44F1-8625-00316055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7" name="candidate14">
            <a:extLst xmlns:a="http://schemas.openxmlformats.org/drawingml/2006/main">
              <a:ext uri="{FF2B5EF4-FFF2-40B4-BE49-F238E27FC236}">
                <a16:creationId xmlns:a16="http://schemas.microsoft.com/office/drawing/2014/main" id="{91BF05E5-F764-47D6-8013-F0E09700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8" name="candidate15">
            <a:extLst xmlns:a="http://schemas.openxmlformats.org/drawingml/2006/main">
              <a:ext uri="{FF2B5EF4-FFF2-40B4-BE49-F238E27FC236}">
                <a16:creationId xmlns:a16="http://schemas.microsoft.com/office/drawing/2014/main" id="{3A87BAD0-C60A-46F1-96A1-0E1A02FB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9" name="candidate16">
            <a:extLst xmlns:a="http://schemas.openxmlformats.org/drawingml/2006/main">
              <a:ext uri="{FF2B5EF4-FFF2-40B4-BE49-F238E27FC236}">
                <a16:creationId xmlns:a16="http://schemas.microsoft.com/office/drawing/2014/main" id="{214E2A33-6541-4C73-9A68-20D111D6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0" name="candidate17">
            <a:extLst xmlns:a="http://schemas.openxmlformats.org/drawingml/2006/main">
              <a:ext uri="{FF2B5EF4-FFF2-40B4-BE49-F238E27FC236}">
                <a16:creationId xmlns:a16="http://schemas.microsoft.com/office/drawing/2014/main" id="{9F27458D-B278-4C1C-AE40-011A8B28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1" name="candidate18">
            <a:extLst xmlns:a="http://schemas.openxmlformats.org/drawingml/2006/main">
              <a:ext uri="{FF2B5EF4-FFF2-40B4-BE49-F238E27FC236}">
                <a16:creationId xmlns:a16="http://schemas.microsoft.com/office/drawing/2014/main" id="{BE1848CE-B357-4AD9-8A74-5A2130ED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2" name="candidate19">
            <a:extLst xmlns:a="http://schemas.openxmlformats.org/drawingml/2006/main">
              <a:ext uri="{FF2B5EF4-FFF2-40B4-BE49-F238E27FC236}">
                <a16:creationId xmlns:a16="http://schemas.microsoft.com/office/drawing/2014/main" id="{A436B043-7838-4F69-801F-C7EE4120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3" name="chosen">
            <a:extLst xmlns:a="http://schemas.openxmlformats.org/drawingml/2006/main">
              <a:ext uri="{FF2B5EF4-FFF2-40B4-BE49-F238E27FC236}">
                <a16:creationId xmlns:a16="http://schemas.microsoft.com/office/drawing/2014/main" id="{59D744B7-D2BF-423E-BA89-63085D4C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87692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4856C"/>
            </a:solidFill>
          </a:ln>
        </p:spPr>
      </p:sp>
      <p:sp>
        <p:nvSpPr>
          <p:cNvPr id="154" name="candidate20">
            <a:extLst xmlns:a="http://schemas.openxmlformats.org/drawingml/2006/main">
              <a:ext uri="{FF2B5EF4-FFF2-40B4-BE49-F238E27FC236}">
                <a16:creationId xmlns:a16="http://schemas.microsoft.com/office/drawing/2014/main" id="{3406328D-0E5C-46C2-AF1E-64728808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5" name="candidate21">
            <a:extLst xmlns:a="http://schemas.openxmlformats.org/drawingml/2006/main">
              <a:ext uri="{FF2B5EF4-FFF2-40B4-BE49-F238E27FC236}">
                <a16:creationId xmlns:a16="http://schemas.microsoft.com/office/drawing/2014/main" id="{2DBEA1C6-6B95-4FA0-8F64-2EBAF7CD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6" name="candidate22">
            <a:extLst xmlns:a="http://schemas.openxmlformats.org/drawingml/2006/main">
              <a:ext uri="{FF2B5EF4-FFF2-40B4-BE49-F238E27FC236}">
                <a16:creationId xmlns:a16="http://schemas.microsoft.com/office/drawing/2014/main" id="{494B3C6E-F8D1-424B-B92C-6348EB3B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7" name="candidate23">
            <a:extLst xmlns:a="http://schemas.openxmlformats.org/drawingml/2006/main">
              <a:ext uri="{FF2B5EF4-FFF2-40B4-BE49-F238E27FC236}">
                <a16:creationId xmlns:a16="http://schemas.microsoft.com/office/drawing/2014/main" id="{1BB4E091-BDFF-41E8-AB27-C635E32F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8" name="candidate24">
            <a:extLst xmlns:a="http://schemas.openxmlformats.org/drawingml/2006/main">
              <a:ext uri="{FF2B5EF4-FFF2-40B4-BE49-F238E27FC236}">
                <a16:creationId xmlns:a16="http://schemas.microsoft.com/office/drawing/2014/main" id="{79A74AE9-CE46-4C0B-8A8E-72753596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9" name="candidate25">
            <a:extLst xmlns:a="http://schemas.openxmlformats.org/drawingml/2006/main">
              <a:ext uri="{FF2B5EF4-FFF2-40B4-BE49-F238E27FC236}">
                <a16:creationId xmlns:a16="http://schemas.microsoft.com/office/drawing/2014/main" id="{F7D3F836-9CE2-480F-AEC0-2DB19BC3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0" name="candidate26">
            <a:extLst xmlns:a="http://schemas.openxmlformats.org/drawingml/2006/main">
              <a:ext uri="{FF2B5EF4-FFF2-40B4-BE49-F238E27FC236}">
                <a16:creationId xmlns:a16="http://schemas.microsoft.com/office/drawing/2014/main" id="{D9958819-B31B-48EF-8656-71CA3806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1" name="candidate27">
            <a:extLst xmlns:a="http://schemas.openxmlformats.org/drawingml/2006/main">
              <a:ext uri="{FF2B5EF4-FFF2-40B4-BE49-F238E27FC236}">
                <a16:creationId xmlns:a16="http://schemas.microsoft.com/office/drawing/2014/main" id="{57417B71-008E-4A24-8B8B-A72B817A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2" name="candidate28">
            <a:extLst xmlns:a="http://schemas.openxmlformats.org/drawingml/2006/main">
              <a:ext uri="{FF2B5EF4-FFF2-40B4-BE49-F238E27FC236}">
                <a16:creationId xmlns:a16="http://schemas.microsoft.com/office/drawing/2014/main" id="{9AAAE549-9664-410B-A2A8-5581778A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3" name="candidate29">
            <a:extLst xmlns:a="http://schemas.openxmlformats.org/drawingml/2006/main">
              <a:ext uri="{FF2B5EF4-FFF2-40B4-BE49-F238E27FC236}">
                <a16:creationId xmlns:a16="http://schemas.microsoft.com/office/drawing/2014/main" id="{46143CA7-E46B-4964-9233-DF1EE7C4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4" name="node114">
            <a:extLst xmlns:a="http://schemas.openxmlformats.org/drawingml/2006/main">
              <a:ext uri="{FF2B5EF4-FFF2-40B4-BE49-F238E27FC236}">
                <a16:creationId xmlns:a16="http://schemas.microsoft.com/office/drawing/2014/main" id="{60098ED6-B826-497A-A45A-5AE9981E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573" y="586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65" name="node115">
            <a:extLst xmlns:a="http://schemas.openxmlformats.org/drawingml/2006/main">
              <a:ext uri="{FF2B5EF4-FFF2-40B4-BE49-F238E27FC236}">
                <a16:creationId xmlns:a16="http://schemas.microsoft.com/office/drawing/2014/main" id="{8655D70C-13A0-443A-A95D-A57AFF78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098" y="586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12" name=""/>
          <p:cNvCxnSpPr>
            <a:stCxn xmlns:a="http://schemas.openxmlformats.org/drawingml/2006/main" id="164" idx="3"/>
            <a:endCxn xmlns:a="http://schemas.openxmlformats.org/drawingml/2006/main" id="165" idx="1"/>
          </p:cNvCxnSpPr>
          <p:nvPr/>
        </p:nvCxnSpPr>
        <p:spPr>
          <a:xfrm xmlns:a="http://schemas.openxmlformats.org/drawingml/2006/main">
            <a:off x="2296478" y="5867401"/>
            <a:ext cx="7696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67" name="search-kind">
            <a:extLst xmlns:a="http://schemas.openxmlformats.org/drawingml/2006/main">
              <a:ext uri="{FF2B5EF4-FFF2-40B4-BE49-F238E27FC236}">
                <a16:creationId xmlns:a16="http://schemas.microsoft.com/office/drawing/2014/main" id="{496A23AA-120F-43FA-87BD-3EA093CC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924675"/>
            <a:ext cx="318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FAISS IndexFlatL2</a:t>
            </a:r>
          </a:p>
        </p:txBody>
      </p:sp>
      <p:sp>
        <p:nvSpPr>
          <p:cNvPr id="168" name="node116">
            <a:extLst xmlns:a="http://schemas.openxmlformats.org/drawingml/2006/main">
              <a:ext uri="{FF2B5EF4-FFF2-40B4-BE49-F238E27FC236}">
                <a16:creationId xmlns:a16="http://schemas.microsoft.com/office/drawing/2014/main" id="{9B8902D4-E2D1-4D18-AE76-340B2246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2423" y="3047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69" name="node117">
            <a:extLst xmlns:a="http://schemas.openxmlformats.org/drawingml/2006/main">
              <a:ext uri="{FF2B5EF4-FFF2-40B4-BE49-F238E27FC236}">
                <a16:creationId xmlns:a16="http://schemas.microsoft.com/office/drawing/2014/main" id="{DA036532-5ABA-47B2-956D-9CD27072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0073" y="3047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16" name=""/>
          <p:cNvCxnSpPr>
            <a:stCxn xmlns:a="http://schemas.openxmlformats.org/drawingml/2006/main" id="168" idx="3"/>
            <a:endCxn xmlns:a="http://schemas.openxmlformats.org/drawingml/2006/main" id="169" idx="1"/>
          </p:cNvCxnSpPr>
          <p:nvPr/>
        </p:nvCxnSpPr>
        <p:spPr>
          <a:xfrm xmlns:a="http://schemas.openxmlformats.org/drawingml/2006/main">
            <a:off x="15574328" y="3048001"/>
            <a:ext cx="24574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4856C"/>
            </a:solidFill>
            <a:prstDash val="solid"/>
            <a:tailEnd type="none" w="med" len="med"/>
          </a:ln>
        </p:spPr>
      </p:cxnSp>
      <p:sp>
        <p:nvSpPr>
          <p:cNvPr id="171" name="node118">
            <a:extLst xmlns:a="http://schemas.openxmlformats.org/drawingml/2006/main">
              <a:ext uri="{FF2B5EF4-FFF2-40B4-BE49-F238E27FC236}">
                <a16:creationId xmlns:a16="http://schemas.microsoft.com/office/drawing/2014/main" id="{ED67BB34-B7CB-43FD-9D0F-9C3CE846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0073" y="3047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2" name="node119">
            <a:extLst xmlns:a="http://schemas.openxmlformats.org/drawingml/2006/main">
              <a:ext uri="{FF2B5EF4-FFF2-40B4-BE49-F238E27FC236}">
                <a16:creationId xmlns:a16="http://schemas.microsoft.com/office/drawing/2014/main" id="{F9783BB5-AB88-4A62-9E37-122146E4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0073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19" name=""/>
          <p:cNvCxnSpPr>
            <a:stCxn xmlns:a="http://schemas.openxmlformats.org/drawingml/2006/main" id="171" idx="2"/>
            <a:endCxn xmlns:a="http://schemas.openxmlformats.org/drawingml/2006/main" id="172" idx="0"/>
          </p:cNvCxnSpPr>
          <p:nvPr/>
        </p:nvCxnSpPr>
        <p:spPr>
          <a:xfrm xmlns:a="http://schemas.openxmlformats.org/drawingml/2006/main">
            <a:off x="15821026" y="3048953"/>
            <a:ext cx="0" cy="141732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4856C"/>
            </a:solidFill>
            <a:prstDash val="solid"/>
            <a:tailEnd type="none" w="med" len="med"/>
          </a:ln>
        </p:spPr>
      </p:cxnSp>
      <p:sp>
        <p:nvSpPr>
          <p:cNvPr id="174" name="node120">
            <a:extLst xmlns:a="http://schemas.openxmlformats.org/drawingml/2006/main">
              <a:ext uri="{FF2B5EF4-FFF2-40B4-BE49-F238E27FC236}">
                <a16:creationId xmlns:a16="http://schemas.microsoft.com/office/drawing/2014/main" id="{121C63FB-9462-47F6-A0BF-2B0CB08C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0073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5" name="node121">
            <a:extLst xmlns:a="http://schemas.openxmlformats.org/drawingml/2006/main">
              <a:ext uri="{FF2B5EF4-FFF2-40B4-BE49-F238E27FC236}">
                <a16:creationId xmlns:a16="http://schemas.microsoft.com/office/drawing/2014/main" id="{2AA9E637-1AE4-4806-84C0-392C8035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8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22" name=""/>
          <p:cNvCxnSpPr>
            <a:stCxn xmlns:a="http://schemas.openxmlformats.org/drawingml/2006/main" id="174" idx="1"/>
            <a:endCxn xmlns:a="http://schemas.openxmlformats.org/drawingml/2006/main" id="175" idx="3"/>
          </p:cNvCxnSpPr>
          <p:nvPr/>
        </p:nvCxnSpPr>
        <p:spPr>
          <a:xfrm xmlns:a="http://schemas.openxmlformats.org/drawingml/2006/main" flipH="1">
            <a:off x="229553" y="4467226"/>
            <a:ext cx="1559052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4856C"/>
            </a:solidFill>
            <a:prstDash val="solid"/>
            <a:tailEnd type="none" w="med" len="med"/>
          </a:ln>
        </p:spPr>
      </p:cxnSp>
      <p:sp>
        <p:nvSpPr>
          <p:cNvPr id="177" name="node122">
            <a:extLst xmlns:a="http://schemas.openxmlformats.org/drawingml/2006/main">
              <a:ext uri="{FF2B5EF4-FFF2-40B4-BE49-F238E27FC236}">
                <a16:creationId xmlns:a16="http://schemas.microsoft.com/office/drawing/2014/main" id="{99066476-7869-4FD7-8BE5-C897024E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8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8" name="node123">
            <a:extLst xmlns:a="http://schemas.openxmlformats.org/drawingml/2006/main">
              <a:ext uri="{FF2B5EF4-FFF2-40B4-BE49-F238E27FC236}">
                <a16:creationId xmlns:a16="http://schemas.microsoft.com/office/drawing/2014/main" id="{D7AA1231-57F0-4CE5-8AD8-E57B5481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8" y="5247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25" name=""/>
          <p:cNvCxnSpPr>
            <a:stCxn xmlns:a="http://schemas.openxmlformats.org/drawingml/2006/main" id="177" idx="2"/>
            <a:endCxn xmlns:a="http://schemas.openxmlformats.org/drawingml/2006/main" id="178" idx="0"/>
          </p:cNvCxnSpPr>
          <p:nvPr/>
        </p:nvCxnSpPr>
        <p:spPr>
          <a:xfrm xmlns:a="http://schemas.openxmlformats.org/drawingml/2006/main">
            <a:off x="228601" y="4468178"/>
            <a:ext cx="0" cy="77914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4856C"/>
            </a:solidFill>
            <a:prstDash val="solid"/>
            <a:tailEnd type="none" w="med" len="med"/>
          </a:ln>
        </p:spPr>
      </p:cxnSp>
      <p:sp>
        <p:nvSpPr>
          <p:cNvPr id="180" name="node124">
            <a:extLst xmlns:a="http://schemas.openxmlformats.org/drawingml/2006/main">
              <a:ext uri="{FF2B5EF4-FFF2-40B4-BE49-F238E27FC236}">
                <a16:creationId xmlns:a16="http://schemas.microsoft.com/office/drawing/2014/main" id="{3B7E0590-9A1A-4E57-8559-714B2E00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8" y="5247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1" name="node125">
            <a:extLst xmlns:a="http://schemas.openxmlformats.org/drawingml/2006/main">
              <a:ext uri="{FF2B5EF4-FFF2-40B4-BE49-F238E27FC236}">
                <a16:creationId xmlns:a16="http://schemas.microsoft.com/office/drawing/2014/main" id="{A738C7AC-0D57-48D5-A13C-D62E5C5B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273" y="5247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28" name=""/>
          <p:cNvCxnSpPr>
            <a:stCxn xmlns:a="http://schemas.openxmlformats.org/drawingml/2006/main" id="180" idx="3"/>
            <a:endCxn xmlns:a="http://schemas.openxmlformats.org/drawingml/2006/main" id="181" idx="1"/>
          </p:cNvCxnSpPr>
          <p:nvPr/>
        </p:nvCxnSpPr>
        <p:spPr>
          <a:xfrm xmlns:a="http://schemas.openxmlformats.org/drawingml/2006/main">
            <a:off x="229553" y="5248276"/>
            <a:ext cx="423672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4856C"/>
            </a:solidFill>
            <a:prstDash val="solid"/>
            <a:tailEnd type="none" w="med" len="med"/>
          </a:ln>
        </p:spPr>
      </p:cxnSp>
      <p:sp>
        <p:nvSpPr>
          <p:cNvPr id="183" name="node126">
            <a:extLst xmlns:a="http://schemas.openxmlformats.org/drawingml/2006/main">
              <a:ext uri="{FF2B5EF4-FFF2-40B4-BE49-F238E27FC236}">
                <a16:creationId xmlns:a16="http://schemas.microsoft.com/office/drawing/2014/main" id="{D9949D6E-28F9-46CC-8BF0-A8E5E32D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273" y="5247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4" name="node127">
            <a:extLst xmlns:a="http://schemas.openxmlformats.org/drawingml/2006/main">
              <a:ext uri="{FF2B5EF4-FFF2-40B4-BE49-F238E27FC236}">
                <a16:creationId xmlns:a16="http://schemas.microsoft.com/office/drawing/2014/main" id="{A2632958-7D11-41DF-A1E2-F430A12D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273" y="5390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31" name=""/>
          <p:cNvCxnSpPr>
            <a:stCxn xmlns:a="http://schemas.openxmlformats.org/drawingml/2006/main" id="183" idx="2"/>
            <a:endCxn xmlns:a="http://schemas.openxmlformats.org/drawingml/2006/main" id="184" idx="0"/>
          </p:cNvCxnSpPr>
          <p:nvPr/>
        </p:nvCxnSpPr>
        <p:spPr>
          <a:xfrm xmlns:a="http://schemas.openxmlformats.org/drawingml/2006/main">
            <a:off x="4467226" y="5249228"/>
            <a:ext cx="0" cy="14097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4856C"/>
            </a:solidFill>
            <a:prstDash val="solid"/>
            <a:tailEnd type="triangle" w="med" len="med"/>
          </a:ln>
        </p:spPr>
      </p:cxnSp>
      <p:sp>
        <p:nvSpPr>
          <p:cNvPr id="186" name="memory-read">
            <a:extLst xmlns:a="http://schemas.openxmlformats.org/drawingml/2006/main">
              <a:ext uri="{FF2B5EF4-FFF2-40B4-BE49-F238E27FC236}">
                <a16:creationId xmlns:a16="http://schemas.microsoft.com/office/drawing/2014/main" id="{F39B5CBA-98C8-4377-9FE0-E55A8235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81012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5485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4856C"/>
                </a:solidFill>
                <a:latin typeface="Arial"/>
                <a:ea typeface="Arial"/>
                <a:cs typeface="Arial"/>
              </a:rPr>
              <a:t>read fixed bank</a:t>
            </a:r>
          </a:p>
        </p:txBody>
      </p:sp>
      <p:sp>
        <p:nvSpPr>
          <p:cNvPr id="187" name="half-distance">
            <a:extLst xmlns:a="http://schemas.openxmlformats.org/drawingml/2006/main">
              <a:ext uri="{FF2B5EF4-FFF2-40B4-BE49-F238E27FC236}">
                <a16:creationId xmlns:a16="http://schemas.microsoft.com/office/drawing/2014/main" id="{118A0DCB-F228-4792-A9F7-CEABA7DD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34025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8" name="distance-name">
            <a:extLst xmlns:a="http://schemas.openxmlformats.org/drawingml/2006/main">
              <a:ext uri="{FF2B5EF4-FFF2-40B4-BE49-F238E27FC236}">
                <a16:creationId xmlns:a16="http://schemas.microsoft.com/office/drawing/2014/main" id="{4042BAC9-2DCC-446C-9633-D5BF1C97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6007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Nearest distance</a:t>
            </a:r>
          </a:p>
        </p:txBody>
      </p:sp>
      <p:sp>
        <p:nvSpPr>
          <p:cNvPr id="189" name="distance-convention">
            <a:extLst xmlns:a="http://schemas.openxmlformats.org/drawingml/2006/main">
              <a:ext uri="{FF2B5EF4-FFF2-40B4-BE49-F238E27FC236}">
                <a16:creationId xmlns:a16="http://schemas.microsoft.com/office/drawing/2014/main" id="{DCA0155C-8AAB-4393-B78A-7F1DDC17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010275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latin typeface="Cambria Math"/>
                <a:ea typeface="Cambria Math"/>
                <a:cs typeface="Cambria Math"/>
              </a:rPr>
              <a:t>Squared </a:t>
            </a:r>
            <a:r>
              <a:rPr sz="2025" b="0" i="1">
                <a:latin typeface="Cambria Math"/>
                <a:ea typeface="Cambria Math"/>
                <a:cs typeface="Cambria Math"/>
              </a:rPr>
              <a:t>ℓ</a:t>
            </a:r>
            <a:r>
              <a:rPr sz="2025" b="0" i="0">
                <a:latin typeface="Cambria Math"/>
                <a:ea typeface="Cambria Math"/>
                <a:cs typeface="Cambria Math"/>
              </a:rPr>
              <a:t>₂ / 2</a:t>
            </a:r>
          </a:p>
        </p:txBody>
      </p:sp>
      <p:sp>
        <p:nvSpPr>
          <p:cNvPr id="190" name="node128">
            <a:extLst xmlns:a="http://schemas.openxmlformats.org/drawingml/2006/main">
              <a:ext uri="{FF2B5EF4-FFF2-40B4-BE49-F238E27FC236}">
                <a16:creationId xmlns:a16="http://schemas.microsoft.com/office/drawing/2014/main" id="{EE8039FB-9582-489E-80D7-D9E484AD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6066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1" name="node129">
            <a:extLst xmlns:a="http://schemas.openxmlformats.org/drawingml/2006/main">
              <a:ext uri="{FF2B5EF4-FFF2-40B4-BE49-F238E27FC236}">
                <a16:creationId xmlns:a16="http://schemas.microsoft.com/office/drawing/2014/main" id="{BF8052A3-92AB-45A9-9ADE-DDE2C7ED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398" y="6066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38" name=""/>
          <p:cNvCxnSpPr>
            <a:stCxn xmlns:a="http://schemas.openxmlformats.org/drawingml/2006/main" id="190" idx="3"/>
            <a:endCxn xmlns:a="http://schemas.openxmlformats.org/drawingml/2006/main" id="191" idx="1"/>
          </p:cNvCxnSpPr>
          <p:nvPr/>
        </p:nvCxnSpPr>
        <p:spPr>
          <a:xfrm xmlns:a="http://schemas.openxmlformats.org/drawingml/2006/main">
            <a:off x="5868353" y="6067426"/>
            <a:ext cx="7410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93" name="raw-grid0-0">
            <a:extLst xmlns:a="http://schemas.openxmlformats.org/drawingml/2006/main">
              <a:ext uri="{FF2B5EF4-FFF2-40B4-BE49-F238E27FC236}">
                <a16:creationId xmlns:a16="http://schemas.microsoft.com/office/drawing/2014/main" id="{3BD1374A-B17C-40A7-8D29-A3E2035D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524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94" name="raw-grid0-1">
            <a:extLst xmlns:a="http://schemas.openxmlformats.org/drawingml/2006/main">
              <a:ext uri="{FF2B5EF4-FFF2-40B4-BE49-F238E27FC236}">
                <a16:creationId xmlns:a16="http://schemas.microsoft.com/office/drawing/2014/main" id="{0365F74F-6A0B-46FD-A039-773972DF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24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95" name="raw-grid0-2">
            <a:extLst xmlns:a="http://schemas.openxmlformats.org/drawingml/2006/main">
              <a:ext uri="{FF2B5EF4-FFF2-40B4-BE49-F238E27FC236}">
                <a16:creationId xmlns:a16="http://schemas.microsoft.com/office/drawing/2014/main" id="{F8D06FB8-4715-41F2-9C8B-D2FA7642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524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96" name="raw-grid0-3">
            <a:extLst xmlns:a="http://schemas.openxmlformats.org/drawingml/2006/main">
              <a:ext uri="{FF2B5EF4-FFF2-40B4-BE49-F238E27FC236}">
                <a16:creationId xmlns:a16="http://schemas.microsoft.com/office/drawing/2014/main" id="{B427ABAD-B372-44EC-AED2-8EDBD121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524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97" name="raw-grid0-4">
            <a:extLst xmlns:a="http://schemas.openxmlformats.org/drawingml/2006/main">
              <a:ext uri="{FF2B5EF4-FFF2-40B4-BE49-F238E27FC236}">
                <a16:creationId xmlns:a16="http://schemas.microsoft.com/office/drawing/2014/main" id="{5B6FC1FA-A6AB-42D3-A484-D4250048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524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98" name="raw-grid1-0">
            <a:extLst xmlns:a="http://schemas.openxmlformats.org/drawingml/2006/main">
              <a:ext uri="{FF2B5EF4-FFF2-40B4-BE49-F238E27FC236}">
                <a16:creationId xmlns:a16="http://schemas.microsoft.com/office/drawing/2014/main" id="{D669CCB2-174D-4517-9EC2-74C2AD36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734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99" name="raw-grid1-1">
            <a:extLst xmlns:a="http://schemas.openxmlformats.org/drawingml/2006/main">
              <a:ext uri="{FF2B5EF4-FFF2-40B4-BE49-F238E27FC236}">
                <a16:creationId xmlns:a16="http://schemas.microsoft.com/office/drawing/2014/main" id="{11C5BB69-0A42-4908-B72B-BA17954F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734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0" name="raw-grid1-2">
            <a:extLst xmlns:a="http://schemas.openxmlformats.org/drawingml/2006/main">
              <a:ext uri="{FF2B5EF4-FFF2-40B4-BE49-F238E27FC236}">
                <a16:creationId xmlns:a16="http://schemas.microsoft.com/office/drawing/2014/main" id="{1EDEB868-74D8-4766-B79F-1A9B96E4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734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856C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1" name="raw-grid1-3">
            <a:extLst xmlns:a="http://schemas.openxmlformats.org/drawingml/2006/main">
              <a:ext uri="{FF2B5EF4-FFF2-40B4-BE49-F238E27FC236}">
                <a16:creationId xmlns:a16="http://schemas.microsoft.com/office/drawing/2014/main" id="{6A2F38FD-14AF-42D1-93C2-EB8AD491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734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2" name="raw-grid1-4">
            <a:extLst xmlns:a="http://schemas.openxmlformats.org/drawingml/2006/main">
              <a:ext uri="{FF2B5EF4-FFF2-40B4-BE49-F238E27FC236}">
                <a16:creationId xmlns:a16="http://schemas.microsoft.com/office/drawing/2014/main" id="{DD3E1D64-6C81-4F28-9261-8FF98C4A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734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3" name="raw-grid2-0">
            <a:extLst xmlns:a="http://schemas.openxmlformats.org/drawingml/2006/main">
              <a:ext uri="{FF2B5EF4-FFF2-40B4-BE49-F238E27FC236}">
                <a16:creationId xmlns:a16="http://schemas.microsoft.com/office/drawing/2014/main" id="{4D3E5EF5-8746-4B98-B6ED-70FAFA67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943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4" name="raw-grid2-1">
            <a:extLst xmlns:a="http://schemas.openxmlformats.org/drawingml/2006/main">
              <a:ext uri="{FF2B5EF4-FFF2-40B4-BE49-F238E27FC236}">
                <a16:creationId xmlns:a16="http://schemas.microsoft.com/office/drawing/2014/main" id="{8E7433C9-08F9-4E5F-940C-CBB4D23A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43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5" name="raw-grid2-2">
            <a:extLst xmlns:a="http://schemas.openxmlformats.org/drawingml/2006/main">
              <a:ext uri="{FF2B5EF4-FFF2-40B4-BE49-F238E27FC236}">
                <a16:creationId xmlns:a16="http://schemas.microsoft.com/office/drawing/2014/main" id="{4C00DBCE-ED09-4D42-8CA4-2EC859FE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943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6" name="raw-grid2-3">
            <a:extLst xmlns:a="http://schemas.openxmlformats.org/drawingml/2006/main">
              <a:ext uri="{FF2B5EF4-FFF2-40B4-BE49-F238E27FC236}">
                <a16:creationId xmlns:a16="http://schemas.microsoft.com/office/drawing/2014/main" id="{851ED097-0F67-4DC6-A0E4-A8AF2B85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943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7" name="raw-grid2-4">
            <a:extLst xmlns:a="http://schemas.openxmlformats.org/drawingml/2006/main">
              <a:ext uri="{FF2B5EF4-FFF2-40B4-BE49-F238E27FC236}">
                <a16:creationId xmlns:a16="http://schemas.microsoft.com/office/drawing/2014/main" id="{736FFEF5-30D7-4A53-A0D6-C49A88C5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943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8" name="raw-grid3-0">
            <a:extLst xmlns:a="http://schemas.openxmlformats.org/drawingml/2006/main">
              <a:ext uri="{FF2B5EF4-FFF2-40B4-BE49-F238E27FC236}">
                <a16:creationId xmlns:a16="http://schemas.microsoft.com/office/drawing/2014/main" id="{259C1F63-655C-46F6-B836-FAEB6322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153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9" name="raw-grid3-1">
            <a:extLst xmlns:a="http://schemas.openxmlformats.org/drawingml/2006/main">
              <a:ext uri="{FF2B5EF4-FFF2-40B4-BE49-F238E27FC236}">
                <a16:creationId xmlns:a16="http://schemas.microsoft.com/office/drawing/2014/main" id="{1B1750DA-6EAD-4260-885A-F37CDC78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53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10" name="raw-grid3-2">
            <a:extLst xmlns:a="http://schemas.openxmlformats.org/drawingml/2006/main">
              <a:ext uri="{FF2B5EF4-FFF2-40B4-BE49-F238E27FC236}">
                <a16:creationId xmlns:a16="http://schemas.microsoft.com/office/drawing/2014/main" id="{25B5E14A-6A48-45D2-A510-61A080D6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153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11" name="raw-grid3-3">
            <a:extLst xmlns:a="http://schemas.openxmlformats.org/drawingml/2006/main">
              <a:ext uri="{FF2B5EF4-FFF2-40B4-BE49-F238E27FC236}">
                <a16:creationId xmlns:a16="http://schemas.microsoft.com/office/drawing/2014/main" id="{A7ECD322-22EA-4161-AA82-75098564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153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12" name="raw-grid3-4">
            <a:extLst xmlns:a="http://schemas.openxmlformats.org/drawingml/2006/main">
              <a:ext uri="{FF2B5EF4-FFF2-40B4-BE49-F238E27FC236}">
                <a16:creationId xmlns:a16="http://schemas.microsoft.com/office/drawing/2014/main" id="{3171EFE4-C958-4CD0-A97D-D3E5F933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153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13" name="node130">
            <a:extLst xmlns:a="http://schemas.openxmlformats.org/drawingml/2006/main">
              <a:ext uri="{FF2B5EF4-FFF2-40B4-BE49-F238E27FC236}">
                <a16:creationId xmlns:a16="http://schemas.microsoft.com/office/drawing/2014/main" id="{F98AD60C-1C8A-4988-BA57-BF3ECEE8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6066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14" name="node131">
            <a:extLst xmlns:a="http://schemas.openxmlformats.org/drawingml/2006/main">
              <a:ext uri="{FF2B5EF4-FFF2-40B4-BE49-F238E27FC236}">
                <a16:creationId xmlns:a16="http://schemas.microsoft.com/office/drawing/2014/main" id="{7ED385FD-E728-428E-87AA-9B1D4E03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998" y="6066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1" name=""/>
          <p:cNvCxnSpPr>
            <a:stCxn xmlns:a="http://schemas.openxmlformats.org/drawingml/2006/main" id="213" idx="3"/>
            <a:endCxn xmlns:a="http://schemas.openxmlformats.org/drawingml/2006/main" id="214" idx="1"/>
          </p:cNvCxnSpPr>
          <p:nvPr/>
        </p:nvCxnSpPr>
        <p:spPr>
          <a:xfrm xmlns:a="http://schemas.openxmlformats.org/drawingml/2006/main">
            <a:off x="8802053" y="6067426"/>
            <a:ext cx="7029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16" name="raw-score">
            <a:extLst xmlns:a="http://schemas.openxmlformats.org/drawingml/2006/main">
              <a:ext uri="{FF2B5EF4-FFF2-40B4-BE49-F238E27FC236}">
                <a16:creationId xmlns:a16="http://schemas.microsoft.com/office/drawing/2014/main" id="{BDE38CCF-3A36-41CE-841C-8E0C6284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505575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1">
                <a:latin typeface="Cambria Math"/>
                <a:ea typeface="Cambria Math"/>
                <a:cs typeface="Cambria Math"/>
              </a:rPr>
              <a:t>a</a:t>
            </a:r>
            <a:r>
              <a:rPr sz="1512" b="0" i="1" baseline="-25000">
                <a:latin typeface="Cambria Math"/>
                <a:ea typeface="Cambria Math"/>
                <a:cs typeface="Cambria Math"/>
              </a:rPr>
              <a:t>p</a:t>
            </a:r>
            <a:r>
              <a:rPr sz="2100" b="0" i="0">
                <a:latin typeface="Cambria Math"/>
                <a:ea typeface="Cambria Math"/>
                <a:cs typeface="Cambria Math"/>
              </a:rPr>
              <a:t>(</a:t>
            </a:r>
            <a:r>
              <a:rPr sz="2100" b="1" i="1">
                <a:latin typeface="Cambria Math"/>
                <a:ea typeface="Cambria Math"/>
                <a:cs typeface="Cambria Math"/>
              </a:rPr>
              <a:t>x</a:t>
            </a:r>
            <a:r>
              <a:rPr sz="2100" b="0" i="0"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217" name="reshape">
            <a:extLst xmlns:a="http://schemas.openxmlformats.org/drawingml/2006/main">
              <a:ext uri="{FF2B5EF4-FFF2-40B4-BE49-F238E27FC236}">
                <a16:creationId xmlns:a16="http://schemas.microsoft.com/office/drawing/2014/main" id="{E956835C-4512-4137-BA69-A03A04BA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905625"/>
            <a:ext cx="1724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Reshape to</a:t>
            </a:r>
          </a:p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DINO grid</a:t>
            </a:r>
          </a:p>
        </p:txBody>
      </p:sp>
      <p:sp>
        <p:nvSpPr>
          <p:cNvPr id="218" name="resize">
            <a:extLst xmlns:a="http://schemas.openxmlformats.org/drawingml/2006/main">
              <a:ext uri="{FF2B5EF4-FFF2-40B4-BE49-F238E27FC236}">
                <a16:creationId xmlns:a16="http://schemas.microsoft.com/office/drawing/2014/main" id="{F25D5847-7215-48AE-8733-3706E2A0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372100"/>
            <a:ext cx="1971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Bilinear resize</a:t>
            </a:r>
          </a:p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448 × 448</a:t>
            </a:r>
          </a:p>
        </p:txBody>
      </p:sp>
      <p:sp>
        <p:nvSpPr>
          <p:cNvPr id="219" name="smooth">
            <a:extLst xmlns:a="http://schemas.openxmlformats.org/drawingml/2006/main">
              <a:ext uri="{FF2B5EF4-FFF2-40B4-BE49-F238E27FC236}">
                <a16:creationId xmlns:a16="http://schemas.microsoft.com/office/drawing/2014/main" id="{44614A6B-2FA1-44E1-8DFF-CF226144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1971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latin typeface="Arial"/>
                <a:ea typeface="Arial"/>
                <a:cs typeface="Arial"/>
              </a:rPr>
              <a:t>Gaussian </a:t>
            </a:r>
            <a:r>
              <a:rPr sz="1875" b="0" i="1">
                <a:latin typeface="Cambria Math"/>
                <a:ea typeface="Cambria Math"/>
                <a:cs typeface="Cambria Math"/>
              </a:rPr>
              <a:t>σ</a:t>
            </a:r>
            <a:r>
              <a:rPr sz="1875" b="0" i="0">
                <a:latin typeface="Cambria Math"/>
                <a:ea typeface="Cambria Math"/>
                <a:cs typeface="Cambria Math"/>
              </a:rPr>
              <a:t> = 4</a:t>
            </a:r>
          </a:p>
        </p:txBody>
      </p:sp>
      <p:sp>
        <p:nvSpPr>
          <p:cNvPr id="220" name="threshold-contour">
            <a:extLst xmlns:a="http://schemas.openxmlformats.org/drawingml/2006/main">
              <a:ext uri="{FF2B5EF4-FFF2-40B4-BE49-F238E27FC236}">
                <a16:creationId xmlns:a16="http://schemas.microsoft.com/office/drawing/2014/main" id="{891BC32D-E054-45EB-B5E9-7B8E928E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829425"/>
            <a:ext cx="19716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Threshold + contour</a:t>
            </a:r>
          </a:p>
        </p:txBody>
      </p:sp>
      <p:sp>
        <p:nvSpPr>
          <p:cNvPr id="221" name="node132">
            <a:extLst xmlns:a="http://schemas.openxmlformats.org/drawingml/2006/main">
              <a:ext uri="{FF2B5EF4-FFF2-40B4-BE49-F238E27FC236}">
                <a16:creationId xmlns:a16="http://schemas.microsoft.com/office/drawing/2014/main" id="{5B2BBF40-14BE-4FCD-B367-A72BBD40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74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2" name="node133">
            <a:extLst xmlns:a="http://schemas.openxmlformats.org/drawingml/2006/main">
              <a:ext uri="{FF2B5EF4-FFF2-40B4-BE49-F238E27FC236}">
                <a16:creationId xmlns:a16="http://schemas.microsoft.com/office/drawing/2014/main" id="{6CF47D8D-C0AE-48F5-9BB5-EA9968BE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6173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9" name=""/>
          <p:cNvCxnSpPr>
            <a:stCxn xmlns:a="http://schemas.openxmlformats.org/drawingml/2006/main" id="221" idx="3"/>
            <a:endCxn xmlns:a="http://schemas.openxmlformats.org/drawingml/2006/main" id="222" idx="1"/>
          </p:cNvCxnSpPr>
          <p:nvPr/>
        </p:nvCxnSpPr>
        <p:spPr>
          <a:xfrm xmlns:a="http://schemas.openxmlformats.org/drawingml/2006/main">
            <a:off x="10554653" y="5924551"/>
            <a:ext cx="7315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24" name="node134">
            <a:extLst xmlns:a="http://schemas.openxmlformats.org/drawingml/2006/main">
              <a:ext uri="{FF2B5EF4-FFF2-40B4-BE49-F238E27FC236}">
                <a16:creationId xmlns:a16="http://schemas.microsoft.com/office/drawing/2014/main" id="{3F289FEE-99B3-4583-BA01-370DACE4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248" y="6056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5" name="node135">
            <a:extLst xmlns:a="http://schemas.openxmlformats.org/drawingml/2006/main">
              <a:ext uri="{FF2B5EF4-FFF2-40B4-BE49-F238E27FC236}">
                <a16:creationId xmlns:a16="http://schemas.microsoft.com/office/drawing/2014/main" id="{8C3B36AC-CCE3-470E-A2ED-3A0E1FBE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248" y="6190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72" name=""/>
          <p:cNvCxnSpPr>
            <a:stCxn xmlns:a="http://schemas.openxmlformats.org/drawingml/2006/main" id="224" idx="2"/>
            <a:endCxn xmlns:a="http://schemas.openxmlformats.org/drawingml/2006/main" id="225" idx="0"/>
          </p:cNvCxnSpPr>
          <p:nvPr/>
        </p:nvCxnSpPr>
        <p:spPr>
          <a:xfrm xmlns:a="http://schemas.openxmlformats.org/drawingml/2006/main">
            <a:off x="12268201" y="6058853"/>
            <a:ext cx="0" cy="13144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27" name="node136">
            <a:extLst xmlns:a="http://schemas.openxmlformats.org/drawingml/2006/main">
              <a:ext uri="{FF2B5EF4-FFF2-40B4-BE49-F238E27FC236}">
                <a16:creationId xmlns:a16="http://schemas.microsoft.com/office/drawing/2014/main" id="{B2EDDD79-BA01-49A2-ADCA-695D2004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248" y="6685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8" name="node137">
            <a:extLst xmlns:a="http://schemas.openxmlformats.org/drawingml/2006/main">
              <a:ext uri="{FF2B5EF4-FFF2-40B4-BE49-F238E27FC236}">
                <a16:creationId xmlns:a16="http://schemas.microsoft.com/office/drawing/2014/main" id="{467C6046-D655-4F54-B50A-B35A231D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248" y="6828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75" name=""/>
          <p:cNvCxnSpPr>
            <a:stCxn xmlns:a="http://schemas.openxmlformats.org/drawingml/2006/main" id="227" idx="2"/>
            <a:endCxn xmlns:a="http://schemas.openxmlformats.org/drawingml/2006/main" id="228" idx="0"/>
          </p:cNvCxnSpPr>
          <p:nvPr/>
        </p:nvCxnSpPr>
        <p:spPr>
          <a:xfrm xmlns:a="http://schemas.openxmlformats.org/drawingml/2006/main">
            <a:off x="12268201" y="6687503"/>
            <a:ext cx="0" cy="14097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pic>
        <p:nvPicPr>
          <p:cNvPr id="476" name="DCFnet detail output original quer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62996d5484865"/>
          <a:stretch xmlns:a="http://schemas.openxmlformats.org/drawingml/2006/main"/>
        </p:blipFill>
        <p:spPr>
          <a:xfrm xmlns:a="http://schemas.openxmlformats.org/drawingml/2006/main">
            <a:off x="13906500" y="5486400"/>
            <a:ext cx="1600200" cy="1600200"/>
          </a:xfrm>
          <a:prstGeom xmlns:a="http://schemas.openxmlformats.org/drawingml/2006/main" prst="rect">
            <a:avLst/>
          </a:prstGeom>
        </p:spPr>
      </p:pic>
      <p:sp>
        <p:nvSpPr>
          <p:cNvPr id="231" name="DCFnet detail output predicted contour">
            <a:extLst xmlns:a="http://schemas.openxmlformats.org/drawingml/2006/main">
              <a:ext uri="{FF2B5EF4-FFF2-40B4-BE49-F238E27FC236}">
                <a16:creationId xmlns:a16="http://schemas.microsoft.com/office/drawing/2014/main" id="{7920C8C3-1FC9-4502-BEB7-4592BDED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5486400"/>
            <a:ext cx="1600200" cy="1600200"/>
          </a:xfrm>
          <a:custGeom xmlns:a="http://schemas.openxmlformats.org/drawingml/2006/main">
            <a:pathLst>
              <a:path w="4267200" h="4267200">
                <a:moveTo>
                  <a:pt x="2733675" y="3457575"/>
                </a:moveTo>
                <a:lnTo>
                  <a:pt x="2743200" y="3448050"/>
                </a:lnTo>
                <a:lnTo>
                  <a:pt x="2752725" y="3448050"/>
                </a:lnTo>
                <a:lnTo>
                  <a:pt x="2771775" y="3467100"/>
                </a:lnTo>
                <a:lnTo>
                  <a:pt x="2771775" y="3476625"/>
                </a:lnTo>
                <a:lnTo>
                  <a:pt x="2781300" y="3486150"/>
                </a:lnTo>
                <a:lnTo>
                  <a:pt x="2781300" y="3514725"/>
                </a:lnTo>
                <a:lnTo>
                  <a:pt x="2762250" y="3533775"/>
                </a:lnTo>
                <a:lnTo>
                  <a:pt x="2743200" y="3533775"/>
                </a:lnTo>
                <a:lnTo>
                  <a:pt x="2733675" y="3524250"/>
                </a:lnTo>
                <a:close/>
              </a:path>
              <a:path w="4267200" h="4267200">
                <a:moveTo>
                  <a:pt x="2447925" y="2581275"/>
                </a:moveTo>
                <a:lnTo>
                  <a:pt x="2428875" y="2600325"/>
                </a:lnTo>
                <a:lnTo>
                  <a:pt x="2428875" y="2609850"/>
                </a:lnTo>
                <a:lnTo>
                  <a:pt x="2447925" y="2628900"/>
                </a:lnTo>
                <a:lnTo>
                  <a:pt x="2486025" y="2628900"/>
                </a:lnTo>
                <a:lnTo>
                  <a:pt x="2495550" y="2619375"/>
                </a:lnTo>
                <a:lnTo>
                  <a:pt x="2495550" y="2590800"/>
                </a:lnTo>
                <a:lnTo>
                  <a:pt x="2486025" y="2590800"/>
                </a:lnTo>
                <a:lnTo>
                  <a:pt x="2476500" y="2581275"/>
                </a:lnTo>
                <a:close/>
              </a:path>
              <a:path w="4267200" h="4267200">
                <a:moveTo>
                  <a:pt x="1114425" y="2228850"/>
                </a:moveTo>
                <a:lnTo>
                  <a:pt x="1104900" y="2238375"/>
                </a:lnTo>
                <a:lnTo>
                  <a:pt x="1095375" y="2238375"/>
                </a:lnTo>
                <a:lnTo>
                  <a:pt x="1076325" y="2257425"/>
                </a:lnTo>
                <a:lnTo>
                  <a:pt x="1076325" y="2266950"/>
                </a:lnTo>
                <a:lnTo>
                  <a:pt x="1057275" y="2286000"/>
                </a:lnTo>
                <a:lnTo>
                  <a:pt x="1057275" y="2305050"/>
                </a:lnTo>
                <a:lnTo>
                  <a:pt x="1047750" y="2314575"/>
                </a:lnTo>
                <a:lnTo>
                  <a:pt x="1047750" y="2352675"/>
                </a:lnTo>
                <a:lnTo>
                  <a:pt x="1057275" y="2362200"/>
                </a:lnTo>
                <a:lnTo>
                  <a:pt x="1057275" y="2390775"/>
                </a:lnTo>
                <a:lnTo>
                  <a:pt x="1066800" y="2400300"/>
                </a:lnTo>
                <a:lnTo>
                  <a:pt x="1066800" y="2428875"/>
                </a:lnTo>
                <a:lnTo>
                  <a:pt x="1076325" y="2438400"/>
                </a:lnTo>
                <a:lnTo>
                  <a:pt x="1076325" y="2476500"/>
                </a:lnTo>
                <a:lnTo>
                  <a:pt x="1066800" y="2486025"/>
                </a:lnTo>
                <a:lnTo>
                  <a:pt x="1066800" y="2514600"/>
                </a:lnTo>
                <a:lnTo>
                  <a:pt x="1057275" y="2524125"/>
                </a:lnTo>
                <a:lnTo>
                  <a:pt x="1057275" y="2543175"/>
                </a:lnTo>
                <a:lnTo>
                  <a:pt x="1047750" y="2552700"/>
                </a:lnTo>
                <a:lnTo>
                  <a:pt x="1047750" y="2638425"/>
                </a:lnTo>
                <a:lnTo>
                  <a:pt x="1057275" y="2647950"/>
                </a:lnTo>
                <a:lnTo>
                  <a:pt x="1057275" y="2676525"/>
                </a:lnTo>
                <a:lnTo>
                  <a:pt x="1066800" y="2686050"/>
                </a:lnTo>
                <a:lnTo>
                  <a:pt x="1066800" y="2714625"/>
                </a:lnTo>
                <a:lnTo>
                  <a:pt x="1076325" y="2724150"/>
                </a:lnTo>
                <a:lnTo>
                  <a:pt x="1076325" y="3019425"/>
                </a:lnTo>
                <a:lnTo>
                  <a:pt x="1085850" y="3028950"/>
                </a:lnTo>
                <a:lnTo>
                  <a:pt x="1085850" y="3057525"/>
                </a:lnTo>
                <a:lnTo>
                  <a:pt x="1095375" y="3067050"/>
                </a:lnTo>
                <a:lnTo>
                  <a:pt x="1095375" y="3095625"/>
                </a:lnTo>
                <a:lnTo>
                  <a:pt x="1104900" y="3105150"/>
                </a:lnTo>
                <a:lnTo>
                  <a:pt x="1104900" y="3114675"/>
                </a:lnTo>
                <a:lnTo>
                  <a:pt x="1114425" y="3124200"/>
                </a:lnTo>
                <a:lnTo>
                  <a:pt x="1114425" y="3133725"/>
                </a:lnTo>
                <a:lnTo>
                  <a:pt x="1123950" y="3143250"/>
                </a:lnTo>
                <a:lnTo>
                  <a:pt x="1133475" y="3143250"/>
                </a:lnTo>
                <a:lnTo>
                  <a:pt x="1143000" y="3152775"/>
                </a:lnTo>
                <a:lnTo>
                  <a:pt x="1181100" y="3152775"/>
                </a:lnTo>
                <a:lnTo>
                  <a:pt x="1200150" y="3133725"/>
                </a:lnTo>
                <a:lnTo>
                  <a:pt x="1200150" y="3086100"/>
                </a:lnTo>
                <a:lnTo>
                  <a:pt x="1209675" y="3076575"/>
                </a:lnTo>
                <a:lnTo>
                  <a:pt x="1209675" y="2971800"/>
                </a:lnTo>
                <a:lnTo>
                  <a:pt x="1219200" y="2962275"/>
                </a:lnTo>
                <a:lnTo>
                  <a:pt x="1219200" y="2924175"/>
                </a:lnTo>
                <a:lnTo>
                  <a:pt x="1228725" y="2914650"/>
                </a:lnTo>
                <a:lnTo>
                  <a:pt x="1228725" y="2905125"/>
                </a:lnTo>
                <a:lnTo>
                  <a:pt x="1266825" y="2867025"/>
                </a:lnTo>
                <a:lnTo>
                  <a:pt x="1314450" y="2867025"/>
                </a:lnTo>
                <a:lnTo>
                  <a:pt x="1323975" y="2876550"/>
                </a:lnTo>
                <a:lnTo>
                  <a:pt x="1333500" y="2876550"/>
                </a:lnTo>
                <a:lnTo>
                  <a:pt x="1352550" y="2895600"/>
                </a:lnTo>
                <a:lnTo>
                  <a:pt x="1352550" y="2943225"/>
                </a:lnTo>
                <a:lnTo>
                  <a:pt x="1343025" y="2952750"/>
                </a:lnTo>
                <a:lnTo>
                  <a:pt x="1343025" y="2981325"/>
                </a:lnTo>
                <a:lnTo>
                  <a:pt x="1333500" y="2990850"/>
                </a:lnTo>
                <a:lnTo>
                  <a:pt x="1333500" y="3124200"/>
                </a:lnTo>
                <a:lnTo>
                  <a:pt x="1343025" y="3133725"/>
                </a:lnTo>
                <a:lnTo>
                  <a:pt x="1343025" y="3152775"/>
                </a:lnTo>
                <a:lnTo>
                  <a:pt x="1352550" y="3162300"/>
                </a:lnTo>
                <a:lnTo>
                  <a:pt x="1362075" y="3162300"/>
                </a:lnTo>
                <a:lnTo>
                  <a:pt x="1371600" y="3171825"/>
                </a:lnTo>
                <a:lnTo>
                  <a:pt x="1495425" y="3171825"/>
                </a:lnTo>
                <a:lnTo>
                  <a:pt x="1504950" y="3162300"/>
                </a:lnTo>
                <a:lnTo>
                  <a:pt x="1514475" y="3162300"/>
                </a:lnTo>
                <a:lnTo>
                  <a:pt x="1562100" y="3114675"/>
                </a:lnTo>
                <a:lnTo>
                  <a:pt x="1562100" y="3105150"/>
                </a:lnTo>
                <a:lnTo>
                  <a:pt x="1571625" y="3095625"/>
                </a:lnTo>
                <a:lnTo>
                  <a:pt x="1571625" y="3086100"/>
                </a:lnTo>
                <a:lnTo>
                  <a:pt x="1581150" y="3076575"/>
                </a:lnTo>
                <a:lnTo>
                  <a:pt x="1581150" y="3067050"/>
                </a:lnTo>
                <a:lnTo>
                  <a:pt x="1647825" y="3000375"/>
                </a:lnTo>
                <a:lnTo>
                  <a:pt x="1657350" y="3000375"/>
                </a:lnTo>
                <a:lnTo>
                  <a:pt x="1666875" y="2990850"/>
                </a:lnTo>
                <a:lnTo>
                  <a:pt x="1666875" y="2981325"/>
                </a:lnTo>
                <a:lnTo>
                  <a:pt x="1704975" y="2943225"/>
                </a:lnTo>
                <a:lnTo>
                  <a:pt x="1704975" y="2933700"/>
                </a:lnTo>
                <a:lnTo>
                  <a:pt x="1781175" y="2857500"/>
                </a:lnTo>
                <a:lnTo>
                  <a:pt x="1790700" y="2857500"/>
                </a:lnTo>
                <a:lnTo>
                  <a:pt x="1800225" y="2847975"/>
                </a:lnTo>
                <a:lnTo>
                  <a:pt x="1809750" y="2847975"/>
                </a:lnTo>
                <a:lnTo>
                  <a:pt x="1819275" y="2838450"/>
                </a:lnTo>
                <a:lnTo>
                  <a:pt x="1828800" y="2838450"/>
                </a:lnTo>
                <a:lnTo>
                  <a:pt x="1838325" y="2828925"/>
                </a:lnTo>
                <a:lnTo>
                  <a:pt x="1847850" y="2828925"/>
                </a:lnTo>
                <a:lnTo>
                  <a:pt x="1905000" y="2771775"/>
                </a:lnTo>
                <a:lnTo>
                  <a:pt x="1905000" y="2762250"/>
                </a:lnTo>
                <a:lnTo>
                  <a:pt x="1914525" y="2752725"/>
                </a:lnTo>
                <a:lnTo>
                  <a:pt x="1914525" y="2733675"/>
                </a:lnTo>
                <a:lnTo>
                  <a:pt x="1924050" y="2724150"/>
                </a:lnTo>
                <a:lnTo>
                  <a:pt x="1924050" y="2705100"/>
                </a:lnTo>
                <a:lnTo>
                  <a:pt x="1933575" y="2695575"/>
                </a:lnTo>
                <a:lnTo>
                  <a:pt x="1933575" y="2686050"/>
                </a:lnTo>
                <a:lnTo>
                  <a:pt x="1971675" y="2647950"/>
                </a:lnTo>
                <a:lnTo>
                  <a:pt x="2038350" y="2647950"/>
                </a:lnTo>
                <a:lnTo>
                  <a:pt x="2047875" y="2638425"/>
                </a:lnTo>
                <a:lnTo>
                  <a:pt x="2066925" y="2638425"/>
                </a:lnTo>
                <a:lnTo>
                  <a:pt x="2076450" y="2628900"/>
                </a:lnTo>
                <a:lnTo>
                  <a:pt x="2076450" y="2600325"/>
                </a:lnTo>
                <a:lnTo>
                  <a:pt x="2057400" y="2581275"/>
                </a:lnTo>
                <a:lnTo>
                  <a:pt x="2047875" y="2581275"/>
                </a:lnTo>
                <a:lnTo>
                  <a:pt x="2038350" y="2571750"/>
                </a:lnTo>
                <a:lnTo>
                  <a:pt x="1924050" y="2571750"/>
                </a:lnTo>
                <a:lnTo>
                  <a:pt x="1914525" y="2562225"/>
                </a:lnTo>
                <a:lnTo>
                  <a:pt x="1905000" y="2562225"/>
                </a:lnTo>
                <a:lnTo>
                  <a:pt x="1876425" y="2533650"/>
                </a:lnTo>
                <a:lnTo>
                  <a:pt x="1876425" y="2476500"/>
                </a:lnTo>
                <a:lnTo>
                  <a:pt x="1866900" y="2466975"/>
                </a:lnTo>
                <a:lnTo>
                  <a:pt x="1866900" y="2428875"/>
                </a:lnTo>
                <a:lnTo>
                  <a:pt x="1857375" y="2419350"/>
                </a:lnTo>
                <a:lnTo>
                  <a:pt x="1857375" y="2409825"/>
                </a:lnTo>
                <a:lnTo>
                  <a:pt x="1838325" y="2390775"/>
                </a:lnTo>
                <a:lnTo>
                  <a:pt x="1819275" y="2390775"/>
                </a:lnTo>
                <a:lnTo>
                  <a:pt x="1809750" y="2381250"/>
                </a:lnTo>
                <a:lnTo>
                  <a:pt x="1781175" y="2381250"/>
                </a:lnTo>
                <a:lnTo>
                  <a:pt x="1771650" y="2390775"/>
                </a:lnTo>
                <a:lnTo>
                  <a:pt x="1762125" y="2390775"/>
                </a:lnTo>
                <a:lnTo>
                  <a:pt x="1752600" y="2400300"/>
                </a:lnTo>
                <a:lnTo>
                  <a:pt x="1743075" y="2400300"/>
                </a:lnTo>
                <a:lnTo>
                  <a:pt x="1685925" y="2457450"/>
                </a:lnTo>
                <a:lnTo>
                  <a:pt x="1676400" y="2457450"/>
                </a:lnTo>
                <a:lnTo>
                  <a:pt x="1666875" y="2466975"/>
                </a:lnTo>
                <a:lnTo>
                  <a:pt x="1638300" y="2466975"/>
                </a:lnTo>
                <a:lnTo>
                  <a:pt x="1628775" y="2457450"/>
                </a:lnTo>
                <a:lnTo>
                  <a:pt x="1609725" y="2457450"/>
                </a:lnTo>
                <a:lnTo>
                  <a:pt x="1600200" y="2447925"/>
                </a:lnTo>
                <a:lnTo>
                  <a:pt x="1590675" y="2447925"/>
                </a:lnTo>
                <a:lnTo>
                  <a:pt x="1552575" y="2409825"/>
                </a:lnTo>
                <a:lnTo>
                  <a:pt x="1552575" y="2400300"/>
                </a:lnTo>
                <a:lnTo>
                  <a:pt x="1543050" y="2390775"/>
                </a:lnTo>
                <a:lnTo>
                  <a:pt x="1543050" y="2371725"/>
                </a:lnTo>
                <a:lnTo>
                  <a:pt x="1524000" y="2352675"/>
                </a:lnTo>
                <a:lnTo>
                  <a:pt x="1514475" y="2352675"/>
                </a:lnTo>
                <a:lnTo>
                  <a:pt x="1504950" y="2362200"/>
                </a:lnTo>
                <a:lnTo>
                  <a:pt x="1495425" y="2362200"/>
                </a:lnTo>
                <a:lnTo>
                  <a:pt x="1485900" y="2371725"/>
                </a:lnTo>
                <a:lnTo>
                  <a:pt x="1466850" y="2371725"/>
                </a:lnTo>
                <a:lnTo>
                  <a:pt x="1457325" y="2381250"/>
                </a:lnTo>
                <a:lnTo>
                  <a:pt x="1438275" y="2381250"/>
                </a:lnTo>
                <a:lnTo>
                  <a:pt x="1428750" y="2390775"/>
                </a:lnTo>
                <a:lnTo>
                  <a:pt x="1323975" y="2390775"/>
                </a:lnTo>
                <a:lnTo>
                  <a:pt x="1314450" y="2381250"/>
                </a:lnTo>
                <a:lnTo>
                  <a:pt x="1304925" y="2381250"/>
                </a:lnTo>
                <a:lnTo>
                  <a:pt x="1295400" y="2371725"/>
                </a:lnTo>
                <a:lnTo>
                  <a:pt x="1285875" y="2371725"/>
                </a:lnTo>
                <a:lnTo>
                  <a:pt x="1257300" y="2343150"/>
                </a:lnTo>
                <a:lnTo>
                  <a:pt x="1257300" y="2333625"/>
                </a:lnTo>
                <a:lnTo>
                  <a:pt x="1238250" y="2314575"/>
                </a:lnTo>
                <a:lnTo>
                  <a:pt x="1238250" y="2305050"/>
                </a:lnTo>
                <a:lnTo>
                  <a:pt x="1171575" y="2238375"/>
                </a:lnTo>
                <a:lnTo>
                  <a:pt x="1162050" y="2238375"/>
                </a:lnTo>
                <a:lnTo>
                  <a:pt x="1152525" y="2228850"/>
                </a:lnTo>
                <a:close/>
              </a:path>
              <a:path w="4267200" h="4267200">
                <a:moveTo>
                  <a:pt x="2619375" y="2133600"/>
                </a:moveTo>
                <a:lnTo>
                  <a:pt x="2609850" y="2143125"/>
                </a:lnTo>
                <a:lnTo>
                  <a:pt x="2600325" y="2143125"/>
                </a:lnTo>
                <a:lnTo>
                  <a:pt x="2581275" y="2162175"/>
                </a:lnTo>
                <a:lnTo>
                  <a:pt x="2581275" y="2209800"/>
                </a:lnTo>
                <a:lnTo>
                  <a:pt x="2590800" y="2219325"/>
                </a:lnTo>
                <a:lnTo>
                  <a:pt x="2600325" y="2219325"/>
                </a:lnTo>
                <a:lnTo>
                  <a:pt x="2609850" y="2228850"/>
                </a:lnTo>
                <a:lnTo>
                  <a:pt x="2619375" y="2219325"/>
                </a:lnTo>
                <a:lnTo>
                  <a:pt x="2628900" y="2219325"/>
                </a:lnTo>
                <a:lnTo>
                  <a:pt x="2628900" y="2209800"/>
                </a:lnTo>
                <a:lnTo>
                  <a:pt x="2638425" y="2200275"/>
                </a:lnTo>
                <a:lnTo>
                  <a:pt x="2638425" y="2152650"/>
                </a:lnTo>
                <a:close/>
              </a:path>
              <a:path w="4267200" h="4267200">
                <a:moveTo>
                  <a:pt x="4219575" y="2095500"/>
                </a:moveTo>
                <a:lnTo>
                  <a:pt x="4210050" y="2105025"/>
                </a:lnTo>
                <a:lnTo>
                  <a:pt x="4191000" y="2105025"/>
                </a:lnTo>
                <a:lnTo>
                  <a:pt x="4181475" y="2114550"/>
                </a:lnTo>
                <a:lnTo>
                  <a:pt x="4171950" y="2114550"/>
                </a:lnTo>
                <a:lnTo>
                  <a:pt x="4152900" y="2133600"/>
                </a:lnTo>
                <a:lnTo>
                  <a:pt x="4152900" y="2143125"/>
                </a:lnTo>
                <a:lnTo>
                  <a:pt x="4133850" y="2162175"/>
                </a:lnTo>
                <a:lnTo>
                  <a:pt x="4133850" y="2181225"/>
                </a:lnTo>
                <a:lnTo>
                  <a:pt x="4124325" y="2190750"/>
                </a:lnTo>
                <a:lnTo>
                  <a:pt x="4124325" y="2228850"/>
                </a:lnTo>
                <a:lnTo>
                  <a:pt x="4114800" y="2238375"/>
                </a:lnTo>
                <a:lnTo>
                  <a:pt x="4114800" y="2352675"/>
                </a:lnTo>
                <a:lnTo>
                  <a:pt x="4124325" y="2362200"/>
                </a:lnTo>
                <a:lnTo>
                  <a:pt x="4124325" y="2438400"/>
                </a:lnTo>
                <a:lnTo>
                  <a:pt x="4133850" y="2447925"/>
                </a:lnTo>
                <a:lnTo>
                  <a:pt x="4133850" y="2505075"/>
                </a:lnTo>
                <a:lnTo>
                  <a:pt x="4143375" y="2514600"/>
                </a:lnTo>
                <a:lnTo>
                  <a:pt x="4143375" y="2552700"/>
                </a:lnTo>
                <a:lnTo>
                  <a:pt x="4152900" y="2562225"/>
                </a:lnTo>
                <a:lnTo>
                  <a:pt x="4152900" y="2590800"/>
                </a:lnTo>
                <a:lnTo>
                  <a:pt x="4162425" y="2600325"/>
                </a:lnTo>
                <a:lnTo>
                  <a:pt x="4162425" y="2609850"/>
                </a:lnTo>
                <a:lnTo>
                  <a:pt x="4171950" y="2619375"/>
                </a:lnTo>
                <a:lnTo>
                  <a:pt x="4171950" y="2628900"/>
                </a:lnTo>
                <a:lnTo>
                  <a:pt x="4181475" y="2638425"/>
                </a:lnTo>
                <a:lnTo>
                  <a:pt x="4191000" y="2638425"/>
                </a:lnTo>
                <a:lnTo>
                  <a:pt x="4200525" y="2647950"/>
                </a:lnTo>
                <a:lnTo>
                  <a:pt x="4257675" y="2647950"/>
                </a:lnTo>
                <a:lnTo>
                  <a:pt x="4257675" y="2095500"/>
                </a:lnTo>
                <a:close/>
              </a:path>
              <a:path w="4267200" h="4267200">
                <a:moveTo>
                  <a:pt x="1743075" y="1476375"/>
                </a:moveTo>
                <a:lnTo>
                  <a:pt x="1733550" y="1485900"/>
                </a:lnTo>
                <a:lnTo>
                  <a:pt x="1685925" y="1485900"/>
                </a:lnTo>
                <a:lnTo>
                  <a:pt x="1676400" y="1495425"/>
                </a:lnTo>
                <a:lnTo>
                  <a:pt x="1666875" y="1495425"/>
                </a:lnTo>
                <a:lnTo>
                  <a:pt x="1657350" y="1504950"/>
                </a:lnTo>
                <a:lnTo>
                  <a:pt x="1647825" y="1504950"/>
                </a:lnTo>
                <a:lnTo>
                  <a:pt x="1628775" y="1524000"/>
                </a:lnTo>
                <a:lnTo>
                  <a:pt x="1628775" y="1533525"/>
                </a:lnTo>
                <a:lnTo>
                  <a:pt x="1619250" y="1543050"/>
                </a:lnTo>
                <a:lnTo>
                  <a:pt x="1619250" y="1552575"/>
                </a:lnTo>
                <a:lnTo>
                  <a:pt x="1581150" y="1590675"/>
                </a:lnTo>
                <a:lnTo>
                  <a:pt x="1571625" y="1590675"/>
                </a:lnTo>
                <a:lnTo>
                  <a:pt x="1562100" y="1600200"/>
                </a:lnTo>
                <a:lnTo>
                  <a:pt x="1552575" y="1600200"/>
                </a:lnTo>
                <a:lnTo>
                  <a:pt x="1543050" y="1609725"/>
                </a:lnTo>
                <a:lnTo>
                  <a:pt x="1533525" y="1609725"/>
                </a:lnTo>
                <a:lnTo>
                  <a:pt x="1524000" y="1619250"/>
                </a:lnTo>
                <a:lnTo>
                  <a:pt x="1514475" y="1619250"/>
                </a:lnTo>
                <a:lnTo>
                  <a:pt x="1476375" y="1657350"/>
                </a:lnTo>
                <a:lnTo>
                  <a:pt x="1476375" y="1676400"/>
                </a:lnTo>
                <a:lnTo>
                  <a:pt x="1466850" y="1685925"/>
                </a:lnTo>
                <a:lnTo>
                  <a:pt x="1466850" y="1762125"/>
                </a:lnTo>
                <a:lnTo>
                  <a:pt x="1476375" y="1771650"/>
                </a:lnTo>
                <a:lnTo>
                  <a:pt x="1514475" y="1771650"/>
                </a:lnTo>
                <a:lnTo>
                  <a:pt x="1524000" y="1762125"/>
                </a:lnTo>
                <a:lnTo>
                  <a:pt x="1533525" y="1762125"/>
                </a:lnTo>
                <a:lnTo>
                  <a:pt x="1590675" y="1704975"/>
                </a:lnTo>
                <a:lnTo>
                  <a:pt x="1600200" y="1704975"/>
                </a:lnTo>
                <a:lnTo>
                  <a:pt x="1619250" y="1685925"/>
                </a:lnTo>
                <a:lnTo>
                  <a:pt x="1628775" y="1685925"/>
                </a:lnTo>
                <a:lnTo>
                  <a:pt x="1638300" y="1676400"/>
                </a:lnTo>
                <a:lnTo>
                  <a:pt x="1685925" y="1676400"/>
                </a:lnTo>
                <a:lnTo>
                  <a:pt x="1695450" y="1685925"/>
                </a:lnTo>
                <a:lnTo>
                  <a:pt x="1704975" y="1685925"/>
                </a:lnTo>
                <a:lnTo>
                  <a:pt x="1743075" y="1724025"/>
                </a:lnTo>
                <a:lnTo>
                  <a:pt x="1743075" y="1733550"/>
                </a:lnTo>
                <a:lnTo>
                  <a:pt x="1762125" y="1752600"/>
                </a:lnTo>
                <a:lnTo>
                  <a:pt x="1762125" y="1762125"/>
                </a:lnTo>
                <a:lnTo>
                  <a:pt x="1771650" y="1771650"/>
                </a:lnTo>
                <a:lnTo>
                  <a:pt x="1781175" y="1771650"/>
                </a:lnTo>
                <a:lnTo>
                  <a:pt x="1790700" y="1781175"/>
                </a:lnTo>
                <a:lnTo>
                  <a:pt x="1800225" y="1781175"/>
                </a:lnTo>
                <a:lnTo>
                  <a:pt x="1819275" y="1762125"/>
                </a:lnTo>
                <a:lnTo>
                  <a:pt x="1819275" y="1724025"/>
                </a:lnTo>
                <a:lnTo>
                  <a:pt x="1809750" y="1714500"/>
                </a:lnTo>
                <a:lnTo>
                  <a:pt x="1809750" y="1562100"/>
                </a:lnTo>
                <a:lnTo>
                  <a:pt x="1800225" y="1552575"/>
                </a:lnTo>
                <a:lnTo>
                  <a:pt x="1800225" y="1514475"/>
                </a:lnTo>
                <a:lnTo>
                  <a:pt x="1790700" y="1504950"/>
                </a:lnTo>
                <a:lnTo>
                  <a:pt x="1790700" y="1495425"/>
                </a:lnTo>
                <a:lnTo>
                  <a:pt x="1781175" y="1485900"/>
                </a:lnTo>
                <a:lnTo>
                  <a:pt x="1762125" y="1485900"/>
                </a:lnTo>
                <a:lnTo>
                  <a:pt x="1752600" y="1476375"/>
                </a:lnTo>
                <a:close/>
              </a:path>
              <a:path w="4267200" h="4267200">
                <a:moveTo>
                  <a:pt x="2600325" y="914400"/>
                </a:moveTo>
                <a:lnTo>
                  <a:pt x="2609850" y="904875"/>
                </a:lnTo>
                <a:lnTo>
                  <a:pt x="2619375" y="904875"/>
                </a:lnTo>
                <a:lnTo>
                  <a:pt x="2647950" y="933450"/>
                </a:lnTo>
                <a:lnTo>
                  <a:pt x="2647950" y="952500"/>
                </a:lnTo>
                <a:lnTo>
                  <a:pt x="2657475" y="962025"/>
                </a:lnTo>
                <a:lnTo>
                  <a:pt x="2657475" y="971550"/>
                </a:lnTo>
                <a:lnTo>
                  <a:pt x="2647950" y="981075"/>
                </a:lnTo>
                <a:lnTo>
                  <a:pt x="2647950" y="1009650"/>
                </a:lnTo>
                <a:lnTo>
                  <a:pt x="2638425" y="1019175"/>
                </a:lnTo>
                <a:lnTo>
                  <a:pt x="2638425" y="1028700"/>
                </a:lnTo>
                <a:lnTo>
                  <a:pt x="2628900" y="1038225"/>
                </a:lnTo>
                <a:lnTo>
                  <a:pt x="2619375" y="1038225"/>
                </a:lnTo>
                <a:lnTo>
                  <a:pt x="2609850" y="1047750"/>
                </a:lnTo>
                <a:lnTo>
                  <a:pt x="2600325" y="1047750"/>
                </a:lnTo>
                <a:lnTo>
                  <a:pt x="2590800" y="1057275"/>
                </a:lnTo>
                <a:lnTo>
                  <a:pt x="2552700" y="1057275"/>
                </a:lnTo>
                <a:lnTo>
                  <a:pt x="2543175" y="1047750"/>
                </a:lnTo>
                <a:lnTo>
                  <a:pt x="2524125" y="1047750"/>
                </a:lnTo>
                <a:lnTo>
                  <a:pt x="2495550" y="1019175"/>
                </a:lnTo>
                <a:lnTo>
                  <a:pt x="2495550" y="1009650"/>
                </a:lnTo>
                <a:lnTo>
                  <a:pt x="2505075" y="1000125"/>
                </a:lnTo>
                <a:lnTo>
                  <a:pt x="2505075" y="990600"/>
                </a:lnTo>
                <a:lnTo>
                  <a:pt x="2581275" y="914400"/>
                </a:lnTo>
                <a:close/>
              </a:path>
              <a:path w="4267200" h="4267200">
                <a:moveTo>
                  <a:pt x="2838450" y="390525"/>
                </a:moveTo>
                <a:lnTo>
                  <a:pt x="2828925" y="400050"/>
                </a:lnTo>
                <a:lnTo>
                  <a:pt x="2790825" y="400050"/>
                </a:lnTo>
                <a:lnTo>
                  <a:pt x="2781300" y="409575"/>
                </a:lnTo>
                <a:lnTo>
                  <a:pt x="2752725" y="409575"/>
                </a:lnTo>
                <a:lnTo>
                  <a:pt x="2743200" y="419100"/>
                </a:lnTo>
                <a:lnTo>
                  <a:pt x="2724150" y="419100"/>
                </a:lnTo>
                <a:lnTo>
                  <a:pt x="2714625" y="428625"/>
                </a:lnTo>
                <a:lnTo>
                  <a:pt x="2705100" y="428625"/>
                </a:lnTo>
                <a:lnTo>
                  <a:pt x="2695575" y="438150"/>
                </a:lnTo>
                <a:lnTo>
                  <a:pt x="2686050" y="438150"/>
                </a:lnTo>
                <a:lnTo>
                  <a:pt x="2676525" y="447675"/>
                </a:lnTo>
                <a:lnTo>
                  <a:pt x="2676525" y="457200"/>
                </a:lnTo>
                <a:lnTo>
                  <a:pt x="2657475" y="476250"/>
                </a:lnTo>
                <a:lnTo>
                  <a:pt x="2657475" y="485775"/>
                </a:lnTo>
                <a:lnTo>
                  <a:pt x="2647950" y="495300"/>
                </a:lnTo>
                <a:lnTo>
                  <a:pt x="2647950" y="504825"/>
                </a:lnTo>
                <a:lnTo>
                  <a:pt x="2638425" y="514350"/>
                </a:lnTo>
                <a:lnTo>
                  <a:pt x="2638425" y="523875"/>
                </a:lnTo>
                <a:lnTo>
                  <a:pt x="2619375" y="542925"/>
                </a:lnTo>
                <a:lnTo>
                  <a:pt x="2552700" y="542925"/>
                </a:lnTo>
                <a:lnTo>
                  <a:pt x="2543175" y="533400"/>
                </a:lnTo>
                <a:lnTo>
                  <a:pt x="2524125" y="533400"/>
                </a:lnTo>
                <a:lnTo>
                  <a:pt x="2514600" y="523875"/>
                </a:lnTo>
                <a:lnTo>
                  <a:pt x="2438400" y="523875"/>
                </a:lnTo>
                <a:lnTo>
                  <a:pt x="2428875" y="533400"/>
                </a:lnTo>
                <a:lnTo>
                  <a:pt x="2409825" y="533400"/>
                </a:lnTo>
                <a:lnTo>
                  <a:pt x="2400300" y="542925"/>
                </a:lnTo>
                <a:lnTo>
                  <a:pt x="2390775" y="542925"/>
                </a:lnTo>
                <a:lnTo>
                  <a:pt x="2381250" y="552450"/>
                </a:lnTo>
                <a:lnTo>
                  <a:pt x="2371725" y="552450"/>
                </a:lnTo>
                <a:lnTo>
                  <a:pt x="2362200" y="561975"/>
                </a:lnTo>
                <a:lnTo>
                  <a:pt x="2352675" y="561975"/>
                </a:lnTo>
                <a:lnTo>
                  <a:pt x="2343150" y="571500"/>
                </a:lnTo>
                <a:lnTo>
                  <a:pt x="2333625" y="571500"/>
                </a:lnTo>
                <a:lnTo>
                  <a:pt x="2324100" y="581025"/>
                </a:lnTo>
                <a:lnTo>
                  <a:pt x="2314575" y="581025"/>
                </a:lnTo>
                <a:lnTo>
                  <a:pt x="2305050" y="590550"/>
                </a:lnTo>
                <a:lnTo>
                  <a:pt x="2276475" y="590550"/>
                </a:lnTo>
                <a:lnTo>
                  <a:pt x="2266950" y="600075"/>
                </a:lnTo>
                <a:lnTo>
                  <a:pt x="2228850" y="600075"/>
                </a:lnTo>
                <a:lnTo>
                  <a:pt x="2219325" y="609600"/>
                </a:lnTo>
                <a:lnTo>
                  <a:pt x="2200275" y="609600"/>
                </a:lnTo>
                <a:lnTo>
                  <a:pt x="2190750" y="619125"/>
                </a:lnTo>
                <a:lnTo>
                  <a:pt x="2171700" y="619125"/>
                </a:lnTo>
                <a:lnTo>
                  <a:pt x="2162175" y="628650"/>
                </a:lnTo>
                <a:lnTo>
                  <a:pt x="2143125" y="628650"/>
                </a:lnTo>
                <a:lnTo>
                  <a:pt x="2133600" y="638175"/>
                </a:lnTo>
                <a:lnTo>
                  <a:pt x="2085975" y="638175"/>
                </a:lnTo>
                <a:lnTo>
                  <a:pt x="2028825" y="581025"/>
                </a:lnTo>
                <a:lnTo>
                  <a:pt x="2028825" y="571500"/>
                </a:lnTo>
                <a:lnTo>
                  <a:pt x="1990725" y="533400"/>
                </a:lnTo>
                <a:lnTo>
                  <a:pt x="1981200" y="533400"/>
                </a:lnTo>
                <a:lnTo>
                  <a:pt x="1971675" y="523875"/>
                </a:lnTo>
                <a:lnTo>
                  <a:pt x="1952625" y="523875"/>
                </a:lnTo>
                <a:lnTo>
                  <a:pt x="1943100" y="514350"/>
                </a:lnTo>
                <a:lnTo>
                  <a:pt x="1885950" y="514350"/>
                </a:lnTo>
                <a:lnTo>
                  <a:pt x="1876425" y="523875"/>
                </a:lnTo>
                <a:lnTo>
                  <a:pt x="1838325" y="523875"/>
                </a:lnTo>
                <a:lnTo>
                  <a:pt x="1828800" y="533400"/>
                </a:lnTo>
                <a:lnTo>
                  <a:pt x="1724025" y="533400"/>
                </a:lnTo>
                <a:lnTo>
                  <a:pt x="1714500" y="523875"/>
                </a:lnTo>
                <a:lnTo>
                  <a:pt x="1676400" y="523875"/>
                </a:lnTo>
                <a:lnTo>
                  <a:pt x="1666875" y="514350"/>
                </a:lnTo>
                <a:lnTo>
                  <a:pt x="1647825" y="514350"/>
                </a:lnTo>
                <a:lnTo>
                  <a:pt x="1638300" y="523875"/>
                </a:lnTo>
                <a:lnTo>
                  <a:pt x="1619250" y="523875"/>
                </a:lnTo>
                <a:lnTo>
                  <a:pt x="1609725" y="533400"/>
                </a:lnTo>
                <a:lnTo>
                  <a:pt x="1600200" y="533400"/>
                </a:lnTo>
                <a:lnTo>
                  <a:pt x="1590675" y="542925"/>
                </a:lnTo>
                <a:lnTo>
                  <a:pt x="1581150" y="542925"/>
                </a:lnTo>
                <a:lnTo>
                  <a:pt x="1571625" y="552450"/>
                </a:lnTo>
                <a:lnTo>
                  <a:pt x="1562100" y="552450"/>
                </a:lnTo>
                <a:lnTo>
                  <a:pt x="1552575" y="561975"/>
                </a:lnTo>
                <a:lnTo>
                  <a:pt x="1524000" y="561975"/>
                </a:lnTo>
                <a:lnTo>
                  <a:pt x="1514475" y="571500"/>
                </a:lnTo>
                <a:lnTo>
                  <a:pt x="1485900" y="571500"/>
                </a:lnTo>
                <a:lnTo>
                  <a:pt x="1476375" y="561975"/>
                </a:lnTo>
                <a:lnTo>
                  <a:pt x="1457325" y="561975"/>
                </a:lnTo>
                <a:lnTo>
                  <a:pt x="1447800" y="552450"/>
                </a:lnTo>
                <a:lnTo>
                  <a:pt x="1400175" y="552450"/>
                </a:lnTo>
                <a:lnTo>
                  <a:pt x="1390650" y="561975"/>
                </a:lnTo>
                <a:lnTo>
                  <a:pt x="1381125" y="561975"/>
                </a:lnTo>
                <a:lnTo>
                  <a:pt x="1343025" y="600075"/>
                </a:lnTo>
                <a:lnTo>
                  <a:pt x="1333500" y="600075"/>
                </a:lnTo>
                <a:lnTo>
                  <a:pt x="1323975" y="609600"/>
                </a:lnTo>
                <a:lnTo>
                  <a:pt x="1314450" y="609600"/>
                </a:lnTo>
                <a:lnTo>
                  <a:pt x="1304925" y="619125"/>
                </a:lnTo>
                <a:lnTo>
                  <a:pt x="1266825" y="619125"/>
                </a:lnTo>
                <a:lnTo>
                  <a:pt x="1257300" y="609600"/>
                </a:lnTo>
                <a:lnTo>
                  <a:pt x="1247775" y="609600"/>
                </a:lnTo>
                <a:lnTo>
                  <a:pt x="1238250" y="600075"/>
                </a:lnTo>
                <a:lnTo>
                  <a:pt x="1228725" y="600075"/>
                </a:lnTo>
                <a:lnTo>
                  <a:pt x="1219200" y="590550"/>
                </a:lnTo>
                <a:lnTo>
                  <a:pt x="1209675" y="590550"/>
                </a:lnTo>
                <a:lnTo>
                  <a:pt x="1190625" y="571500"/>
                </a:lnTo>
                <a:lnTo>
                  <a:pt x="1181100" y="571500"/>
                </a:lnTo>
                <a:lnTo>
                  <a:pt x="1171575" y="561975"/>
                </a:lnTo>
                <a:lnTo>
                  <a:pt x="1152525" y="561975"/>
                </a:lnTo>
                <a:lnTo>
                  <a:pt x="1143000" y="552450"/>
                </a:lnTo>
                <a:lnTo>
                  <a:pt x="1114425" y="552450"/>
                </a:lnTo>
                <a:lnTo>
                  <a:pt x="1104900" y="542925"/>
                </a:lnTo>
                <a:lnTo>
                  <a:pt x="971550" y="542925"/>
                </a:lnTo>
                <a:lnTo>
                  <a:pt x="962025" y="533400"/>
                </a:lnTo>
                <a:lnTo>
                  <a:pt x="857250" y="533400"/>
                </a:lnTo>
                <a:lnTo>
                  <a:pt x="847725" y="542925"/>
                </a:lnTo>
                <a:lnTo>
                  <a:pt x="838200" y="542925"/>
                </a:lnTo>
                <a:lnTo>
                  <a:pt x="828675" y="552450"/>
                </a:lnTo>
                <a:lnTo>
                  <a:pt x="819150" y="552450"/>
                </a:lnTo>
                <a:lnTo>
                  <a:pt x="733425" y="638175"/>
                </a:lnTo>
                <a:lnTo>
                  <a:pt x="723900" y="638175"/>
                </a:lnTo>
                <a:lnTo>
                  <a:pt x="704850" y="657225"/>
                </a:lnTo>
                <a:lnTo>
                  <a:pt x="695325" y="657225"/>
                </a:lnTo>
                <a:lnTo>
                  <a:pt x="676275" y="676275"/>
                </a:lnTo>
                <a:lnTo>
                  <a:pt x="666750" y="676275"/>
                </a:lnTo>
                <a:lnTo>
                  <a:pt x="657225" y="685800"/>
                </a:lnTo>
                <a:lnTo>
                  <a:pt x="657225" y="695325"/>
                </a:lnTo>
                <a:lnTo>
                  <a:pt x="647700" y="704850"/>
                </a:lnTo>
                <a:lnTo>
                  <a:pt x="647700" y="714375"/>
                </a:lnTo>
                <a:lnTo>
                  <a:pt x="638175" y="723900"/>
                </a:lnTo>
                <a:lnTo>
                  <a:pt x="638175" y="771525"/>
                </a:lnTo>
                <a:lnTo>
                  <a:pt x="647700" y="781050"/>
                </a:lnTo>
                <a:lnTo>
                  <a:pt x="647700" y="790575"/>
                </a:lnTo>
                <a:lnTo>
                  <a:pt x="657225" y="800100"/>
                </a:lnTo>
                <a:lnTo>
                  <a:pt x="657225" y="809625"/>
                </a:lnTo>
                <a:lnTo>
                  <a:pt x="695325" y="847725"/>
                </a:lnTo>
                <a:lnTo>
                  <a:pt x="695325" y="857250"/>
                </a:lnTo>
                <a:lnTo>
                  <a:pt x="704850" y="866775"/>
                </a:lnTo>
                <a:lnTo>
                  <a:pt x="704850" y="876300"/>
                </a:lnTo>
                <a:lnTo>
                  <a:pt x="714375" y="885825"/>
                </a:lnTo>
                <a:lnTo>
                  <a:pt x="714375" y="981075"/>
                </a:lnTo>
                <a:lnTo>
                  <a:pt x="723900" y="990600"/>
                </a:lnTo>
                <a:lnTo>
                  <a:pt x="723900" y="1019175"/>
                </a:lnTo>
                <a:lnTo>
                  <a:pt x="733425" y="1028700"/>
                </a:lnTo>
                <a:lnTo>
                  <a:pt x="733425" y="1038225"/>
                </a:lnTo>
                <a:lnTo>
                  <a:pt x="742950" y="1047750"/>
                </a:lnTo>
                <a:lnTo>
                  <a:pt x="742950" y="1066800"/>
                </a:lnTo>
                <a:lnTo>
                  <a:pt x="752475" y="1076325"/>
                </a:lnTo>
                <a:lnTo>
                  <a:pt x="752475" y="1104900"/>
                </a:lnTo>
                <a:lnTo>
                  <a:pt x="762000" y="1114425"/>
                </a:lnTo>
                <a:lnTo>
                  <a:pt x="762000" y="1162050"/>
                </a:lnTo>
                <a:lnTo>
                  <a:pt x="771525" y="1171575"/>
                </a:lnTo>
                <a:lnTo>
                  <a:pt x="771525" y="1209675"/>
                </a:lnTo>
                <a:lnTo>
                  <a:pt x="781050" y="1219200"/>
                </a:lnTo>
                <a:lnTo>
                  <a:pt x="781050" y="1238250"/>
                </a:lnTo>
                <a:lnTo>
                  <a:pt x="790575" y="1247775"/>
                </a:lnTo>
                <a:lnTo>
                  <a:pt x="790575" y="1257300"/>
                </a:lnTo>
                <a:lnTo>
                  <a:pt x="800100" y="1266825"/>
                </a:lnTo>
                <a:lnTo>
                  <a:pt x="800100" y="1276350"/>
                </a:lnTo>
                <a:lnTo>
                  <a:pt x="809625" y="1285875"/>
                </a:lnTo>
                <a:lnTo>
                  <a:pt x="809625" y="1295400"/>
                </a:lnTo>
                <a:lnTo>
                  <a:pt x="828675" y="1314450"/>
                </a:lnTo>
                <a:lnTo>
                  <a:pt x="828675" y="1323975"/>
                </a:lnTo>
                <a:lnTo>
                  <a:pt x="857250" y="1352550"/>
                </a:lnTo>
                <a:lnTo>
                  <a:pt x="857250" y="1362075"/>
                </a:lnTo>
                <a:lnTo>
                  <a:pt x="876300" y="1381125"/>
                </a:lnTo>
                <a:lnTo>
                  <a:pt x="876300" y="1390650"/>
                </a:lnTo>
                <a:lnTo>
                  <a:pt x="885825" y="1400175"/>
                </a:lnTo>
                <a:lnTo>
                  <a:pt x="885825" y="1409700"/>
                </a:lnTo>
                <a:lnTo>
                  <a:pt x="895350" y="1419225"/>
                </a:lnTo>
                <a:lnTo>
                  <a:pt x="895350" y="1428750"/>
                </a:lnTo>
                <a:lnTo>
                  <a:pt x="904875" y="1438275"/>
                </a:lnTo>
                <a:lnTo>
                  <a:pt x="904875" y="1447800"/>
                </a:lnTo>
                <a:lnTo>
                  <a:pt x="914400" y="1457325"/>
                </a:lnTo>
                <a:lnTo>
                  <a:pt x="914400" y="1476375"/>
                </a:lnTo>
                <a:lnTo>
                  <a:pt x="923925" y="1485900"/>
                </a:lnTo>
                <a:lnTo>
                  <a:pt x="923925" y="1504950"/>
                </a:lnTo>
                <a:lnTo>
                  <a:pt x="933450" y="1514475"/>
                </a:lnTo>
                <a:lnTo>
                  <a:pt x="933450" y="1695450"/>
                </a:lnTo>
                <a:lnTo>
                  <a:pt x="942975" y="1704975"/>
                </a:lnTo>
                <a:lnTo>
                  <a:pt x="942975" y="1743075"/>
                </a:lnTo>
                <a:lnTo>
                  <a:pt x="952500" y="1752600"/>
                </a:lnTo>
                <a:lnTo>
                  <a:pt x="952500" y="1790700"/>
                </a:lnTo>
                <a:lnTo>
                  <a:pt x="962025" y="1800225"/>
                </a:lnTo>
                <a:lnTo>
                  <a:pt x="962025" y="1819275"/>
                </a:lnTo>
                <a:lnTo>
                  <a:pt x="971550" y="1828800"/>
                </a:lnTo>
                <a:lnTo>
                  <a:pt x="971550" y="1838325"/>
                </a:lnTo>
                <a:lnTo>
                  <a:pt x="981075" y="1847850"/>
                </a:lnTo>
                <a:lnTo>
                  <a:pt x="981075" y="1857375"/>
                </a:lnTo>
                <a:lnTo>
                  <a:pt x="1019175" y="1895475"/>
                </a:lnTo>
                <a:lnTo>
                  <a:pt x="1057275" y="1895475"/>
                </a:lnTo>
                <a:lnTo>
                  <a:pt x="1066800" y="1885950"/>
                </a:lnTo>
                <a:lnTo>
                  <a:pt x="1076325" y="1885950"/>
                </a:lnTo>
                <a:lnTo>
                  <a:pt x="1085850" y="1876425"/>
                </a:lnTo>
                <a:lnTo>
                  <a:pt x="1095375" y="1876425"/>
                </a:lnTo>
                <a:lnTo>
                  <a:pt x="1114425" y="1857375"/>
                </a:lnTo>
                <a:lnTo>
                  <a:pt x="1152525" y="1857375"/>
                </a:lnTo>
                <a:lnTo>
                  <a:pt x="1190625" y="1895475"/>
                </a:lnTo>
                <a:lnTo>
                  <a:pt x="1190625" y="1933575"/>
                </a:lnTo>
                <a:lnTo>
                  <a:pt x="1162050" y="1962150"/>
                </a:lnTo>
                <a:lnTo>
                  <a:pt x="1152525" y="1962150"/>
                </a:lnTo>
                <a:lnTo>
                  <a:pt x="1143000" y="1971675"/>
                </a:lnTo>
                <a:lnTo>
                  <a:pt x="1133475" y="1971675"/>
                </a:lnTo>
                <a:lnTo>
                  <a:pt x="1123950" y="1981200"/>
                </a:lnTo>
                <a:lnTo>
                  <a:pt x="1104900" y="1981200"/>
                </a:lnTo>
                <a:lnTo>
                  <a:pt x="1095375" y="1990725"/>
                </a:lnTo>
                <a:lnTo>
                  <a:pt x="1085850" y="1990725"/>
                </a:lnTo>
                <a:lnTo>
                  <a:pt x="1066800" y="2009775"/>
                </a:lnTo>
                <a:lnTo>
                  <a:pt x="1066800" y="2019300"/>
                </a:lnTo>
                <a:lnTo>
                  <a:pt x="1057275" y="2028825"/>
                </a:lnTo>
                <a:lnTo>
                  <a:pt x="1057275" y="2066925"/>
                </a:lnTo>
                <a:lnTo>
                  <a:pt x="1066800" y="2076450"/>
                </a:lnTo>
                <a:lnTo>
                  <a:pt x="1066800" y="2085975"/>
                </a:lnTo>
                <a:lnTo>
                  <a:pt x="1076325" y="2095500"/>
                </a:lnTo>
                <a:lnTo>
                  <a:pt x="1076325" y="2105025"/>
                </a:lnTo>
                <a:lnTo>
                  <a:pt x="1095375" y="2124075"/>
                </a:lnTo>
                <a:lnTo>
                  <a:pt x="1104900" y="2124075"/>
                </a:lnTo>
                <a:lnTo>
                  <a:pt x="1114425" y="2133600"/>
                </a:lnTo>
                <a:lnTo>
                  <a:pt x="1123950" y="2133600"/>
                </a:lnTo>
                <a:lnTo>
                  <a:pt x="1133475" y="2143125"/>
                </a:lnTo>
                <a:lnTo>
                  <a:pt x="1143000" y="2133600"/>
                </a:lnTo>
                <a:lnTo>
                  <a:pt x="1162050" y="2133600"/>
                </a:lnTo>
                <a:lnTo>
                  <a:pt x="1238250" y="2057400"/>
                </a:lnTo>
                <a:lnTo>
                  <a:pt x="1238250" y="2047875"/>
                </a:lnTo>
                <a:lnTo>
                  <a:pt x="1257300" y="2028825"/>
                </a:lnTo>
                <a:lnTo>
                  <a:pt x="1257300" y="2019300"/>
                </a:lnTo>
                <a:lnTo>
                  <a:pt x="1285875" y="1990725"/>
                </a:lnTo>
                <a:lnTo>
                  <a:pt x="1285875" y="1981200"/>
                </a:lnTo>
                <a:lnTo>
                  <a:pt x="1304925" y="1962150"/>
                </a:lnTo>
                <a:lnTo>
                  <a:pt x="1304925" y="1952625"/>
                </a:lnTo>
                <a:lnTo>
                  <a:pt x="1314450" y="1943100"/>
                </a:lnTo>
                <a:lnTo>
                  <a:pt x="1314450" y="1924050"/>
                </a:lnTo>
                <a:lnTo>
                  <a:pt x="1323975" y="1914525"/>
                </a:lnTo>
                <a:lnTo>
                  <a:pt x="1323975" y="1895475"/>
                </a:lnTo>
                <a:lnTo>
                  <a:pt x="1333500" y="1885950"/>
                </a:lnTo>
                <a:lnTo>
                  <a:pt x="1333500" y="1866900"/>
                </a:lnTo>
                <a:lnTo>
                  <a:pt x="1343025" y="1857375"/>
                </a:lnTo>
                <a:lnTo>
                  <a:pt x="1343025" y="1847850"/>
                </a:lnTo>
                <a:lnTo>
                  <a:pt x="1352550" y="1838325"/>
                </a:lnTo>
                <a:lnTo>
                  <a:pt x="1352550" y="1828800"/>
                </a:lnTo>
                <a:lnTo>
                  <a:pt x="1362075" y="1819275"/>
                </a:lnTo>
                <a:lnTo>
                  <a:pt x="1362075" y="1809750"/>
                </a:lnTo>
                <a:lnTo>
                  <a:pt x="1371600" y="1800225"/>
                </a:lnTo>
                <a:lnTo>
                  <a:pt x="1371600" y="1752600"/>
                </a:lnTo>
                <a:lnTo>
                  <a:pt x="1362075" y="1743075"/>
                </a:lnTo>
                <a:lnTo>
                  <a:pt x="1362075" y="1704975"/>
                </a:lnTo>
                <a:lnTo>
                  <a:pt x="1352550" y="1695450"/>
                </a:lnTo>
                <a:lnTo>
                  <a:pt x="1352550" y="1666875"/>
                </a:lnTo>
                <a:lnTo>
                  <a:pt x="1343025" y="1657350"/>
                </a:lnTo>
                <a:lnTo>
                  <a:pt x="1343025" y="1647825"/>
                </a:lnTo>
                <a:lnTo>
                  <a:pt x="1323975" y="1628775"/>
                </a:lnTo>
                <a:lnTo>
                  <a:pt x="1314450" y="1628775"/>
                </a:lnTo>
                <a:lnTo>
                  <a:pt x="1304925" y="1619250"/>
                </a:lnTo>
                <a:lnTo>
                  <a:pt x="1295400" y="1619250"/>
                </a:lnTo>
                <a:lnTo>
                  <a:pt x="1285875" y="1609725"/>
                </a:lnTo>
                <a:lnTo>
                  <a:pt x="1171575" y="1609725"/>
                </a:lnTo>
                <a:lnTo>
                  <a:pt x="1162050" y="1600200"/>
                </a:lnTo>
                <a:lnTo>
                  <a:pt x="1133475" y="1600200"/>
                </a:lnTo>
                <a:lnTo>
                  <a:pt x="1123950" y="1590675"/>
                </a:lnTo>
                <a:lnTo>
                  <a:pt x="1114425" y="1590675"/>
                </a:lnTo>
                <a:lnTo>
                  <a:pt x="1076325" y="1552575"/>
                </a:lnTo>
                <a:lnTo>
                  <a:pt x="1076325" y="1543050"/>
                </a:lnTo>
                <a:lnTo>
                  <a:pt x="1066800" y="1533525"/>
                </a:lnTo>
                <a:lnTo>
                  <a:pt x="1066800" y="1495425"/>
                </a:lnTo>
                <a:lnTo>
                  <a:pt x="1076325" y="1485900"/>
                </a:lnTo>
                <a:lnTo>
                  <a:pt x="1076325" y="1476375"/>
                </a:lnTo>
                <a:lnTo>
                  <a:pt x="1085850" y="1466850"/>
                </a:lnTo>
                <a:lnTo>
                  <a:pt x="1085850" y="1457325"/>
                </a:lnTo>
                <a:lnTo>
                  <a:pt x="1095375" y="1447800"/>
                </a:lnTo>
                <a:lnTo>
                  <a:pt x="1095375" y="1428750"/>
                </a:lnTo>
                <a:lnTo>
                  <a:pt x="1104900" y="1419225"/>
                </a:lnTo>
                <a:lnTo>
                  <a:pt x="1104900" y="1409700"/>
                </a:lnTo>
                <a:lnTo>
                  <a:pt x="1114425" y="1400175"/>
                </a:lnTo>
                <a:lnTo>
                  <a:pt x="1114425" y="1295400"/>
                </a:lnTo>
                <a:lnTo>
                  <a:pt x="1104900" y="1285875"/>
                </a:lnTo>
                <a:lnTo>
                  <a:pt x="1104900" y="1257300"/>
                </a:lnTo>
                <a:lnTo>
                  <a:pt x="1095375" y="1247775"/>
                </a:lnTo>
                <a:lnTo>
                  <a:pt x="1095375" y="1228725"/>
                </a:lnTo>
                <a:lnTo>
                  <a:pt x="1085850" y="1219200"/>
                </a:lnTo>
                <a:lnTo>
                  <a:pt x="1085850" y="1209675"/>
                </a:lnTo>
                <a:lnTo>
                  <a:pt x="1076325" y="1200150"/>
                </a:lnTo>
                <a:lnTo>
                  <a:pt x="1076325" y="1190625"/>
                </a:lnTo>
                <a:lnTo>
                  <a:pt x="1066800" y="1181100"/>
                </a:lnTo>
                <a:lnTo>
                  <a:pt x="1066800" y="1171575"/>
                </a:lnTo>
                <a:lnTo>
                  <a:pt x="1047750" y="1152525"/>
                </a:lnTo>
                <a:lnTo>
                  <a:pt x="1047750" y="1143000"/>
                </a:lnTo>
                <a:lnTo>
                  <a:pt x="1038225" y="1133475"/>
                </a:lnTo>
                <a:lnTo>
                  <a:pt x="1038225" y="1123950"/>
                </a:lnTo>
                <a:lnTo>
                  <a:pt x="1028700" y="1114425"/>
                </a:lnTo>
                <a:lnTo>
                  <a:pt x="1028700" y="1095375"/>
                </a:lnTo>
                <a:lnTo>
                  <a:pt x="1019175" y="1085850"/>
                </a:lnTo>
                <a:lnTo>
                  <a:pt x="1019175" y="1028700"/>
                </a:lnTo>
                <a:lnTo>
                  <a:pt x="1009650" y="1019175"/>
                </a:lnTo>
                <a:lnTo>
                  <a:pt x="1009650" y="990600"/>
                </a:lnTo>
                <a:lnTo>
                  <a:pt x="1019175" y="981075"/>
                </a:lnTo>
                <a:lnTo>
                  <a:pt x="1019175" y="952500"/>
                </a:lnTo>
                <a:lnTo>
                  <a:pt x="1028700" y="942975"/>
                </a:lnTo>
                <a:lnTo>
                  <a:pt x="1028700" y="923925"/>
                </a:lnTo>
                <a:lnTo>
                  <a:pt x="1038225" y="914400"/>
                </a:lnTo>
                <a:lnTo>
                  <a:pt x="1038225" y="904875"/>
                </a:lnTo>
                <a:lnTo>
                  <a:pt x="1085850" y="857250"/>
                </a:lnTo>
                <a:lnTo>
                  <a:pt x="1095375" y="857250"/>
                </a:lnTo>
                <a:lnTo>
                  <a:pt x="1104900" y="847725"/>
                </a:lnTo>
                <a:lnTo>
                  <a:pt x="1123950" y="847725"/>
                </a:lnTo>
                <a:lnTo>
                  <a:pt x="1133475" y="838200"/>
                </a:lnTo>
                <a:lnTo>
                  <a:pt x="1162050" y="838200"/>
                </a:lnTo>
                <a:lnTo>
                  <a:pt x="1171575" y="828675"/>
                </a:lnTo>
                <a:lnTo>
                  <a:pt x="1209675" y="828675"/>
                </a:lnTo>
                <a:lnTo>
                  <a:pt x="1219200" y="819150"/>
                </a:lnTo>
                <a:lnTo>
                  <a:pt x="1352550" y="819150"/>
                </a:lnTo>
                <a:lnTo>
                  <a:pt x="1371600" y="838200"/>
                </a:lnTo>
                <a:lnTo>
                  <a:pt x="1371600" y="857250"/>
                </a:lnTo>
                <a:lnTo>
                  <a:pt x="1362075" y="866775"/>
                </a:lnTo>
                <a:lnTo>
                  <a:pt x="1362075" y="876300"/>
                </a:lnTo>
                <a:lnTo>
                  <a:pt x="1343025" y="895350"/>
                </a:lnTo>
                <a:lnTo>
                  <a:pt x="1343025" y="904875"/>
                </a:lnTo>
                <a:lnTo>
                  <a:pt x="1333500" y="914400"/>
                </a:lnTo>
                <a:lnTo>
                  <a:pt x="1333500" y="923925"/>
                </a:lnTo>
                <a:lnTo>
                  <a:pt x="1323975" y="933450"/>
                </a:lnTo>
                <a:lnTo>
                  <a:pt x="1323975" y="942975"/>
                </a:lnTo>
                <a:lnTo>
                  <a:pt x="1314450" y="952500"/>
                </a:lnTo>
                <a:lnTo>
                  <a:pt x="1314450" y="971550"/>
                </a:lnTo>
                <a:lnTo>
                  <a:pt x="1304925" y="981075"/>
                </a:lnTo>
                <a:lnTo>
                  <a:pt x="1304925" y="1009650"/>
                </a:lnTo>
                <a:lnTo>
                  <a:pt x="1295400" y="1019175"/>
                </a:lnTo>
                <a:lnTo>
                  <a:pt x="1295400" y="1038225"/>
                </a:lnTo>
                <a:lnTo>
                  <a:pt x="1285875" y="1047750"/>
                </a:lnTo>
                <a:lnTo>
                  <a:pt x="1285875" y="1057275"/>
                </a:lnTo>
                <a:lnTo>
                  <a:pt x="1266825" y="1076325"/>
                </a:lnTo>
                <a:lnTo>
                  <a:pt x="1266825" y="1085850"/>
                </a:lnTo>
                <a:lnTo>
                  <a:pt x="1228725" y="1123950"/>
                </a:lnTo>
                <a:lnTo>
                  <a:pt x="1228725" y="1133475"/>
                </a:lnTo>
                <a:lnTo>
                  <a:pt x="1219200" y="1143000"/>
                </a:lnTo>
                <a:lnTo>
                  <a:pt x="1219200" y="1152525"/>
                </a:lnTo>
                <a:lnTo>
                  <a:pt x="1209675" y="1162050"/>
                </a:lnTo>
                <a:lnTo>
                  <a:pt x="1209675" y="1171575"/>
                </a:lnTo>
                <a:lnTo>
                  <a:pt x="1200150" y="1181100"/>
                </a:lnTo>
                <a:lnTo>
                  <a:pt x="1200150" y="1219200"/>
                </a:lnTo>
                <a:lnTo>
                  <a:pt x="1190625" y="1228725"/>
                </a:lnTo>
                <a:lnTo>
                  <a:pt x="1190625" y="1247775"/>
                </a:lnTo>
                <a:lnTo>
                  <a:pt x="1200150" y="1257300"/>
                </a:lnTo>
                <a:lnTo>
                  <a:pt x="1200150" y="1276350"/>
                </a:lnTo>
                <a:lnTo>
                  <a:pt x="1209675" y="1285875"/>
                </a:lnTo>
                <a:lnTo>
                  <a:pt x="1219200" y="1285875"/>
                </a:lnTo>
                <a:lnTo>
                  <a:pt x="1228725" y="1295400"/>
                </a:lnTo>
                <a:lnTo>
                  <a:pt x="1266825" y="1295400"/>
                </a:lnTo>
                <a:lnTo>
                  <a:pt x="1276350" y="1285875"/>
                </a:lnTo>
                <a:lnTo>
                  <a:pt x="1285875" y="1285875"/>
                </a:lnTo>
                <a:lnTo>
                  <a:pt x="1314450" y="1257300"/>
                </a:lnTo>
                <a:lnTo>
                  <a:pt x="1314450" y="1247775"/>
                </a:lnTo>
                <a:lnTo>
                  <a:pt x="1352550" y="1209675"/>
                </a:lnTo>
                <a:lnTo>
                  <a:pt x="1390650" y="1209675"/>
                </a:lnTo>
                <a:lnTo>
                  <a:pt x="1428750" y="1247775"/>
                </a:lnTo>
                <a:lnTo>
                  <a:pt x="1428750" y="1257300"/>
                </a:lnTo>
                <a:lnTo>
                  <a:pt x="1438275" y="1266825"/>
                </a:lnTo>
                <a:lnTo>
                  <a:pt x="1438275" y="1276350"/>
                </a:lnTo>
                <a:lnTo>
                  <a:pt x="1447800" y="1285875"/>
                </a:lnTo>
                <a:lnTo>
                  <a:pt x="1447800" y="1295400"/>
                </a:lnTo>
                <a:lnTo>
                  <a:pt x="1457325" y="1304925"/>
                </a:lnTo>
                <a:lnTo>
                  <a:pt x="1457325" y="1314450"/>
                </a:lnTo>
                <a:lnTo>
                  <a:pt x="1466850" y="1323975"/>
                </a:lnTo>
                <a:lnTo>
                  <a:pt x="1466850" y="1333500"/>
                </a:lnTo>
                <a:lnTo>
                  <a:pt x="1485900" y="1352550"/>
                </a:lnTo>
                <a:lnTo>
                  <a:pt x="1485900" y="1362075"/>
                </a:lnTo>
                <a:lnTo>
                  <a:pt x="1495425" y="1371600"/>
                </a:lnTo>
                <a:lnTo>
                  <a:pt x="1504950" y="1371600"/>
                </a:lnTo>
                <a:lnTo>
                  <a:pt x="1524000" y="1390650"/>
                </a:lnTo>
                <a:lnTo>
                  <a:pt x="1562100" y="1390650"/>
                </a:lnTo>
                <a:lnTo>
                  <a:pt x="1571625" y="1381125"/>
                </a:lnTo>
                <a:lnTo>
                  <a:pt x="1581150" y="1381125"/>
                </a:lnTo>
                <a:lnTo>
                  <a:pt x="1590675" y="1371600"/>
                </a:lnTo>
                <a:lnTo>
                  <a:pt x="1600200" y="1371600"/>
                </a:lnTo>
                <a:lnTo>
                  <a:pt x="1619250" y="1352550"/>
                </a:lnTo>
                <a:lnTo>
                  <a:pt x="1628775" y="1352550"/>
                </a:lnTo>
                <a:lnTo>
                  <a:pt x="1638300" y="1343025"/>
                </a:lnTo>
                <a:lnTo>
                  <a:pt x="1685925" y="1343025"/>
                </a:lnTo>
                <a:lnTo>
                  <a:pt x="1695450" y="1352550"/>
                </a:lnTo>
                <a:lnTo>
                  <a:pt x="1704975" y="1352550"/>
                </a:lnTo>
                <a:lnTo>
                  <a:pt x="1714500" y="1362075"/>
                </a:lnTo>
                <a:lnTo>
                  <a:pt x="1724025" y="1362075"/>
                </a:lnTo>
                <a:lnTo>
                  <a:pt x="1733550" y="1371600"/>
                </a:lnTo>
                <a:lnTo>
                  <a:pt x="1743075" y="1371600"/>
                </a:lnTo>
                <a:lnTo>
                  <a:pt x="1752600" y="1381125"/>
                </a:lnTo>
                <a:lnTo>
                  <a:pt x="1828800" y="1381125"/>
                </a:lnTo>
                <a:lnTo>
                  <a:pt x="1838325" y="1371600"/>
                </a:lnTo>
                <a:lnTo>
                  <a:pt x="1847850" y="1371600"/>
                </a:lnTo>
                <a:lnTo>
                  <a:pt x="1857375" y="1362075"/>
                </a:lnTo>
                <a:lnTo>
                  <a:pt x="1866900" y="1362075"/>
                </a:lnTo>
                <a:lnTo>
                  <a:pt x="1876425" y="1352550"/>
                </a:lnTo>
                <a:lnTo>
                  <a:pt x="1876425" y="1343025"/>
                </a:lnTo>
                <a:lnTo>
                  <a:pt x="1885950" y="1333500"/>
                </a:lnTo>
                <a:lnTo>
                  <a:pt x="1885950" y="1323975"/>
                </a:lnTo>
                <a:lnTo>
                  <a:pt x="1895475" y="1314450"/>
                </a:lnTo>
                <a:lnTo>
                  <a:pt x="1895475" y="1295400"/>
                </a:lnTo>
                <a:lnTo>
                  <a:pt x="1905000" y="1285875"/>
                </a:lnTo>
                <a:lnTo>
                  <a:pt x="1905000" y="1247775"/>
                </a:lnTo>
                <a:lnTo>
                  <a:pt x="1914525" y="1238250"/>
                </a:lnTo>
                <a:lnTo>
                  <a:pt x="1914525" y="1200150"/>
                </a:lnTo>
                <a:lnTo>
                  <a:pt x="1924050" y="1190625"/>
                </a:lnTo>
                <a:lnTo>
                  <a:pt x="1924050" y="1171575"/>
                </a:lnTo>
                <a:lnTo>
                  <a:pt x="1933575" y="1162050"/>
                </a:lnTo>
                <a:lnTo>
                  <a:pt x="1933575" y="1152525"/>
                </a:lnTo>
                <a:lnTo>
                  <a:pt x="1971675" y="1114425"/>
                </a:lnTo>
                <a:lnTo>
                  <a:pt x="1990725" y="1114425"/>
                </a:lnTo>
                <a:lnTo>
                  <a:pt x="2000250" y="1104900"/>
                </a:lnTo>
                <a:lnTo>
                  <a:pt x="2009775" y="1104900"/>
                </a:lnTo>
                <a:lnTo>
                  <a:pt x="2028825" y="1085850"/>
                </a:lnTo>
                <a:lnTo>
                  <a:pt x="2028825" y="1076325"/>
                </a:lnTo>
                <a:lnTo>
                  <a:pt x="2038350" y="1066800"/>
                </a:lnTo>
                <a:lnTo>
                  <a:pt x="2038350" y="1047750"/>
                </a:lnTo>
                <a:lnTo>
                  <a:pt x="2047875" y="1038225"/>
                </a:lnTo>
                <a:lnTo>
                  <a:pt x="2047875" y="1019175"/>
                </a:lnTo>
                <a:lnTo>
                  <a:pt x="2057400" y="1009650"/>
                </a:lnTo>
                <a:lnTo>
                  <a:pt x="2057400" y="1000125"/>
                </a:lnTo>
                <a:lnTo>
                  <a:pt x="2095500" y="962025"/>
                </a:lnTo>
                <a:lnTo>
                  <a:pt x="2105025" y="962025"/>
                </a:lnTo>
                <a:lnTo>
                  <a:pt x="2114550" y="952500"/>
                </a:lnTo>
                <a:lnTo>
                  <a:pt x="2133600" y="952500"/>
                </a:lnTo>
                <a:lnTo>
                  <a:pt x="2143125" y="942975"/>
                </a:lnTo>
                <a:lnTo>
                  <a:pt x="2219325" y="942975"/>
                </a:lnTo>
                <a:lnTo>
                  <a:pt x="2228850" y="952500"/>
                </a:lnTo>
                <a:lnTo>
                  <a:pt x="2247900" y="952500"/>
                </a:lnTo>
                <a:lnTo>
                  <a:pt x="2257425" y="962025"/>
                </a:lnTo>
                <a:lnTo>
                  <a:pt x="2286000" y="962025"/>
                </a:lnTo>
                <a:lnTo>
                  <a:pt x="2295525" y="971550"/>
                </a:lnTo>
                <a:lnTo>
                  <a:pt x="2324100" y="971550"/>
                </a:lnTo>
                <a:lnTo>
                  <a:pt x="2333625" y="981075"/>
                </a:lnTo>
                <a:lnTo>
                  <a:pt x="2352675" y="981075"/>
                </a:lnTo>
                <a:lnTo>
                  <a:pt x="2362200" y="990600"/>
                </a:lnTo>
                <a:lnTo>
                  <a:pt x="2371725" y="990600"/>
                </a:lnTo>
                <a:lnTo>
                  <a:pt x="2419350" y="1038225"/>
                </a:lnTo>
                <a:lnTo>
                  <a:pt x="2419350" y="1066800"/>
                </a:lnTo>
                <a:lnTo>
                  <a:pt x="2409825" y="1076325"/>
                </a:lnTo>
                <a:lnTo>
                  <a:pt x="2409825" y="1104900"/>
                </a:lnTo>
                <a:lnTo>
                  <a:pt x="2400300" y="1114425"/>
                </a:lnTo>
                <a:lnTo>
                  <a:pt x="2400300" y="1123950"/>
                </a:lnTo>
                <a:lnTo>
                  <a:pt x="2390775" y="1133475"/>
                </a:lnTo>
                <a:lnTo>
                  <a:pt x="2390775" y="1143000"/>
                </a:lnTo>
                <a:lnTo>
                  <a:pt x="2381250" y="1152525"/>
                </a:lnTo>
                <a:lnTo>
                  <a:pt x="2381250" y="1162050"/>
                </a:lnTo>
                <a:lnTo>
                  <a:pt x="2371725" y="1171575"/>
                </a:lnTo>
                <a:lnTo>
                  <a:pt x="2371725" y="1181100"/>
                </a:lnTo>
                <a:lnTo>
                  <a:pt x="2324100" y="1228725"/>
                </a:lnTo>
                <a:lnTo>
                  <a:pt x="2266950" y="1228725"/>
                </a:lnTo>
                <a:lnTo>
                  <a:pt x="2257425" y="1219200"/>
                </a:lnTo>
                <a:lnTo>
                  <a:pt x="2219325" y="1219200"/>
                </a:lnTo>
                <a:lnTo>
                  <a:pt x="2209800" y="1209675"/>
                </a:lnTo>
                <a:lnTo>
                  <a:pt x="2200275" y="1209675"/>
                </a:lnTo>
                <a:lnTo>
                  <a:pt x="2190750" y="1219200"/>
                </a:lnTo>
                <a:lnTo>
                  <a:pt x="2162175" y="1219200"/>
                </a:lnTo>
                <a:lnTo>
                  <a:pt x="2133600" y="1247775"/>
                </a:lnTo>
                <a:lnTo>
                  <a:pt x="2133600" y="1314450"/>
                </a:lnTo>
                <a:lnTo>
                  <a:pt x="2143125" y="1323975"/>
                </a:lnTo>
                <a:lnTo>
                  <a:pt x="2143125" y="1343025"/>
                </a:lnTo>
                <a:lnTo>
                  <a:pt x="2152650" y="1352550"/>
                </a:lnTo>
                <a:lnTo>
                  <a:pt x="2152650" y="1362075"/>
                </a:lnTo>
                <a:lnTo>
                  <a:pt x="2162175" y="1371600"/>
                </a:lnTo>
                <a:lnTo>
                  <a:pt x="2162175" y="1381125"/>
                </a:lnTo>
                <a:lnTo>
                  <a:pt x="2171700" y="1390650"/>
                </a:lnTo>
                <a:lnTo>
                  <a:pt x="2171700" y="1447800"/>
                </a:lnTo>
                <a:lnTo>
                  <a:pt x="2162175" y="1457325"/>
                </a:lnTo>
                <a:lnTo>
                  <a:pt x="2162175" y="1571625"/>
                </a:lnTo>
                <a:lnTo>
                  <a:pt x="2171700" y="1581150"/>
                </a:lnTo>
                <a:lnTo>
                  <a:pt x="2171700" y="1590675"/>
                </a:lnTo>
                <a:lnTo>
                  <a:pt x="2181225" y="1600200"/>
                </a:lnTo>
                <a:lnTo>
                  <a:pt x="2181225" y="1619250"/>
                </a:lnTo>
                <a:lnTo>
                  <a:pt x="2190750" y="1628775"/>
                </a:lnTo>
                <a:lnTo>
                  <a:pt x="2190750" y="1657350"/>
                </a:lnTo>
                <a:lnTo>
                  <a:pt x="2181225" y="1666875"/>
                </a:lnTo>
                <a:lnTo>
                  <a:pt x="2181225" y="1676400"/>
                </a:lnTo>
                <a:lnTo>
                  <a:pt x="2152650" y="1704975"/>
                </a:lnTo>
                <a:lnTo>
                  <a:pt x="2152650" y="1714500"/>
                </a:lnTo>
                <a:lnTo>
                  <a:pt x="2133600" y="1733550"/>
                </a:lnTo>
                <a:lnTo>
                  <a:pt x="2133600" y="1743075"/>
                </a:lnTo>
                <a:lnTo>
                  <a:pt x="2124075" y="1752600"/>
                </a:lnTo>
                <a:lnTo>
                  <a:pt x="2124075" y="1819275"/>
                </a:lnTo>
                <a:lnTo>
                  <a:pt x="2133600" y="1828800"/>
                </a:lnTo>
                <a:lnTo>
                  <a:pt x="2133600" y="1838325"/>
                </a:lnTo>
                <a:lnTo>
                  <a:pt x="2143125" y="1847850"/>
                </a:lnTo>
                <a:lnTo>
                  <a:pt x="2143125" y="1857375"/>
                </a:lnTo>
                <a:lnTo>
                  <a:pt x="2162175" y="1876425"/>
                </a:lnTo>
                <a:lnTo>
                  <a:pt x="2171700" y="1876425"/>
                </a:lnTo>
                <a:lnTo>
                  <a:pt x="2190750" y="1895475"/>
                </a:lnTo>
                <a:lnTo>
                  <a:pt x="2200275" y="1895475"/>
                </a:lnTo>
                <a:lnTo>
                  <a:pt x="2209800" y="1905000"/>
                </a:lnTo>
                <a:lnTo>
                  <a:pt x="2219325" y="1905000"/>
                </a:lnTo>
                <a:lnTo>
                  <a:pt x="2228850" y="1914525"/>
                </a:lnTo>
                <a:lnTo>
                  <a:pt x="2238375" y="1914525"/>
                </a:lnTo>
                <a:lnTo>
                  <a:pt x="2247900" y="1924050"/>
                </a:lnTo>
                <a:lnTo>
                  <a:pt x="2257425" y="1924050"/>
                </a:lnTo>
                <a:lnTo>
                  <a:pt x="2266950" y="1933575"/>
                </a:lnTo>
                <a:lnTo>
                  <a:pt x="2276475" y="1933575"/>
                </a:lnTo>
                <a:lnTo>
                  <a:pt x="2286000" y="1943100"/>
                </a:lnTo>
                <a:lnTo>
                  <a:pt x="2333625" y="1943100"/>
                </a:lnTo>
                <a:lnTo>
                  <a:pt x="2362200" y="1914525"/>
                </a:lnTo>
                <a:lnTo>
                  <a:pt x="2362200" y="1895475"/>
                </a:lnTo>
                <a:lnTo>
                  <a:pt x="2371725" y="1885950"/>
                </a:lnTo>
                <a:lnTo>
                  <a:pt x="2371725" y="1838325"/>
                </a:lnTo>
                <a:lnTo>
                  <a:pt x="2381250" y="1828800"/>
                </a:lnTo>
                <a:lnTo>
                  <a:pt x="2381250" y="1809750"/>
                </a:lnTo>
                <a:lnTo>
                  <a:pt x="2428875" y="1762125"/>
                </a:lnTo>
                <a:lnTo>
                  <a:pt x="2476500" y="1762125"/>
                </a:lnTo>
                <a:lnTo>
                  <a:pt x="2495550" y="1781175"/>
                </a:lnTo>
                <a:lnTo>
                  <a:pt x="2505075" y="1781175"/>
                </a:lnTo>
                <a:lnTo>
                  <a:pt x="2543175" y="1819275"/>
                </a:lnTo>
                <a:lnTo>
                  <a:pt x="2543175" y="1828800"/>
                </a:lnTo>
                <a:lnTo>
                  <a:pt x="2609850" y="1895475"/>
                </a:lnTo>
                <a:lnTo>
                  <a:pt x="2619375" y="1895475"/>
                </a:lnTo>
                <a:lnTo>
                  <a:pt x="2628900" y="1905000"/>
                </a:lnTo>
                <a:lnTo>
                  <a:pt x="2657475" y="1905000"/>
                </a:lnTo>
                <a:lnTo>
                  <a:pt x="2667000" y="1914525"/>
                </a:lnTo>
                <a:lnTo>
                  <a:pt x="2857500" y="1914525"/>
                </a:lnTo>
                <a:lnTo>
                  <a:pt x="2886075" y="1943100"/>
                </a:lnTo>
                <a:lnTo>
                  <a:pt x="2895600" y="1943100"/>
                </a:lnTo>
                <a:lnTo>
                  <a:pt x="2905125" y="1952625"/>
                </a:lnTo>
                <a:lnTo>
                  <a:pt x="2924175" y="1952625"/>
                </a:lnTo>
                <a:lnTo>
                  <a:pt x="2933700" y="1962150"/>
                </a:lnTo>
                <a:lnTo>
                  <a:pt x="2962275" y="1962150"/>
                </a:lnTo>
                <a:lnTo>
                  <a:pt x="2971800" y="1971675"/>
                </a:lnTo>
                <a:lnTo>
                  <a:pt x="3076575" y="1971675"/>
                </a:lnTo>
                <a:lnTo>
                  <a:pt x="3086100" y="1981200"/>
                </a:lnTo>
                <a:lnTo>
                  <a:pt x="3105150" y="1981200"/>
                </a:lnTo>
                <a:lnTo>
                  <a:pt x="3143250" y="2019300"/>
                </a:lnTo>
                <a:lnTo>
                  <a:pt x="3143250" y="2028825"/>
                </a:lnTo>
                <a:lnTo>
                  <a:pt x="3152775" y="2038350"/>
                </a:lnTo>
                <a:lnTo>
                  <a:pt x="3152775" y="2057400"/>
                </a:lnTo>
                <a:lnTo>
                  <a:pt x="3162300" y="2066925"/>
                </a:lnTo>
                <a:lnTo>
                  <a:pt x="3162300" y="2105025"/>
                </a:lnTo>
                <a:lnTo>
                  <a:pt x="3171825" y="2114550"/>
                </a:lnTo>
                <a:lnTo>
                  <a:pt x="3171825" y="2219325"/>
                </a:lnTo>
                <a:lnTo>
                  <a:pt x="3133725" y="2257425"/>
                </a:lnTo>
                <a:lnTo>
                  <a:pt x="3124200" y="2257425"/>
                </a:lnTo>
                <a:lnTo>
                  <a:pt x="3114675" y="2266950"/>
                </a:lnTo>
                <a:lnTo>
                  <a:pt x="3105150" y="2266950"/>
                </a:lnTo>
                <a:lnTo>
                  <a:pt x="3095625" y="2276475"/>
                </a:lnTo>
                <a:lnTo>
                  <a:pt x="3076575" y="2276475"/>
                </a:lnTo>
                <a:lnTo>
                  <a:pt x="3048000" y="2305050"/>
                </a:lnTo>
                <a:lnTo>
                  <a:pt x="3038475" y="2305050"/>
                </a:lnTo>
                <a:lnTo>
                  <a:pt x="3009900" y="2333625"/>
                </a:lnTo>
                <a:lnTo>
                  <a:pt x="3000375" y="2333625"/>
                </a:lnTo>
                <a:lnTo>
                  <a:pt x="2990850" y="2343150"/>
                </a:lnTo>
                <a:lnTo>
                  <a:pt x="2971800" y="2343150"/>
                </a:lnTo>
                <a:lnTo>
                  <a:pt x="2962275" y="2333625"/>
                </a:lnTo>
                <a:lnTo>
                  <a:pt x="2933700" y="2333625"/>
                </a:lnTo>
                <a:lnTo>
                  <a:pt x="2924175" y="2324100"/>
                </a:lnTo>
                <a:lnTo>
                  <a:pt x="2876550" y="2324100"/>
                </a:lnTo>
                <a:lnTo>
                  <a:pt x="2867025" y="2314575"/>
                </a:lnTo>
                <a:lnTo>
                  <a:pt x="2828925" y="2314575"/>
                </a:lnTo>
                <a:lnTo>
                  <a:pt x="2819400" y="2324100"/>
                </a:lnTo>
                <a:lnTo>
                  <a:pt x="2743200" y="2324100"/>
                </a:lnTo>
                <a:lnTo>
                  <a:pt x="2733675" y="2333625"/>
                </a:lnTo>
                <a:lnTo>
                  <a:pt x="2714625" y="2333625"/>
                </a:lnTo>
                <a:lnTo>
                  <a:pt x="2705100" y="2343150"/>
                </a:lnTo>
                <a:lnTo>
                  <a:pt x="2695575" y="2343150"/>
                </a:lnTo>
                <a:lnTo>
                  <a:pt x="2686050" y="2352675"/>
                </a:lnTo>
                <a:lnTo>
                  <a:pt x="2676525" y="2352675"/>
                </a:lnTo>
                <a:lnTo>
                  <a:pt x="2628900" y="2400300"/>
                </a:lnTo>
                <a:lnTo>
                  <a:pt x="2628900" y="2409825"/>
                </a:lnTo>
                <a:lnTo>
                  <a:pt x="2619375" y="2419350"/>
                </a:lnTo>
                <a:lnTo>
                  <a:pt x="2619375" y="2428875"/>
                </a:lnTo>
                <a:lnTo>
                  <a:pt x="2609850" y="2438400"/>
                </a:lnTo>
                <a:lnTo>
                  <a:pt x="2609850" y="2514600"/>
                </a:lnTo>
                <a:lnTo>
                  <a:pt x="2619375" y="2524125"/>
                </a:lnTo>
                <a:lnTo>
                  <a:pt x="2619375" y="2533650"/>
                </a:lnTo>
                <a:lnTo>
                  <a:pt x="2628900" y="2543175"/>
                </a:lnTo>
                <a:lnTo>
                  <a:pt x="2628900" y="2552700"/>
                </a:lnTo>
                <a:lnTo>
                  <a:pt x="2686050" y="2609850"/>
                </a:lnTo>
                <a:lnTo>
                  <a:pt x="2695575" y="2609850"/>
                </a:lnTo>
                <a:lnTo>
                  <a:pt x="2733675" y="2647950"/>
                </a:lnTo>
                <a:lnTo>
                  <a:pt x="2733675" y="2657475"/>
                </a:lnTo>
                <a:lnTo>
                  <a:pt x="2743200" y="2667000"/>
                </a:lnTo>
                <a:lnTo>
                  <a:pt x="2743200" y="2705100"/>
                </a:lnTo>
                <a:lnTo>
                  <a:pt x="2752725" y="2714625"/>
                </a:lnTo>
                <a:lnTo>
                  <a:pt x="2752725" y="2743200"/>
                </a:lnTo>
                <a:lnTo>
                  <a:pt x="2762250" y="2752725"/>
                </a:lnTo>
                <a:lnTo>
                  <a:pt x="2762250" y="2771775"/>
                </a:lnTo>
                <a:lnTo>
                  <a:pt x="2771775" y="2781300"/>
                </a:lnTo>
                <a:lnTo>
                  <a:pt x="2771775" y="2790825"/>
                </a:lnTo>
                <a:lnTo>
                  <a:pt x="2838450" y="2857500"/>
                </a:lnTo>
                <a:lnTo>
                  <a:pt x="2847975" y="2857500"/>
                </a:lnTo>
                <a:lnTo>
                  <a:pt x="2876550" y="2886075"/>
                </a:lnTo>
                <a:lnTo>
                  <a:pt x="2876550" y="2895600"/>
                </a:lnTo>
                <a:lnTo>
                  <a:pt x="2886075" y="2905125"/>
                </a:lnTo>
                <a:lnTo>
                  <a:pt x="2886075" y="2924175"/>
                </a:lnTo>
                <a:lnTo>
                  <a:pt x="2895600" y="2933700"/>
                </a:lnTo>
                <a:lnTo>
                  <a:pt x="2895600" y="2990850"/>
                </a:lnTo>
                <a:lnTo>
                  <a:pt x="2905125" y="3000375"/>
                </a:lnTo>
                <a:lnTo>
                  <a:pt x="2905125" y="3019425"/>
                </a:lnTo>
                <a:lnTo>
                  <a:pt x="2924175" y="3038475"/>
                </a:lnTo>
                <a:lnTo>
                  <a:pt x="2924175" y="3048000"/>
                </a:lnTo>
                <a:lnTo>
                  <a:pt x="2933700" y="3057525"/>
                </a:lnTo>
                <a:lnTo>
                  <a:pt x="2933700" y="3067050"/>
                </a:lnTo>
                <a:lnTo>
                  <a:pt x="2952750" y="3086100"/>
                </a:lnTo>
                <a:lnTo>
                  <a:pt x="2952750" y="3124200"/>
                </a:lnTo>
                <a:lnTo>
                  <a:pt x="2943225" y="3133725"/>
                </a:lnTo>
                <a:lnTo>
                  <a:pt x="2933700" y="3133725"/>
                </a:lnTo>
                <a:lnTo>
                  <a:pt x="2924175" y="3143250"/>
                </a:lnTo>
                <a:lnTo>
                  <a:pt x="2886075" y="3143250"/>
                </a:lnTo>
                <a:lnTo>
                  <a:pt x="2876550" y="3133725"/>
                </a:lnTo>
                <a:lnTo>
                  <a:pt x="2867025" y="3133725"/>
                </a:lnTo>
                <a:lnTo>
                  <a:pt x="2857500" y="3124200"/>
                </a:lnTo>
                <a:lnTo>
                  <a:pt x="2857500" y="3114675"/>
                </a:lnTo>
                <a:lnTo>
                  <a:pt x="2847975" y="3105150"/>
                </a:lnTo>
                <a:lnTo>
                  <a:pt x="2847975" y="3095625"/>
                </a:lnTo>
                <a:lnTo>
                  <a:pt x="2838450" y="3086100"/>
                </a:lnTo>
                <a:lnTo>
                  <a:pt x="2838450" y="3076575"/>
                </a:lnTo>
                <a:lnTo>
                  <a:pt x="2828925" y="3067050"/>
                </a:lnTo>
                <a:lnTo>
                  <a:pt x="2828925" y="3057525"/>
                </a:lnTo>
                <a:lnTo>
                  <a:pt x="2819400" y="3048000"/>
                </a:lnTo>
                <a:lnTo>
                  <a:pt x="2819400" y="3038475"/>
                </a:lnTo>
                <a:lnTo>
                  <a:pt x="2809875" y="3028950"/>
                </a:lnTo>
                <a:lnTo>
                  <a:pt x="2800350" y="3028950"/>
                </a:lnTo>
                <a:lnTo>
                  <a:pt x="2790825" y="3019425"/>
                </a:lnTo>
                <a:lnTo>
                  <a:pt x="2781300" y="3019425"/>
                </a:lnTo>
                <a:lnTo>
                  <a:pt x="2771775" y="3009900"/>
                </a:lnTo>
                <a:lnTo>
                  <a:pt x="2752725" y="3009900"/>
                </a:lnTo>
                <a:lnTo>
                  <a:pt x="2743200" y="3000375"/>
                </a:lnTo>
                <a:lnTo>
                  <a:pt x="2705100" y="3000375"/>
                </a:lnTo>
                <a:lnTo>
                  <a:pt x="2695575" y="2990850"/>
                </a:lnTo>
                <a:lnTo>
                  <a:pt x="2571750" y="2990850"/>
                </a:lnTo>
                <a:lnTo>
                  <a:pt x="2562225" y="3000375"/>
                </a:lnTo>
                <a:lnTo>
                  <a:pt x="2543175" y="3000375"/>
                </a:lnTo>
                <a:lnTo>
                  <a:pt x="2533650" y="3009900"/>
                </a:lnTo>
                <a:lnTo>
                  <a:pt x="2514600" y="3009900"/>
                </a:lnTo>
                <a:lnTo>
                  <a:pt x="2505075" y="3019425"/>
                </a:lnTo>
                <a:lnTo>
                  <a:pt x="2476500" y="3019425"/>
                </a:lnTo>
                <a:lnTo>
                  <a:pt x="2466975" y="3028950"/>
                </a:lnTo>
                <a:lnTo>
                  <a:pt x="2343150" y="3028950"/>
                </a:lnTo>
                <a:lnTo>
                  <a:pt x="2333625" y="3038475"/>
                </a:lnTo>
                <a:lnTo>
                  <a:pt x="2286000" y="3038475"/>
                </a:lnTo>
                <a:lnTo>
                  <a:pt x="2276475" y="3048000"/>
                </a:lnTo>
                <a:lnTo>
                  <a:pt x="2247900" y="3048000"/>
                </a:lnTo>
                <a:lnTo>
                  <a:pt x="2238375" y="3057525"/>
                </a:lnTo>
                <a:lnTo>
                  <a:pt x="2209800" y="3057525"/>
                </a:lnTo>
                <a:lnTo>
                  <a:pt x="2200275" y="3067050"/>
                </a:lnTo>
                <a:lnTo>
                  <a:pt x="2124075" y="3067050"/>
                </a:lnTo>
                <a:lnTo>
                  <a:pt x="2105025" y="3048000"/>
                </a:lnTo>
                <a:lnTo>
                  <a:pt x="2105025" y="3028950"/>
                </a:lnTo>
                <a:lnTo>
                  <a:pt x="2095500" y="3019425"/>
                </a:lnTo>
                <a:lnTo>
                  <a:pt x="2095500" y="2971800"/>
                </a:lnTo>
                <a:lnTo>
                  <a:pt x="2085975" y="2962275"/>
                </a:lnTo>
                <a:lnTo>
                  <a:pt x="2085975" y="2943225"/>
                </a:lnTo>
                <a:lnTo>
                  <a:pt x="2066925" y="2924175"/>
                </a:lnTo>
                <a:lnTo>
                  <a:pt x="2047875" y="2924175"/>
                </a:lnTo>
                <a:lnTo>
                  <a:pt x="2019300" y="2952750"/>
                </a:lnTo>
                <a:lnTo>
                  <a:pt x="2019300" y="2971800"/>
                </a:lnTo>
                <a:lnTo>
                  <a:pt x="2009775" y="2981325"/>
                </a:lnTo>
                <a:lnTo>
                  <a:pt x="2009775" y="3019425"/>
                </a:lnTo>
                <a:lnTo>
                  <a:pt x="2019300" y="3028950"/>
                </a:lnTo>
                <a:lnTo>
                  <a:pt x="2019300" y="3038475"/>
                </a:lnTo>
                <a:lnTo>
                  <a:pt x="2028825" y="3048000"/>
                </a:lnTo>
                <a:lnTo>
                  <a:pt x="2038350" y="3048000"/>
                </a:lnTo>
                <a:lnTo>
                  <a:pt x="2047875" y="3057525"/>
                </a:lnTo>
                <a:lnTo>
                  <a:pt x="2057400" y="3057525"/>
                </a:lnTo>
                <a:lnTo>
                  <a:pt x="2085975" y="3086100"/>
                </a:lnTo>
                <a:lnTo>
                  <a:pt x="2085975" y="3095625"/>
                </a:lnTo>
                <a:lnTo>
                  <a:pt x="2047875" y="3133725"/>
                </a:lnTo>
                <a:lnTo>
                  <a:pt x="2038350" y="3133725"/>
                </a:lnTo>
                <a:lnTo>
                  <a:pt x="2028825" y="3143250"/>
                </a:lnTo>
                <a:lnTo>
                  <a:pt x="2019300" y="3143250"/>
                </a:lnTo>
                <a:lnTo>
                  <a:pt x="2000250" y="3162300"/>
                </a:lnTo>
                <a:lnTo>
                  <a:pt x="1990725" y="3162300"/>
                </a:lnTo>
                <a:lnTo>
                  <a:pt x="1990725" y="3171825"/>
                </a:lnTo>
                <a:lnTo>
                  <a:pt x="1981200" y="3181350"/>
                </a:lnTo>
                <a:lnTo>
                  <a:pt x="1981200" y="3190875"/>
                </a:lnTo>
                <a:lnTo>
                  <a:pt x="1971675" y="3200400"/>
                </a:lnTo>
                <a:lnTo>
                  <a:pt x="1971675" y="3238500"/>
                </a:lnTo>
                <a:lnTo>
                  <a:pt x="1962150" y="3248025"/>
                </a:lnTo>
                <a:lnTo>
                  <a:pt x="1962150" y="3333750"/>
                </a:lnTo>
                <a:lnTo>
                  <a:pt x="1971675" y="3343275"/>
                </a:lnTo>
                <a:lnTo>
                  <a:pt x="1971675" y="3362325"/>
                </a:lnTo>
                <a:lnTo>
                  <a:pt x="1981200" y="3371850"/>
                </a:lnTo>
                <a:lnTo>
                  <a:pt x="1990725" y="3371850"/>
                </a:lnTo>
                <a:lnTo>
                  <a:pt x="2000250" y="3381375"/>
                </a:lnTo>
                <a:lnTo>
                  <a:pt x="2019300" y="3381375"/>
                </a:lnTo>
                <a:lnTo>
                  <a:pt x="2057400" y="3419475"/>
                </a:lnTo>
                <a:lnTo>
                  <a:pt x="2057400" y="3476625"/>
                </a:lnTo>
                <a:lnTo>
                  <a:pt x="2047875" y="3486150"/>
                </a:lnTo>
                <a:lnTo>
                  <a:pt x="2047875" y="3495675"/>
                </a:lnTo>
                <a:lnTo>
                  <a:pt x="2038350" y="3505200"/>
                </a:lnTo>
                <a:lnTo>
                  <a:pt x="2038350" y="3533775"/>
                </a:lnTo>
                <a:lnTo>
                  <a:pt x="2047875" y="3543300"/>
                </a:lnTo>
                <a:lnTo>
                  <a:pt x="2047875" y="3552825"/>
                </a:lnTo>
                <a:lnTo>
                  <a:pt x="2057400" y="3562350"/>
                </a:lnTo>
                <a:lnTo>
                  <a:pt x="2057400" y="3571875"/>
                </a:lnTo>
                <a:lnTo>
                  <a:pt x="2085975" y="3600450"/>
                </a:lnTo>
                <a:lnTo>
                  <a:pt x="2085975" y="3609975"/>
                </a:lnTo>
                <a:lnTo>
                  <a:pt x="2105025" y="3629025"/>
                </a:lnTo>
                <a:lnTo>
                  <a:pt x="2105025" y="3657600"/>
                </a:lnTo>
                <a:lnTo>
                  <a:pt x="2114550" y="3667125"/>
                </a:lnTo>
                <a:lnTo>
                  <a:pt x="2105025" y="3676650"/>
                </a:lnTo>
                <a:lnTo>
                  <a:pt x="2105025" y="3705225"/>
                </a:lnTo>
                <a:lnTo>
                  <a:pt x="2095500" y="3714750"/>
                </a:lnTo>
                <a:lnTo>
                  <a:pt x="2095500" y="3724275"/>
                </a:lnTo>
                <a:lnTo>
                  <a:pt x="2085975" y="3733800"/>
                </a:lnTo>
                <a:lnTo>
                  <a:pt x="2085975" y="3743325"/>
                </a:lnTo>
                <a:lnTo>
                  <a:pt x="2057400" y="3771900"/>
                </a:lnTo>
                <a:lnTo>
                  <a:pt x="2038350" y="3771900"/>
                </a:lnTo>
                <a:lnTo>
                  <a:pt x="2028825" y="3762375"/>
                </a:lnTo>
                <a:lnTo>
                  <a:pt x="2019300" y="3762375"/>
                </a:lnTo>
                <a:lnTo>
                  <a:pt x="2000250" y="3743325"/>
                </a:lnTo>
                <a:lnTo>
                  <a:pt x="1990725" y="3743325"/>
                </a:lnTo>
                <a:lnTo>
                  <a:pt x="1981200" y="3733800"/>
                </a:lnTo>
                <a:lnTo>
                  <a:pt x="1971675" y="3733800"/>
                </a:lnTo>
                <a:lnTo>
                  <a:pt x="1933575" y="3695700"/>
                </a:lnTo>
                <a:lnTo>
                  <a:pt x="1933575" y="3686175"/>
                </a:lnTo>
                <a:lnTo>
                  <a:pt x="1924050" y="3676650"/>
                </a:lnTo>
                <a:lnTo>
                  <a:pt x="1924050" y="3667125"/>
                </a:lnTo>
                <a:lnTo>
                  <a:pt x="1914525" y="3657600"/>
                </a:lnTo>
                <a:lnTo>
                  <a:pt x="1914525" y="3629025"/>
                </a:lnTo>
                <a:lnTo>
                  <a:pt x="1905000" y="3619500"/>
                </a:lnTo>
                <a:lnTo>
                  <a:pt x="1905000" y="3419475"/>
                </a:lnTo>
                <a:lnTo>
                  <a:pt x="1895475" y="3409950"/>
                </a:lnTo>
                <a:lnTo>
                  <a:pt x="1857375" y="3409950"/>
                </a:lnTo>
                <a:lnTo>
                  <a:pt x="1847850" y="3400425"/>
                </a:lnTo>
                <a:lnTo>
                  <a:pt x="1771650" y="3400425"/>
                </a:lnTo>
                <a:lnTo>
                  <a:pt x="1762125" y="3390900"/>
                </a:lnTo>
                <a:lnTo>
                  <a:pt x="1724025" y="3390900"/>
                </a:lnTo>
                <a:lnTo>
                  <a:pt x="1714500" y="3381375"/>
                </a:lnTo>
                <a:lnTo>
                  <a:pt x="1685925" y="3381375"/>
                </a:lnTo>
                <a:lnTo>
                  <a:pt x="1676400" y="3371850"/>
                </a:lnTo>
                <a:lnTo>
                  <a:pt x="1657350" y="3371850"/>
                </a:lnTo>
                <a:lnTo>
                  <a:pt x="1647825" y="3362325"/>
                </a:lnTo>
                <a:lnTo>
                  <a:pt x="1628775" y="3362325"/>
                </a:lnTo>
                <a:lnTo>
                  <a:pt x="1619250" y="3352800"/>
                </a:lnTo>
                <a:lnTo>
                  <a:pt x="1609725" y="3352800"/>
                </a:lnTo>
                <a:lnTo>
                  <a:pt x="1600200" y="3343275"/>
                </a:lnTo>
                <a:lnTo>
                  <a:pt x="1590675" y="3343275"/>
                </a:lnTo>
                <a:lnTo>
                  <a:pt x="1581150" y="3333750"/>
                </a:lnTo>
                <a:lnTo>
                  <a:pt x="1562100" y="3333750"/>
                </a:lnTo>
                <a:lnTo>
                  <a:pt x="1552575" y="3324225"/>
                </a:lnTo>
                <a:lnTo>
                  <a:pt x="1533525" y="3324225"/>
                </a:lnTo>
                <a:lnTo>
                  <a:pt x="1524000" y="3314700"/>
                </a:lnTo>
                <a:lnTo>
                  <a:pt x="1485900" y="3314700"/>
                </a:lnTo>
                <a:lnTo>
                  <a:pt x="1476375" y="3305175"/>
                </a:lnTo>
                <a:lnTo>
                  <a:pt x="1419225" y="3305175"/>
                </a:lnTo>
                <a:lnTo>
                  <a:pt x="1409700" y="3295650"/>
                </a:lnTo>
                <a:lnTo>
                  <a:pt x="1381125" y="3295650"/>
                </a:lnTo>
                <a:lnTo>
                  <a:pt x="1371600" y="3286125"/>
                </a:lnTo>
                <a:lnTo>
                  <a:pt x="1362075" y="3286125"/>
                </a:lnTo>
                <a:lnTo>
                  <a:pt x="1352550" y="3276600"/>
                </a:lnTo>
                <a:lnTo>
                  <a:pt x="1343025" y="3276600"/>
                </a:lnTo>
                <a:lnTo>
                  <a:pt x="1323975" y="3257550"/>
                </a:lnTo>
                <a:lnTo>
                  <a:pt x="1314450" y="3257550"/>
                </a:lnTo>
                <a:lnTo>
                  <a:pt x="1304925" y="3248025"/>
                </a:lnTo>
                <a:lnTo>
                  <a:pt x="1295400" y="3248025"/>
                </a:lnTo>
                <a:lnTo>
                  <a:pt x="1285875" y="3238500"/>
                </a:lnTo>
                <a:lnTo>
                  <a:pt x="1266825" y="3238500"/>
                </a:lnTo>
                <a:lnTo>
                  <a:pt x="1257300" y="3248025"/>
                </a:lnTo>
                <a:lnTo>
                  <a:pt x="1247775" y="3248025"/>
                </a:lnTo>
                <a:lnTo>
                  <a:pt x="1228725" y="3267075"/>
                </a:lnTo>
                <a:lnTo>
                  <a:pt x="1228725" y="3276600"/>
                </a:lnTo>
                <a:lnTo>
                  <a:pt x="1219200" y="3286125"/>
                </a:lnTo>
                <a:lnTo>
                  <a:pt x="1219200" y="3295650"/>
                </a:lnTo>
                <a:lnTo>
                  <a:pt x="1200150" y="3314700"/>
                </a:lnTo>
                <a:lnTo>
                  <a:pt x="1200150" y="3324225"/>
                </a:lnTo>
                <a:lnTo>
                  <a:pt x="1190625" y="3333750"/>
                </a:lnTo>
                <a:lnTo>
                  <a:pt x="1190625" y="3343275"/>
                </a:lnTo>
                <a:lnTo>
                  <a:pt x="1181100" y="3352800"/>
                </a:lnTo>
                <a:lnTo>
                  <a:pt x="1181100" y="3362325"/>
                </a:lnTo>
                <a:lnTo>
                  <a:pt x="1171575" y="3371850"/>
                </a:lnTo>
                <a:lnTo>
                  <a:pt x="1171575" y="3381375"/>
                </a:lnTo>
                <a:lnTo>
                  <a:pt x="1162050" y="3390900"/>
                </a:lnTo>
                <a:lnTo>
                  <a:pt x="1162050" y="3400425"/>
                </a:lnTo>
                <a:lnTo>
                  <a:pt x="1152525" y="3409950"/>
                </a:lnTo>
                <a:lnTo>
                  <a:pt x="1152525" y="3429000"/>
                </a:lnTo>
                <a:lnTo>
                  <a:pt x="1143000" y="3438525"/>
                </a:lnTo>
                <a:lnTo>
                  <a:pt x="1143000" y="3457575"/>
                </a:lnTo>
                <a:lnTo>
                  <a:pt x="1133475" y="3467100"/>
                </a:lnTo>
                <a:lnTo>
                  <a:pt x="1133475" y="3514725"/>
                </a:lnTo>
                <a:lnTo>
                  <a:pt x="1123950" y="3524250"/>
                </a:lnTo>
                <a:lnTo>
                  <a:pt x="1133475" y="3533775"/>
                </a:lnTo>
                <a:lnTo>
                  <a:pt x="1133475" y="3581400"/>
                </a:lnTo>
                <a:lnTo>
                  <a:pt x="1143000" y="3590925"/>
                </a:lnTo>
                <a:lnTo>
                  <a:pt x="1143000" y="3609975"/>
                </a:lnTo>
                <a:lnTo>
                  <a:pt x="1152525" y="3619500"/>
                </a:lnTo>
                <a:lnTo>
                  <a:pt x="1152525" y="3638550"/>
                </a:lnTo>
                <a:lnTo>
                  <a:pt x="1162050" y="3648075"/>
                </a:lnTo>
                <a:lnTo>
                  <a:pt x="1162050" y="3667125"/>
                </a:lnTo>
                <a:lnTo>
                  <a:pt x="1171575" y="3676650"/>
                </a:lnTo>
                <a:lnTo>
                  <a:pt x="1171575" y="3695700"/>
                </a:lnTo>
                <a:lnTo>
                  <a:pt x="1181100" y="3705225"/>
                </a:lnTo>
                <a:lnTo>
                  <a:pt x="1181100" y="3733800"/>
                </a:lnTo>
                <a:lnTo>
                  <a:pt x="1190625" y="3743325"/>
                </a:lnTo>
                <a:lnTo>
                  <a:pt x="1190625" y="3762375"/>
                </a:lnTo>
                <a:lnTo>
                  <a:pt x="1200150" y="3771900"/>
                </a:lnTo>
                <a:lnTo>
                  <a:pt x="1200150" y="3781425"/>
                </a:lnTo>
                <a:lnTo>
                  <a:pt x="1209675" y="3790950"/>
                </a:lnTo>
                <a:lnTo>
                  <a:pt x="1209675" y="3800475"/>
                </a:lnTo>
                <a:lnTo>
                  <a:pt x="1295400" y="3886200"/>
                </a:lnTo>
                <a:lnTo>
                  <a:pt x="1295400" y="3905250"/>
                </a:lnTo>
                <a:lnTo>
                  <a:pt x="1304925" y="3914775"/>
                </a:lnTo>
                <a:lnTo>
                  <a:pt x="1304925" y="3933825"/>
                </a:lnTo>
                <a:lnTo>
                  <a:pt x="1314450" y="3943350"/>
                </a:lnTo>
                <a:lnTo>
                  <a:pt x="1314450" y="3971925"/>
                </a:lnTo>
                <a:lnTo>
                  <a:pt x="1323975" y="3981450"/>
                </a:lnTo>
                <a:lnTo>
                  <a:pt x="1323975" y="3990975"/>
                </a:lnTo>
                <a:lnTo>
                  <a:pt x="1333500" y="4000500"/>
                </a:lnTo>
                <a:lnTo>
                  <a:pt x="1333500" y="4010025"/>
                </a:lnTo>
                <a:lnTo>
                  <a:pt x="1371600" y="4048125"/>
                </a:lnTo>
                <a:lnTo>
                  <a:pt x="1371600" y="4057650"/>
                </a:lnTo>
                <a:lnTo>
                  <a:pt x="1400175" y="4086225"/>
                </a:lnTo>
                <a:lnTo>
                  <a:pt x="1400175" y="4095750"/>
                </a:lnTo>
                <a:lnTo>
                  <a:pt x="1466850" y="4162425"/>
                </a:lnTo>
                <a:lnTo>
                  <a:pt x="1476375" y="4162425"/>
                </a:lnTo>
                <a:lnTo>
                  <a:pt x="1485900" y="4171950"/>
                </a:lnTo>
                <a:lnTo>
                  <a:pt x="1514475" y="4171950"/>
                </a:lnTo>
                <a:lnTo>
                  <a:pt x="1524000" y="4181475"/>
                </a:lnTo>
                <a:lnTo>
                  <a:pt x="1590675" y="4181475"/>
                </a:lnTo>
                <a:lnTo>
                  <a:pt x="1600200" y="4171950"/>
                </a:lnTo>
                <a:lnTo>
                  <a:pt x="1685925" y="4171950"/>
                </a:lnTo>
                <a:lnTo>
                  <a:pt x="1695450" y="4181475"/>
                </a:lnTo>
                <a:lnTo>
                  <a:pt x="1704975" y="4181475"/>
                </a:lnTo>
                <a:lnTo>
                  <a:pt x="1733550" y="4210050"/>
                </a:lnTo>
                <a:lnTo>
                  <a:pt x="1733550" y="4248150"/>
                </a:lnTo>
                <a:lnTo>
                  <a:pt x="1743075" y="4257675"/>
                </a:lnTo>
                <a:lnTo>
                  <a:pt x="1838325" y="4257675"/>
                </a:lnTo>
                <a:lnTo>
                  <a:pt x="1838325" y="4248150"/>
                </a:lnTo>
                <a:lnTo>
                  <a:pt x="1828800" y="4238625"/>
                </a:lnTo>
                <a:lnTo>
                  <a:pt x="1828800" y="4181475"/>
                </a:lnTo>
                <a:lnTo>
                  <a:pt x="1819275" y="4171950"/>
                </a:lnTo>
                <a:lnTo>
                  <a:pt x="1819275" y="4162425"/>
                </a:lnTo>
                <a:lnTo>
                  <a:pt x="1809750" y="4152900"/>
                </a:lnTo>
                <a:lnTo>
                  <a:pt x="1809750" y="4143375"/>
                </a:lnTo>
                <a:lnTo>
                  <a:pt x="1800225" y="4133850"/>
                </a:lnTo>
                <a:lnTo>
                  <a:pt x="1800225" y="4114800"/>
                </a:lnTo>
                <a:lnTo>
                  <a:pt x="1790700" y="4105275"/>
                </a:lnTo>
                <a:lnTo>
                  <a:pt x="1790700" y="4038600"/>
                </a:lnTo>
                <a:lnTo>
                  <a:pt x="1800225" y="4029075"/>
                </a:lnTo>
                <a:lnTo>
                  <a:pt x="1800225" y="4019550"/>
                </a:lnTo>
                <a:lnTo>
                  <a:pt x="1857375" y="3962400"/>
                </a:lnTo>
                <a:lnTo>
                  <a:pt x="1866900" y="3962400"/>
                </a:lnTo>
                <a:lnTo>
                  <a:pt x="1914525" y="3914775"/>
                </a:lnTo>
                <a:lnTo>
                  <a:pt x="1924050" y="3914775"/>
                </a:lnTo>
                <a:lnTo>
                  <a:pt x="1952625" y="3886200"/>
                </a:lnTo>
                <a:lnTo>
                  <a:pt x="1962150" y="3886200"/>
                </a:lnTo>
                <a:lnTo>
                  <a:pt x="1981200" y="3867150"/>
                </a:lnTo>
                <a:lnTo>
                  <a:pt x="1990725" y="3867150"/>
                </a:lnTo>
                <a:lnTo>
                  <a:pt x="2028825" y="3829050"/>
                </a:lnTo>
                <a:lnTo>
                  <a:pt x="2038350" y="3829050"/>
                </a:lnTo>
                <a:lnTo>
                  <a:pt x="2047875" y="3819525"/>
                </a:lnTo>
                <a:lnTo>
                  <a:pt x="2076450" y="3819525"/>
                </a:lnTo>
                <a:lnTo>
                  <a:pt x="2085975" y="3829050"/>
                </a:lnTo>
                <a:lnTo>
                  <a:pt x="2095500" y="3829050"/>
                </a:lnTo>
                <a:lnTo>
                  <a:pt x="2114550" y="3848100"/>
                </a:lnTo>
                <a:lnTo>
                  <a:pt x="2124075" y="3848100"/>
                </a:lnTo>
                <a:lnTo>
                  <a:pt x="2133600" y="3857625"/>
                </a:lnTo>
                <a:lnTo>
                  <a:pt x="2219325" y="3857625"/>
                </a:lnTo>
                <a:lnTo>
                  <a:pt x="2228850" y="3848100"/>
                </a:lnTo>
                <a:lnTo>
                  <a:pt x="2238375" y="3848100"/>
                </a:lnTo>
                <a:lnTo>
                  <a:pt x="2247900" y="3838575"/>
                </a:lnTo>
                <a:lnTo>
                  <a:pt x="2257425" y="3838575"/>
                </a:lnTo>
                <a:lnTo>
                  <a:pt x="2276475" y="3819525"/>
                </a:lnTo>
                <a:lnTo>
                  <a:pt x="2286000" y="3819525"/>
                </a:lnTo>
                <a:lnTo>
                  <a:pt x="2295525" y="3810000"/>
                </a:lnTo>
                <a:lnTo>
                  <a:pt x="2305050" y="3810000"/>
                </a:lnTo>
                <a:lnTo>
                  <a:pt x="2314575" y="3800475"/>
                </a:lnTo>
                <a:lnTo>
                  <a:pt x="2333625" y="3800475"/>
                </a:lnTo>
                <a:lnTo>
                  <a:pt x="2343150" y="3790950"/>
                </a:lnTo>
                <a:lnTo>
                  <a:pt x="2381250" y="3790950"/>
                </a:lnTo>
                <a:lnTo>
                  <a:pt x="2390775" y="3800475"/>
                </a:lnTo>
                <a:lnTo>
                  <a:pt x="2457450" y="3800475"/>
                </a:lnTo>
                <a:lnTo>
                  <a:pt x="2466975" y="3790950"/>
                </a:lnTo>
                <a:lnTo>
                  <a:pt x="2495550" y="3790950"/>
                </a:lnTo>
                <a:lnTo>
                  <a:pt x="2505075" y="3781425"/>
                </a:lnTo>
                <a:lnTo>
                  <a:pt x="2524125" y="3781425"/>
                </a:lnTo>
                <a:lnTo>
                  <a:pt x="2543175" y="3762375"/>
                </a:lnTo>
                <a:lnTo>
                  <a:pt x="2552700" y="3762375"/>
                </a:lnTo>
                <a:lnTo>
                  <a:pt x="2562225" y="3752850"/>
                </a:lnTo>
                <a:lnTo>
                  <a:pt x="2571750" y="3752850"/>
                </a:lnTo>
                <a:lnTo>
                  <a:pt x="2581275" y="3743325"/>
                </a:lnTo>
                <a:lnTo>
                  <a:pt x="2590800" y="3743325"/>
                </a:lnTo>
                <a:lnTo>
                  <a:pt x="2600325" y="3733800"/>
                </a:lnTo>
                <a:lnTo>
                  <a:pt x="2609850" y="3733800"/>
                </a:lnTo>
                <a:lnTo>
                  <a:pt x="2619375" y="3724275"/>
                </a:lnTo>
                <a:lnTo>
                  <a:pt x="2628900" y="3724275"/>
                </a:lnTo>
                <a:lnTo>
                  <a:pt x="2638425" y="3714750"/>
                </a:lnTo>
                <a:lnTo>
                  <a:pt x="2667000" y="3714750"/>
                </a:lnTo>
                <a:lnTo>
                  <a:pt x="2676525" y="3705225"/>
                </a:lnTo>
                <a:lnTo>
                  <a:pt x="2724150" y="3705225"/>
                </a:lnTo>
                <a:lnTo>
                  <a:pt x="2733675" y="3695700"/>
                </a:lnTo>
                <a:lnTo>
                  <a:pt x="2752725" y="3695700"/>
                </a:lnTo>
                <a:lnTo>
                  <a:pt x="2762250" y="3705225"/>
                </a:lnTo>
                <a:lnTo>
                  <a:pt x="2838450" y="3705225"/>
                </a:lnTo>
                <a:lnTo>
                  <a:pt x="2847975" y="3714750"/>
                </a:lnTo>
                <a:lnTo>
                  <a:pt x="2933700" y="3714750"/>
                </a:lnTo>
                <a:lnTo>
                  <a:pt x="2943225" y="3705225"/>
                </a:lnTo>
                <a:lnTo>
                  <a:pt x="2952750" y="3705225"/>
                </a:lnTo>
                <a:lnTo>
                  <a:pt x="2962275" y="3695700"/>
                </a:lnTo>
                <a:lnTo>
                  <a:pt x="2971800" y="3695700"/>
                </a:lnTo>
                <a:lnTo>
                  <a:pt x="3009900" y="3657600"/>
                </a:lnTo>
                <a:lnTo>
                  <a:pt x="3095625" y="3657600"/>
                </a:lnTo>
                <a:lnTo>
                  <a:pt x="3105150" y="3648075"/>
                </a:lnTo>
                <a:lnTo>
                  <a:pt x="3114675" y="3648075"/>
                </a:lnTo>
                <a:lnTo>
                  <a:pt x="3133725" y="3629025"/>
                </a:lnTo>
                <a:lnTo>
                  <a:pt x="3143250" y="3629025"/>
                </a:lnTo>
                <a:lnTo>
                  <a:pt x="3181350" y="3590925"/>
                </a:lnTo>
                <a:lnTo>
                  <a:pt x="3190875" y="3590925"/>
                </a:lnTo>
                <a:lnTo>
                  <a:pt x="3200400" y="3581400"/>
                </a:lnTo>
                <a:lnTo>
                  <a:pt x="3219450" y="3581400"/>
                </a:lnTo>
                <a:lnTo>
                  <a:pt x="3228975" y="3571875"/>
                </a:lnTo>
                <a:lnTo>
                  <a:pt x="3257550" y="3571875"/>
                </a:lnTo>
                <a:lnTo>
                  <a:pt x="3267075" y="3562350"/>
                </a:lnTo>
                <a:lnTo>
                  <a:pt x="3371850" y="3562350"/>
                </a:lnTo>
                <a:lnTo>
                  <a:pt x="3381375" y="3552825"/>
                </a:lnTo>
                <a:lnTo>
                  <a:pt x="3429000" y="3552825"/>
                </a:lnTo>
                <a:lnTo>
                  <a:pt x="3438525" y="3543300"/>
                </a:lnTo>
                <a:lnTo>
                  <a:pt x="3457575" y="3543300"/>
                </a:lnTo>
                <a:lnTo>
                  <a:pt x="3467100" y="3533775"/>
                </a:lnTo>
                <a:lnTo>
                  <a:pt x="3476625" y="3533775"/>
                </a:lnTo>
                <a:lnTo>
                  <a:pt x="3505200" y="3505200"/>
                </a:lnTo>
                <a:lnTo>
                  <a:pt x="3514725" y="3505200"/>
                </a:lnTo>
                <a:lnTo>
                  <a:pt x="3571875" y="3448050"/>
                </a:lnTo>
                <a:lnTo>
                  <a:pt x="3581400" y="3448050"/>
                </a:lnTo>
                <a:lnTo>
                  <a:pt x="3590925" y="3438525"/>
                </a:lnTo>
                <a:lnTo>
                  <a:pt x="3600450" y="3438525"/>
                </a:lnTo>
                <a:lnTo>
                  <a:pt x="3609975" y="3429000"/>
                </a:lnTo>
                <a:lnTo>
                  <a:pt x="3619500" y="3429000"/>
                </a:lnTo>
                <a:lnTo>
                  <a:pt x="3629025" y="3419475"/>
                </a:lnTo>
                <a:lnTo>
                  <a:pt x="3629025" y="3400425"/>
                </a:lnTo>
                <a:lnTo>
                  <a:pt x="3638550" y="3390900"/>
                </a:lnTo>
                <a:lnTo>
                  <a:pt x="3638550" y="3381375"/>
                </a:lnTo>
                <a:lnTo>
                  <a:pt x="3629025" y="3371850"/>
                </a:lnTo>
                <a:lnTo>
                  <a:pt x="3629025" y="3333750"/>
                </a:lnTo>
                <a:lnTo>
                  <a:pt x="3619500" y="3324225"/>
                </a:lnTo>
                <a:lnTo>
                  <a:pt x="3619500" y="3295650"/>
                </a:lnTo>
                <a:lnTo>
                  <a:pt x="3609975" y="3286125"/>
                </a:lnTo>
                <a:lnTo>
                  <a:pt x="3609975" y="3257550"/>
                </a:lnTo>
                <a:lnTo>
                  <a:pt x="3600450" y="3248025"/>
                </a:lnTo>
                <a:lnTo>
                  <a:pt x="3600450" y="3228975"/>
                </a:lnTo>
                <a:lnTo>
                  <a:pt x="3590925" y="3219450"/>
                </a:lnTo>
                <a:lnTo>
                  <a:pt x="3590925" y="3190875"/>
                </a:lnTo>
                <a:lnTo>
                  <a:pt x="3581400" y="3181350"/>
                </a:lnTo>
                <a:lnTo>
                  <a:pt x="3581400" y="3028950"/>
                </a:lnTo>
                <a:lnTo>
                  <a:pt x="3571875" y="3019425"/>
                </a:lnTo>
                <a:lnTo>
                  <a:pt x="3571875" y="2981325"/>
                </a:lnTo>
                <a:lnTo>
                  <a:pt x="3552825" y="2962275"/>
                </a:lnTo>
                <a:lnTo>
                  <a:pt x="3552825" y="2952750"/>
                </a:lnTo>
                <a:lnTo>
                  <a:pt x="3543300" y="2952750"/>
                </a:lnTo>
                <a:lnTo>
                  <a:pt x="3533775" y="2943225"/>
                </a:lnTo>
                <a:lnTo>
                  <a:pt x="3524250" y="2943225"/>
                </a:lnTo>
                <a:lnTo>
                  <a:pt x="3514725" y="2933700"/>
                </a:lnTo>
                <a:lnTo>
                  <a:pt x="3476625" y="2933700"/>
                </a:lnTo>
                <a:lnTo>
                  <a:pt x="3467100" y="2924175"/>
                </a:lnTo>
                <a:lnTo>
                  <a:pt x="3457575" y="2924175"/>
                </a:lnTo>
                <a:lnTo>
                  <a:pt x="3429000" y="2895600"/>
                </a:lnTo>
                <a:lnTo>
                  <a:pt x="3429000" y="2876550"/>
                </a:lnTo>
                <a:lnTo>
                  <a:pt x="3419475" y="2867025"/>
                </a:lnTo>
                <a:lnTo>
                  <a:pt x="3419475" y="2828925"/>
                </a:lnTo>
                <a:lnTo>
                  <a:pt x="3429000" y="2819400"/>
                </a:lnTo>
                <a:lnTo>
                  <a:pt x="3429000" y="2781300"/>
                </a:lnTo>
                <a:lnTo>
                  <a:pt x="3438525" y="2771775"/>
                </a:lnTo>
                <a:lnTo>
                  <a:pt x="3438525" y="2752725"/>
                </a:lnTo>
                <a:lnTo>
                  <a:pt x="3457575" y="2733675"/>
                </a:lnTo>
                <a:lnTo>
                  <a:pt x="3457575" y="2724150"/>
                </a:lnTo>
                <a:lnTo>
                  <a:pt x="3486150" y="2695575"/>
                </a:lnTo>
                <a:lnTo>
                  <a:pt x="3495675" y="2695575"/>
                </a:lnTo>
                <a:lnTo>
                  <a:pt x="3514725" y="2676525"/>
                </a:lnTo>
                <a:lnTo>
                  <a:pt x="3524250" y="2676525"/>
                </a:lnTo>
                <a:lnTo>
                  <a:pt x="3533775" y="2667000"/>
                </a:lnTo>
                <a:lnTo>
                  <a:pt x="3543300" y="2667000"/>
                </a:lnTo>
                <a:lnTo>
                  <a:pt x="3552825" y="2657475"/>
                </a:lnTo>
                <a:lnTo>
                  <a:pt x="3562350" y="2657475"/>
                </a:lnTo>
                <a:lnTo>
                  <a:pt x="3571875" y="2647950"/>
                </a:lnTo>
                <a:lnTo>
                  <a:pt x="3581400" y="2647950"/>
                </a:lnTo>
                <a:lnTo>
                  <a:pt x="3609975" y="2619375"/>
                </a:lnTo>
                <a:lnTo>
                  <a:pt x="3609975" y="2609850"/>
                </a:lnTo>
                <a:lnTo>
                  <a:pt x="3619500" y="2600325"/>
                </a:lnTo>
                <a:lnTo>
                  <a:pt x="3619500" y="2590800"/>
                </a:lnTo>
                <a:lnTo>
                  <a:pt x="3609975" y="2581275"/>
                </a:lnTo>
                <a:lnTo>
                  <a:pt x="3609975" y="2571750"/>
                </a:lnTo>
                <a:lnTo>
                  <a:pt x="3600450" y="2562225"/>
                </a:lnTo>
                <a:lnTo>
                  <a:pt x="3600450" y="2552700"/>
                </a:lnTo>
                <a:lnTo>
                  <a:pt x="3524250" y="2476500"/>
                </a:lnTo>
                <a:lnTo>
                  <a:pt x="3514725" y="2476500"/>
                </a:lnTo>
                <a:lnTo>
                  <a:pt x="3467100" y="2428875"/>
                </a:lnTo>
                <a:lnTo>
                  <a:pt x="3467100" y="2409825"/>
                </a:lnTo>
                <a:lnTo>
                  <a:pt x="3457575" y="2400300"/>
                </a:lnTo>
                <a:lnTo>
                  <a:pt x="3457575" y="2238375"/>
                </a:lnTo>
                <a:lnTo>
                  <a:pt x="3448050" y="2228850"/>
                </a:lnTo>
                <a:lnTo>
                  <a:pt x="3448050" y="2209800"/>
                </a:lnTo>
                <a:lnTo>
                  <a:pt x="3438525" y="2200275"/>
                </a:lnTo>
                <a:lnTo>
                  <a:pt x="3438525" y="2190750"/>
                </a:lnTo>
                <a:lnTo>
                  <a:pt x="3409950" y="2162175"/>
                </a:lnTo>
                <a:lnTo>
                  <a:pt x="3409950" y="2152650"/>
                </a:lnTo>
                <a:lnTo>
                  <a:pt x="3400425" y="2143125"/>
                </a:lnTo>
                <a:lnTo>
                  <a:pt x="3400425" y="2124075"/>
                </a:lnTo>
                <a:lnTo>
                  <a:pt x="3390900" y="2114550"/>
                </a:lnTo>
                <a:lnTo>
                  <a:pt x="3390900" y="2095500"/>
                </a:lnTo>
                <a:lnTo>
                  <a:pt x="3381375" y="2085975"/>
                </a:lnTo>
                <a:lnTo>
                  <a:pt x="3381375" y="1933575"/>
                </a:lnTo>
                <a:lnTo>
                  <a:pt x="3390900" y="1924050"/>
                </a:lnTo>
                <a:lnTo>
                  <a:pt x="3390900" y="1914525"/>
                </a:lnTo>
                <a:lnTo>
                  <a:pt x="3409950" y="1895475"/>
                </a:lnTo>
                <a:lnTo>
                  <a:pt x="3409950" y="1885950"/>
                </a:lnTo>
                <a:lnTo>
                  <a:pt x="3438525" y="1857375"/>
                </a:lnTo>
                <a:lnTo>
                  <a:pt x="3438525" y="1847850"/>
                </a:lnTo>
                <a:lnTo>
                  <a:pt x="3448050" y="1838325"/>
                </a:lnTo>
                <a:lnTo>
                  <a:pt x="3448050" y="1809750"/>
                </a:lnTo>
                <a:lnTo>
                  <a:pt x="3457575" y="1800225"/>
                </a:lnTo>
                <a:lnTo>
                  <a:pt x="3457575" y="1781175"/>
                </a:lnTo>
                <a:lnTo>
                  <a:pt x="3448050" y="1771650"/>
                </a:lnTo>
                <a:lnTo>
                  <a:pt x="3448050" y="1752600"/>
                </a:lnTo>
                <a:lnTo>
                  <a:pt x="3438525" y="1743075"/>
                </a:lnTo>
                <a:lnTo>
                  <a:pt x="3438525" y="1733550"/>
                </a:lnTo>
                <a:lnTo>
                  <a:pt x="3409950" y="1704975"/>
                </a:lnTo>
                <a:lnTo>
                  <a:pt x="3400425" y="1704975"/>
                </a:lnTo>
                <a:lnTo>
                  <a:pt x="3352800" y="1657350"/>
                </a:lnTo>
                <a:lnTo>
                  <a:pt x="3352800" y="1647825"/>
                </a:lnTo>
                <a:lnTo>
                  <a:pt x="3343275" y="1638300"/>
                </a:lnTo>
                <a:lnTo>
                  <a:pt x="3343275" y="1533525"/>
                </a:lnTo>
                <a:lnTo>
                  <a:pt x="3333750" y="1524000"/>
                </a:lnTo>
                <a:lnTo>
                  <a:pt x="3333750" y="1504950"/>
                </a:lnTo>
                <a:lnTo>
                  <a:pt x="3314700" y="1485900"/>
                </a:lnTo>
                <a:lnTo>
                  <a:pt x="3314700" y="1476375"/>
                </a:lnTo>
                <a:lnTo>
                  <a:pt x="3295650" y="1457325"/>
                </a:lnTo>
                <a:lnTo>
                  <a:pt x="3286125" y="1457325"/>
                </a:lnTo>
                <a:lnTo>
                  <a:pt x="3267075" y="1438275"/>
                </a:lnTo>
                <a:lnTo>
                  <a:pt x="3257550" y="1438275"/>
                </a:lnTo>
                <a:lnTo>
                  <a:pt x="3248025" y="1428750"/>
                </a:lnTo>
                <a:lnTo>
                  <a:pt x="3181350" y="1428750"/>
                </a:lnTo>
                <a:lnTo>
                  <a:pt x="3171825" y="1438275"/>
                </a:lnTo>
                <a:lnTo>
                  <a:pt x="3152775" y="1438275"/>
                </a:lnTo>
                <a:lnTo>
                  <a:pt x="3143250" y="1428750"/>
                </a:lnTo>
                <a:lnTo>
                  <a:pt x="3133725" y="1428750"/>
                </a:lnTo>
                <a:lnTo>
                  <a:pt x="3105150" y="1400175"/>
                </a:lnTo>
                <a:lnTo>
                  <a:pt x="3105150" y="1390650"/>
                </a:lnTo>
                <a:lnTo>
                  <a:pt x="3124200" y="1371600"/>
                </a:lnTo>
                <a:lnTo>
                  <a:pt x="3133725" y="1371600"/>
                </a:lnTo>
                <a:lnTo>
                  <a:pt x="3143250" y="1362075"/>
                </a:lnTo>
                <a:lnTo>
                  <a:pt x="3152775" y="1371600"/>
                </a:lnTo>
                <a:lnTo>
                  <a:pt x="3181350" y="1371600"/>
                </a:lnTo>
                <a:lnTo>
                  <a:pt x="3190875" y="1381125"/>
                </a:lnTo>
                <a:lnTo>
                  <a:pt x="3238500" y="1381125"/>
                </a:lnTo>
                <a:lnTo>
                  <a:pt x="3248025" y="1371600"/>
                </a:lnTo>
                <a:lnTo>
                  <a:pt x="3257550" y="1371600"/>
                </a:lnTo>
                <a:lnTo>
                  <a:pt x="3276600" y="1352550"/>
                </a:lnTo>
                <a:lnTo>
                  <a:pt x="3286125" y="1352550"/>
                </a:lnTo>
                <a:lnTo>
                  <a:pt x="3295650" y="1343025"/>
                </a:lnTo>
                <a:lnTo>
                  <a:pt x="3295650" y="1333500"/>
                </a:lnTo>
                <a:lnTo>
                  <a:pt x="3314700" y="1314450"/>
                </a:lnTo>
                <a:lnTo>
                  <a:pt x="3314700" y="1304925"/>
                </a:lnTo>
                <a:lnTo>
                  <a:pt x="3324225" y="1295400"/>
                </a:lnTo>
                <a:lnTo>
                  <a:pt x="3324225" y="1228725"/>
                </a:lnTo>
                <a:lnTo>
                  <a:pt x="3314700" y="1219200"/>
                </a:lnTo>
                <a:lnTo>
                  <a:pt x="3314700" y="1200150"/>
                </a:lnTo>
                <a:lnTo>
                  <a:pt x="3305175" y="1190625"/>
                </a:lnTo>
                <a:lnTo>
                  <a:pt x="3305175" y="1181100"/>
                </a:lnTo>
                <a:lnTo>
                  <a:pt x="3276600" y="1152525"/>
                </a:lnTo>
                <a:lnTo>
                  <a:pt x="3276600" y="1143000"/>
                </a:lnTo>
                <a:lnTo>
                  <a:pt x="3267075" y="1143000"/>
                </a:lnTo>
                <a:lnTo>
                  <a:pt x="3228975" y="1104900"/>
                </a:lnTo>
                <a:lnTo>
                  <a:pt x="3219450" y="1104900"/>
                </a:lnTo>
                <a:lnTo>
                  <a:pt x="3209925" y="1095375"/>
                </a:lnTo>
                <a:lnTo>
                  <a:pt x="3209925" y="1085850"/>
                </a:lnTo>
                <a:lnTo>
                  <a:pt x="3190875" y="1066800"/>
                </a:lnTo>
                <a:lnTo>
                  <a:pt x="3190875" y="1047750"/>
                </a:lnTo>
                <a:lnTo>
                  <a:pt x="3181350" y="1038225"/>
                </a:lnTo>
                <a:lnTo>
                  <a:pt x="3181350" y="981075"/>
                </a:lnTo>
                <a:lnTo>
                  <a:pt x="3190875" y="971550"/>
                </a:lnTo>
                <a:lnTo>
                  <a:pt x="3190875" y="952500"/>
                </a:lnTo>
                <a:lnTo>
                  <a:pt x="3200400" y="942975"/>
                </a:lnTo>
                <a:lnTo>
                  <a:pt x="3200400" y="933450"/>
                </a:lnTo>
                <a:lnTo>
                  <a:pt x="3209925" y="923925"/>
                </a:lnTo>
                <a:lnTo>
                  <a:pt x="3209925" y="914400"/>
                </a:lnTo>
                <a:lnTo>
                  <a:pt x="3248025" y="876300"/>
                </a:lnTo>
                <a:lnTo>
                  <a:pt x="3248025" y="866775"/>
                </a:lnTo>
                <a:lnTo>
                  <a:pt x="3257550" y="857250"/>
                </a:lnTo>
                <a:lnTo>
                  <a:pt x="3257550" y="847725"/>
                </a:lnTo>
                <a:lnTo>
                  <a:pt x="3267075" y="838200"/>
                </a:lnTo>
                <a:lnTo>
                  <a:pt x="3267075" y="771525"/>
                </a:lnTo>
                <a:lnTo>
                  <a:pt x="3257550" y="762000"/>
                </a:lnTo>
                <a:lnTo>
                  <a:pt x="3257550" y="742950"/>
                </a:lnTo>
                <a:lnTo>
                  <a:pt x="3248025" y="733425"/>
                </a:lnTo>
                <a:lnTo>
                  <a:pt x="3248025" y="723900"/>
                </a:lnTo>
                <a:lnTo>
                  <a:pt x="3238500" y="714375"/>
                </a:lnTo>
                <a:lnTo>
                  <a:pt x="3238500" y="704850"/>
                </a:lnTo>
                <a:lnTo>
                  <a:pt x="3228975" y="695325"/>
                </a:lnTo>
                <a:lnTo>
                  <a:pt x="3228975" y="685800"/>
                </a:lnTo>
                <a:lnTo>
                  <a:pt x="3209925" y="666750"/>
                </a:lnTo>
                <a:lnTo>
                  <a:pt x="3209925" y="647700"/>
                </a:lnTo>
                <a:lnTo>
                  <a:pt x="3200400" y="638175"/>
                </a:lnTo>
                <a:lnTo>
                  <a:pt x="3200400" y="628650"/>
                </a:lnTo>
                <a:lnTo>
                  <a:pt x="3190875" y="619125"/>
                </a:lnTo>
                <a:lnTo>
                  <a:pt x="3190875" y="609600"/>
                </a:lnTo>
                <a:lnTo>
                  <a:pt x="3162300" y="581025"/>
                </a:lnTo>
                <a:lnTo>
                  <a:pt x="3162300" y="571500"/>
                </a:lnTo>
                <a:lnTo>
                  <a:pt x="3152775" y="571500"/>
                </a:lnTo>
                <a:lnTo>
                  <a:pt x="3124200" y="542925"/>
                </a:lnTo>
                <a:lnTo>
                  <a:pt x="3114675" y="542925"/>
                </a:lnTo>
                <a:lnTo>
                  <a:pt x="3105150" y="533400"/>
                </a:lnTo>
                <a:lnTo>
                  <a:pt x="3095625" y="533400"/>
                </a:lnTo>
                <a:lnTo>
                  <a:pt x="3048000" y="485775"/>
                </a:lnTo>
                <a:lnTo>
                  <a:pt x="3048000" y="476250"/>
                </a:lnTo>
                <a:lnTo>
                  <a:pt x="3009900" y="438150"/>
                </a:lnTo>
                <a:lnTo>
                  <a:pt x="3000375" y="438150"/>
                </a:lnTo>
                <a:lnTo>
                  <a:pt x="2990850" y="428625"/>
                </a:lnTo>
                <a:lnTo>
                  <a:pt x="2981325" y="428625"/>
                </a:lnTo>
                <a:lnTo>
                  <a:pt x="2971800" y="419100"/>
                </a:lnTo>
                <a:lnTo>
                  <a:pt x="2962275" y="419100"/>
                </a:lnTo>
                <a:lnTo>
                  <a:pt x="2952750" y="409575"/>
                </a:lnTo>
                <a:lnTo>
                  <a:pt x="2933700" y="409575"/>
                </a:lnTo>
                <a:lnTo>
                  <a:pt x="2924175" y="400050"/>
                </a:lnTo>
                <a:lnTo>
                  <a:pt x="2886075" y="400050"/>
                </a:lnTo>
                <a:lnTo>
                  <a:pt x="2876550" y="390525"/>
                </a:lnTo>
                <a:close/>
              </a:path>
              <a:path w="4267200" h="4267200">
                <a:moveTo>
                  <a:pt x="4210050" y="152400"/>
                </a:moveTo>
                <a:lnTo>
                  <a:pt x="4200525" y="161925"/>
                </a:lnTo>
                <a:lnTo>
                  <a:pt x="4181475" y="161925"/>
                </a:lnTo>
                <a:lnTo>
                  <a:pt x="4171950" y="171450"/>
                </a:lnTo>
                <a:lnTo>
                  <a:pt x="4162425" y="171450"/>
                </a:lnTo>
                <a:lnTo>
                  <a:pt x="4152900" y="180975"/>
                </a:lnTo>
                <a:lnTo>
                  <a:pt x="4143375" y="180975"/>
                </a:lnTo>
                <a:lnTo>
                  <a:pt x="4114800" y="209550"/>
                </a:lnTo>
                <a:lnTo>
                  <a:pt x="4114800" y="228600"/>
                </a:lnTo>
                <a:lnTo>
                  <a:pt x="4105275" y="238125"/>
                </a:lnTo>
                <a:lnTo>
                  <a:pt x="4105275" y="314325"/>
                </a:lnTo>
                <a:lnTo>
                  <a:pt x="4114800" y="323850"/>
                </a:lnTo>
                <a:lnTo>
                  <a:pt x="4114800" y="466725"/>
                </a:lnTo>
                <a:lnTo>
                  <a:pt x="4105275" y="476250"/>
                </a:lnTo>
                <a:lnTo>
                  <a:pt x="4105275" y="866775"/>
                </a:lnTo>
                <a:lnTo>
                  <a:pt x="4095750" y="876300"/>
                </a:lnTo>
                <a:lnTo>
                  <a:pt x="4095750" y="885825"/>
                </a:lnTo>
                <a:lnTo>
                  <a:pt x="4076700" y="904875"/>
                </a:lnTo>
                <a:lnTo>
                  <a:pt x="4076700" y="914400"/>
                </a:lnTo>
                <a:lnTo>
                  <a:pt x="4048125" y="942975"/>
                </a:lnTo>
                <a:lnTo>
                  <a:pt x="4048125" y="952500"/>
                </a:lnTo>
                <a:lnTo>
                  <a:pt x="4029075" y="971550"/>
                </a:lnTo>
                <a:lnTo>
                  <a:pt x="4029075" y="981075"/>
                </a:lnTo>
                <a:lnTo>
                  <a:pt x="4019550" y="990600"/>
                </a:lnTo>
                <a:lnTo>
                  <a:pt x="4019550" y="1009650"/>
                </a:lnTo>
                <a:lnTo>
                  <a:pt x="4010025" y="1019175"/>
                </a:lnTo>
                <a:lnTo>
                  <a:pt x="4010025" y="1038225"/>
                </a:lnTo>
                <a:lnTo>
                  <a:pt x="4000500" y="1047750"/>
                </a:lnTo>
                <a:lnTo>
                  <a:pt x="4000500" y="1076325"/>
                </a:lnTo>
                <a:lnTo>
                  <a:pt x="3990975" y="1085850"/>
                </a:lnTo>
                <a:lnTo>
                  <a:pt x="3990975" y="1228725"/>
                </a:lnTo>
                <a:lnTo>
                  <a:pt x="4000500" y="1238250"/>
                </a:lnTo>
                <a:lnTo>
                  <a:pt x="4000500" y="1257300"/>
                </a:lnTo>
                <a:lnTo>
                  <a:pt x="3990975" y="1266825"/>
                </a:lnTo>
                <a:lnTo>
                  <a:pt x="3990975" y="1314450"/>
                </a:lnTo>
                <a:lnTo>
                  <a:pt x="3981450" y="1323975"/>
                </a:lnTo>
                <a:lnTo>
                  <a:pt x="3981450" y="1362075"/>
                </a:lnTo>
                <a:lnTo>
                  <a:pt x="3971925" y="1371600"/>
                </a:lnTo>
                <a:lnTo>
                  <a:pt x="3971925" y="1447800"/>
                </a:lnTo>
                <a:lnTo>
                  <a:pt x="3981450" y="1457325"/>
                </a:lnTo>
                <a:lnTo>
                  <a:pt x="3981450" y="1514475"/>
                </a:lnTo>
                <a:lnTo>
                  <a:pt x="3990975" y="1524000"/>
                </a:lnTo>
                <a:lnTo>
                  <a:pt x="3990975" y="1571625"/>
                </a:lnTo>
                <a:lnTo>
                  <a:pt x="4000500" y="1581150"/>
                </a:lnTo>
                <a:lnTo>
                  <a:pt x="4000500" y="1609725"/>
                </a:lnTo>
                <a:lnTo>
                  <a:pt x="4010025" y="1619250"/>
                </a:lnTo>
                <a:lnTo>
                  <a:pt x="4010025" y="1638300"/>
                </a:lnTo>
                <a:lnTo>
                  <a:pt x="4019550" y="1647825"/>
                </a:lnTo>
                <a:lnTo>
                  <a:pt x="4019550" y="1666875"/>
                </a:lnTo>
                <a:lnTo>
                  <a:pt x="4029075" y="1676400"/>
                </a:lnTo>
                <a:lnTo>
                  <a:pt x="4029075" y="1695450"/>
                </a:lnTo>
                <a:lnTo>
                  <a:pt x="4038600" y="1704975"/>
                </a:lnTo>
                <a:lnTo>
                  <a:pt x="4038600" y="1724025"/>
                </a:lnTo>
                <a:lnTo>
                  <a:pt x="4048125" y="1733550"/>
                </a:lnTo>
                <a:lnTo>
                  <a:pt x="4048125" y="1752600"/>
                </a:lnTo>
                <a:lnTo>
                  <a:pt x="4057650" y="1762125"/>
                </a:lnTo>
                <a:lnTo>
                  <a:pt x="4057650" y="1809750"/>
                </a:lnTo>
                <a:lnTo>
                  <a:pt x="4067175" y="1819275"/>
                </a:lnTo>
                <a:lnTo>
                  <a:pt x="4067175" y="1866900"/>
                </a:lnTo>
                <a:lnTo>
                  <a:pt x="4076700" y="1876425"/>
                </a:lnTo>
                <a:lnTo>
                  <a:pt x="4076700" y="1895475"/>
                </a:lnTo>
                <a:lnTo>
                  <a:pt x="4086225" y="1905000"/>
                </a:lnTo>
                <a:lnTo>
                  <a:pt x="4086225" y="1914525"/>
                </a:lnTo>
                <a:lnTo>
                  <a:pt x="4114800" y="1943100"/>
                </a:lnTo>
                <a:lnTo>
                  <a:pt x="4124325" y="1943100"/>
                </a:lnTo>
                <a:lnTo>
                  <a:pt x="4143375" y="1962150"/>
                </a:lnTo>
                <a:lnTo>
                  <a:pt x="4162425" y="1962150"/>
                </a:lnTo>
                <a:lnTo>
                  <a:pt x="4171950" y="1971675"/>
                </a:lnTo>
                <a:lnTo>
                  <a:pt x="4181475" y="1971675"/>
                </a:lnTo>
                <a:lnTo>
                  <a:pt x="4191000" y="1981200"/>
                </a:lnTo>
                <a:lnTo>
                  <a:pt x="4238625" y="1981200"/>
                </a:lnTo>
                <a:lnTo>
                  <a:pt x="4248150" y="1990725"/>
                </a:lnTo>
                <a:lnTo>
                  <a:pt x="4257675" y="1990725"/>
                </a:lnTo>
                <a:lnTo>
                  <a:pt x="4257675" y="152400"/>
                </a:lnTo>
                <a:close/>
              </a:path>
              <a:path w="4267200" h="4267200">
                <a:moveTo>
                  <a:pt x="190500" y="133350"/>
                </a:moveTo>
                <a:lnTo>
                  <a:pt x="180975" y="142875"/>
                </a:lnTo>
                <a:lnTo>
                  <a:pt x="161925" y="142875"/>
                </a:lnTo>
                <a:lnTo>
                  <a:pt x="142875" y="161925"/>
                </a:lnTo>
                <a:lnTo>
                  <a:pt x="142875" y="171450"/>
                </a:lnTo>
                <a:lnTo>
                  <a:pt x="133350" y="180975"/>
                </a:lnTo>
                <a:lnTo>
                  <a:pt x="133350" y="219075"/>
                </a:lnTo>
                <a:lnTo>
                  <a:pt x="142875" y="228600"/>
                </a:lnTo>
                <a:lnTo>
                  <a:pt x="142875" y="238125"/>
                </a:lnTo>
                <a:lnTo>
                  <a:pt x="152400" y="247650"/>
                </a:lnTo>
                <a:lnTo>
                  <a:pt x="161925" y="247650"/>
                </a:lnTo>
                <a:lnTo>
                  <a:pt x="171450" y="257175"/>
                </a:lnTo>
                <a:lnTo>
                  <a:pt x="228600" y="257175"/>
                </a:lnTo>
                <a:lnTo>
                  <a:pt x="257175" y="228600"/>
                </a:lnTo>
                <a:lnTo>
                  <a:pt x="257175" y="171450"/>
                </a:lnTo>
                <a:lnTo>
                  <a:pt x="247650" y="161925"/>
                </a:lnTo>
                <a:lnTo>
                  <a:pt x="247650" y="152400"/>
                </a:lnTo>
                <a:lnTo>
                  <a:pt x="238125" y="152400"/>
                </a:lnTo>
                <a:lnTo>
                  <a:pt x="228600" y="142875"/>
                </a:lnTo>
                <a:lnTo>
                  <a:pt x="219075" y="142875"/>
                </a:lnTo>
                <a:lnTo>
                  <a:pt x="209550" y="1333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FF382E"/>
            </a:solidFill>
          </a:ln>
        </p:spPr>
      </p:sp>
      <p:sp>
        <p:nvSpPr>
          <p:cNvPr id="232" name="node138">
            <a:extLst xmlns:a="http://schemas.openxmlformats.org/drawingml/2006/main">
              <a:ext uri="{FF2B5EF4-FFF2-40B4-BE49-F238E27FC236}">
                <a16:creationId xmlns:a16="http://schemas.microsoft.com/office/drawing/2014/main" id="{E611ADA1-F790-48FC-A1D2-76FBDF44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848" y="7114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33" name="node139">
            <a:extLst xmlns:a="http://schemas.openxmlformats.org/drawingml/2006/main">
              <a:ext uri="{FF2B5EF4-FFF2-40B4-BE49-F238E27FC236}">
                <a16:creationId xmlns:a16="http://schemas.microsoft.com/office/drawing/2014/main" id="{FA88C3D4-4F07-4858-904F-DAB0FFA8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2173" y="7114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80" name=""/>
          <p:cNvCxnSpPr>
            <a:stCxn xmlns:a="http://schemas.openxmlformats.org/drawingml/2006/main" id="232" idx="3"/>
            <a:endCxn xmlns:a="http://schemas.openxmlformats.org/drawingml/2006/main" id="233" idx="1"/>
          </p:cNvCxnSpPr>
          <p:nvPr/>
        </p:nvCxnSpPr>
        <p:spPr>
          <a:xfrm xmlns:a="http://schemas.openxmlformats.org/drawingml/2006/main">
            <a:off x="13259753" y="7115176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35" name="node140">
            <a:extLst xmlns:a="http://schemas.openxmlformats.org/drawingml/2006/main">
              <a:ext uri="{FF2B5EF4-FFF2-40B4-BE49-F238E27FC236}">
                <a16:creationId xmlns:a16="http://schemas.microsoft.com/office/drawing/2014/main" id="{AD6281F8-9390-4BED-8B33-A4EF1592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2173" y="7114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36" name="node141">
            <a:extLst xmlns:a="http://schemas.openxmlformats.org/drawingml/2006/main">
              <a:ext uri="{FF2B5EF4-FFF2-40B4-BE49-F238E27FC236}">
                <a16:creationId xmlns:a16="http://schemas.microsoft.com/office/drawing/2014/main" id="{CD6CC3BD-7699-4E1B-9AFA-812F6964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2173" y="6285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83" name=""/>
          <p:cNvCxnSpPr>
            <a:stCxn xmlns:a="http://schemas.openxmlformats.org/drawingml/2006/main" id="235" idx="0"/>
            <a:endCxn xmlns:a="http://schemas.openxmlformats.org/drawingml/2006/main" id="236" idx="2"/>
          </p:cNvCxnSpPr>
          <p:nvPr/>
        </p:nvCxnSpPr>
        <p:spPr>
          <a:xfrm xmlns:a="http://schemas.openxmlformats.org/drawingml/2006/main" flipV="1">
            <a:off x="13573126" y="6287453"/>
            <a:ext cx="0" cy="82677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38" name="node142">
            <a:extLst xmlns:a="http://schemas.openxmlformats.org/drawingml/2006/main">
              <a:ext uri="{FF2B5EF4-FFF2-40B4-BE49-F238E27FC236}">
                <a16:creationId xmlns:a16="http://schemas.microsoft.com/office/drawing/2014/main" id="{707A9841-54A8-4F47-B1AA-F5FE765C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2173" y="6285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39" name="node143">
            <a:extLst xmlns:a="http://schemas.openxmlformats.org/drawingml/2006/main">
              <a:ext uri="{FF2B5EF4-FFF2-40B4-BE49-F238E27FC236}">
                <a16:creationId xmlns:a16="http://schemas.microsoft.com/office/drawing/2014/main" id="{7CC13427-0DA5-41C8-9367-AB464823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5548" y="6285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86" name=""/>
          <p:cNvCxnSpPr>
            <a:stCxn xmlns:a="http://schemas.openxmlformats.org/drawingml/2006/main" id="238" idx="3"/>
            <a:endCxn xmlns:a="http://schemas.openxmlformats.org/drawingml/2006/main" id="239" idx="1"/>
          </p:cNvCxnSpPr>
          <p:nvPr/>
        </p:nvCxnSpPr>
        <p:spPr>
          <a:xfrm xmlns:a="http://schemas.openxmlformats.org/drawingml/2006/main">
            <a:off x="13574078" y="6286501"/>
            <a:ext cx="3314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41" name="map-caption">
            <a:extLst xmlns:a="http://schemas.openxmlformats.org/drawingml/2006/main">
              <a:ext uri="{FF2B5EF4-FFF2-40B4-BE49-F238E27FC236}">
                <a16:creationId xmlns:a16="http://schemas.microsoft.com/office/drawing/2014/main" id="{C2BE0219-E2FC-4747-9E3A-9C555AF1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1342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Defect outline</a:t>
            </a:r>
          </a:p>
        </p:txBody>
      </p:sp>
      <p:sp>
        <p:nvSpPr>
          <p:cNvPr id="242" name="footrule">
            <a:extLst xmlns:a="http://schemas.openxmlformats.org/drawingml/2006/main">
              <a:ext uri="{FF2B5EF4-FFF2-40B4-BE49-F238E27FC236}">
                <a16:creationId xmlns:a16="http://schemas.microsoft.com/office/drawing/2014/main" id="{AA1FC7DB-EAD8-48D6-8BA4-7F653C2C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639050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243" name="joint-distance">
            <a:extLst xmlns:a="http://schemas.openxmlformats.org/drawingml/2006/main">
              <a:ext uri="{FF2B5EF4-FFF2-40B4-BE49-F238E27FC236}">
                <a16:creationId xmlns:a16="http://schemas.microsoft.com/office/drawing/2014/main" id="{456DC7D0-8627-4643-B26A-5B3C93D0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734300"/>
            <a:ext cx="1531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latin typeface="Cambria Math"/>
                <a:ea typeface="Cambria Math"/>
                <a:cs typeface="Cambria Math"/>
              </a:rPr>
              <a:t>‖</a:t>
            </a:r>
            <a:r>
              <a:rPr sz="2250" b="1" i="1">
                <a:latin typeface="Cambria Math"/>
                <a:ea typeface="Cambria Math"/>
                <a:cs typeface="Cambria Math"/>
              </a:rPr>
              <a:t>f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A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620" b="0" i="1" baseline="-25000"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latin typeface="Cambria Math"/>
                <a:ea typeface="Cambria Math"/>
                <a:cs typeface="Cambria Math"/>
              </a:rPr>
              <a:t> − </a:t>
            </a:r>
            <a:r>
              <a:rPr sz="2250" b="1" i="1">
                <a:latin typeface="Cambria Math"/>
                <a:ea typeface="Cambria Math"/>
                <a:cs typeface="Cambria Math"/>
              </a:rPr>
              <a:t>f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A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620" b="0" i="1" baseline="-25000">
                <a:latin typeface="Cambria Math"/>
                <a:ea typeface="Cambria Math"/>
                <a:cs typeface="Cambria Math"/>
              </a:rPr>
              <a:t>q</a:t>
            </a:r>
            <a:r>
              <a:rPr sz="2250" b="0" i="0">
                <a:latin typeface="Cambria Math"/>
                <a:ea typeface="Cambria Math"/>
                <a:cs typeface="Cambria Math"/>
              </a:rPr>
              <a:t>‖₂² = ½ ‖</a:t>
            </a:r>
            <a:r>
              <a:rPr sz="2250" b="1" i="1">
                <a:latin typeface="Cambria Math"/>
                <a:ea typeface="Cambria Math"/>
                <a:cs typeface="Cambria Math"/>
              </a:rPr>
              <a:t>g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D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620" b="0" i="1" baseline="-25000"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latin typeface="Cambria Math"/>
                <a:ea typeface="Cambria Math"/>
                <a:cs typeface="Cambria Math"/>
              </a:rPr>
              <a:t> − </a:t>
            </a:r>
            <a:r>
              <a:rPr sz="2250" b="1" i="1">
                <a:latin typeface="Cambria Math"/>
                <a:ea typeface="Cambria Math"/>
                <a:cs typeface="Cambria Math"/>
              </a:rPr>
              <a:t>g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D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620" b="0" i="1" baseline="-25000">
                <a:latin typeface="Cambria Math"/>
                <a:ea typeface="Cambria Math"/>
                <a:cs typeface="Cambria Math"/>
              </a:rPr>
              <a:t>q</a:t>
            </a:r>
            <a:r>
              <a:rPr sz="2250" b="0" i="0">
                <a:latin typeface="Cambria Math"/>
                <a:ea typeface="Cambria Math"/>
                <a:cs typeface="Cambria Math"/>
              </a:rPr>
              <a:t>‖₂² + ½ ‖</a:t>
            </a:r>
            <a:r>
              <a:rPr sz="2250" b="1" i="1">
                <a:latin typeface="Cambria Math"/>
                <a:ea typeface="Cambria Math"/>
                <a:cs typeface="Cambria Math"/>
              </a:rPr>
              <a:t>g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C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620" b="0" i="1" baseline="-25000"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latin typeface="Cambria Math"/>
                <a:ea typeface="Cambria Math"/>
                <a:cs typeface="Cambria Math"/>
              </a:rPr>
              <a:t> − </a:t>
            </a:r>
            <a:r>
              <a:rPr sz="2250" b="1" i="1">
                <a:latin typeface="Cambria Math"/>
                <a:ea typeface="Cambria Math"/>
                <a:cs typeface="Cambria Math"/>
              </a:rPr>
              <a:t>g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C</a:t>
            </a:r>
            <a:r>
              <a:rPr sz="1620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620" b="0" i="1" baseline="-25000">
                <a:latin typeface="Cambria Math"/>
                <a:ea typeface="Cambria Math"/>
                <a:cs typeface="Cambria Math"/>
              </a:rPr>
              <a:t>q</a:t>
            </a:r>
            <a:r>
              <a:rPr sz="2250" b="0" i="0">
                <a:latin typeface="Cambria Math"/>
                <a:ea typeface="Cambria Math"/>
                <a:cs typeface="Cambria Math"/>
              </a:rPr>
              <a:t>‖₂²</a:t>
            </a:r>
          </a:p>
        </p:txBody>
      </p:sp>
      <p:sp>
        <p:nvSpPr>
          <p:cNvPr id="244" name="same-candidate">
            <a:extLst xmlns:a="http://schemas.openxmlformats.org/drawingml/2006/main">
              <a:ext uri="{FF2B5EF4-FFF2-40B4-BE49-F238E27FC236}">
                <a16:creationId xmlns:a16="http://schemas.microsoft.com/office/drawing/2014/main" id="{30E04CB3-C49E-4663-9533-786FA5E2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143875"/>
            <a:ext cx="1514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latin typeface="Arial"/>
                <a:ea typeface="Arial"/>
                <a:cs typeface="Arial"/>
              </a:rPr>
              <a:t>The two branches use the same support candidate </a:t>
            </a:r>
            <a:r>
              <a:rPr sz="1875" b="0" i="1">
                <a:latin typeface="Cambria Math"/>
                <a:ea typeface="Cambria Math"/>
                <a:cs typeface="Cambria Math"/>
              </a:rPr>
              <a:t>q</a:t>
            </a:r>
          </a:p>
        </p:txBody>
      </p:sp>
      <p:sp>
        <p:nvSpPr>
          <p:cNvPr id="245" name="score-equation">
            <a:extLst xmlns:a="http://schemas.openxmlformats.org/drawingml/2006/main">
              <a:ext uri="{FF2B5EF4-FFF2-40B4-BE49-F238E27FC236}">
                <a16:creationId xmlns:a16="http://schemas.microsoft.com/office/drawing/2014/main" id="{7091CB1D-4D42-45DB-B152-BC0C5059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524875"/>
            <a:ext cx="88296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1">
                <a:latin typeface="Cambria Math"/>
                <a:ea typeface="Cambria Math"/>
                <a:cs typeface="Cambria Math"/>
              </a:rPr>
              <a:t>a</a:t>
            </a:r>
            <a:r>
              <a:rPr sz="1566" b="0" i="1" baseline="-25000">
                <a:latin typeface="Cambria Math"/>
                <a:ea typeface="Cambria Math"/>
                <a:cs typeface="Cambria Math"/>
              </a:rPr>
              <a:t>p</a:t>
            </a:r>
            <a:r>
              <a:rPr sz="2175" b="0" i="0">
                <a:latin typeface="Cambria Math"/>
                <a:ea typeface="Cambria Math"/>
                <a:cs typeface="Cambria Math"/>
              </a:rPr>
              <a:t>(</a:t>
            </a:r>
            <a:r>
              <a:rPr sz="2175" b="1" i="1">
                <a:latin typeface="Cambria Math"/>
                <a:ea typeface="Cambria Math"/>
                <a:cs typeface="Cambria Math"/>
              </a:rPr>
              <a:t>x</a:t>
            </a:r>
            <a:r>
              <a:rPr sz="2175" b="0" i="0">
                <a:latin typeface="Cambria Math"/>
                <a:ea typeface="Cambria Math"/>
                <a:cs typeface="Cambria Math"/>
              </a:rPr>
              <a:t>) = ½ min</a:t>
            </a:r>
            <a:r>
              <a:rPr sz="1566" b="1" i="1" baseline="-25000">
                <a:latin typeface="Cambria Math"/>
                <a:ea typeface="Cambria Math"/>
                <a:cs typeface="Cambria Math"/>
              </a:rPr>
              <a:t>m</a:t>
            </a:r>
            <a:r>
              <a:rPr sz="1566" b="0" i="0" baseline="-25000">
                <a:latin typeface="Cambria Math"/>
                <a:ea typeface="Cambria Math"/>
                <a:cs typeface="Cambria Math"/>
              </a:rPr>
              <a:t> ∈ </a:t>
            </a:r>
            <a:r>
              <a:rPr sz="1566" b="1" i="1" baseline="-25000">
                <a:latin typeface="Cambria Math"/>
                <a:ea typeface="Cambria Math"/>
                <a:cs typeface="Cambria Math"/>
              </a:rPr>
              <a:t>M</a:t>
            </a:r>
            <a:r>
              <a:rPr sz="1218" b="0" i="1" baseline="-41000">
                <a:latin typeface="Cambria Math"/>
                <a:ea typeface="Cambria Math"/>
                <a:cs typeface="Cambria Math"/>
              </a:rPr>
              <a:t>c</a:t>
            </a:r>
            <a:r>
              <a:rPr sz="2175" b="0" i="0">
                <a:latin typeface="Cambria Math"/>
                <a:ea typeface="Cambria Math"/>
                <a:cs typeface="Cambria Math"/>
              </a:rPr>
              <a:t> ‖</a:t>
            </a:r>
            <a:r>
              <a:rPr sz="2175" b="1" i="1">
                <a:latin typeface="Cambria Math"/>
                <a:ea typeface="Cambria Math"/>
                <a:cs typeface="Cambria Math"/>
              </a:rPr>
              <a:t>f</a:t>
            </a:r>
            <a:r>
              <a:rPr sz="1566" b="0" i="0" baseline="-25000">
                <a:latin typeface="Cambria Math"/>
                <a:ea typeface="Cambria Math"/>
                <a:cs typeface="Cambria Math"/>
              </a:rPr>
              <a:t>A</a:t>
            </a:r>
            <a:r>
              <a:rPr sz="1566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566" b="0" i="1" baseline="-25000">
                <a:latin typeface="Cambria Math"/>
                <a:ea typeface="Cambria Math"/>
                <a:cs typeface="Cambria Math"/>
              </a:rPr>
              <a:t>p</a:t>
            </a:r>
            <a:r>
              <a:rPr sz="2175" b="0" i="0">
                <a:latin typeface="Cambria Math"/>
                <a:ea typeface="Cambria Math"/>
                <a:cs typeface="Cambria Math"/>
              </a:rPr>
              <a:t>(</a:t>
            </a:r>
            <a:r>
              <a:rPr sz="2175" b="1" i="1">
                <a:latin typeface="Cambria Math"/>
                <a:ea typeface="Cambria Math"/>
                <a:cs typeface="Cambria Math"/>
              </a:rPr>
              <a:t>x</a:t>
            </a:r>
            <a:r>
              <a:rPr sz="2175" b="0" i="0">
                <a:latin typeface="Cambria Math"/>
                <a:ea typeface="Cambria Math"/>
                <a:cs typeface="Cambria Math"/>
              </a:rPr>
              <a:t>) − </a:t>
            </a:r>
            <a:r>
              <a:rPr sz="2175" b="1" i="1">
                <a:latin typeface="Cambria Math"/>
                <a:ea typeface="Cambria Math"/>
                <a:cs typeface="Cambria Math"/>
              </a:rPr>
              <a:t>m</a:t>
            </a:r>
            <a:r>
              <a:rPr sz="2175" b="0" i="0">
                <a:latin typeface="Cambria Math"/>
                <a:ea typeface="Cambria Math"/>
                <a:cs typeface="Cambria Math"/>
              </a:rPr>
              <a:t>‖₂²</a:t>
            </a:r>
          </a:p>
        </p:txBody>
      </p:sp>
      <p:sp>
        <p:nvSpPr>
          <p:cNvPr id="246" name="image-max">
            <a:extLst xmlns:a="http://schemas.openxmlformats.org/drawingml/2006/main">
              <a:ext uri="{FF2B5EF4-FFF2-40B4-BE49-F238E27FC236}">
                <a16:creationId xmlns:a16="http://schemas.microsoft.com/office/drawing/2014/main" id="{A1D6EB8F-4F36-4082-9D2C-F4827709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52487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1">
                <a:latin typeface="Cambria Math"/>
                <a:ea typeface="Cambria Math"/>
                <a:cs typeface="Cambria Math"/>
              </a:rPr>
              <a:t>s</a:t>
            </a:r>
            <a:r>
              <a:rPr sz="1566" b="0" i="0" baseline="-25000">
                <a:latin typeface="Cambria Math"/>
                <a:ea typeface="Cambria Math"/>
                <a:cs typeface="Cambria Math"/>
              </a:rPr>
              <a:t>img</a:t>
            </a:r>
            <a:r>
              <a:rPr sz="2175" b="0" i="0">
                <a:latin typeface="Cambria Math"/>
                <a:ea typeface="Cambria Math"/>
                <a:cs typeface="Cambria Math"/>
              </a:rPr>
              <a:t>(</a:t>
            </a:r>
            <a:r>
              <a:rPr sz="2175" b="1" i="1">
                <a:latin typeface="Cambria Math"/>
                <a:ea typeface="Cambria Math"/>
                <a:cs typeface="Cambria Math"/>
              </a:rPr>
              <a:t>x</a:t>
            </a:r>
            <a:r>
              <a:rPr sz="2175" b="0" i="0">
                <a:latin typeface="Cambria Math"/>
                <a:ea typeface="Cambria Math"/>
                <a:cs typeface="Cambria Math"/>
              </a:rPr>
              <a:t>) = max</a:t>
            </a:r>
            <a:r>
              <a:rPr sz="1566" b="0" i="1" baseline="-25000">
                <a:latin typeface="Cambria Math"/>
                <a:ea typeface="Cambria Math"/>
                <a:cs typeface="Cambria Math"/>
              </a:rPr>
              <a:t>u</a:t>
            </a:r>
            <a:r>
              <a:rPr sz="2175" b="0" i="0">
                <a:latin typeface="Cambria Math"/>
                <a:ea typeface="Cambria Math"/>
                <a:cs typeface="Cambria Math"/>
              </a:rPr>
              <a:t> </a:t>
            </a:r>
            <a:r>
              <a:rPr sz="2175" b="1" i="1">
                <a:latin typeface="Cambria Math"/>
                <a:ea typeface="Cambria Math"/>
                <a:cs typeface="Cambria Math"/>
              </a:rPr>
              <a:t>S</a:t>
            </a:r>
            <a:r>
              <a:rPr sz="1566" b="0" i="0" baseline="-25000">
                <a:latin typeface="Cambria Math"/>
                <a:ea typeface="Cambria Math"/>
                <a:cs typeface="Cambria Math"/>
              </a:rPr>
              <a:t>448</a:t>
            </a:r>
            <a:r>
              <a:rPr sz="1566" b="0" i="0" baseline="-25000">
                <a:latin typeface="Cambria Math"/>
                <a:ea typeface="Cambria Math"/>
                <a:cs typeface="Cambria Math"/>
              </a:rPr>
              <a:t>,</a:t>
            </a:r>
            <a:r>
              <a:rPr sz="1566" b="0" i="1" baseline="-25000">
                <a:latin typeface="Cambria Math"/>
                <a:ea typeface="Cambria Math"/>
                <a:cs typeface="Cambria Math"/>
              </a:rPr>
              <a:t>u</a:t>
            </a:r>
            <a:r>
              <a:rPr sz="2175" b="0" i="0">
                <a:latin typeface="Cambria Math"/>
                <a:ea typeface="Cambria Math"/>
                <a:cs typeface="Cambria Math"/>
              </a:rPr>
              <a:t>(</a:t>
            </a:r>
            <a:r>
              <a:rPr sz="2175" b="1" i="1">
                <a:latin typeface="Cambria Math"/>
                <a:ea typeface="Cambria Math"/>
                <a:cs typeface="Cambria Math"/>
              </a:rPr>
              <a:t>x</a:t>
            </a:r>
            <a:r>
              <a:rPr sz="2175" b="0" i="0">
                <a:latin typeface="Cambria Math"/>
                <a:ea typeface="Cambria Math"/>
                <a:cs typeface="Cambria Math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86961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title">
            <a:extLst xmlns:a="http://schemas.openxmlformats.org/drawingml/2006/main">
              <a:ext uri="{FF2B5EF4-FFF2-40B4-BE49-F238E27FC236}">
                <a16:creationId xmlns:a16="http://schemas.microsoft.com/office/drawing/2014/main" id="{E69F8880-C25F-4270-A56D-DA4ED0B5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5316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Fig. S1   Frozen dual-encoder feature extraction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1DCC6C-C010-4336-914D-292161AC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47725"/>
            <a:ext cx="1531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The same visual pipeline encodes every normal support image and each query image</a:t>
            </a:r>
          </a:p>
        </p:txBody>
      </p:sp>
      <p:sp>
        <p:nvSpPr>
          <p:cNvPr id="3" name="headrule">
            <a:extLst xmlns:a="http://schemas.openxmlformats.org/drawingml/2006/main">
              <a:ext uri="{FF2B5EF4-FFF2-40B4-BE49-F238E27FC236}">
                <a16:creationId xmlns:a16="http://schemas.microsoft.com/office/drawing/2014/main" id="{DC2D4685-3A28-4180-AD1C-ECCBB590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192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pic>
        <p:nvPicPr>
          <p:cNvPr id="157" name="shared-inpu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2a8ceb0a0408b"/>
          <a:stretch xmlns:a="http://schemas.openxmlformats.org/drawingml/2006/main"/>
        </p:blipFill>
        <p:spPr>
          <a:xfrm xmlns:a="http://schemas.openxmlformats.org/drawingml/2006/main">
            <a:off x="371475" y="3771900"/>
            <a:ext cx="1304925" cy="1304925"/>
          </a:xfrm>
          <a:prstGeom xmlns:a="http://schemas.openxmlformats.org/drawingml/2006/main" prst="rect">
            <a:avLst/>
          </a:prstGeom>
        </p:spPr>
      </p:pic>
      <p:sp>
        <p:nvSpPr>
          <p:cNvPr id="5" name="input-label">
            <a:extLst xmlns:a="http://schemas.openxmlformats.org/drawingml/2006/main">
              <a:ext uri="{FF2B5EF4-FFF2-40B4-BE49-F238E27FC236}">
                <a16:creationId xmlns:a16="http://schemas.microsoft.com/office/drawing/2014/main" id="{FF1A2D43-F921-48FE-B00A-B57D53B5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210175"/>
            <a:ext cx="1543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Each image</a:t>
            </a:r>
          </a:p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One at a time</a:t>
            </a:r>
          </a:p>
        </p:txBody>
      </p:sp>
      <p:sp>
        <p:nvSpPr>
          <p:cNvPr id="6" name="node144">
            <a:extLst xmlns:a="http://schemas.openxmlformats.org/drawingml/2006/main">
              <a:ext uri="{FF2B5EF4-FFF2-40B4-BE49-F238E27FC236}">
                <a16:creationId xmlns:a16="http://schemas.microsoft.com/office/drawing/2014/main" id="{661E714F-EF35-4D95-8A10-163E8655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448" y="4428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" name="node145">
            <a:extLst xmlns:a="http://schemas.openxmlformats.org/drawingml/2006/main">
              <a:ext uri="{FF2B5EF4-FFF2-40B4-BE49-F238E27FC236}">
                <a16:creationId xmlns:a16="http://schemas.microsoft.com/office/drawing/2014/main" id="{482F89B9-A6F5-4544-A3CC-4182B8D2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3" y="4428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6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677353" y="4429126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9" name="node146">
            <a:extLst xmlns:a="http://schemas.openxmlformats.org/drawingml/2006/main">
              <a:ext uri="{FF2B5EF4-FFF2-40B4-BE49-F238E27FC236}">
                <a16:creationId xmlns:a16="http://schemas.microsoft.com/office/drawing/2014/main" id="{B645197A-9B64-42BE-AA0C-EB4CF488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3" y="4428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0" name="node147">
            <a:extLst xmlns:a="http://schemas.openxmlformats.org/drawingml/2006/main">
              <a:ext uri="{FF2B5EF4-FFF2-40B4-BE49-F238E27FC236}">
                <a16:creationId xmlns:a16="http://schemas.microsoft.com/office/drawing/2014/main" id="{2C9406D1-C581-4C8B-A60F-3767B220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3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64" name=""/>
          <p:cNvCxnSpPr>
            <a:stCxn xmlns:a="http://schemas.openxmlformats.org/drawingml/2006/main" id="9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1990726" y="2887028"/>
            <a:ext cx="0" cy="154114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2" name="node148">
            <a:extLst xmlns:a="http://schemas.openxmlformats.org/drawingml/2006/main">
              <a:ext uri="{FF2B5EF4-FFF2-40B4-BE49-F238E27FC236}">
                <a16:creationId xmlns:a16="http://schemas.microsoft.com/office/drawing/2014/main" id="{ED4177C5-039D-46E5-AB35-2E437B71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3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3" name="node149">
            <a:extLst xmlns:a="http://schemas.openxmlformats.org/drawingml/2006/main">
              <a:ext uri="{FF2B5EF4-FFF2-40B4-BE49-F238E27FC236}">
                <a16:creationId xmlns:a16="http://schemas.microsoft.com/office/drawing/2014/main" id="{1979799E-C0DD-476D-A5EA-874A622C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348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67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991678" y="2886076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5" name="node150">
            <a:extLst xmlns:a="http://schemas.openxmlformats.org/drawingml/2006/main">
              <a:ext uri="{FF2B5EF4-FFF2-40B4-BE49-F238E27FC236}">
                <a16:creationId xmlns:a16="http://schemas.microsoft.com/office/drawing/2014/main" id="{872F7C7D-11D8-4058-A26B-390A4CA9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3" y="4428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6" name="node151">
            <a:extLst xmlns:a="http://schemas.openxmlformats.org/drawingml/2006/main">
              <a:ext uri="{FF2B5EF4-FFF2-40B4-BE49-F238E27FC236}">
                <a16:creationId xmlns:a16="http://schemas.microsoft.com/office/drawing/2014/main" id="{96B6D925-87F7-403D-8EFB-5A1EFDAA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3" y="641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70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990726" y="4430078"/>
            <a:ext cx="0" cy="19888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8" name="node152">
            <a:extLst xmlns:a="http://schemas.openxmlformats.org/drawingml/2006/main">
              <a:ext uri="{FF2B5EF4-FFF2-40B4-BE49-F238E27FC236}">
                <a16:creationId xmlns:a16="http://schemas.microsoft.com/office/drawing/2014/main" id="{79B4110B-CCFA-4C1D-8967-09ABE942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3" y="641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" name="node153">
            <a:extLst xmlns:a="http://schemas.openxmlformats.org/drawingml/2006/main">
              <a:ext uri="{FF2B5EF4-FFF2-40B4-BE49-F238E27FC236}">
                <a16:creationId xmlns:a16="http://schemas.microsoft.com/office/drawing/2014/main" id="{A8DEB001-9C29-4494-8906-245EECAE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348" y="641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7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991678" y="64198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1" name="dino-path">
            <a:extLst xmlns:a="http://schemas.openxmlformats.org/drawingml/2006/main">
              <a:ext uri="{FF2B5EF4-FFF2-40B4-BE49-F238E27FC236}">
                <a16:creationId xmlns:a16="http://schemas.microsoft.com/office/drawing/2014/main" id="{6D03D318-3852-43CC-85F1-D3FC3F23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19250"/>
            <a:ext cx="838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(a) DINOv2 ViT-B/14</a:t>
            </a:r>
          </a:p>
        </p:txBody>
      </p:sp>
      <p:sp>
        <p:nvSpPr>
          <p:cNvPr id="22" name="dino-pre">
            <a:extLst xmlns:a="http://schemas.openxmlformats.org/drawingml/2006/main">
              <a:ext uri="{FF2B5EF4-FFF2-40B4-BE49-F238E27FC236}">
                <a16:creationId xmlns:a16="http://schemas.microsoft.com/office/drawing/2014/main" id="{0F5981DF-8C8F-442E-82A5-2E490FD1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71725"/>
            <a:ext cx="24288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Short side 448</a:t>
            </a:r>
          </a:p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Patch-compatible crop</a:t>
            </a:r>
          </a:p>
        </p:txBody>
      </p:sp>
      <p:sp>
        <p:nvSpPr>
          <p:cNvPr id="23" name="dino-embed">
            <a:extLst xmlns:a="http://schemas.openxmlformats.org/drawingml/2006/main">
              <a:ext uri="{FF2B5EF4-FFF2-40B4-BE49-F238E27FC236}">
                <a16:creationId xmlns:a16="http://schemas.microsoft.com/office/drawing/2014/main" id="{73054163-FFA5-4B22-9AD2-1EE4AA7F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47900"/>
            <a:ext cx="21621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14 × 14 patches</a:t>
            </a:r>
          </a:p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Patch embedding</a:t>
            </a:r>
          </a:p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+ CLS token</a:t>
            </a:r>
          </a:p>
        </p:txBody>
      </p:sp>
      <p:sp>
        <p:nvSpPr>
          <p:cNvPr id="24" name="node154">
            <a:extLst xmlns:a="http://schemas.openxmlformats.org/drawingml/2006/main">
              <a:ext uri="{FF2B5EF4-FFF2-40B4-BE49-F238E27FC236}">
                <a16:creationId xmlns:a16="http://schemas.microsoft.com/office/drawing/2014/main" id="{E4917110-CCC2-4F7B-A03E-BD0F370D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223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5" name="node155">
            <a:extLst xmlns:a="http://schemas.openxmlformats.org/drawingml/2006/main">
              <a:ext uri="{FF2B5EF4-FFF2-40B4-BE49-F238E27FC236}">
                <a16:creationId xmlns:a16="http://schemas.microsoft.com/office/drawing/2014/main" id="{4895B099-A53F-495E-A2CB-B1A588FA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423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79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830128" y="2886076"/>
            <a:ext cx="4552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7" name="dino-blocks">
            <a:extLst xmlns:a="http://schemas.openxmlformats.org/drawingml/2006/main">
              <a:ext uri="{FF2B5EF4-FFF2-40B4-BE49-F238E27FC236}">
                <a16:creationId xmlns:a16="http://schemas.microsoft.com/office/drawing/2014/main" id="{FCB720DA-C4B8-4540-B2E3-4126A16B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371725"/>
            <a:ext cx="26193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12 transformer blocks</a:t>
            </a:r>
          </a:p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768-D, 12 heads</a:t>
            </a:r>
          </a:p>
        </p:txBody>
      </p:sp>
      <p:sp>
        <p:nvSpPr>
          <p:cNvPr id="28" name="node156">
            <a:extLst xmlns:a="http://schemas.openxmlformats.org/drawingml/2006/main">
              <a:ext uri="{FF2B5EF4-FFF2-40B4-BE49-F238E27FC236}">
                <a16:creationId xmlns:a16="http://schemas.microsoft.com/office/drawing/2014/main" id="{2262974A-AF3A-4F6F-A941-C139AA11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7598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9" name="node157">
            <a:extLst xmlns:a="http://schemas.openxmlformats.org/drawingml/2006/main">
              <a:ext uri="{FF2B5EF4-FFF2-40B4-BE49-F238E27FC236}">
                <a16:creationId xmlns:a16="http://schemas.microsoft.com/office/drawing/2014/main" id="{9DB74CDF-B0B1-4BD8-81C7-64F6019A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4323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83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7449503" y="2886076"/>
            <a:ext cx="4648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31" name="dino-select">
            <a:extLst xmlns:a="http://schemas.openxmlformats.org/drawingml/2006/main">
              <a:ext uri="{FF2B5EF4-FFF2-40B4-BE49-F238E27FC236}">
                <a16:creationId xmlns:a16="http://schemas.microsoft.com/office/drawing/2014/main" id="{64EF8E59-E58C-4304-8977-6722084F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371725"/>
            <a:ext cx="21907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Final layer norm</a:t>
            </a:r>
          </a:p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Select patch tokens</a:t>
            </a:r>
          </a:p>
        </p:txBody>
      </p:sp>
      <p:sp>
        <p:nvSpPr>
          <p:cNvPr id="32" name="node158">
            <a:extLst xmlns:a="http://schemas.openxmlformats.org/drawingml/2006/main">
              <a:ext uri="{FF2B5EF4-FFF2-40B4-BE49-F238E27FC236}">
                <a16:creationId xmlns:a16="http://schemas.microsoft.com/office/drawing/2014/main" id="{EAF0B077-692E-4457-97BD-F7803932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698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33" name="node159">
            <a:extLst xmlns:a="http://schemas.openxmlformats.org/drawingml/2006/main">
              <a:ext uri="{FF2B5EF4-FFF2-40B4-BE49-F238E27FC236}">
                <a16:creationId xmlns:a16="http://schemas.microsoft.com/office/drawing/2014/main" id="{6B0DC68A-1D42-4AD5-BD3B-A08B58DC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0898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87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10535603" y="2886076"/>
            <a:ext cx="4552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35" name="dino-output0-0">
            <a:extLst xmlns:a="http://schemas.openxmlformats.org/drawingml/2006/main">
              <a:ext uri="{FF2B5EF4-FFF2-40B4-BE49-F238E27FC236}">
                <a16:creationId xmlns:a16="http://schemas.microsoft.com/office/drawing/2014/main" id="{BCC04696-AE3C-4CBD-B861-058E0216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2371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6" name="dino-output0-1">
            <a:extLst xmlns:a="http://schemas.openxmlformats.org/drawingml/2006/main">
              <a:ext uri="{FF2B5EF4-FFF2-40B4-BE49-F238E27FC236}">
                <a16:creationId xmlns:a16="http://schemas.microsoft.com/office/drawing/2014/main" id="{5F1AF220-5757-4795-8035-5D8180A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2371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7" name="dino-output0-2">
            <a:extLst xmlns:a="http://schemas.openxmlformats.org/drawingml/2006/main">
              <a:ext uri="{FF2B5EF4-FFF2-40B4-BE49-F238E27FC236}">
                <a16:creationId xmlns:a16="http://schemas.microsoft.com/office/drawing/2014/main" id="{50456FEF-0AA6-42BE-9462-45BD5576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2371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8" name="dino-output0-3">
            <a:extLst xmlns:a="http://schemas.openxmlformats.org/drawingml/2006/main">
              <a:ext uri="{FF2B5EF4-FFF2-40B4-BE49-F238E27FC236}">
                <a16:creationId xmlns:a16="http://schemas.microsoft.com/office/drawing/2014/main" id="{4A195131-DFA9-4B92-907E-2AF6E46C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2371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9" name="dino-output0-4">
            <a:extLst xmlns:a="http://schemas.openxmlformats.org/drawingml/2006/main">
              <a:ext uri="{FF2B5EF4-FFF2-40B4-BE49-F238E27FC236}">
                <a16:creationId xmlns:a16="http://schemas.microsoft.com/office/drawing/2014/main" id="{8CC02586-75D3-455D-A47A-BF729EDF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2371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0" name="dino-output0-5">
            <a:extLst xmlns:a="http://schemas.openxmlformats.org/drawingml/2006/main">
              <a:ext uri="{FF2B5EF4-FFF2-40B4-BE49-F238E27FC236}">
                <a16:creationId xmlns:a16="http://schemas.microsoft.com/office/drawing/2014/main" id="{44103D29-1B1A-4564-85BD-D713A79A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2371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1" name="dino-output1-0">
            <a:extLst xmlns:a="http://schemas.openxmlformats.org/drawingml/2006/main">
              <a:ext uri="{FF2B5EF4-FFF2-40B4-BE49-F238E27FC236}">
                <a16:creationId xmlns:a16="http://schemas.microsoft.com/office/drawing/2014/main" id="{58C434AB-57F2-45CE-8FA6-4EF9BA46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2619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2" name="dino-output1-1">
            <a:extLst xmlns:a="http://schemas.openxmlformats.org/drawingml/2006/main">
              <a:ext uri="{FF2B5EF4-FFF2-40B4-BE49-F238E27FC236}">
                <a16:creationId xmlns:a16="http://schemas.microsoft.com/office/drawing/2014/main" id="{EDBB22EE-61F9-4C19-9D90-359E7598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2619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3" name="dino-output1-2">
            <a:extLst xmlns:a="http://schemas.openxmlformats.org/drawingml/2006/main">
              <a:ext uri="{FF2B5EF4-FFF2-40B4-BE49-F238E27FC236}">
                <a16:creationId xmlns:a16="http://schemas.microsoft.com/office/drawing/2014/main" id="{C7BB7F57-3147-4E33-BBAD-AF4CB09C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2619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C9C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4" name="dino-output1-3">
            <a:extLst xmlns:a="http://schemas.openxmlformats.org/drawingml/2006/main">
              <a:ext uri="{FF2B5EF4-FFF2-40B4-BE49-F238E27FC236}">
                <a16:creationId xmlns:a16="http://schemas.microsoft.com/office/drawing/2014/main" id="{DB7787A4-172B-450F-84CF-BE73B9C6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2619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5" name="dino-output1-4">
            <a:extLst xmlns:a="http://schemas.openxmlformats.org/drawingml/2006/main">
              <a:ext uri="{FF2B5EF4-FFF2-40B4-BE49-F238E27FC236}">
                <a16:creationId xmlns:a16="http://schemas.microsoft.com/office/drawing/2014/main" id="{AF343B9F-B714-4CCD-9AB4-FDEB6BC3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2619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6" name="dino-output1-5">
            <a:extLst xmlns:a="http://schemas.openxmlformats.org/drawingml/2006/main">
              <a:ext uri="{FF2B5EF4-FFF2-40B4-BE49-F238E27FC236}">
                <a16:creationId xmlns:a16="http://schemas.microsoft.com/office/drawing/2014/main" id="{90D5E17C-4A7A-4D10-8551-65C0CF9C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2619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7" name="dino-output2-0">
            <a:extLst xmlns:a="http://schemas.openxmlformats.org/drawingml/2006/main">
              <a:ext uri="{FF2B5EF4-FFF2-40B4-BE49-F238E27FC236}">
                <a16:creationId xmlns:a16="http://schemas.microsoft.com/office/drawing/2014/main" id="{616B8941-B0D0-47FB-9DB2-5ED357F4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2867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8" name="dino-output2-1">
            <a:extLst xmlns:a="http://schemas.openxmlformats.org/drawingml/2006/main">
              <a:ext uri="{FF2B5EF4-FFF2-40B4-BE49-F238E27FC236}">
                <a16:creationId xmlns:a16="http://schemas.microsoft.com/office/drawing/2014/main" id="{6C1A0658-901D-492B-A0BD-AA928020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2867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9" name="dino-output2-2">
            <a:extLst xmlns:a="http://schemas.openxmlformats.org/drawingml/2006/main">
              <a:ext uri="{FF2B5EF4-FFF2-40B4-BE49-F238E27FC236}">
                <a16:creationId xmlns:a16="http://schemas.microsoft.com/office/drawing/2014/main" id="{DEB44A48-5343-43DA-9DAE-CD3D833B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2867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0" name="dino-output2-3">
            <a:extLst xmlns:a="http://schemas.openxmlformats.org/drawingml/2006/main">
              <a:ext uri="{FF2B5EF4-FFF2-40B4-BE49-F238E27FC236}">
                <a16:creationId xmlns:a16="http://schemas.microsoft.com/office/drawing/2014/main" id="{F3A4F612-3905-44F2-A63B-824482EF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2867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1" name="dino-output2-4">
            <a:extLst xmlns:a="http://schemas.openxmlformats.org/drawingml/2006/main">
              <a:ext uri="{FF2B5EF4-FFF2-40B4-BE49-F238E27FC236}">
                <a16:creationId xmlns:a16="http://schemas.microsoft.com/office/drawing/2014/main" id="{B8E162EA-A768-4D21-96B9-6559308A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2867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2" name="dino-output2-5">
            <a:extLst xmlns:a="http://schemas.openxmlformats.org/drawingml/2006/main">
              <a:ext uri="{FF2B5EF4-FFF2-40B4-BE49-F238E27FC236}">
                <a16:creationId xmlns:a16="http://schemas.microsoft.com/office/drawing/2014/main" id="{FC6961D7-F166-40A8-B35F-8161957F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2867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3" name="dino-output3-0">
            <a:extLst xmlns:a="http://schemas.openxmlformats.org/drawingml/2006/main">
              <a:ext uri="{FF2B5EF4-FFF2-40B4-BE49-F238E27FC236}">
                <a16:creationId xmlns:a16="http://schemas.microsoft.com/office/drawing/2014/main" id="{7C297355-1284-4BEC-BB8E-2E9BD487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311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4" name="dino-output3-1">
            <a:extLst xmlns:a="http://schemas.openxmlformats.org/drawingml/2006/main">
              <a:ext uri="{FF2B5EF4-FFF2-40B4-BE49-F238E27FC236}">
                <a16:creationId xmlns:a16="http://schemas.microsoft.com/office/drawing/2014/main" id="{79437AE0-4789-4B3C-826A-A78D0515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311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5" name="dino-output3-2">
            <a:extLst xmlns:a="http://schemas.openxmlformats.org/drawingml/2006/main">
              <a:ext uri="{FF2B5EF4-FFF2-40B4-BE49-F238E27FC236}">
                <a16:creationId xmlns:a16="http://schemas.microsoft.com/office/drawing/2014/main" id="{4CDCCC44-5221-473F-91AC-FDA02157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311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6" name="dino-output3-3">
            <a:extLst xmlns:a="http://schemas.openxmlformats.org/drawingml/2006/main">
              <a:ext uri="{FF2B5EF4-FFF2-40B4-BE49-F238E27FC236}">
                <a16:creationId xmlns:a16="http://schemas.microsoft.com/office/drawing/2014/main" id="{58ADDAE9-CB18-4848-B210-B0C422C4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311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7" name="dino-output3-4">
            <a:extLst xmlns:a="http://schemas.openxmlformats.org/drawingml/2006/main">
              <a:ext uri="{FF2B5EF4-FFF2-40B4-BE49-F238E27FC236}">
                <a16:creationId xmlns:a16="http://schemas.microsoft.com/office/drawing/2014/main" id="{CAEDF539-0795-47C8-97B2-407B5FA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311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8" name="dino-output3-5">
            <a:extLst xmlns:a="http://schemas.openxmlformats.org/drawingml/2006/main">
              <a:ext uri="{FF2B5EF4-FFF2-40B4-BE49-F238E27FC236}">
                <a16:creationId xmlns:a16="http://schemas.microsoft.com/office/drawing/2014/main" id="{A547F770-ACFF-409F-91D7-8B60A163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311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9" name="node160">
            <a:extLst xmlns:a="http://schemas.openxmlformats.org/drawingml/2006/main">
              <a:ext uri="{FF2B5EF4-FFF2-40B4-BE49-F238E27FC236}">
                <a16:creationId xmlns:a16="http://schemas.microsoft.com/office/drawing/2014/main" id="{F94BA2EB-5898-44FA-9EEA-3840EB26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1648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60" name="node161">
            <a:extLst xmlns:a="http://schemas.openxmlformats.org/drawingml/2006/main">
              <a:ext uri="{FF2B5EF4-FFF2-40B4-BE49-F238E27FC236}">
                <a16:creationId xmlns:a16="http://schemas.microsoft.com/office/drawing/2014/main" id="{144ACFFE-10C6-490D-A9CE-2C340E3F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8873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14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13183553" y="2886076"/>
            <a:ext cx="6553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62" name="dino-grid">
            <a:extLst xmlns:a="http://schemas.openxmlformats.org/drawingml/2006/main">
              <a:ext uri="{FF2B5EF4-FFF2-40B4-BE49-F238E27FC236}">
                <a16:creationId xmlns:a16="http://schemas.microsoft.com/office/drawing/2014/main" id="{37A35463-2283-48A6-877C-634D9C9F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766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1">
                <a:latin typeface="Cambria Math"/>
                <a:ea typeface="Cambria Math"/>
                <a:cs typeface="Cambria Math"/>
              </a:rPr>
              <a:t>P</a:t>
            </a:r>
            <a:r>
              <a:rPr sz="2100" b="0" i="0">
                <a:latin typeface="Cambria Math"/>
                <a:ea typeface="Cambria Math"/>
                <a:cs typeface="Cambria Math"/>
              </a:rPr>
              <a:t> = </a:t>
            </a:r>
            <a:r>
              <a:rPr sz="2100" b="0" i="1">
                <a:latin typeface="Cambria Math"/>
                <a:ea typeface="Cambria Math"/>
                <a:cs typeface="Cambria Math"/>
              </a:rPr>
              <a:t>h</a:t>
            </a:r>
            <a:r>
              <a:rPr sz="1512" b="0" i="0" baseline="-25000">
                <a:latin typeface="Cambria Math"/>
                <a:ea typeface="Cambria Math"/>
                <a:cs typeface="Cambria Math"/>
              </a:rPr>
              <a:t>D</a:t>
            </a:r>
            <a:r>
              <a:rPr sz="2100" b="0" i="1">
                <a:latin typeface="Cambria Math"/>
                <a:ea typeface="Cambria Math"/>
                <a:cs typeface="Cambria Math"/>
              </a:rPr>
              <a:t>w</a:t>
            </a:r>
            <a:r>
              <a:rPr sz="1512" b="0" i="0" baseline="-25000">
                <a:latin typeface="Cambria Math"/>
                <a:ea typeface="Cambria Math"/>
                <a:cs typeface="Cambria Math"/>
              </a:rPr>
              <a:t>D</a:t>
            </a:r>
          </a:p>
        </p:txBody>
      </p:sp>
      <p:sp>
        <p:nvSpPr>
          <p:cNvPr id="63" name="dino-frozen">
            <a:extLst xmlns:a="http://schemas.openxmlformats.org/drawingml/2006/main">
              <a:ext uri="{FF2B5EF4-FFF2-40B4-BE49-F238E27FC236}">
                <a16:creationId xmlns:a16="http://schemas.microsoft.com/office/drawing/2014/main" id="{11FD0DB2-4D80-4C68-A6A7-E953A736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638550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Frozen parameters</a:t>
            </a:r>
          </a:p>
        </p:txBody>
      </p:sp>
      <p:sp>
        <p:nvSpPr>
          <p:cNvPr id="64" name="dino-patch-output">
            <a:extLst xmlns:a="http://schemas.openxmlformats.org/drawingml/2006/main">
              <a:ext uri="{FF2B5EF4-FFF2-40B4-BE49-F238E27FC236}">
                <a16:creationId xmlns:a16="http://schemas.microsoft.com/office/drawing/2014/main" id="{AD5F16DC-2240-4C10-A9BD-7BB882A0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6385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CLS excluded</a:t>
            </a:r>
          </a:p>
        </p:txBody>
      </p:sp>
      <p:sp>
        <p:nvSpPr>
          <p:cNvPr id="65" name="dino-shape">
            <a:extLst xmlns:a="http://schemas.openxmlformats.org/drawingml/2006/main">
              <a:ext uri="{FF2B5EF4-FFF2-40B4-BE49-F238E27FC236}">
                <a16:creationId xmlns:a16="http://schemas.microsoft.com/office/drawing/2014/main" id="{45A63367-6CDC-4536-8E4E-AD577651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4086225"/>
            <a:ext cx="3438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1">
                <a:latin typeface="Cambria Math"/>
                <a:ea typeface="Cambria Math"/>
                <a:cs typeface="Cambria Math"/>
              </a:rPr>
              <a:t>F</a:t>
            </a:r>
            <a:r>
              <a:rPr sz="1512" b="0" i="0" baseline="-25000">
                <a:latin typeface="Cambria Math"/>
                <a:ea typeface="Cambria Math"/>
                <a:cs typeface="Cambria Math"/>
              </a:rPr>
              <a:t>D</a:t>
            </a:r>
            <a:r>
              <a:rPr sz="2100" b="0" i="0">
                <a:latin typeface="Cambria Math"/>
                <a:ea typeface="Cambria Math"/>
                <a:cs typeface="Cambria Math"/>
              </a:rPr>
              <a:t>: </a:t>
            </a:r>
            <a:r>
              <a:rPr sz="2100" b="0" i="1">
                <a:latin typeface="Cambria Math"/>
                <a:ea typeface="Cambria Math"/>
                <a:cs typeface="Cambria Math"/>
              </a:rPr>
              <a:t>h</a:t>
            </a:r>
            <a:r>
              <a:rPr sz="1512" b="0" i="0" baseline="-25000">
                <a:latin typeface="Cambria Math"/>
                <a:ea typeface="Cambria Math"/>
                <a:cs typeface="Cambria Math"/>
              </a:rPr>
              <a:t>D</a:t>
            </a:r>
            <a:r>
              <a:rPr sz="2100" b="0" i="0">
                <a:latin typeface="Cambria Math"/>
                <a:ea typeface="Cambria Math"/>
                <a:cs typeface="Cambria Math"/>
              </a:rPr>
              <a:t> × </a:t>
            </a:r>
            <a:r>
              <a:rPr sz="2100" b="0" i="1">
                <a:latin typeface="Cambria Math"/>
                <a:ea typeface="Cambria Math"/>
                <a:cs typeface="Cambria Math"/>
              </a:rPr>
              <a:t>w</a:t>
            </a:r>
            <a:r>
              <a:rPr sz="1512" b="0" i="0" baseline="-25000">
                <a:latin typeface="Cambria Math"/>
                <a:ea typeface="Cambria Math"/>
                <a:cs typeface="Cambria Math"/>
              </a:rPr>
              <a:t>D</a:t>
            </a:r>
            <a:r>
              <a:rPr sz="2100" b="0" i="0">
                <a:latin typeface="Cambria Math"/>
                <a:ea typeface="Cambria Math"/>
                <a:cs typeface="Cambria Math"/>
              </a:rPr>
              <a:t> × 768</a:t>
            </a:r>
          </a:p>
        </p:txBody>
      </p:sp>
      <p:sp>
        <p:nvSpPr>
          <p:cNvPr id="66" name="dino-grid-note">
            <a:extLst xmlns:a="http://schemas.openxmlformats.org/drawingml/2006/main">
              <a:ext uri="{FF2B5EF4-FFF2-40B4-BE49-F238E27FC236}">
                <a16:creationId xmlns:a16="http://schemas.microsoft.com/office/drawing/2014/main" id="{38E6BBF3-BE88-43A9-B113-56F85DD1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181475"/>
            <a:ext cx="927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Aspect ratio determines the grid; shorter grid dimension = 32</a:t>
            </a:r>
          </a:p>
        </p:txBody>
      </p:sp>
      <p:sp>
        <p:nvSpPr>
          <p:cNvPr id="67" name="branch-rule">
            <a:extLst xmlns:a="http://schemas.openxmlformats.org/drawingml/2006/main">
              <a:ext uri="{FF2B5EF4-FFF2-40B4-BE49-F238E27FC236}">
                <a16:creationId xmlns:a16="http://schemas.microsoft.com/office/drawing/2014/main" id="{B5F58AD0-7A81-4218-8F85-03F3B4AE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95825"/>
            <a:ext cx="1327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68" name="clip-path">
            <a:extLst xmlns:a="http://schemas.openxmlformats.org/drawingml/2006/main">
              <a:ext uri="{FF2B5EF4-FFF2-40B4-BE49-F238E27FC236}">
                <a16:creationId xmlns:a16="http://schemas.microsoft.com/office/drawing/2014/main" id="{155CD257-330C-4A71-A9DF-057C600D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48225"/>
            <a:ext cx="1238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(b) CLIP ViT-L/14 visual encoder with DPAM</a:t>
            </a:r>
          </a:p>
        </p:txBody>
      </p:sp>
      <p:sp>
        <p:nvSpPr>
          <p:cNvPr id="69" name="clip-pre">
            <a:extLst xmlns:a="http://schemas.openxmlformats.org/drawingml/2006/main">
              <a:ext uri="{FF2B5EF4-FFF2-40B4-BE49-F238E27FC236}">
                <a16:creationId xmlns:a16="http://schemas.microsoft.com/office/drawing/2014/main" id="{CDD5397F-D7B1-4ECF-8238-40EB99A0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886450"/>
            <a:ext cx="19716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Resize</a:t>
            </a:r>
          </a:p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518 × 518</a:t>
            </a:r>
          </a:p>
        </p:txBody>
      </p:sp>
      <p:sp>
        <p:nvSpPr>
          <p:cNvPr id="70" name="clip-embed">
            <a:extLst xmlns:a="http://schemas.openxmlformats.org/drawingml/2006/main">
              <a:ext uri="{FF2B5EF4-FFF2-40B4-BE49-F238E27FC236}">
                <a16:creationId xmlns:a16="http://schemas.microsoft.com/office/drawing/2014/main" id="{8D830EA0-721B-408B-BE3D-32D316AD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772150"/>
            <a:ext cx="24479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14 × 14 patches</a:t>
            </a:r>
          </a:p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1369 patches + CLS</a:t>
            </a:r>
          </a:p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Hidden width 1024</a:t>
            </a:r>
          </a:p>
        </p:txBody>
      </p:sp>
      <p:sp>
        <p:nvSpPr>
          <p:cNvPr id="71" name="node162">
            <a:extLst xmlns:a="http://schemas.openxmlformats.org/drawingml/2006/main">
              <a:ext uri="{FF2B5EF4-FFF2-40B4-BE49-F238E27FC236}">
                <a16:creationId xmlns:a16="http://schemas.microsoft.com/office/drawing/2014/main" id="{68E14185-3200-4B1F-A233-36FB6A7B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023" y="641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2" name="node163">
            <a:extLst xmlns:a="http://schemas.openxmlformats.org/drawingml/2006/main">
              <a:ext uri="{FF2B5EF4-FFF2-40B4-BE49-F238E27FC236}">
                <a16:creationId xmlns:a16="http://schemas.microsoft.com/office/drawing/2014/main" id="{5FDD568C-FA1E-4010-A701-C7BBEB8C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598" y="641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26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4372928" y="64198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74" name="clip-transformer">
            <a:extLst xmlns:a="http://schemas.openxmlformats.org/drawingml/2006/main">
              <a:ext uri="{FF2B5EF4-FFF2-40B4-BE49-F238E27FC236}">
                <a16:creationId xmlns:a16="http://schemas.microsoft.com/office/drawing/2014/main" id="{20FACF30-1D5F-4AF3-BBDF-AF2D83DE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781675"/>
            <a:ext cx="2619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24 blocks, 16 heads</a:t>
            </a:r>
          </a:p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DPAM_layer = 20</a:t>
            </a:r>
          </a:p>
        </p:txBody>
      </p:sp>
      <p:sp>
        <p:nvSpPr>
          <p:cNvPr id="75" name="node164">
            <a:extLst xmlns:a="http://schemas.openxmlformats.org/drawingml/2006/main">
              <a:ext uri="{FF2B5EF4-FFF2-40B4-BE49-F238E27FC236}">
                <a16:creationId xmlns:a16="http://schemas.microsoft.com/office/drawing/2014/main" id="{21F7F46E-0907-440A-9735-6D7677CA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641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6" name="node165">
            <a:extLst xmlns:a="http://schemas.openxmlformats.org/drawingml/2006/main">
              <a:ext uri="{FF2B5EF4-FFF2-40B4-BE49-F238E27FC236}">
                <a16:creationId xmlns:a16="http://schemas.microsoft.com/office/drawing/2014/main" id="{5185143B-7B63-41E0-9D21-20828FCA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673" y="641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30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7230428" y="6419851"/>
            <a:ext cx="4362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78" name="layer-heading">
            <a:extLst xmlns:a="http://schemas.openxmlformats.org/drawingml/2006/main">
              <a:ext uri="{FF2B5EF4-FFF2-40B4-BE49-F238E27FC236}">
                <a16:creationId xmlns:a16="http://schemas.microsoft.com/office/drawing/2014/main" id="{61D7B1AB-0287-42D7-9517-31FD36F0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5410200"/>
            <a:ext cx="2609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Requested block outputs</a:t>
            </a:r>
          </a:p>
        </p:txBody>
      </p:sp>
      <p:sp>
        <p:nvSpPr>
          <p:cNvPr id="79" name="layer0">
            <a:extLst xmlns:a="http://schemas.openxmlformats.org/drawingml/2006/main">
              <a:ext uri="{FF2B5EF4-FFF2-40B4-BE49-F238E27FC236}">
                <a16:creationId xmlns:a16="http://schemas.microsoft.com/office/drawing/2014/main" id="{E694DD2E-1346-41AD-80D0-EA9324AF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5838825"/>
            <a:ext cx="504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17145">
            <a:solidFill>
              <a:srgbClr val="CAD4DA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0" name="layer1">
            <a:extLst xmlns:a="http://schemas.openxmlformats.org/drawingml/2006/main">
              <a:ext uri="{FF2B5EF4-FFF2-40B4-BE49-F238E27FC236}">
                <a16:creationId xmlns:a16="http://schemas.microsoft.com/office/drawing/2014/main" id="{B1B7B668-F2F1-4EF4-B385-CD282F3C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5838825"/>
            <a:ext cx="504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17145">
            <a:solidFill>
              <a:srgbClr val="CAD4DA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1" name="layer2">
            <a:extLst xmlns:a="http://schemas.openxmlformats.org/drawingml/2006/main">
              <a:ext uri="{FF2B5EF4-FFF2-40B4-BE49-F238E27FC236}">
                <a16:creationId xmlns:a16="http://schemas.microsoft.com/office/drawing/2014/main" id="{1C493B25-CC40-48CB-848F-37B59604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5838825"/>
            <a:ext cx="504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17145">
            <a:solidFill>
              <a:srgbClr val="CAD4DA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2" name="layer3">
            <a:extLst xmlns:a="http://schemas.openxmlformats.org/drawingml/2006/main">
              <a:ext uri="{FF2B5EF4-FFF2-40B4-BE49-F238E27FC236}">
                <a16:creationId xmlns:a16="http://schemas.microsoft.com/office/drawing/2014/main" id="{E69CD787-74AD-4F82-9FCD-1ABC6969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275" y="5838825"/>
            <a:ext cx="504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83" name="node166">
            <a:extLst xmlns:a="http://schemas.openxmlformats.org/drawingml/2006/main">
              <a:ext uri="{FF2B5EF4-FFF2-40B4-BE49-F238E27FC236}">
                <a16:creationId xmlns:a16="http://schemas.microsoft.com/office/drawing/2014/main" id="{77B8D9B2-B40B-4944-854E-4A385E61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048" y="6123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4" name="node167">
            <a:extLst xmlns:a="http://schemas.openxmlformats.org/drawingml/2006/main">
              <a:ext uri="{FF2B5EF4-FFF2-40B4-BE49-F238E27FC236}">
                <a16:creationId xmlns:a16="http://schemas.microsoft.com/office/drawing/2014/main" id="{B9B2144F-69F9-48C1-B85B-7C34A345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523" y="6123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38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10287953" y="6124576"/>
            <a:ext cx="3695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6" name="project">
            <a:extLst xmlns:a="http://schemas.openxmlformats.org/drawingml/2006/main">
              <a:ext uri="{FF2B5EF4-FFF2-40B4-BE49-F238E27FC236}">
                <a16:creationId xmlns:a16="http://schemas.microsoft.com/office/drawing/2014/main" id="{59C9EFEE-B821-411A-8A55-E5F5215C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6562725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Layer 24 only</a:t>
            </a:r>
          </a:p>
          <a:p xmlns:a="http://schemas.openxmlformats.org/drawingml/2006/main">
            <a:pPr algn="ctr">
              <a:defRPr sz="18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Layer norm + projection</a:t>
            </a:r>
          </a:p>
          <a:p xmlns:a="http://schemas.openxmlformats.org/drawingml/2006/main">
            <a:pPr algn="ctr">
              <a:defRPr sz="18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1024 → 768</a:t>
            </a:r>
          </a:p>
        </p:txBody>
      </p:sp>
      <p:sp>
        <p:nvSpPr>
          <p:cNvPr id="87" name="node168">
            <a:extLst xmlns:a="http://schemas.openxmlformats.org/drawingml/2006/main">
              <a:ext uri="{FF2B5EF4-FFF2-40B4-BE49-F238E27FC236}">
                <a16:creationId xmlns:a16="http://schemas.microsoft.com/office/drawing/2014/main" id="{A8087CD3-859E-4411-8304-C5F9EE75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498" y="6256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8" name="node169">
            <a:extLst xmlns:a="http://schemas.openxmlformats.org/drawingml/2006/main">
              <a:ext uri="{FF2B5EF4-FFF2-40B4-BE49-F238E27FC236}">
                <a16:creationId xmlns:a16="http://schemas.microsoft.com/office/drawing/2014/main" id="{DC8FA7AB-66BE-40C0-9C66-BD928391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498" y="6561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42" name=""/>
          <p:cNvCxnSpPr>
            <a:stCxn xmlns:a="http://schemas.openxmlformats.org/drawingml/2006/main" id="87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>
            <a:off x="12744451" y="6258878"/>
            <a:ext cx="0" cy="30289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08A39"/>
            </a:solidFill>
            <a:prstDash val="solid"/>
            <a:tailEnd type="triangle" w="med" len="med"/>
          </a:ln>
        </p:spPr>
      </p:cxnSp>
      <p:sp>
        <p:nvSpPr>
          <p:cNvPr id="90" name="clip-output0-0">
            <a:extLst xmlns:a="http://schemas.openxmlformats.org/drawingml/2006/main">
              <a:ext uri="{FF2B5EF4-FFF2-40B4-BE49-F238E27FC236}">
                <a16:creationId xmlns:a16="http://schemas.microsoft.com/office/drawing/2014/main" id="{79FAC3EF-F707-4F10-B2A4-23B38B76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0102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1" name="clip-output0-1">
            <a:extLst xmlns:a="http://schemas.openxmlformats.org/drawingml/2006/main">
              <a:ext uri="{FF2B5EF4-FFF2-40B4-BE49-F238E27FC236}">
                <a16:creationId xmlns:a16="http://schemas.microsoft.com/office/drawing/2014/main" id="{067D7A6A-E3CA-43E1-9DA2-6C6F4416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60102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2" name="clip-output0-2">
            <a:extLst xmlns:a="http://schemas.openxmlformats.org/drawingml/2006/main">
              <a:ext uri="{FF2B5EF4-FFF2-40B4-BE49-F238E27FC236}">
                <a16:creationId xmlns:a16="http://schemas.microsoft.com/office/drawing/2014/main" id="{49EBD1F2-FAF2-420E-B7B0-E4A7F11B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0102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3" name="clip-output0-3">
            <a:extLst xmlns:a="http://schemas.openxmlformats.org/drawingml/2006/main">
              <a:ext uri="{FF2B5EF4-FFF2-40B4-BE49-F238E27FC236}">
                <a16:creationId xmlns:a16="http://schemas.microsoft.com/office/drawing/2014/main" id="{45477049-FA54-4571-9729-BF57F638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60102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4" name="clip-output0-4">
            <a:extLst xmlns:a="http://schemas.openxmlformats.org/drawingml/2006/main">
              <a:ext uri="{FF2B5EF4-FFF2-40B4-BE49-F238E27FC236}">
                <a16:creationId xmlns:a16="http://schemas.microsoft.com/office/drawing/2014/main" id="{1F22CB08-8CB9-470A-B16B-26657F65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60102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5" name="clip-output0-5">
            <a:extLst xmlns:a="http://schemas.openxmlformats.org/drawingml/2006/main">
              <a:ext uri="{FF2B5EF4-FFF2-40B4-BE49-F238E27FC236}">
                <a16:creationId xmlns:a16="http://schemas.microsoft.com/office/drawing/2014/main" id="{AAFA2206-BF8F-445F-97B7-ED1727BD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60102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6" name="clip-output0-6">
            <a:extLst xmlns:a="http://schemas.openxmlformats.org/drawingml/2006/main">
              <a:ext uri="{FF2B5EF4-FFF2-40B4-BE49-F238E27FC236}">
                <a16:creationId xmlns:a16="http://schemas.microsoft.com/office/drawing/2014/main" id="{F92BE9E9-2EDC-453D-8FAB-E2CD4423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60102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7" name="clip-output1-0">
            <a:extLst xmlns:a="http://schemas.openxmlformats.org/drawingml/2006/main">
              <a:ext uri="{FF2B5EF4-FFF2-40B4-BE49-F238E27FC236}">
                <a16:creationId xmlns:a16="http://schemas.microsoft.com/office/drawing/2014/main" id="{967881C2-39D7-4DFE-9857-8CACC9BF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2103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8" name="clip-output1-1">
            <a:extLst xmlns:a="http://schemas.openxmlformats.org/drawingml/2006/main">
              <a:ext uri="{FF2B5EF4-FFF2-40B4-BE49-F238E27FC236}">
                <a16:creationId xmlns:a16="http://schemas.microsoft.com/office/drawing/2014/main" id="{799D5630-589A-49D1-8424-A2AF3099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62103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9" name="clip-output1-2">
            <a:extLst xmlns:a="http://schemas.openxmlformats.org/drawingml/2006/main">
              <a:ext uri="{FF2B5EF4-FFF2-40B4-BE49-F238E27FC236}">
                <a16:creationId xmlns:a16="http://schemas.microsoft.com/office/drawing/2014/main" id="{CCE9E6D7-3338-4598-A2AD-D3D038A2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2103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39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0" name="clip-output1-3">
            <a:extLst xmlns:a="http://schemas.openxmlformats.org/drawingml/2006/main">
              <a:ext uri="{FF2B5EF4-FFF2-40B4-BE49-F238E27FC236}">
                <a16:creationId xmlns:a16="http://schemas.microsoft.com/office/drawing/2014/main" id="{55E96674-DE09-4120-BB3C-A0514E04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62103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1" name="clip-output1-4">
            <a:extLst xmlns:a="http://schemas.openxmlformats.org/drawingml/2006/main">
              <a:ext uri="{FF2B5EF4-FFF2-40B4-BE49-F238E27FC236}">
                <a16:creationId xmlns:a16="http://schemas.microsoft.com/office/drawing/2014/main" id="{E153D013-62BC-4F26-A4A9-CCD9DA37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62103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2" name="clip-output1-5">
            <a:extLst xmlns:a="http://schemas.openxmlformats.org/drawingml/2006/main">
              <a:ext uri="{FF2B5EF4-FFF2-40B4-BE49-F238E27FC236}">
                <a16:creationId xmlns:a16="http://schemas.microsoft.com/office/drawing/2014/main" id="{B0073244-4835-4F20-BF13-477E43D9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62103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3" name="clip-output1-6">
            <a:extLst xmlns:a="http://schemas.openxmlformats.org/drawingml/2006/main">
              <a:ext uri="{FF2B5EF4-FFF2-40B4-BE49-F238E27FC236}">
                <a16:creationId xmlns:a16="http://schemas.microsoft.com/office/drawing/2014/main" id="{5D56AD51-F259-448A-919A-F04C86A0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62103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4" name="clip-output2-0">
            <a:extLst xmlns:a="http://schemas.openxmlformats.org/drawingml/2006/main">
              <a:ext uri="{FF2B5EF4-FFF2-40B4-BE49-F238E27FC236}">
                <a16:creationId xmlns:a16="http://schemas.microsoft.com/office/drawing/2014/main" id="{EA392293-DA59-4A6D-8E7B-0E788DEA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4103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5" name="clip-output2-1">
            <a:extLst xmlns:a="http://schemas.openxmlformats.org/drawingml/2006/main">
              <a:ext uri="{FF2B5EF4-FFF2-40B4-BE49-F238E27FC236}">
                <a16:creationId xmlns:a16="http://schemas.microsoft.com/office/drawing/2014/main" id="{AD03522B-2D0B-4E72-B10D-1CEBB0B0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64103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6" name="clip-output2-2">
            <a:extLst xmlns:a="http://schemas.openxmlformats.org/drawingml/2006/main">
              <a:ext uri="{FF2B5EF4-FFF2-40B4-BE49-F238E27FC236}">
                <a16:creationId xmlns:a16="http://schemas.microsoft.com/office/drawing/2014/main" id="{AD3773D9-698B-4CE9-A152-0120B0C9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4103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7" name="clip-output2-3">
            <a:extLst xmlns:a="http://schemas.openxmlformats.org/drawingml/2006/main">
              <a:ext uri="{FF2B5EF4-FFF2-40B4-BE49-F238E27FC236}">
                <a16:creationId xmlns:a16="http://schemas.microsoft.com/office/drawing/2014/main" id="{34B53B72-89F6-4676-881B-F685C5CD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64103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8" name="clip-output2-4">
            <a:extLst xmlns:a="http://schemas.openxmlformats.org/drawingml/2006/main">
              <a:ext uri="{FF2B5EF4-FFF2-40B4-BE49-F238E27FC236}">
                <a16:creationId xmlns:a16="http://schemas.microsoft.com/office/drawing/2014/main" id="{83346671-10E0-4359-AB26-53A87252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64103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9" name="clip-output2-5">
            <a:extLst xmlns:a="http://schemas.openxmlformats.org/drawingml/2006/main">
              <a:ext uri="{FF2B5EF4-FFF2-40B4-BE49-F238E27FC236}">
                <a16:creationId xmlns:a16="http://schemas.microsoft.com/office/drawing/2014/main" id="{029B3056-81A0-40E0-BD0E-1D273B30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64103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0" name="clip-output2-6">
            <a:extLst xmlns:a="http://schemas.openxmlformats.org/drawingml/2006/main">
              <a:ext uri="{FF2B5EF4-FFF2-40B4-BE49-F238E27FC236}">
                <a16:creationId xmlns:a16="http://schemas.microsoft.com/office/drawing/2014/main" id="{EBDC0559-34F4-40EB-B385-8162BDE5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64103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1" name="clip-output3-0">
            <a:extLst xmlns:a="http://schemas.openxmlformats.org/drawingml/2006/main">
              <a:ext uri="{FF2B5EF4-FFF2-40B4-BE49-F238E27FC236}">
                <a16:creationId xmlns:a16="http://schemas.microsoft.com/office/drawing/2014/main" id="{175D2587-519F-446C-A09B-CC743729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6103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2" name="clip-output3-1">
            <a:extLst xmlns:a="http://schemas.openxmlformats.org/drawingml/2006/main">
              <a:ext uri="{FF2B5EF4-FFF2-40B4-BE49-F238E27FC236}">
                <a16:creationId xmlns:a16="http://schemas.microsoft.com/office/drawing/2014/main" id="{5D7AA61A-1AB3-43CB-B2D5-607F86A1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66103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3" name="clip-output3-2">
            <a:extLst xmlns:a="http://schemas.openxmlformats.org/drawingml/2006/main">
              <a:ext uri="{FF2B5EF4-FFF2-40B4-BE49-F238E27FC236}">
                <a16:creationId xmlns:a16="http://schemas.microsoft.com/office/drawing/2014/main" id="{30D4E1DF-BBD9-4869-BAB5-98093C72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6103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4" name="clip-output3-3">
            <a:extLst xmlns:a="http://schemas.openxmlformats.org/drawingml/2006/main">
              <a:ext uri="{FF2B5EF4-FFF2-40B4-BE49-F238E27FC236}">
                <a16:creationId xmlns:a16="http://schemas.microsoft.com/office/drawing/2014/main" id="{7D365414-77E7-4D90-A16F-678D25E0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66103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5" name="clip-output3-4">
            <a:extLst xmlns:a="http://schemas.openxmlformats.org/drawingml/2006/main">
              <a:ext uri="{FF2B5EF4-FFF2-40B4-BE49-F238E27FC236}">
                <a16:creationId xmlns:a16="http://schemas.microsoft.com/office/drawing/2014/main" id="{804253A5-6EA7-4E93-A923-9EC5292A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66103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6" name="clip-output3-5">
            <a:extLst xmlns:a="http://schemas.openxmlformats.org/drawingml/2006/main">
              <a:ext uri="{FF2B5EF4-FFF2-40B4-BE49-F238E27FC236}">
                <a16:creationId xmlns:a16="http://schemas.microsoft.com/office/drawing/2014/main" id="{0C30A84D-EBCD-4C3E-8C35-A79965CD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66103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7" name="clip-output3-6">
            <a:extLst xmlns:a="http://schemas.openxmlformats.org/drawingml/2006/main">
              <a:ext uri="{FF2B5EF4-FFF2-40B4-BE49-F238E27FC236}">
                <a16:creationId xmlns:a16="http://schemas.microsoft.com/office/drawing/2014/main" id="{FF4FBB8C-90A3-41E6-8631-63216DFF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66103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8" name="clip-output4-0">
            <a:extLst xmlns:a="http://schemas.openxmlformats.org/drawingml/2006/main">
              <a:ext uri="{FF2B5EF4-FFF2-40B4-BE49-F238E27FC236}">
                <a16:creationId xmlns:a16="http://schemas.microsoft.com/office/drawing/2014/main" id="{45AE590C-BD6D-4316-BCC3-DD8E48E0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8103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9" name="clip-output4-1">
            <a:extLst xmlns:a="http://schemas.openxmlformats.org/drawingml/2006/main">
              <a:ext uri="{FF2B5EF4-FFF2-40B4-BE49-F238E27FC236}">
                <a16:creationId xmlns:a16="http://schemas.microsoft.com/office/drawing/2014/main" id="{CAE645A2-DAB6-49CC-A93E-E7695EC2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68103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0" name="clip-output4-2">
            <a:extLst xmlns:a="http://schemas.openxmlformats.org/drawingml/2006/main">
              <a:ext uri="{FF2B5EF4-FFF2-40B4-BE49-F238E27FC236}">
                <a16:creationId xmlns:a16="http://schemas.microsoft.com/office/drawing/2014/main" id="{33B294C0-B9D0-4089-A35B-7168E712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8103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1" name="clip-output4-3">
            <a:extLst xmlns:a="http://schemas.openxmlformats.org/drawingml/2006/main">
              <a:ext uri="{FF2B5EF4-FFF2-40B4-BE49-F238E27FC236}">
                <a16:creationId xmlns:a16="http://schemas.microsoft.com/office/drawing/2014/main" id="{39F44CF9-ED9F-4D97-A48B-3E2E3EDA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68103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2" name="clip-output4-4">
            <a:extLst xmlns:a="http://schemas.openxmlformats.org/drawingml/2006/main">
              <a:ext uri="{FF2B5EF4-FFF2-40B4-BE49-F238E27FC236}">
                <a16:creationId xmlns:a16="http://schemas.microsoft.com/office/drawing/2014/main" id="{0BAE1BDF-D4C4-407B-8D2A-4CD32427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68103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3" name="clip-output4-5">
            <a:extLst xmlns:a="http://schemas.openxmlformats.org/drawingml/2006/main">
              <a:ext uri="{FF2B5EF4-FFF2-40B4-BE49-F238E27FC236}">
                <a16:creationId xmlns:a16="http://schemas.microsoft.com/office/drawing/2014/main" id="{D391B458-3CF6-46FC-A318-3A2C8D22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68103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4" name="clip-output4-6">
            <a:extLst xmlns:a="http://schemas.openxmlformats.org/drawingml/2006/main">
              <a:ext uri="{FF2B5EF4-FFF2-40B4-BE49-F238E27FC236}">
                <a16:creationId xmlns:a16="http://schemas.microsoft.com/office/drawing/2014/main" id="{2E0B40F0-0E1F-45C9-9DBD-531E8814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68103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5" name="clip-output5-0">
            <a:extLst xmlns:a="http://schemas.openxmlformats.org/drawingml/2006/main">
              <a:ext uri="{FF2B5EF4-FFF2-40B4-BE49-F238E27FC236}">
                <a16:creationId xmlns:a16="http://schemas.microsoft.com/office/drawing/2014/main" id="{43CC3082-0BEE-4B1D-83A9-F05EA3D0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0104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6" name="clip-output5-1">
            <a:extLst xmlns:a="http://schemas.openxmlformats.org/drawingml/2006/main">
              <a:ext uri="{FF2B5EF4-FFF2-40B4-BE49-F238E27FC236}">
                <a16:creationId xmlns:a16="http://schemas.microsoft.com/office/drawing/2014/main" id="{21A3F2E1-C5D6-4375-BFCA-88C8191C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70104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7" name="clip-output5-2">
            <a:extLst xmlns:a="http://schemas.openxmlformats.org/drawingml/2006/main">
              <a:ext uri="{FF2B5EF4-FFF2-40B4-BE49-F238E27FC236}">
                <a16:creationId xmlns:a16="http://schemas.microsoft.com/office/drawing/2014/main" id="{946AB582-9D8A-4E22-86E9-F9240A8E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0104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8" name="clip-output5-3">
            <a:extLst xmlns:a="http://schemas.openxmlformats.org/drawingml/2006/main">
              <a:ext uri="{FF2B5EF4-FFF2-40B4-BE49-F238E27FC236}">
                <a16:creationId xmlns:a16="http://schemas.microsoft.com/office/drawing/2014/main" id="{25F83BC3-2318-4495-B6B9-C74E66E9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70104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9" name="clip-output5-4">
            <a:extLst xmlns:a="http://schemas.openxmlformats.org/drawingml/2006/main">
              <a:ext uri="{FF2B5EF4-FFF2-40B4-BE49-F238E27FC236}">
                <a16:creationId xmlns:a16="http://schemas.microsoft.com/office/drawing/2014/main" id="{0BAAD577-AA4F-42E3-A87F-1D9705F9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70104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0" name="clip-output5-5">
            <a:extLst xmlns:a="http://schemas.openxmlformats.org/drawingml/2006/main">
              <a:ext uri="{FF2B5EF4-FFF2-40B4-BE49-F238E27FC236}">
                <a16:creationId xmlns:a16="http://schemas.microsoft.com/office/drawing/2014/main" id="{1DCB01B6-E283-4A52-A625-0B4B4C16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70104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1" name="clip-output5-6">
            <a:extLst xmlns:a="http://schemas.openxmlformats.org/drawingml/2006/main">
              <a:ext uri="{FF2B5EF4-FFF2-40B4-BE49-F238E27FC236}">
                <a16:creationId xmlns:a16="http://schemas.microsoft.com/office/drawing/2014/main" id="{6DECA866-78B7-4E8D-BC81-F9381A43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70104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2" name="clip-output6-0">
            <a:extLst xmlns:a="http://schemas.openxmlformats.org/drawingml/2006/main">
              <a:ext uri="{FF2B5EF4-FFF2-40B4-BE49-F238E27FC236}">
                <a16:creationId xmlns:a16="http://schemas.microsoft.com/office/drawing/2014/main" id="{FB198242-E837-41C8-BF64-81683913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2104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3" name="clip-output6-1">
            <a:extLst xmlns:a="http://schemas.openxmlformats.org/drawingml/2006/main">
              <a:ext uri="{FF2B5EF4-FFF2-40B4-BE49-F238E27FC236}">
                <a16:creationId xmlns:a16="http://schemas.microsoft.com/office/drawing/2014/main" id="{F5E42DBD-5828-4AA7-A955-0902F24B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72104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4" name="clip-output6-2">
            <a:extLst xmlns:a="http://schemas.openxmlformats.org/drawingml/2006/main">
              <a:ext uri="{FF2B5EF4-FFF2-40B4-BE49-F238E27FC236}">
                <a16:creationId xmlns:a16="http://schemas.microsoft.com/office/drawing/2014/main" id="{5ED59D56-561F-4126-9B5F-02E229CB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2104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5" name="clip-output6-3">
            <a:extLst xmlns:a="http://schemas.openxmlformats.org/drawingml/2006/main">
              <a:ext uri="{FF2B5EF4-FFF2-40B4-BE49-F238E27FC236}">
                <a16:creationId xmlns:a16="http://schemas.microsoft.com/office/drawing/2014/main" id="{EF6815E8-9038-4421-BD00-1D5F316B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72104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6" name="clip-output6-4">
            <a:extLst xmlns:a="http://schemas.openxmlformats.org/drawingml/2006/main">
              <a:ext uri="{FF2B5EF4-FFF2-40B4-BE49-F238E27FC236}">
                <a16:creationId xmlns:a16="http://schemas.microsoft.com/office/drawing/2014/main" id="{A5B4CE4B-BBBF-45E4-9455-EAF125F9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72104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7" name="clip-output6-5">
            <a:extLst xmlns:a="http://schemas.openxmlformats.org/drawingml/2006/main">
              <a:ext uri="{FF2B5EF4-FFF2-40B4-BE49-F238E27FC236}">
                <a16:creationId xmlns:a16="http://schemas.microsoft.com/office/drawing/2014/main" id="{4E8AC7D5-A3A7-49D3-B106-8D9AB198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72104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8" name="clip-output6-6">
            <a:extLst xmlns:a="http://schemas.openxmlformats.org/drawingml/2006/main">
              <a:ext uri="{FF2B5EF4-FFF2-40B4-BE49-F238E27FC236}">
                <a16:creationId xmlns:a16="http://schemas.microsoft.com/office/drawing/2014/main" id="{D0E1A465-335D-4295-A654-9F775047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72104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9" name="node170">
            <a:extLst xmlns:a="http://schemas.openxmlformats.org/drawingml/2006/main">
              <a:ext uri="{FF2B5EF4-FFF2-40B4-BE49-F238E27FC236}">
                <a16:creationId xmlns:a16="http://schemas.microsoft.com/office/drawing/2014/main" id="{EB901F8F-359C-45CD-9B61-F6D3CA07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1148" y="713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40" name="node171">
            <a:extLst xmlns:a="http://schemas.openxmlformats.org/drawingml/2006/main">
              <a:ext uri="{FF2B5EF4-FFF2-40B4-BE49-F238E27FC236}">
                <a16:creationId xmlns:a16="http://schemas.microsoft.com/office/drawing/2014/main" id="{3CC26F25-9365-438D-98C6-AC6FF755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298" y="713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94" name=""/>
          <p:cNvCxnSpPr>
            <a:stCxn xmlns:a="http://schemas.openxmlformats.org/drawingml/2006/main" id="139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>
            <a:off x="12993053" y="7134226"/>
            <a:ext cx="4362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42" name="node172">
            <a:extLst xmlns:a="http://schemas.openxmlformats.org/drawingml/2006/main">
              <a:ext uri="{FF2B5EF4-FFF2-40B4-BE49-F238E27FC236}">
                <a16:creationId xmlns:a16="http://schemas.microsoft.com/office/drawing/2014/main" id="{58CDD84A-ECE1-4835-BD39-3B622855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298" y="713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43" name="node173">
            <a:extLst xmlns:a="http://schemas.openxmlformats.org/drawingml/2006/main">
              <a:ext uri="{FF2B5EF4-FFF2-40B4-BE49-F238E27FC236}">
                <a16:creationId xmlns:a16="http://schemas.microsoft.com/office/drawing/2014/main" id="{37F593E5-A6DA-447F-BB5B-6CF1C3CD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298" y="6704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97" name=""/>
          <p:cNvCxnSpPr>
            <a:stCxn xmlns:a="http://schemas.openxmlformats.org/drawingml/2006/main" id="142" idx="0"/>
            <a:endCxn xmlns:a="http://schemas.openxmlformats.org/drawingml/2006/main" id="143" idx="2"/>
          </p:cNvCxnSpPr>
          <p:nvPr/>
        </p:nvCxnSpPr>
        <p:spPr>
          <a:xfrm xmlns:a="http://schemas.openxmlformats.org/drawingml/2006/main" flipV="1">
            <a:off x="13430251" y="6706553"/>
            <a:ext cx="0" cy="4267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45" name="node174">
            <a:extLst xmlns:a="http://schemas.openxmlformats.org/drawingml/2006/main">
              <a:ext uri="{FF2B5EF4-FFF2-40B4-BE49-F238E27FC236}">
                <a16:creationId xmlns:a16="http://schemas.microsoft.com/office/drawing/2014/main" id="{7E869D07-C331-418D-8401-50A13438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298" y="6704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46" name="node175">
            <a:extLst xmlns:a="http://schemas.openxmlformats.org/drawingml/2006/main">
              <a:ext uri="{FF2B5EF4-FFF2-40B4-BE49-F238E27FC236}">
                <a16:creationId xmlns:a16="http://schemas.microsoft.com/office/drawing/2014/main" id="{A2D5E0D5-DA2F-45E5-86A1-79BC5C39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5548" y="6704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00" name=""/>
          <p:cNvCxnSpPr>
            <a:stCxn xmlns:a="http://schemas.openxmlformats.org/drawingml/2006/main" id="145" idx="3"/>
            <a:endCxn xmlns:a="http://schemas.openxmlformats.org/drawingml/2006/main" id="146" idx="1"/>
          </p:cNvCxnSpPr>
          <p:nvPr/>
        </p:nvCxnSpPr>
        <p:spPr>
          <a:xfrm xmlns:a="http://schemas.openxmlformats.org/drawingml/2006/main">
            <a:off x="13431203" y="6705601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48" name="clip-drop-cls">
            <a:extLst xmlns:a="http://schemas.openxmlformats.org/drawingml/2006/main">
              <a:ext uri="{FF2B5EF4-FFF2-40B4-BE49-F238E27FC236}">
                <a16:creationId xmlns:a16="http://schemas.microsoft.com/office/drawing/2014/main" id="{FDF83137-72C9-4471-8E2E-CCFE1FC1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524750"/>
            <a:ext cx="2276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Exclude CLS</a:t>
            </a:r>
          </a:p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Reshape patch tokens</a:t>
            </a:r>
          </a:p>
        </p:txBody>
      </p:sp>
      <p:sp>
        <p:nvSpPr>
          <p:cNvPr id="149" name="clip-shape">
            <a:extLst xmlns:a="http://schemas.openxmlformats.org/drawingml/2006/main">
              <a:ext uri="{FF2B5EF4-FFF2-40B4-BE49-F238E27FC236}">
                <a16:creationId xmlns:a16="http://schemas.microsoft.com/office/drawing/2014/main" id="{3F5CEAE8-E576-4AEA-AF61-076B1770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8239125"/>
            <a:ext cx="3400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1">
                <a:latin typeface="Cambria Math"/>
                <a:ea typeface="Cambria Math"/>
                <a:cs typeface="Cambria Math"/>
              </a:rPr>
              <a:t>F</a:t>
            </a:r>
            <a:r>
              <a:rPr sz="1566" b="0" i="0" baseline="-25000">
                <a:latin typeface="Cambria Math"/>
                <a:ea typeface="Cambria Math"/>
                <a:cs typeface="Cambria Math"/>
              </a:rPr>
              <a:t>C</a:t>
            </a:r>
            <a:r>
              <a:rPr sz="2175" b="0" i="0">
                <a:latin typeface="Cambria Math"/>
                <a:ea typeface="Cambria Math"/>
                <a:cs typeface="Cambria Math"/>
              </a:rPr>
              <a:t>: 37 × 37 × 768</a:t>
            </a:r>
          </a:p>
        </p:txBody>
      </p:sp>
      <p:sp>
        <p:nvSpPr>
          <p:cNvPr id="150" name="dpam-detail">
            <a:extLst xmlns:a="http://schemas.openxmlformats.org/drawingml/2006/main">
              <a:ext uri="{FF2B5EF4-FFF2-40B4-BE49-F238E27FC236}">
                <a16:creationId xmlns:a16="http://schemas.microsoft.com/office/drawing/2014/main" id="{5D7D8932-E7A1-4499-A139-B8E17161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6772275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Blocks 6–24</a:t>
            </a:r>
          </a:p>
          <a:p xmlns:a="http://schemas.openxmlformats.org/drawingml/2006/main">
            <a:pPr algn="ctr">
              <a:defRPr sz="18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Value–value attention</a:t>
            </a:r>
          </a:p>
        </p:txBody>
      </p:sp>
      <p:sp>
        <p:nvSpPr>
          <p:cNvPr id="151" name="clip-selection">
            <a:extLst xmlns:a="http://schemas.openxmlformats.org/drawingml/2006/main">
              <a:ext uri="{FF2B5EF4-FFF2-40B4-BE49-F238E27FC236}">
                <a16:creationId xmlns:a16="http://schemas.microsoft.com/office/drawing/2014/main" id="{0C7315D2-847A-4F8B-A2A6-F55D22C4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7810500"/>
            <a:ext cx="8181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Only the final requested layer enters fusion</a:t>
            </a:r>
          </a:p>
        </p:txBody>
      </p:sp>
      <p:sp>
        <p:nvSpPr>
          <p:cNvPr id="152" name="footrule">
            <a:extLst xmlns:a="http://schemas.openxmlformats.org/drawingml/2006/main">
              <a:ext uri="{FF2B5EF4-FFF2-40B4-BE49-F238E27FC236}">
                <a16:creationId xmlns:a16="http://schemas.microsoft.com/office/drawing/2014/main" id="{4304D0B2-9ABA-4E7D-B856-5ACF86EA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79157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153" name="visual-only">
            <a:extLst xmlns:a="http://schemas.openxmlformats.org/drawingml/2006/main">
              <a:ext uri="{FF2B5EF4-FFF2-40B4-BE49-F238E27FC236}">
                <a16:creationId xmlns:a16="http://schemas.microsoft.com/office/drawing/2014/main" id="{2B8709C5-2ACC-479C-89F6-F9EAD08E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848725"/>
            <a:ext cx="1531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Visual features only; encoders remain frozen for support construction and query inference</a:t>
            </a:r>
          </a:p>
        </p:txBody>
      </p:sp>
    </p:spTree>
    <p:extLst>
      <p:ext uri="{BB962C8B-B14F-4D97-AF65-F5344CB8AC3E}">
        <p14:creationId xmlns:p14="http://schemas.microsoft.com/office/powerpoint/2010/main" val="14957117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" name="title">
            <a:extLst xmlns:a="http://schemas.openxmlformats.org/drawingml/2006/main">
              <a:ext uri="{FF2B5EF4-FFF2-40B4-BE49-F238E27FC236}">
                <a16:creationId xmlns:a16="http://schemas.microsoft.com/office/drawing/2014/main" id="{2ACA44D3-34A6-44B6-98F1-BEA6535A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5316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Fig. S2   Matched control for the added visual representation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FFD55D-6309-4AA3-9918-61E68B4C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47725"/>
            <a:ext cx="1531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Paired inputs and a common scorer isolate the effect of adding calibrated CLIP features</a:t>
            </a:r>
          </a:p>
        </p:txBody>
      </p:sp>
      <p:sp>
        <p:nvSpPr>
          <p:cNvPr id="3" name="headrule">
            <a:extLst xmlns:a="http://schemas.openxmlformats.org/drawingml/2006/main">
              <a:ext uri="{FF2B5EF4-FFF2-40B4-BE49-F238E27FC236}">
                <a16:creationId xmlns:a16="http://schemas.microsoft.com/office/drawing/2014/main" id="{33381B5F-2EF4-49AF-94BD-71BD9154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192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4" name="method-title164">
            <a:extLst xmlns:a="http://schemas.openxmlformats.org/drawingml/2006/main">
              <a:ext uri="{FF2B5EF4-FFF2-40B4-BE49-F238E27FC236}">
                <a16:creationId xmlns:a16="http://schemas.microsoft.com/office/drawing/2014/main" id="{BA839E4D-0B15-4747-913A-A031446C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6210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(a) DCFnet</a:t>
            </a:r>
          </a:p>
        </p:txBody>
      </p:sp>
      <p:sp>
        <p:nvSpPr>
          <p:cNvPr id="5" name="dino164">
            <a:extLst xmlns:a="http://schemas.openxmlformats.org/drawingml/2006/main">
              <a:ext uri="{FF2B5EF4-FFF2-40B4-BE49-F238E27FC236}">
                <a16:creationId xmlns:a16="http://schemas.microsoft.com/office/drawing/2014/main" id="{F5A6DDB3-B9EA-4687-84E4-189614DC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21717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Same DINOv2</a:t>
            </a:r>
          </a:p>
        </p:txBody>
      </p:sp>
      <p:sp>
        <p:nvSpPr>
          <p:cNvPr id="6" name="clip164">
            <a:extLst xmlns:a="http://schemas.openxmlformats.org/drawingml/2006/main">
              <a:ext uri="{FF2B5EF4-FFF2-40B4-BE49-F238E27FC236}">
                <a16:creationId xmlns:a16="http://schemas.microsoft.com/office/drawing/2014/main" id="{B1E0241B-B146-4D74-B9CF-63CD766D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2171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CLIP visual + DPAM</a:t>
            </a:r>
          </a:p>
        </p:txBody>
      </p:sp>
      <p:sp>
        <p:nvSpPr>
          <p:cNvPr id="7" name="norm164">
            <a:extLst xmlns:a="http://schemas.openxmlformats.org/drawingml/2006/main">
              <a:ext uri="{FF2B5EF4-FFF2-40B4-BE49-F238E27FC236}">
                <a16:creationId xmlns:a16="http://schemas.microsoft.com/office/drawing/2014/main" id="{B7A78A94-62F4-4678-B418-E16545B8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33600"/>
            <a:ext cx="26860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latin typeface="Arial"/>
                <a:ea typeface="Arial"/>
                <a:cs typeface="Arial"/>
              </a:rPr>
              <a:t>Align CLIP grid
Branch </a:t>
            </a:r>
            <a:r>
              <a:rPr sz="1950" b="0" i="1">
                <a:latin typeface="Cambria Math"/>
                <a:ea typeface="Cambria Math"/>
                <a:cs typeface="Cambria Math"/>
              </a:rPr>
              <a:t>ℓ</a:t>
            </a:r>
            <a:r>
              <a:rPr sz="1404" b="0" i="0" baseline="-25000">
                <a:latin typeface="Cambria Math"/>
                <a:ea typeface="Cambria Math"/>
                <a:cs typeface="Cambria Math"/>
              </a:rPr>
              <a:t>2</a:t>
            </a:r>
            <a:r>
              <a:rPr sz="1950" b="1" i="0">
                <a:latin typeface="Arial"/>
                <a:ea typeface="Arial"/>
                <a:cs typeface="Arial"/>
              </a:rPr>
              <a:t> norms
0.5 / 0.5 concat
Joint </a:t>
            </a:r>
            <a:r>
              <a:rPr sz="1950" b="0" i="1">
                <a:latin typeface="Cambria Math"/>
                <a:ea typeface="Cambria Math"/>
                <a:cs typeface="Cambria Math"/>
              </a:rPr>
              <a:t>ℓ</a:t>
            </a:r>
            <a:r>
              <a:rPr sz="1404" b="0" i="0" baseline="-25000">
                <a:latin typeface="Cambria Math"/>
                <a:ea typeface="Cambria Math"/>
                <a:cs typeface="Cambria Math"/>
              </a:rPr>
              <a:t>2</a:t>
            </a:r>
            <a:r>
              <a:rPr sz="1950" b="1" i="0">
                <a:latin typeface="Arial"/>
                <a:ea typeface="Arial"/>
                <a:cs typeface="Arial"/>
              </a:rPr>
              <a:t> norm</a:t>
            </a:r>
          </a:p>
        </p:txBody>
      </p:sp>
      <p:sp>
        <p:nvSpPr>
          <p:cNvPr id="8" name="node176">
            <a:extLst xmlns:a="http://schemas.openxmlformats.org/drawingml/2006/main">
              <a:ext uri="{FF2B5EF4-FFF2-40B4-BE49-F238E27FC236}">
                <a16:creationId xmlns:a16="http://schemas.microsoft.com/office/drawing/2014/main" id="{D69D3D79-E7C2-4BE7-82B4-2BF584C4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948" y="2466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" name="node177">
            <a:extLst xmlns:a="http://schemas.openxmlformats.org/drawingml/2006/main">
              <a:ext uri="{FF2B5EF4-FFF2-40B4-BE49-F238E27FC236}">
                <a16:creationId xmlns:a16="http://schemas.microsoft.com/office/drawing/2014/main" id="{3E3A285B-E29D-4368-9A54-004483F6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198" y="2466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7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29853" y="2466976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1" name="node178">
            <a:extLst xmlns:a="http://schemas.openxmlformats.org/drawingml/2006/main">
              <a:ext uri="{FF2B5EF4-FFF2-40B4-BE49-F238E27FC236}">
                <a16:creationId xmlns:a16="http://schemas.microsoft.com/office/drawing/2014/main" id="{E8655920-9DE3-49FB-9902-41FB3111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948" y="3104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2" name="node179">
            <a:extLst xmlns:a="http://schemas.openxmlformats.org/drawingml/2006/main">
              <a:ext uri="{FF2B5EF4-FFF2-40B4-BE49-F238E27FC236}">
                <a16:creationId xmlns:a16="http://schemas.microsoft.com/office/drawing/2014/main" id="{A059CD3A-B6F1-4F5D-90B9-D20F0A94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198" y="3104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7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29853" y="3105151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4" name="desc1640">
            <a:extLst xmlns:a="http://schemas.openxmlformats.org/drawingml/2006/main">
              <a:ext uri="{FF2B5EF4-FFF2-40B4-BE49-F238E27FC236}">
                <a16:creationId xmlns:a16="http://schemas.microsoft.com/office/drawing/2014/main" id="{023CA7F5-FF0F-49FA-9EC0-0C76F9B7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" name="desc1641">
            <a:extLst xmlns:a="http://schemas.openxmlformats.org/drawingml/2006/main">
              <a:ext uri="{FF2B5EF4-FFF2-40B4-BE49-F238E27FC236}">
                <a16:creationId xmlns:a16="http://schemas.microsoft.com/office/drawing/2014/main" id="{1C9E2A9D-7978-4FFF-A17E-A15E7717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6" name="desc1642">
            <a:extLst xmlns:a="http://schemas.openxmlformats.org/drawingml/2006/main">
              <a:ext uri="{FF2B5EF4-FFF2-40B4-BE49-F238E27FC236}">
                <a16:creationId xmlns:a16="http://schemas.microsoft.com/office/drawing/2014/main" id="{9B72CAD3-7BE4-4AA7-9092-FC62007A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7" name="desc1643">
            <a:extLst xmlns:a="http://schemas.openxmlformats.org/drawingml/2006/main">
              <a:ext uri="{FF2B5EF4-FFF2-40B4-BE49-F238E27FC236}">
                <a16:creationId xmlns:a16="http://schemas.microsoft.com/office/drawing/2014/main" id="{F20F05FB-2039-4AB8-97C4-2941F44A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8" name="desc1644">
            <a:extLst xmlns:a="http://schemas.openxmlformats.org/drawingml/2006/main">
              <a:ext uri="{FF2B5EF4-FFF2-40B4-BE49-F238E27FC236}">
                <a16:creationId xmlns:a16="http://schemas.microsoft.com/office/drawing/2014/main" id="{9A7110FB-6E0F-4D06-AFF5-40CDE9EB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9" name="desc1645">
            <a:extLst xmlns:a="http://schemas.openxmlformats.org/drawingml/2006/main">
              <a:ext uri="{FF2B5EF4-FFF2-40B4-BE49-F238E27FC236}">
                <a16:creationId xmlns:a16="http://schemas.microsoft.com/office/drawing/2014/main" id="{E777266E-99C1-4F8D-BC41-40C1808B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0" name="desc1646">
            <a:extLst xmlns:a="http://schemas.openxmlformats.org/drawingml/2006/main">
              <a:ext uri="{FF2B5EF4-FFF2-40B4-BE49-F238E27FC236}">
                <a16:creationId xmlns:a16="http://schemas.microsoft.com/office/drawing/2014/main" id="{A10C9516-4EF8-4097-A243-89799000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" name="desc1647">
            <a:extLst xmlns:a="http://schemas.openxmlformats.org/drawingml/2006/main">
              <a:ext uri="{FF2B5EF4-FFF2-40B4-BE49-F238E27FC236}">
                <a16:creationId xmlns:a16="http://schemas.microsoft.com/office/drawing/2014/main" id="{16A48317-DDAE-4EDB-96F4-7279D15C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2" name="desc1648">
            <a:extLst xmlns:a="http://schemas.openxmlformats.org/drawingml/2006/main">
              <a:ext uri="{FF2B5EF4-FFF2-40B4-BE49-F238E27FC236}">
                <a16:creationId xmlns:a16="http://schemas.microsoft.com/office/drawing/2014/main" id="{5AC83722-37AF-45A8-809D-FE765B1D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" name="desc1649">
            <a:extLst xmlns:a="http://schemas.openxmlformats.org/drawingml/2006/main">
              <a:ext uri="{FF2B5EF4-FFF2-40B4-BE49-F238E27FC236}">
                <a16:creationId xmlns:a16="http://schemas.microsoft.com/office/drawing/2014/main" id="{EC05888C-373D-4E5D-869B-4CA7FD16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" name="node180">
            <a:extLst xmlns:a="http://schemas.openxmlformats.org/drawingml/2006/main">
              <a:ext uri="{FF2B5EF4-FFF2-40B4-BE49-F238E27FC236}">
                <a16:creationId xmlns:a16="http://schemas.microsoft.com/office/drawing/2014/main" id="{91CADCD1-E23C-4DAE-9684-68C2F8B5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248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5" name="node181">
            <a:extLst xmlns:a="http://schemas.openxmlformats.org/drawingml/2006/main">
              <a:ext uri="{FF2B5EF4-FFF2-40B4-BE49-F238E27FC236}">
                <a16:creationId xmlns:a16="http://schemas.microsoft.com/office/drawing/2014/main" id="{0D8931D3-EC5A-4B7D-B98D-29F6E8AD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923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87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792153" y="2800351"/>
            <a:ext cx="4457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7" name="desc-dim164">
            <a:extLst xmlns:a="http://schemas.openxmlformats.org/drawingml/2006/main">
              <a:ext uri="{FF2B5EF4-FFF2-40B4-BE49-F238E27FC236}">
                <a16:creationId xmlns:a16="http://schemas.microsoft.com/office/drawing/2014/main" id="{38A83762-90C5-4A53-987B-ED07DDBE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2276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1536-D unit vector</a:t>
            </a:r>
          </a:p>
        </p:txBody>
      </p:sp>
      <p:sp>
        <p:nvSpPr>
          <p:cNvPr id="28" name="bank164">
            <a:extLst xmlns:a="http://schemas.openxmlformats.org/drawingml/2006/main">
              <a:ext uri="{FF2B5EF4-FFF2-40B4-BE49-F238E27FC236}">
                <a16:creationId xmlns:a16="http://schemas.microsoft.com/office/drawing/2014/main" id="{B05F9011-053B-4DB4-98C3-2635D497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85975"/>
            <a:ext cx="26289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memory16400">
            <a:extLst xmlns:a="http://schemas.openxmlformats.org/drawingml/2006/main">
              <a:ext uri="{FF2B5EF4-FFF2-40B4-BE49-F238E27FC236}">
                <a16:creationId xmlns:a16="http://schemas.microsoft.com/office/drawing/2014/main" id="{33F859BA-8161-4816-A48B-9897A39C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0" name="memory16401">
            <a:extLst xmlns:a="http://schemas.openxmlformats.org/drawingml/2006/main">
              <a:ext uri="{FF2B5EF4-FFF2-40B4-BE49-F238E27FC236}">
                <a16:creationId xmlns:a16="http://schemas.microsoft.com/office/drawing/2014/main" id="{A01AA263-DBF3-4AB6-B45F-D17BF556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193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1" name="memory16402">
            <a:extLst xmlns:a="http://schemas.openxmlformats.org/drawingml/2006/main">
              <a:ext uri="{FF2B5EF4-FFF2-40B4-BE49-F238E27FC236}">
                <a16:creationId xmlns:a16="http://schemas.microsoft.com/office/drawing/2014/main" id="{25F7B4DA-45A9-402C-BB14-B3A6EEE9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935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2" name="memory16403">
            <a:extLst xmlns:a="http://schemas.openxmlformats.org/drawingml/2006/main">
              <a:ext uri="{FF2B5EF4-FFF2-40B4-BE49-F238E27FC236}">
                <a16:creationId xmlns:a16="http://schemas.microsoft.com/office/drawing/2014/main" id="{66A3D15E-F9D9-4517-B91F-5F3266A6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678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3" name="memory16404">
            <a:extLst xmlns:a="http://schemas.openxmlformats.org/drawingml/2006/main">
              <a:ext uri="{FF2B5EF4-FFF2-40B4-BE49-F238E27FC236}">
                <a16:creationId xmlns:a16="http://schemas.microsoft.com/office/drawing/2014/main" id="{25DF722F-DB82-4567-91B1-2677D268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420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4" name="memory16405">
            <a:extLst xmlns:a="http://schemas.openxmlformats.org/drawingml/2006/main">
              <a:ext uri="{FF2B5EF4-FFF2-40B4-BE49-F238E27FC236}">
                <a16:creationId xmlns:a16="http://schemas.microsoft.com/office/drawing/2014/main" id="{EBB817B9-5E96-4C3A-9776-D0E2655D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4163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5" name="memory16406">
            <a:extLst xmlns:a="http://schemas.openxmlformats.org/drawingml/2006/main">
              <a:ext uri="{FF2B5EF4-FFF2-40B4-BE49-F238E27FC236}">
                <a16:creationId xmlns:a16="http://schemas.microsoft.com/office/drawing/2014/main" id="{5063B015-3799-4514-8578-9F2BC0DE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9905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6" name="memory16407">
            <a:extLst xmlns:a="http://schemas.openxmlformats.org/drawingml/2006/main">
              <a:ext uri="{FF2B5EF4-FFF2-40B4-BE49-F238E27FC236}">
                <a16:creationId xmlns:a16="http://schemas.microsoft.com/office/drawing/2014/main" id="{18B1A030-F527-499C-BA2B-066586A5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648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7" name="memory16408">
            <a:extLst xmlns:a="http://schemas.openxmlformats.org/drawingml/2006/main">
              <a:ext uri="{FF2B5EF4-FFF2-40B4-BE49-F238E27FC236}">
                <a16:creationId xmlns:a16="http://schemas.microsoft.com/office/drawing/2014/main" id="{705792AB-FDB6-4BE0-8F54-03BF0091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1390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8" name="memory16409">
            <a:extLst xmlns:a="http://schemas.openxmlformats.org/drawingml/2006/main">
              <a:ext uri="{FF2B5EF4-FFF2-40B4-BE49-F238E27FC236}">
                <a16:creationId xmlns:a16="http://schemas.microsoft.com/office/drawing/2014/main" id="{A514C474-E175-43DB-8AB6-6ECB550C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133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9" name="memory16410">
            <a:extLst xmlns:a="http://schemas.openxmlformats.org/drawingml/2006/main">
              <a:ext uri="{FF2B5EF4-FFF2-40B4-BE49-F238E27FC236}">
                <a16:creationId xmlns:a16="http://schemas.microsoft.com/office/drawing/2014/main" id="{105670DB-5FD3-4BEC-B09E-9278ABA3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0" name="memory16411">
            <a:extLst xmlns:a="http://schemas.openxmlformats.org/drawingml/2006/main">
              <a:ext uri="{FF2B5EF4-FFF2-40B4-BE49-F238E27FC236}">
                <a16:creationId xmlns:a16="http://schemas.microsoft.com/office/drawing/2014/main" id="{E7F01F20-1AF7-48B0-80E1-EAA7FCB6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193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1" name="memory16412">
            <a:extLst xmlns:a="http://schemas.openxmlformats.org/drawingml/2006/main">
              <a:ext uri="{FF2B5EF4-FFF2-40B4-BE49-F238E27FC236}">
                <a16:creationId xmlns:a16="http://schemas.microsoft.com/office/drawing/2014/main" id="{38401A49-6EFC-4F3C-B637-DD5449BB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935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2" name="memory16413">
            <a:extLst xmlns:a="http://schemas.openxmlformats.org/drawingml/2006/main">
              <a:ext uri="{FF2B5EF4-FFF2-40B4-BE49-F238E27FC236}">
                <a16:creationId xmlns:a16="http://schemas.microsoft.com/office/drawing/2014/main" id="{24A4C7FE-33E0-4F57-8AB7-211ABB3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678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3" name="memory16414">
            <a:extLst xmlns:a="http://schemas.openxmlformats.org/drawingml/2006/main">
              <a:ext uri="{FF2B5EF4-FFF2-40B4-BE49-F238E27FC236}">
                <a16:creationId xmlns:a16="http://schemas.microsoft.com/office/drawing/2014/main" id="{33AB8982-CEA4-448E-BFBD-41B483EC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420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4" name="memory16415">
            <a:extLst xmlns:a="http://schemas.openxmlformats.org/drawingml/2006/main">
              <a:ext uri="{FF2B5EF4-FFF2-40B4-BE49-F238E27FC236}">
                <a16:creationId xmlns:a16="http://schemas.microsoft.com/office/drawing/2014/main" id="{C5842518-3AD4-44A9-8CF7-CA290B4F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4163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5" name="memory16416">
            <a:extLst xmlns:a="http://schemas.openxmlformats.org/drawingml/2006/main">
              <a:ext uri="{FF2B5EF4-FFF2-40B4-BE49-F238E27FC236}">
                <a16:creationId xmlns:a16="http://schemas.microsoft.com/office/drawing/2014/main" id="{632E4F56-A276-4B40-A077-E2E3ECFD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9905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6" name="memory16417">
            <a:extLst xmlns:a="http://schemas.openxmlformats.org/drawingml/2006/main">
              <a:ext uri="{FF2B5EF4-FFF2-40B4-BE49-F238E27FC236}">
                <a16:creationId xmlns:a16="http://schemas.microsoft.com/office/drawing/2014/main" id="{2EB25F68-9D20-4BD9-988F-7FB76716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648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7" name="memory16418">
            <a:extLst xmlns:a="http://schemas.openxmlformats.org/drawingml/2006/main">
              <a:ext uri="{FF2B5EF4-FFF2-40B4-BE49-F238E27FC236}">
                <a16:creationId xmlns:a16="http://schemas.microsoft.com/office/drawing/2014/main" id="{F09BD8F0-952F-48C8-90C8-2C87FEA2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1390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8" name="memory16419">
            <a:extLst xmlns:a="http://schemas.openxmlformats.org/drawingml/2006/main">
              <a:ext uri="{FF2B5EF4-FFF2-40B4-BE49-F238E27FC236}">
                <a16:creationId xmlns:a16="http://schemas.microsoft.com/office/drawing/2014/main" id="{E5F51AB6-7B07-418A-ADF0-FD6026C7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133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9" name="bank-name164">
            <a:extLst xmlns:a="http://schemas.openxmlformats.org/drawingml/2006/main">
              <a:ext uri="{FF2B5EF4-FFF2-40B4-BE49-F238E27FC236}">
                <a16:creationId xmlns:a16="http://schemas.microsoft.com/office/drawing/2014/main" id="{3FBD06DE-E8B6-41B6-B016-A1B19C56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latin typeface="Arial"/>
                <a:ea typeface="Arial"/>
                <a:cs typeface="Arial"/>
              </a:rPr>
              <a:t>Own bank: </a:t>
            </a:r>
            <a:r>
              <a:rPr sz="2025" b="0" i="1">
                <a:latin typeface="Cambria Math"/>
                <a:ea typeface="Cambria Math"/>
                <a:cs typeface="Cambria Math"/>
              </a:rPr>
              <a:t>N</a:t>
            </a:r>
            <a:r>
              <a:rPr sz="1458" b="0" i="1" baseline="-25000">
                <a:latin typeface="Cambria Math"/>
                <a:ea typeface="Cambria Math"/>
                <a:cs typeface="Cambria Math"/>
              </a:rPr>
              <a:t>c</a:t>
            </a:r>
            <a:r>
              <a:rPr sz="2025" b="0" i="0">
                <a:latin typeface="Cambria Math"/>
                <a:ea typeface="Cambria Math"/>
                <a:cs typeface="Cambria Math"/>
              </a:rPr>
              <a:t> × 1536</a:t>
            </a:r>
          </a:p>
        </p:txBody>
      </p:sp>
      <p:sp>
        <p:nvSpPr>
          <p:cNvPr id="50" name="node182">
            <a:extLst xmlns:a="http://schemas.openxmlformats.org/drawingml/2006/main">
              <a:ext uri="{FF2B5EF4-FFF2-40B4-BE49-F238E27FC236}">
                <a16:creationId xmlns:a16="http://schemas.microsoft.com/office/drawing/2014/main" id="{46F3A407-CF35-46EF-8DA2-9A4620FD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173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51" name="node183">
            <a:extLst xmlns:a="http://schemas.openxmlformats.org/drawingml/2006/main">
              <a:ext uri="{FF2B5EF4-FFF2-40B4-BE49-F238E27FC236}">
                <a16:creationId xmlns:a16="http://schemas.microsoft.com/office/drawing/2014/main" id="{86E3D73D-B71C-43FC-99DE-CA26E5E2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13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7859078" y="2800351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53" name="node184">
            <a:extLst xmlns:a="http://schemas.openxmlformats.org/drawingml/2006/main">
              <a:ext uri="{FF2B5EF4-FFF2-40B4-BE49-F238E27FC236}">
                <a16:creationId xmlns:a16="http://schemas.microsoft.com/office/drawing/2014/main" id="{996610B7-EB8E-48FA-B40E-B0D79B27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54" name="node185">
            <a:extLst xmlns:a="http://schemas.openxmlformats.org/drawingml/2006/main">
              <a:ext uri="{FF2B5EF4-FFF2-40B4-BE49-F238E27FC236}">
                <a16:creationId xmlns:a16="http://schemas.microsoft.com/office/drawing/2014/main" id="{1FCD6161-3D35-441C-89B7-8E9632E2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2418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16" name=""/>
          <p:cNvCxnSpPr>
            <a:stCxn xmlns:a="http://schemas.openxmlformats.org/drawingml/2006/main" id="53" idx="0"/>
            <a:endCxn xmlns:a="http://schemas.openxmlformats.org/drawingml/2006/main" id="54" idx="2"/>
          </p:cNvCxnSpPr>
          <p:nvPr/>
        </p:nvCxnSpPr>
        <p:spPr>
          <a:xfrm xmlns:a="http://schemas.openxmlformats.org/drawingml/2006/main" flipV="1">
            <a:off x="8334376" y="2420303"/>
            <a:ext cx="0" cy="3790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56" name="node186">
            <a:extLst xmlns:a="http://schemas.openxmlformats.org/drawingml/2006/main">
              <a:ext uri="{FF2B5EF4-FFF2-40B4-BE49-F238E27FC236}">
                <a16:creationId xmlns:a16="http://schemas.microsoft.com/office/drawing/2014/main" id="{49A0E9A5-A09A-4912-BB8F-2A4468A9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2418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57" name="node187">
            <a:extLst xmlns:a="http://schemas.openxmlformats.org/drawingml/2006/main">
              <a:ext uri="{FF2B5EF4-FFF2-40B4-BE49-F238E27FC236}">
                <a16:creationId xmlns:a16="http://schemas.microsoft.com/office/drawing/2014/main" id="{327C79ED-2342-4385-A36A-7FA64D11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523" y="2418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19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8335328" y="2419351"/>
            <a:ext cx="7981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59" name="support164">
            <a:extLst xmlns:a="http://schemas.openxmlformats.org/drawingml/2006/main">
              <a:ext uri="{FF2B5EF4-FFF2-40B4-BE49-F238E27FC236}">
                <a16:creationId xmlns:a16="http://schemas.microsoft.com/office/drawing/2014/main" id="{F3CC77FA-69A5-4F4D-ADB7-84BC9934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60" name="search164">
            <a:extLst xmlns:a="http://schemas.openxmlformats.org/drawingml/2006/main">
              <a:ext uri="{FF2B5EF4-FFF2-40B4-BE49-F238E27FC236}">
                <a16:creationId xmlns:a16="http://schemas.microsoft.com/office/drawing/2014/main" id="{750184C3-0A7E-41D4-A689-CD3AB295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43250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Exact 1-NN</a:t>
            </a:r>
          </a:p>
        </p:txBody>
      </p:sp>
      <p:sp>
        <p:nvSpPr>
          <p:cNvPr id="61" name="node188">
            <a:extLst xmlns:a="http://schemas.openxmlformats.org/drawingml/2006/main">
              <a:ext uri="{FF2B5EF4-FFF2-40B4-BE49-F238E27FC236}">
                <a16:creationId xmlns:a16="http://schemas.microsoft.com/office/drawing/2014/main" id="{ACFB4BB7-BA8F-49EC-AE26-2B8F8506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973" y="2761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62" name="node189">
            <a:extLst xmlns:a="http://schemas.openxmlformats.org/drawingml/2006/main">
              <a:ext uri="{FF2B5EF4-FFF2-40B4-BE49-F238E27FC236}">
                <a16:creationId xmlns:a16="http://schemas.microsoft.com/office/drawing/2014/main" id="{298ED596-7F22-4FA7-AAFD-46509172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973" y="3142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24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10448926" y="2763203"/>
            <a:ext cx="0" cy="3790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54856C"/>
            </a:solidFill>
            <a:prstDash val="solid"/>
            <a:tailEnd type="triangle" w="med" len="med"/>
          </a:ln>
        </p:spPr>
      </p:cxnSp>
      <p:sp>
        <p:nvSpPr>
          <p:cNvPr id="64" name="node190">
            <a:extLst xmlns:a="http://schemas.openxmlformats.org/drawingml/2006/main">
              <a:ext uri="{FF2B5EF4-FFF2-40B4-BE49-F238E27FC236}">
                <a16:creationId xmlns:a16="http://schemas.microsoft.com/office/drawing/2014/main" id="{2D8DF9E2-2404-40BB-95C2-1C811128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65" name="node191">
            <a:extLst xmlns:a="http://schemas.openxmlformats.org/drawingml/2006/main">
              <a:ext uri="{FF2B5EF4-FFF2-40B4-BE49-F238E27FC236}">
                <a16:creationId xmlns:a16="http://schemas.microsoft.com/office/drawing/2014/main" id="{31D704AA-5530-46F9-A9ED-F28FC89C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3418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27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8334376" y="2801303"/>
            <a:ext cx="0" cy="6172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67" name="node192">
            <a:extLst xmlns:a="http://schemas.openxmlformats.org/drawingml/2006/main">
              <a:ext uri="{FF2B5EF4-FFF2-40B4-BE49-F238E27FC236}">
                <a16:creationId xmlns:a16="http://schemas.microsoft.com/office/drawing/2014/main" id="{51424F5B-2AC1-4913-A873-5753DB9F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3418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68" name="node193">
            <a:extLst xmlns:a="http://schemas.openxmlformats.org/drawingml/2006/main">
              <a:ext uri="{FF2B5EF4-FFF2-40B4-BE49-F238E27FC236}">
                <a16:creationId xmlns:a16="http://schemas.microsoft.com/office/drawing/2014/main" id="{1DD289BF-C81B-46A7-9D64-42F44240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523" y="3418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30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335328" y="3419476"/>
            <a:ext cx="7981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70" name="query164">
            <a:extLst xmlns:a="http://schemas.openxmlformats.org/drawingml/2006/main">
              <a:ext uri="{FF2B5EF4-FFF2-40B4-BE49-F238E27FC236}">
                <a16:creationId xmlns:a16="http://schemas.microsoft.com/office/drawing/2014/main" id="{042B5302-9845-475C-9F13-7E68323F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05200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71" name="node194">
            <a:extLst xmlns:a="http://schemas.openxmlformats.org/drawingml/2006/main">
              <a:ext uri="{FF2B5EF4-FFF2-40B4-BE49-F238E27FC236}">
                <a16:creationId xmlns:a16="http://schemas.microsoft.com/office/drawing/2014/main" id="{817277EC-CDBA-465A-8D16-D0D136C7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423" y="3418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2" name="node195">
            <a:extLst xmlns:a="http://schemas.openxmlformats.org/drawingml/2006/main">
              <a:ext uri="{FF2B5EF4-FFF2-40B4-BE49-F238E27FC236}">
                <a16:creationId xmlns:a16="http://schemas.microsoft.com/office/drawing/2014/main" id="{1B5CDD40-D4B9-4E3F-B24C-EBE1C6B8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048" y="3418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34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11764328" y="3419476"/>
            <a:ext cx="8077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74" name="node196">
            <a:extLst xmlns:a="http://schemas.openxmlformats.org/drawingml/2006/main">
              <a:ext uri="{FF2B5EF4-FFF2-40B4-BE49-F238E27FC236}">
                <a16:creationId xmlns:a16="http://schemas.microsoft.com/office/drawing/2014/main" id="{1A8C0797-4C9A-4AA6-B536-92CB9ED9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048" y="3418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5" name="node197">
            <a:extLst xmlns:a="http://schemas.openxmlformats.org/drawingml/2006/main">
              <a:ext uri="{FF2B5EF4-FFF2-40B4-BE49-F238E27FC236}">
                <a16:creationId xmlns:a16="http://schemas.microsoft.com/office/drawing/2014/main" id="{B703DED7-AB2C-4749-9A95-38F9C1C1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048" y="2627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37" name=""/>
          <p:cNvCxnSpPr>
            <a:stCxn xmlns:a="http://schemas.openxmlformats.org/drawingml/2006/main" id="74" idx="0"/>
            <a:endCxn xmlns:a="http://schemas.openxmlformats.org/drawingml/2006/main" id="75" idx="2"/>
          </p:cNvCxnSpPr>
          <p:nvPr/>
        </p:nvCxnSpPr>
        <p:spPr>
          <a:xfrm xmlns:a="http://schemas.openxmlformats.org/drawingml/2006/main" flipV="1">
            <a:off x="12573001" y="2629853"/>
            <a:ext cx="0" cy="78867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77" name="node198">
            <a:extLst xmlns:a="http://schemas.openxmlformats.org/drawingml/2006/main">
              <a:ext uri="{FF2B5EF4-FFF2-40B4-BE49-F238E27FC236}">
                <a16:creationId xmlns:a16="http://schemas.microsoft.com/office/drawing/2014/main" id="{2F11DFB8-29F4-47DE-A64B-33185C7D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048" y="2627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8" name="node199">
            <a:extLst xmlns:a="http://schemas.openxmlformats.org/drawingml/2006/main">
              <a:ext uri="{FF2B5EF4-FFF2-40B4-BE49-F238E27FC236}">
                <a16:creationId xmlns:a16="http://schemas.microsoft.com/office/drawing/2014/main" id="{7987224B-6F4F-444B-B790-8B20BF7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8873" y="2627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40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12573953" y="2628901"/>
            <a:ext cx="12649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0" name="post164">
            <a:extLst xmlns:a="http://schemas.openxmlformats.org/drawingml/2006/main">
              <a:ext uri="{FF2B5EF4-FFF2-40B4-BE49-F238E27FC236}">
                <a16:creationId xmlns:a16="http://schemas.microsoft.com/office/drawing/2014/main" id="{8527A82C-6136-4590-A311-FE3613D1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924050"/>
            <a:ext cx="1914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Post-processing</a:t>
            </a:r>
          </a:p>
          <a:p xmlns:a="http://schemas.openxmlformats.org/drawingml/2006/main">
            <a:pPr algn="ctr">
              <a:defRPr sz="17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Contour display</a:t>
            </a:r>
          </a:p>
        </p:txBody>
      </p:sp>
      <p:sp>
        <p:nvSpPr>
          <p:cNvPr id="81" name="method-title423">
            <a:extLst xmlns:a="http://schemas.openxmlformats.org/drawingml/2006/main">
              <a:ext uri="{FF2B5EF4-FFF2-40B4-BE49-F238E27FC236}">
                <a16:creationId xmlns:a16="http://schemas.microsoft.com/office/drawing/2014/main" id="{46F12669-310D-4EAC-9AA4-1970BB65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29075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(b) DINO-only</a:t>
            </a:r>
          </a:p>
        </p:txBody>
      </p:sp>
      <p:sp>
        <p:nvSpPr>
          <p:cNvPr id="82" name="dino423">
            <a:extLst xmlns:a="http://schemas.openxmlformats.org/drawingml/2006/main">
              <a:ext uri="{FF2B5EF4-FFF2-40B4-BE49-F238E27FC236}">
                <a16:creationId xmlns:a16="http://schemas.microsoft.com/office/drawing/2014/main" id="{141F2E23-AD9F-4575-AC3F-01C33991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76775"/>
            <a:ext cx="21717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Same DINOv2</a:t>
            </a:r>
          </a:p>
        </p:txBody>
      </p:sp>
      <p:sp>
        <p:nvSpPr>
          <p:cNvPr id="83" name="one-branch">
            <a:extLst xmlns:a="http://schemas.openxmlformats.org/drawingml/2006/main">
              <a:ext uri="{FF2B5EF4-FFF2-40B4-BE49-F238E27FC236}">
                <a16:creationId xmlns:a16="http://schemas.microsoft.com/office/drawing/2014/main" id="{CCC8820F-DC0E-4121-92D2-8B170B44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334000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 patch features</a:t>
            </a:r>
          </a:p>
        </p:txBody>
      </p:sp>
      <p:sp>
        <p:nvSpPr>
          <p:cNvPr id="84" name="norm423">
            <a:extLst xmlns:a="http://schemas.openxmlformats.org/drawingml/2006/main">
              <a:ext uri="{FF2B5EF4-FFF2-40B4-BE49-F238E27FC236}">
                <a16:creationId xmlns:a16="http://schemas.microsoft.com/office/drawing/2014/main" id="{9CD26F99-E38D-48E2-A94B-F6E36390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00575"/>
            <a:ext cx="26860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latin typeface="Arial"/>
                <a:ea typeface="Arial"/>
                <a:cs typeface="Arial"/>
              </a:rPr>
              <a:t>Patch-wise
</a:t>
            </a:r>
            <a:r>
              <a:rPr sz="1950" b="0" i="1">
                <a:latin typeface="Cambria Math"/>
                <a:ea typeface="Cambria Math"/>
                <a:cs typeface="Cambria Math"/>
              </a:rPr>
              <a:t>ℓ</a:t>
            </a:r>
            <a:r>
              <a:rPr sz="1404" b="0" i="0" baseline="-25000">
                <a:latin typeface="Cambria Math"/>
                <a:ea typeface="Cambria Math"/>
                <a:cs typeface="Cambria Math"/>
              </a:rPr>
              <a:t>2</a:t>
            </a:r>
            <a:r>
              <a:rPr sz="1950" b="1" i="0">
                <a:latin typeface="Arial"/>
                <a:ea typeface="Arial"/>
                <a:cs typeface="Arial"/>
              </a:rPr>
              <a:t> normalization</a:t>
            </a:r>
          </a:p>
        </p:txBody>
      </p:sp>
      <p:sp>
        <p:nvSpPr>
          <p:cNvPr id="85" name="node200">
            <a:extLst xmlns:a="http://schemas.openxmlformats.org/drawingml/2006/main">
              <a:ext uri="{FF2B5EF4-FFF2-40B4-BE49-F238E27FC236}">
                <a16:creationId xmlns:a16="http://schemas.microsoft.com/office/drawing/2014/main" id="{3A37F5F9-89FC-43F1-A1AA-BF426BAC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948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6" name="node201">
            <a:extLst xmlns:a="http://schemas.openxmlformats.org/drawingml/2006/main">
              <a:ext uri="{FF2B5EF4-FFF2-40B4-BE49-F238E27FC236}">
                <a16:creationId xmlns:a16="http://schemas.microsoft.com/office/drawing/2014/main" id="{7A1E48F3-678C-4809-8A1B-AE854DA7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198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48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2629853" y="4933951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8" name="desc4230">
            <a:extLst xmlns:a="http://schemas.openxmlformats.org/drawingml/2006/main">
              <a:ext uri="{FF2B5EF4-FFF2-40B4-BE49-F238E27FC236}">
                <a16:creationId xmlns:a16="http://schemas.microsoft.com/office/drawing/2014/main" id="{7D5BC3B4-D26C-4190-9BD8-7C0AB579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86350"/>
            <a:ext cx="323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89" name="desc4231">
            <a:extLst xmlns:a="http://schemas.openxmlformats.org/drawingml/2006/main">
              <a:ext uri="{FF2B5EF4-FFF2-40B4-BE49-F238E27FC236}">
                <a16:creationId xmlns:a16="http://schemas.microsoft.com/office/drawing/2014/main" id="{2237B773-E903-4229-A9E4-C3942DF4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086350"/>
            <a:ext cx="323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90" name="desc4232">
            <a:extLst xmlns:a="http://schemas.openxmlformats.org/drawingml/2006/main">
              <a:ext uri="{FF2B5EF4-FFF2-40B4-BE49-F238E27FC236}">
                <a16:creationId xmlns:a16="http://schemas.microsoft.com/office/drawing/2014/main" id="{51BAD3BE-EA4C-4865-A9C7-BF512D83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086350"/>
            <a:ext cx="323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91" name="desc4233">
            <a:extLst xmlns:a="http://schemas.openxmlformats.org/drawingml/2006/main">
              <a:ext uri="{FF2B5EF4-FFF2-40B4-BE49-F238E27FC236}">
                <a16:creationId xmlns:a16="http://schemas.microsoft.com/office/drawing/2014/main" id="{0C15BA02-1585-43D5-86FD-E58A2D97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086350"/>
            <a:ext cx="323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92" name="desc4234">
            <a:extLst xmlns:a="http://schemas.openxmlformats.org/drawingml/2006/main">
              <a:ext uri="{FF2B5EF4-FFF2-40B4-BE49-F238E27FC236}">
                <a16:creationId xmlns:a16="http://schemas.microsoft.com/office/drawing/2014/main" id="{6EC8F89D-BA1E-4117-BE12-81806D65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086350"/>
            <a:ext cx="323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93" name="node202">
            <a:extLst xmlns:a="http://schemas.openxmlformats.org/drawingml/2006/main">
              <a:ext uri="{FF2B5EF4-FFF2-40B4-BE49-F238E27FC236}">
                <a16:creationId xmlns:a16="http://schemas.microsoft.com/office/drawing/2014/main" id="{47871B23-7B33-4E60-95F1-EFF79473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248" y="5266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4" name="node203">
            <a:extLst xmlns:a="http://schemas.openxmlformats.org/drawingml/2006/main">
              <a:ext uri="{FF2B5EF4-FFF2-40B4-BE49-F238E27FC236}">
                <a16:creationId xmlns:a16="http://schemas.microsoft.com/office/drawing/2014/main" id="{1895A47B-60A8-428A-A459-EBB2D20F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923" y="5266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56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5792153" y="5267326"/>
            <a:ext cx="4457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96" name="desc-dim423">
            <a:extLst xmlns:a="http://schemas.openxmlformats.org/drawingml/2006/main">
              <a:ext uri="{FF2B5EF4-FFF2-40B4-BE49-F238E27FC236}">
                <a16:creationId xmlns:a16="http://schemas.microsoft.com/office/drawing/2014/main" id="{D1252189-47E3-45BC-8719-F3C9C66B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72125"/>
            <a:ext cx="2276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 unit vector</a:t>
            </a:r>
          </a:p>
        </p:txBody>
      </p:sp>
      <p:sp>
        <p:nvSpPr>
          <p:cNvPr id="97" name="bank423">
            <a:extLst xmlns:a="http://schemas.openxmlformats.org/drawingml/2006/main">
              <a:ext uri="{FF2B5EF4-FFF2-40B4-BE49-F238E27FC236}">
                <a16:creationId xmlns:a16="http://schemas.microsoft.com/office/drawing/2014/main" id="{9C197E65-7C57-4D90-B583-6D74BCEB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552950"/>
            <a:ext cx="26289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8" name="memory42300">
            <a:extLst xmlns:a="http://schemas.openxmlformats.org/drawingml/2006/main">
              <a:ext uri="{FF2B5EF4-FFF2-40B4-BE49-F238E27FC236}">
                <a16:creationId xmlns:a16="http://schemas.microsoft.com/office/drawing/2014/main" id="{C44F5489-461C-4041-8C36-C49BCCF6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577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99" name="memory42301">
            <a:extLst xmlns:a="http://schemas.openxmlformats.org/drawingml/2006/main">
              <a:ext uri="{FF2B5EF4-FFF2-40B4-BE49-F238E27FC236}">
                <a16:creationId xmlns:a16="http://schemas.microsoft.com/office/drawing/2014/main" id="{FEECB7BF-7A7D-42F8-8C7A-BFB8F9CE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935" y="46577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0" name="memory42302">
            <a:extLst xmlns:a="http://schemas.openxmlformats.org/drawingml/2006/main">
              <a:ext uri="{FF2B5EF4-FFF2-40B4-BE49-F238E27FC236}">
                <a16:creationId xmlns:a16="http://schemas.microsoft.com/office/drawing/2014/main" id="{9F5C70DE-C23A-47EA-B2A7-DA5FB606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420" y="46577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1" name="memory42303">
            <a:extLst xmlns:a="http://schemas.openxmlformats.org/drawingml/2006/main">
              <a:ext uri="{FF2B5EF4-FFF2-40B4-BE49-F238E27FC236}">
                <a16:creationId xmlns:a16="http://schemas.microsoft.com/office/drawing/2014/main" id="{D24151FA-C7E4-4B9A-B45E-958839E8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9905" y="46577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2" name="memory42304">
            <a:extLst xmlns:a="http://schemas.openxmlformats.org/drawingml/2006/main">
              <a:ext uri="{FF2B5EF4-FFF2-40B4-BE49-F238E27FC236}">
                <a16:creationId xmlns:a16="http://schemas.microsoft.com/office/drawing/2014/main" id="{C76B5BE9-3E29-447E-8B33-5FB07677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1390" y="46577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3" name="memory42310">
            <a:extLst xmlns:a="http://schemas.openxmlformats.org/drawingml/2006/main">
              <a:ext uri="{FF2B5EF4-FFF2-40B4-BE49-F238E27FC236}">
                <a16:creationId xmlns:a16="http://schemas.microsoft.com/office/drawing/2014/main" id="{C05B16DE-2EFE-472A-AFDA-B4665A37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244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4" name="memory42311">
            <a:extLst xmlns:a="http://schemas.openxmlformats.org/drawingml/2006/main">
              <a:ext uri="{FF2B5EF4-FFF2-40B4-BE49-F238E27FC236}">
                <a16:creationId xmlns:a16="http://schemas.microsoft.com/office/drawing/2014/main" id="{EAE32F77-FF2E-4C6C-8F82-20572163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935" y="49244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5" name="memory42312">
            <a:extLst xmlns:a="http://schemas.openxmlformats.org/drawingml/2006/main">
              <a:ext uri="{FF2B5EF4-FFF2-40B4-BE49-F238E27FC236}">
                <a16:creationId xmlns:a16="http://schemas.microsoft.com/office/drawing/2014/main" id="{155F1EBB-5A0F-4867-972D-12F6CA54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420" y="49244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6" name="memory42313">
            <a:extLst xmlns:a="http://schemas.openxmlformats.org/drawingml/2006/main">
              <a:ext uri="{FF2B5EF4-FFF2-40B4-BE49-F238E27FC236}">
                <a16:creationId xmlns:a16="http://schemas.microsoft.com/office/drawing/2014/main" id="{CC84FDAA-636B-4484-B825-1CEDD87D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9905" y="49244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7" name="memory42314">
            <a:extLst xmlns:a="http://schemas.openxmlformats.org/drawingml/2006/main">
              <a:ext uri="{FF2B5EF4-FFF2-40B4-BE49-F238E27FC236}">
                <a16:creationId xmlns:a16="http://schemas.microsoft.com/office/drawing/2014/main" id="{9C6C64B3-B30D-4E95-8C65-5B91C1EE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1390" y="49244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8" name="bank-name423">
            <a:extLst xmlns:a="http://schemas.openxmlformats.org/drawingml/2006/main">
              <a:ext uri="{FF2B5EF4-FFF2-40B4-BE49-F238E27FC236}">
                <a16:creationId xmlns:a16="http://schemas.microsoft.com/office/drawing/2014/main" id="{2EA2482F-1D78-44FC-AC62-5B27A60F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latin typeface="Arial"/>
                <a:ea typeface="Arial"/>
                <a:cs typeface="Arial"/>
              </a:rPr>
              <a:t>Own bank: </a:t>
            </a:r>
            <a:r>
              <a:rPr sz="2025" b="0" i="1">
                <a:latin typeface="Cambria Math"/>
                <a:ea typeface="Cambria Math"/>
                <a:cs typeface="Cambria Math"/>
              </a:rPr>
              <a:t>N</a:t>
            </a:r>
            <a:r>
              <a:rPr sz="1458" b="0" i="1" baseline="-25000">
                <a:latin typeface="Cambria Math"/>
                <a:ea typeface="Cambria Math"/>
                <a:cs typeface="Cambria Math"/>
              </a:rPr>
              <a:t>c</a:t>
            </a:r>
            <a:r>
              <a:rPr sz="2025" b="0" i="0">
                <a:latin typeface="Cambria Math"/>
                <a:ea typeface="Cambria Math"/>
                <a:cs typeface="Cambria Math"/>
              </a:rPr>
              <a:t> × 768</a:t>
            </a:r>
          </a:p>
        </p:txBody>
      </p:sp>
      <p:sp>
        <p:nvSpPr>
          <p:cNvPr id="109" name="node204">
            <a:extLst xmlns:a="http://schemas.openxmlformats.org/drawingml/2006/main">
              <a:ext uri="{FF2B5EF4-FFF2-40B4-BE49-F238E27FC236}">
                <a16:creationId xmlns:a16="http://schemas.microsoft.com/office/drawing/2014/main" id="{45D3619C-7047-46FB-8BA7-8E0C4D4D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173" y="5266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10" name="node205">
            <a:extLst xmlns:a="http://schemas.openxmlformats.org/drawingml/2006/main">
              <a:ext uri="{FF2B5EF4-FFF2-40B4-BE49-F238E27FC236}">
                <a16:creationId xmlns:a16="http://schemas.microsoft.com/office/drawing/2014/main" id="{C3AF8393-EDE7-4D21-AAF5-271C9AA3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5266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72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7859078" y="5267326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12" name="node206">
            <a:extLst xmlns:a="http://schemas.openxmlformats.org/drawingml/2006/main">
              <a:ext uri="{FF2B5EF4-FFF2-40B4-BE49-F238E27FC236}">
                <a16:creationId xmlns:a16="http://schemas.microsoft.com/office/drawing/2014/main" id="{3AAFC497-D33E-436D-BCAA-3BEC0B95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5266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13" name="node207">
            <a:extLst xmlns:a="http://schemas.openxmlformats.org/drawingml/2006/main">
              <a:ext uri="{FF2B5EF4-FFF2-40B4-BE49-F238E27FC236}">
                <a16:creationId xmlns:a16="http://schemas.microsoft.com/office/drawing/2014/main" id="{27D272EB-F47C-44A4-B425-701F4ADF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4885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75" name=""/>
          <p:cNvCxnSpPr>
            <a:stCxn xmlns:a="http://schemas.openxmlformats.org/drawingml/2006/main" id="112" idx="0"/>
            <a:endCxn xmlns:a="http://schemas.openxmlformats.org/drawingml/2006/main" id="113" idx="2"/>
          </p:cNvCxnSpPr>
          <p:nvPr/>
        </p:nvCxnSpPr>
        <p:spPr>
          <a:xfrm xmlns:a="http://schemas.openxmlformats.org/drawingml/2006/main" flipV="1">
            <a:off x="8334376" y="4887278"/>
            <a:ext cx="0" cy="3790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15" name="node208">
            <a:extLst xmlns:a="http://schemas.openxmlformats.org/drawingml/2006/main">
              <a:ext uri="{FF2B5EF4-FFF2-40B4-BE49-F238E27FC236}">
                <a16:creationId xmlns:a16="http://schemas.microsoft.com/office/drawing/2014/main" id="{F1A29E72-7A88-47AA-B847-5B9C76B1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4885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16" name="node209">
            <a:extLst xmlns:a="http://schemas.openxmlformats.org/drawingml/2006/main">
              <a:ext uri="{FF2B5EF4-FFF2-40B4-BE49-F238E27FC236}">
                <a16:creationId xmlns:a16="http://schemas.microsoft.com/office/drawing/2014/main" id="{D7830C57-B63F-47F6-9556-5981E535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523" y="4885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78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8335328" y="4886326"/>
            <a:ext cx="7981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18" name="support423">
            <a:extLst xmlns:a="http://schemas.openxmlformats.org/drawingml/2006/main">
              <a:ext uri="{FF2B5EF4-FFF2-40B4-BE49-F238E27FC236}">
                <a16:creationId xmlns:a16="http://schemas.microsoft.com/office/drawing/2014/main" id="{0637129A-6D78-4181-88E5-763E3709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29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119" name="search423">
            <a:extLst xmlns:a="http://schemas.openxmlformats.org/drawingml/2006/main">
              <a:ext uri="{FF2B5EF4-FFF2-40B4-BE49-F238E27FC236}">
                <a16:creationId xmlns:a16="http://schemas.microsoft.com/office/drawing/2014/main" id="{A6800F17-E8CA-4006-9DE1-7EC51A15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61022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Exact 1-NN</a:t>
            </a:r>
          </a:p>
        </p:txBody>
      </p:sp>
      <p:sp>
        <p:nvSpPr>
          <p:cNvPr id="120" name="node210">
            <a:extLst xmlns:a="http://schemas.openxmlformats.org/drawingml/2006/main">
              <a:ext uri="{FF2B5EF4-FFF2-40B4-BE49-F238E27FC236}">
                <a16:creationId xmlns:a16="http://schemas.microsoft.com/office/drawing/2014/main" id="{57662E83-2041-462D-90B5-B449282A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973" y="5228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21" name="node211">
            <a:extLst xmlns:a="http://schemas.openxmlformats.org/drawingml/2006/main">
              <a:ext uri="{FF2B5EF4-FFF2-40B4-BE49-F238E27FC236}">
                <a16:creationId xmlns:a16="http://schemas.microsoft.com/office/drawing/2014/main" id="{632BC845-ADA9-4AA1-BFC3-9B2DCC31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973" y="5609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83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10448926" y="5230178"/>
            <a:ext cx="0" cy="3790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54856C"/>
            </a:solidFill>
            <a:prstDash val="solid"/>
            <a:tailEnd type="triangle" w="med" len="med"/>
          </a:ln>
        </p:spPr>
      </p:cxnSp>
      <p:sp>
        <p:nvSpPr>
          <p:cNvPr id="123" name="node212">
            <a:extLst xmlns:a="http://schemas.openxmlformats.org/drawingml/2006/main">
              <a:ext uri="{FF2B5EF4-FFF2-40B4-BE49-F238E27FC236}">
                <a16:creationId xmlns:a16="http://schemas.microsoft.com/office/drawing/2014/main" id="{F1B8161A-57D8-49F0-BB97-565D9ECB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5266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24" name="node213">
            <a:extLst xmlns:a="http://schemas.openxmlformats.org/drawingml/2006/main">
              <a:ext uri="{FF2B5EF4-FFF2-40B4-BE49-F238E27FC236}">
                <a16:creationId xmlns:a16="http://schemas.microsoft.com/office/drawing/2014/main" id="{5CB5E139-D744-4DAC-ABD4-10F24BA3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5885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86" name=""/>
          <p:cNvCxnSpPr>
            <a:stCxn xmlns:a="http://schemas.openxmlformats.org/drawingml/2006/main" id="123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>
            <a:off x="8334376" y="5268278"/>
            <a:ext cx="0" cy="6172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26" name="node214">
            <a:extLst xmlns:a="http://schemas.openxmlformats.org/drawingml/2006/main">
              <a:ext uri="{FF2B5EF4-FFF2-40B4-BE49-F238E27FC236}">
                <a16:creationId xmlns:a16="http://schemas.microsoft.com/office/drawing/2014/main" id="{433970DE-D507-49A3-83A6-42E34CDF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5885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27" name="node215">
            <a:extLst xmlns:a="http://schemas.openxmlformats.org/drawingml/2006/main">
              <a:ext uri="{FF2B5EF4-FFF2-40B4-BE49-F238E27FC236}">
                <a16:creationId xmlns:a16="http://schemas.microsoft.com/office/drawing/2014/main" id="{AF0417C4-3357-4C54-9BF0-2C1135E2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523" y="5885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89" name=""/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8335328" y="5886451"/>
            <a:ext cx="7981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29" name="query423">
            <a:extLst xmlns:a="http://schemas.openxmlformats.org/drawingml/2006/main">
              <a:ext uri="{FF2B5EF4-FFF2-40B4-BE49-F238E27FC236}">
                <a16:creationId xmlns:a16="http://schemas.microsoft.com/office/drawing/2014/main" id="{F0AC35DC-D5D7-4D9D-B904-28E97BE9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72175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130" name="node216">
            <a:extLst xmlns:a="http://schemas.openxmlformats.org/drawingml/2006/main">
              <a:ext uri="{FF2B5EF4-FFF2-40B4-BE49-F238E27FC236}">
                <a16:creationId xmlns:a16="http://schemas.microsoft.com/office/drawing/2014/main" id="{BDA4C12D-9A29-4D7D-AAA7-B8E2BA57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423" y="5885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31" name="node217">
            <a:extLst xmlns:a="http://schemas.openxmlformats.org/drawingml/2006/main">
              <a:ext uri="{FF2B5EF4-FFF2-40B4-BE49-F238E27FC236}">
                <a16:creationId xmlns:a16="http://schemas.microsoft.com/office/drawing/2014/main" id="{60564DDF-BBEC-4AA7-8CF8-E3782FD6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048" y="5885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93" name=""/>
          <p:cNvCxnSpPr>
            <a:stCxn xmlns:a="http://schemas.openxmlformats.org/drawingml/2006/main" id="130" idx="3"/>
            <a:endCxn xmlns:a="http://schemas.openxmlformats.org/drawingml/2006/main" id="131" idx="1"/>
          </p:cNvCxnSpPr>
          <p:nvPr/>
        </p:nvCxnSpPr>
        <p:spPr>
          <a:xfrm xmlns:a="http://schemas.openxmlformats.org/drawingml/2006/main">
            <a:off x="11764328" y="5886451"/>
            <a:ext cx="8077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33" name="node218">
            <a:extLst xmlns:a="http://schemas.openxmlformats.org/drawingml/2006/main">
              <a:ext uri="{FF2B5EF4-FFF2-40B4-BE49-F238E27FC236}">
                <a16:creationId xmlns:a16="http://schemas.microsoft.com/office/drawing/2014/main" id="{B0DCF393-209E-42EB-9F2F-D2939D04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048" y="5885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34" name="node219">
            <a:extLst xmlns:a="http://schemas.openxmlformats.org/drawingml/2006/main">
              <a:ext uri="{FF2B5EF4-FFF2-40B4-BE49-F238E27FC236}">
                <a16:creationId xmlns:a16="http://schemas.microsoft.com/office/drawing/2014/main" id="{45506996-A499-4526-AF08-BD6AF480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048" y="509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96" name=""/>
          <p:cNvCxnSpPr>
            <a:stCxn xmlns:a="http://schemas.openxmlformats.org/drawingml/2006/main" id="133" idx="0"/>
            <a:endCxn xmlns:a="http://schemas.openxmlformats.org/drawingml/2006/main" id="134" idx="2"/>
          </p:cNvCxnSpPr>
          <p:nvPr/>
        </p:nvCxnSpPr>
        <p:spPr>
          <a:xfrm xmlns:a="http://schemas.openxmlformats.org/drawingml/2006/main" flipV="1">
            <a:off x="12573001" y="5096828"/>
            <a:ext cx="0" cy="78867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36" name="node220">
            <a:extLst xmlns:a="http://schemas.openxmlformats.org/drawingml/2006/main">
              <a:ext uri="{FF2B5EF4-FFF2-40B4-BE49-F238E27FC236}">
                <a16:creationId xmlns:a16="http://schemas.microsoft.com/office/drawing/2014/main" id="{C5422F89-269D-40D0-8069-12E52142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048" y="509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37" name="node221">
            <a:extLst xmlns:a="http://schemas.openxmlformats.org/drawingml/2006/main">
              <a:ext uri="{FF2B5EF4-FFF2-40B4-BE49-F238E27FC236}">
                <a16:creationId xmlns:a16="http://schemas.microsoft.com/office/drawing/2014/main" id="{CDBF25FF-727D-456F-8DB5-4EB38E19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8873" y="509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99" name=""/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12573953" y="5095876"/>
            <a:ext cx="12649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39" name="post423">
            <a:extLst xmlns:a="http://schemas.openxmlformats.org/drawingml/2006/main">
              <a:ext uri="{FF2B5EF4-FFF2-40B4-BE49-F238E27FC236}">
                <a16:creationId xmlns:a16="http://schemas.microsoft.com/office/drawing/2014/main" id="{A2249835-D579-44B2-97B6-1743792B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4391025"/>
            <a:ext cx="1914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Post-processing</a:t>
            </a:r>
          </a:p>
          <a:p xmlns:a="http://schemas.openxmlformats.org/drawingml/2006/main">
            <a:pPr algn="ctr">
              <a:defRPr sz="17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Contour display</a:t>
            </a:r>
          </a:p>
        </p:txBody>
      </p:sp>
      <p:pic>
        <p:nvPicPr>
          <p:cNvPr id="301" name="DCFnet paired output original quer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c4bdcf9d247bf"/>
          <a:stretch xmlns:a="http://schemas.openxmlformats.org/drawingml/2006/main"/>
        </p:blipFill>
        <p:spPr>
          <a:xfrm xmlns:a="http://schemas.openxmlformats.org/drawingml/2006/main">
            <a:off x="13839825" y="2038350"/>
            <a:ext cx="1533525" cy="1533525"/>
          </a:xfrm>
          <a:prstGeom xmlns:a="http://schemas.openxmlformats.org/drawingml/2006/main" prst="rect">
            <a:avLst/>
          </a:prstGeom>
        </p:spPr>
      </p:pic>
      <p:sp>
        <p:nvSpPr>
          <p:cNvPr id="141" name="DCFnet paired output predicted contour">
            <a:extLst xmlns:a="http://schemas.openxmlformats.org/drawingml/2006/main">
              <a:ext uri="{FF2B5EF4-FFF2-40B4-BE49-F238E27FC236}">
                <a16:creationId xmlns:a16="http://schemas.microsoft.com/office/drawing/2014/main" id="{E8FDBC6B-13A6-49FB-B49C-9F87FDD5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2038350"/>
            <a:ext cx="1533525" cy="1533525"/>
          </a:xfrm>
          <a:custGeom xmlns:a="http://schemas.openxmlformats.org/drawingml/2006/main">
            <a:pathLst>
              <a:path w="4267200" h="4267200">
                <a:moveTo>
                  <a:pt x="2733675" y="3457575"/>
                </a:moveTo>
                <a:lnTo>
                  <a:pt x="2743200" y="3448050"/>
                </a:lnTo>
                <a:lnTo>
                  <a:pt x="2752725" y="3448050"/>
                </a:lnTo>
                <a:lnTo>
                  <a:pt x="2771775" y="3467100"/>
                </a:lnTo>
                <a:lnTo>
                  <a:pt x="2771775" y="3476625"/>
                </a:lnTo>
                <a:lnTo>
                  <a:pt x="2781300" y="3486150"/>
                </a:lnTo>
                <a:lnTo>
                  <a:pt x="2781300" y="3514725"/>
                </a:lnTo>
                <a:lnTo>
                  <a:pt x="2762250" y="3533775"/>
                </a:lnTo>
                <a:lnTo>
                  <a:pt x="2743200" y="3533775"/>
                </a:lnTo>
                <a:lnTo>
                  <a:pt x="2733675" y="3524250"/>
                </a:lnTo>
                <a:close/>
              </a:path>
              <a:path w="4267200" h="4267200">
                <a:moveTo>
                  <a:pt x="2447925" y="2581275"/>
                </a:moveTo>
                <a:lnTo>
                  <a:pt x="2428875" y="2600325"/>
                </a:lnTo>
                <a:lnTo>
                  <a:pt x="2428875" y="2609850"/>
                </a:lnTo>
                <a:lnTo>
                  <a:pt x="2447925" y="2628900"/>
                </a:lnTo>
                <a:lnTo>
                  <a:pt x="2486025" y="2628900"/>
                </a:lnTo>
                <a:lnTo>
                  <a:pt x="2495550" y="2619375"/>
                </a:lnTo>
                <a:lnTo>
                  <a:pt x="2495550" y="2590800"/>
                </a:lnTo>
                <a:lnTo>
                  <a:pt x="2486025" y="2590800"/>
                </a:lnTo>
                <a:lnTo>
                  <a:pt x="2476500" y="2581275"/>
                </a:lnTo>
                <a:close/>
              </a:path>
              <a:path w="4267200" h="4267200">
                <a:moveTo>
                  <a:pt x="1114425" y="2228850"/>
                </a:moveTo>
                <a:lnTo>
                  <a:pt x="1104900" y="2238375"/>
                </a:lnTo>
                <a:lnTo>
                  <a:pt x="1095375" y="2238375"/>
                </a:lnTo>
                <a:lnTo>
                  <a:pt x="1076325" y="2257425"/>
                </a:lnTo>
                <a:lnTo>
                  <a:pt x="1076325" y="2266950"/>
                </a:lnTo>
                <a:lnTo>
                  <a:pt x="1057275" y="2286000"/>
                </a:lnTo>
                <a:lnTo>
                  <a:pt x="1057275" y="2305050"/>
                </a:lnTo>
                <a:lnTo>
                  <a:pt x="1047750" y="2314575"/>
                </a:lnTo>
                <a:lnTo>
                  <a:pt x="1047750" y="2352675"/>
                </a:lnTo>
                <a:lnTo>
                  <a:pt x="1057275" y="2362200"/>
                </a:lnTo>
                <a:lnTo>
                  <a:pt x="1057275" y="2390775"/>
                </a:lnTo>
                <a:lnTo>
                  <a:pt x="1066800" y="2400300"/>
                </a:lnTo>
                <a:lnTo>
                  <a:pt x="1066800" y="2428875"/>
                </a:lnTo>
                <a:lnTo>
                  <a:pt x="1076325" y="2438400"/>
                </a:lnTo>
                <a:lnTo>
                  <a:pt x="1076325" y="2476500"/>
                </a:lnTo>
                <a:lnTo>
                  <a:pt x="1066800" y="2486025"/>
                </a:lnTo>
                <a:lnTo>
                  <a:pt x="1066800" y="2514600"/>
                </a:lnTo>
                <a:lnTo>
                  <a:pt x="1057275" y="2524125"/>
                </a:lnTo>
                <a:lnTo>
                  <a:pt x="1057275" y="2543175"/>
                </a:lnTo>
                <a:lnTo>
                  <a:pt x="1047750" y="2552700"/>
                </a:lnTo>
                <a:lnTo>
                  <a:pt x="1047750" y="2638425"/>
                </a:lnTo>
                <a:lnTo>
                  <a:pt x="1057275" y="2647950"/>
                </a:lnTo>
                <a:lnTo>
                  <a:pt x="1057275" y="2676525"/>
                </a:lnTo>
                <a:lnTo>
                  <a:pt x="1066800" y="2686050"/>
                </a:lnTo>
                <a:lnTo>
                  <a:pt x="1066800" y="2714625"/>
                </a:lnTo>
                <a:lnTo>
                  <a:pt x="1076325" y="2724150"/>
                </a:lnTo>
                <a:lnTo>
                  <a:pt x="1076325" y="3019425"/>
                </a:lnTo>
                <a:lnTo>
                  <a:pt x="1085850" y="3028950"/>
                </a:lnTo>
                <a:lnTo>
                  <a:pt x="1085850" y="3057525"/>
                </a:lnTo>
                <a:lnTo>
                  <a:pt x="1095375" y="3067050"/>
                </a:lnTo>
                <a:lnTo>
                  <a:pt x="1095375" y="3095625"/>
                </a:lnTo>
                <a:lnTo>
                  <a:pt x="1104900" y="3105150"/>
                </a:lnTo>
                <a:lnTo>
                  <a:pt x="1104900" y="3114675"/>
                </a:lnTo>
                <a:lnTo>
                  <a:pt x="1114425" y="3124200"/>
                </a:lnTo>
                <a:lnTo>
                  <a:pt x="1114425" y="3133725"/>
                </a:lnTo>
                <a:lnTo>
                  <a:pt x="1123950" y="3143250"/>
                </a:lnTo>
                <a:lnTo>
                  <a:pt x="1133475" y="3143250"/>
                </a:lnTo>
                <a:lnTo>
                  <a:pt x="1143000" y="3152775"/>
                </a:lnTo>
                <a:lnTo>
                  <a:pt x="1181100" y="3152775"/>
                </a:lnTo>
                <a:lnTo>
                  <a:pt x="1200150" y="3133725"/>
                </a:lnTo>
                <a:lnTo>
                  <a:pt x="1200150" y="3086100"/>
                </a:lnTo>
                <a:lnTo>
                  <a:pt x="1209675" y="3076575"/>
                </a:lnTo>
                <a:lnTo>
                  <a:pt x="1209675" y="2971800"/>
                </a:lnTo>
                <a:lnTo>
                  <a:pt x="1219200" y="2962275"/>
                </a:lnTo>
                <a:lnTo>
                  <a:pt x="1219200" y="2924175"/>
                </a:lnTo>
                <a:lnTo>
                  <a:pt x="1228725" y="2914650"/>
                </a:lnTo>
                <a:lnTo>
                  <a:pt x="1228725" y="2905125"/>
                </a:lnTo>
                <a:lnTo>
                  <a:pt x="1266825" y="2867025"/>
                </a:lnTo>
                <a:lnTo>
                  <a:pt x="1314450" y="2867025"/>
                </a:lnTo>
                <a:lnTo>
                  <a:pt x="1323975" y="2876550"/>
                </a:lnTo>
                <a:lnTo>
                  <a:pt x="1333500" y="2876550"/>
                </a:lnTo>
                <a:lnTo>
                  <a:pt x="1352550" y="2895600"/>
                </a:lnTo>
                <a:lnTo>
                  <a:pt x="1352550" y="2943225"/>
                </a:lnTo>
                <a:lnTo>
                  <a:pt x="1343025" y="2952750"/>
                </a:lnTo>
                <a:lnTo>
                  <a:pt x="1343025" y="2981325"/>
                </a:lnTo>
                <a:lnTo>
                  <a:pt x="1333500" y="2990850"/>
                </a:lnTo>
                <a:lnTo>
                  <a:pt x="1333500" y="3124200"/>
                </a:lnTo>
                <a:lnTo>
                  <a:pt x="1343025" y="3133725"/>
                </a:lnTo>
                <a:lnTo>
                  <a:pt x="1343025" y="3152775"/>
                </a:lnTo>
                <a:lnTo>
                  <a:pt x="1352550" y="3162300"/>
                </a:lnTo>
                <a:lnTo>
                  <a:pt x="1362075" y="3162300"/>
                </a:lnTo>
                <a:lnTo>
                  <a:pt x="1371600" y="3171825"/>
                </a:lnTo>
                <a:lnTo>
                  <a:pt x="1495425" y="3171825"/>
                </a:lnTo>
                <a:lnTo>
                  <a:pt x="1504950" y="3162300"/>
                </a:lnTo>
                <a:lnTo>
                  <a:pt x="1514475" y="3162300"/>
                </a:lnTo>
                <a:lnTo>
                  <a:pt x="1562100" y="3114675"/>
                </a:lnTo>
                <a:lnTo>
                  <a:pt x="1562100" y="3105150"/>
                </a:lnTo>
                <a:lnTo>
                  <a:pt x="1571625" y="3095625"/>
                </a:lnTo>
                <a:lnTo>
                  <a:pt x="1571625" y="3086100"/>
                </a:lnTo>
                <a:lnTo>
                  <a:pt x="1581150" y="3076575"/>
                </a:lnTo>
                <a:lnTo>
                  <a:pt x="1581150" y="3067050"/>
                </a:lnTo>
                <a:lnTo>
                  <a:pt x="1647825" y="3000375"/>
                </a:lnTo>
                <a:lnTo>
                  <a:pt x="1657350" y="3000375"/>
                </a:lnTo>
                <a:lnTo>
                  <a:pt x="1666875" y="2990850"/>
                </a:lnTo>
                <a:lnTo>
                  <a:pt x="1666875" y="2981325"/>
                </a:lnTo>
                <a:lnTo>
                  <a:pt x="1704975" y="2943225"/>
                </a:lnTo>
                <a:lnTo>
                  <a:pt x="1704975" y="2933700"/>
                </a:lnTo>
                <a:lnTo>
                  <a:pt x="1781175" y="2857500"/>
                </a:lnTo>
                <a:lnTo>
                  <a:pt x="1790700" y="2857500"/>
                </a:lnTo>
                <a:lnTo>
                  <a:pt x="1800225" y="2847975"/>
                </a:lnTo>
                <a:lnTo>
                  <a:pt x="1809750" y="2847975"/>
                </a:lnTo>
                <a:lnTo>
                  <a:pt x="1819275" y="2838450"/>
                </a:lnTo>
                <a:lnTo>
                  <a:pt x="1828800" y="2838450"/>
                </a:lnTo>
                <a:lnTo>
                  <a:pt x="1838325" y="2828925"/>
                </a:lnTo>
                <a:lnTo>
                  <a:pt x="1847850" y="2828925"/>
                </a:lnTo>
                <a:lnTo>
                  <a:pt x="1905000" y="2771775"/>
                </a:lnTo>
                <a:lnTo>
                  <a:pt x="1905000" y="2762250"/>
                </a:lnTo>
                <a:lnTo>
                  <a:pt x="1914525" y="2752725"/>
                </a:lnTo>
                <a:lnTo>
                  <a:pt x="1914525" y="2733675"/>
                </a:lnTo>
                <a:lnTo>
                  <a:pt x="1924050" y="2724150"/>
                </a:lnTo>
                <a:lnTo>
                  <a:pt x="1924050" y="2705100"/>
                </a:lnTo>
                <a:lnTo>
                  <a:pt x="1933575" y="2695575"/>
                </a:lnTo>
                <a:lnTo>
                  <a:pt x="1933575" y="2686050"/>
                </a:lnTo>
                <a:lnTo>
                  <a:pt x="1971675" y="2647950"/>
                </a:lnTo>
                <a:lnTo>
                  <a:pt x="2038350" y="2647950"/>
                </a:lnTo>
                <a:lnTo>
                  <a:pt x="2047875" y="2638425"/>
                </a:lnTo>
                <a:lnTo>
                  <a:pt x="2066925" y="2638425"/>
                </a:lnTo>
                <a:lnTo>
                  <a:pt x="2076450" y="2628900"/>
                </a:lnTo>
                <a:lnTo>
                  <a:pt x="2076450" y="2600325"/>
                </a:lnTo>
                <a:lnTo>
                  <a:pt x="2057400" y="2581275"/>
                </a:lnTo>
                <a:lnTo>
                  <a:pt x="2047875" y="2581275"/>
                </a:lnTo>
                <a:lnTo>
                  <a:pt x="2038350" y="2571750"/>
                </a:lnTo>
                <a:lnTo>
                  <a:pt x="1924050" y="2571750"/>
                </a:lnTo>
                <a:lnTo>
                  <a:pt x="1914525" y="2562225"/>
                </a:lnTo>
                <a:lnTo>
                  <a:pt x="1905000" y="2562225"/>
                </a:lnTo>
                <a:lnTo>
                  <a:pt x="1876425" y="2533650"/>
                </a:lnTo>
                <a:lnTo>
                  <a:pt x="1876425" y="2476500"/>
                </a:lnTo>
                <a:lnTo>
                  <a:pt x="1866900" y="2466975"/>
                </a:lnTo>
                <a:lnTo>
                  <a:pt x="1866900" y="2428875"/>
                </a:lnTo>
                <a:lnTo>
                  <a:pt x="1857375" y="2419350"/>
                </a:lnTo>
                <a:lnTo>
                  <a:pt x="1857375" y="2409825"/>
                </a:lnTo>
                <a:lnTo>
                  <a:pt x="1838325" y="2390775"/>
                </a:lnTo>
                <a:lnTo>
                  <a:pt x="1819275" y="2390775"/>
                </a:lnTo>
                <a:lnTo>
                  <a:pt x="1809750" y="2381250"/>
                </a:lnTo>
                <a:lnTo>
                  <a:pt x="1781175" y="2381250"/>
                </a:lnTo>
                <a:lnTo>
                  <a:pt x="1771650" y="2390775"/>
                </a:lnTo>
                <a:lnTo>
                  <a:pt x="1762125" y="2390775"/>
                </a:lnTo>
                <a:lnTo>
                  <a:pt x="1752600" y="2400300"/>
                </a:lnTo>
                <a:lnTo>
                  <a:pt x="1743075" y="2400300"/>
                </a:lnTo>
                <a:lnTo>
                  <a:pt x="1685925" y="2457450"/>
                </a:lnTo>
                <a:lnTo>
                  <a:pt x="1676400" y="2457450"/>
                </a:lnTo>
                <a:lnTo>
                  <a:pt x="1666875" y="2466975"/>
                </a:lnTo>
                <a:lnTo>
                  <a:pt x="1638300" y="2466975"/>
                </a:lnTo>
                <a:lnTo>
                  <a:pt x="1628775" y="2457450"/>
                </a:lnTo>
                <a:lnTo>
                  <a:pt x="1609725" y="2457450"/>
                </a:lnTo>
                <a:lnTo>
                  <a:pt x="1600200" y="2447925"/>
                </a:lnTo>
                <a:lnTo>
                  <a:pt x="1590675" y="2447925"/>
                </a:lnTo>
                <a:lnTo>
                  <a:pt x="1552575" y="2409825"/>
                </a:lnTo>
                <a:lnTo>
                  <a:pt x="1552575" y="2400300"/>
                </a:lnTo>
                <a:lnTo>
                  <a:pt x="1543050" y="2390775"/>
                </a:lnTo>
                <a:lnTo>
                  <a:pt x="1543050" y="2371725"/>
                </a:lnTo>
                <a:lnTo>
                  <a:pt x="1524000" y="2352675"/>
                </a:lnTo>
                <a:lnTo>
                  <a:pt x="1514475" y="2352675"/>
                </a:lnTo>
                <a:lnTo>
                  <a:pt x="1504950" y="2362200"/>
                </a:lnTo>
                <a:lnTo>
                  <a:pt x="1495425" y="2362200"/>
                </a:lnTo>
                <a:lnTo>
                  <a:pt x="1485900" y="2371725"/>
                </a:lnTo>
                <a:lnTo>
                  <a:pt x="1466850" y="2371725"/>
                </a:lnTo>
                <a:lnTo>
                  <a:pt x="1457325" y="2381250"/>
                </a:lnTo>
                <a:lnTo>
                  <a:pt x="1438275" y="2381250"/>
                </a:lnTo>
                <a:lnTo>
                  <a:pt x="1428750" y="2390775"/>
                </a:lnTo>
                <a:lnTo>
                  <a:pt x="1323975" y="2390775"/>
                </a:lnTo>
                <a:lnTo>
                  <a:pt x="1314450" y="2381250"/>
                </a:lnTo>
                <a:lnTo>
                  <a:pt x="1304925" y="2381250"/>
                </a:lnTo>
                <a:lnTo>
                  <a:pt x="1295400" y="2371725"/>
                </a:lnTo>
                <a:lnTo>
                  <a:pt x="1285875" y="2371725"/>
                </a:lnTo>
                <a:lnTo>
                  <a:pt x="1257300" y="2343150"/>
                </a:lnTo>
                <a:lnTo>
                  <a:pt x="1257300" y="2333625"/>
                </a:lnTo>
                <a:lnTo>
                  <a:pt x="1238250" y="2314575"/>
                </a:lnTo>
                <a:lnTo>
                  <a:pt x="1238250" y="2305050"/>
                </a:lnTo>
                <a:lnTo>
                  <a:pt x="1171575" y="2238375"/>
                </a:lnTo>
                <a:lnTo>
                  <a:pt x="1162050" y="2238375"/>
                </a:lnTo>
                <a:lnTo>
                  <a:pt x="1152525" y="2228850"/>
                </a:lnTo>
                <a:close/>
              </a:path>
              <a:path w="4267200" h="4267200">
                <a:moveTo>
                  <a:pt x="2619375" y="2133600"/>
                </a:moveTo>
                <a:lnTo>
                  <a:pt x="2609850" y="2143125"/>
                </a:lnTo>
                <a:lnTo>
                  <a:pt x="2600325" y="2143125"/>
                </a:lnTo>
                <a:lnTo>
                  <a:pt x="2581275" y="2162175"/>
                </a:lnTo>
                <a:lnTo>
                  <a:pt x="2581275" y="2209800"/>
                </a:lnTo>
                <a:lnTo>
                  <a:pt x="2590800" y="2219325"/>
                </a:lnTo>
                <a:lnTo>
                  <a:pt x="2600325" y="2219325"/>
                </a:lnTo>
                <a:lnTo>
                  <a:pt x="2609850" y="2228850"/>
                </a:lnTo>
                <a:lnTo>
                  <a:pt x="2619375" y="2219325"/>
                </a:lnTo>
                <a:lnTo>
                  <a:pt x="2628900" y="2219325"/>
                </a:lnTo>
                <a:lnTo>
                  <a:pt x="2628900" y="2209800"/>
                </a:lnTo>
                <a:lnTo>
                  <a:pt x="2638425" y="2200275"/>
                </a:lnTo>
                <a:lnTo>
                  <a:pt x="2638425" y="2152650"/>
                </a:lnTo>
                <a:close/>
              </a:path>
              <a:path w="4267200" h="4267200">
                <a:moveTo>
                  <a:pt x="4219575" y="2095500"/>
                </a:moveTo>
                <a:lnTo>
                  <a:pt x="4210050" y="2105025"/>
                </a:lnTo>
                <a:lnTo>
                  <a:pt x="4191000" y="2105025"/>
                </a:lnTo>
                <a:lnTo>
                  <a:pt x="4181475" y="2114550"/>
                </a:lnTo>
                <a:lnTo>
                  <a:pt x="4171950" y="2114550"/>
                </a:lnTo>
                <a:lnTo>
                  <a:pt x="4152900" y="2133600"/>
                </a:lnTo>
                <a:lnTo>
                  <a:pt x="4152900" y="2143125"/>
                </a:lnTo>
                <a:lnTo>
                  <a:pt x="4133850" y="2162175"/>
                </a:lnTo>
                <a:lnTo>
                  <a:pt x="4133850" y="2181225"/>
                </a:lnTo>
                <a:lnTo>
                  <a:pt x="4124325" y="2190750"/>
                </a:lnTo>
                <a:lnTo>
                  <a:pt x="4124325" y="2228850"/>
                </a:lnTo>
                <a:lnTo>
                  <a:pt x="4114800" y="2238375"/>
                </a:lnTo>
                <a:lnTo>
                  <a:pt x="4114800" y="2352675"/>
                </a:lnTo>
                <a:lnTo>
                  <a:pt x="4124325" y="2362200"/>
                </a:lnTo>
                <a:lnTo>
                  <a:pt x="4124325" y="2438400"/>
                </a:lnTo>
                <a:lnTo>
                  <a:pt x="4133850" y="2447925"/>
                </a:lnTo>
                <a:lnTo>
                  <a:pt x="4133850" y="2505075"/>
                </a:lnTo>
                <a:lnTo>
                  <a:pt x="4143375" y="2514600"/>
                </a:lnTo>
                <a:lnTo>
                  <a:pt x="4143375" y="2552700"/>
                </a:lnTo>
                <a:lnTo>
                  <a:pt x="4152900" y="2562225"/>
                </a:lnTo>
                <a:lnTo>
                  <a:pt x="4152900" y="2590800"/>
                </a:lnTo>
                <a:lnTo>
                  <a:pt x="4162425" y="2600325"/>
                </a:lnTo>
                <a:lnTo>
                  <a:pt x="4162425" y="2609850"/>
                </a:lnTo>
                <a:lnTo>
                  <a:pt x="4171950" y="2619375"/>
                </a:lnTo>
                <a:lnTo>
                  <a:pt x="4171950" y="2628900"/>
                </a:lnTo>
                <a:lnTo>
                  <a:pt x="4181475" y="2638425"/>
                </a:lnTo>
                <a:lnTo>
                  <a:pt x="4191000" y="2638425"/>
                </a:lnTo>
                <a:lnTo>
                  <a:pt x="4200525" y="2647950"/>
                </a:lnTo>
                <a:lnTo>
                  <a:pt x="4257675" y="2647950"/>
                </a:lnTo>
                <a:lnTo>
                  <a:pt x="4257675" y="2095500"/>
                </a:lnTo>
                <a:close/>
              </a:path>
              <a:path w="4267200" h="4267200">
                <a:moveTo>
                  <a:pt x="1743075" y="1476375"/>
                </a:moveTo>
                <a:lnTo>
                  <a:pt x="1733550" y="1485900"/>
                </a:lnTo>
                <a:lnTo>
                  <a:pt x="1685925" y="1485900"/>
                </a:lnTo>
                <a:lnTo>
                  <a:pt x="1676400" y="1495425"/>
                </a:lnTo>
                <a:lnTo>
                  <a:pt x="1666875" y="1495425"/>
                </a:lnTo>
                <a:lnTo>
                  <a:pt x="1657350" y="1504950"/>
                </a:lnTo>
                <a:lnTo>
                  <a:pt x="1647825" y="1504950"/>
                </a:lnTo>
                <a:lnTo>
                  <a:pt x="1628775" y="1524000"/>
                </a:lnTo>
                <a:lnTo>
                  <a:pt x="1628775" y="1533525"/>
                </a:lnTo>
                <a:lnTo>
                  <a:pt x="1619250" y="1543050"/>
                </a:lnTo>
                <a:lnTo>
                  <a:pt x="1619250" y="1552575"/>
                </a:lnTo>
                <a:lnTo>
                  <a:pt x="1581150" y="1590675"/>
                </a:lnTo>
                <a:lnTo>
                  <a:pt x="1571625" y="1590675"/>
                </a:lnTo>
                <a:lnTo>
                  <a:pt x="1562100" y="1600200"/>
                </a:lnTo>
                <a:lnTo>
                  <a:pt x="1552575" y="1600200"/>
                </a:lnTo>
                <a:lnTo>
                  <a:pt x="1543050" y="1609725"/>
                </a:lnTo>
                <a:lnTo>
                  <a:pt x="1533525" y="1609725"/>
                </a:lnTo>
                <a:lnTo>
                  <a:pt x="1524000" y="1619250"/>
                </a:lnTo>
                <a:lnTo>
                  <a:pt x="1514475" y="1619250"/>
                </a:lnTo>
                <a:lnTo>
                  <a:pt x="1476375" y="1657350"/>
                </a:lnTo>
                <a:lnTo>
                  <a:pt x="1476375" y="1676400"/>
                </a:lnTo>
                <a:lnTo>
                  <a:pt x="1466850" y="1685925"/>
                </a:lnTo>
                <a:lnTo>
                  <a:pt x="1466850" y="1762125"/>
                </a:lnTo>
                <a:lnTo>
                  <a:pt x="1476375" y="1771650"/>
                </a:lnTo>
                <a:lnTo>
                  <a:pt x="1514475" y="1771650"/>
                </a:lnTo>
                <a:lnTo>
                  <a:pt x="1524000" y="1762125"/>
                </a:lnTo>
                <a:lnTo>
                  <a:pt x="1533525" y="1762125"/>
                </a:lnTo>
                <a:lnTo>
                  <a:pt x="1590675" y="1704975"/>
                </a:lnTo>
                <a:lnTo>
                  <a:pt x="1600200" y="1704975"/>
                </a:lnTo>
                <a:lnTo>
                  <a:pt x="1619250" y="1685925"/>
                </a:lnTo>
                <a:lnTo>
                  <a:pt x="1628775" y="1685925"/>
                </a:lnTo>
                <a:lnTo>
                  <a:pt x="1638300" y="1676400"/>
                </a:lnTo>
                <a:lnTo>
                  <a:pt x="1685925" y="1676400"/>
                </a:lnTo>
                <a:lnTo>
                  <a:pt x="1695450" y="1685925"/>
                </a:lnTo>
                <a:lnTo>
                  <a:pt x="1704975" y="1685925"/>
                </a:lnTo>
                <a:lnTo>
                  <a:pt x="1743075" y="1724025"/>
                </a:lnTo>
                <a:lnTo>
                  <a:pt x="1743075" y="1733550"/>
                </a:lnTo>
                <a:lnTo>
                  <a:pt x="1762125" y="1752600"/>
                </a:lnTo>
                <a:lnTo>
                  <a:pt x="1762125" y="1762125"/>
                </a:lnTo>
                <a:lnTo>
                  <a:pt x="1771650" y="1771650"/>
                </a:lnTo>
                <a:lnTo>
                  <a:pt x="1781175" y="1771650"/>
                </a:lnTo>
                <a:lnTo>
                  <a:pt x="1790700" y="1781175"/>
                </a:lnTo>
                <a:lnTo>
                  <a:pt x="1800225" y="1781175"/>
                </a:lnTo>
                <a:lnTo>
                  <a:pt x="1819275" y="1762125"/>
                </a:lnTo>
                <a:lnTo>
                  <a:pt x="1819275" y="1724025"/>
                </a:lnTo>
                <a:lnTo>
                  <a:pt x="1809750" y="1714500"/>
                </a:lnTo>
                <a:lnTo>
                  <a:pt x="1809750" y="1562100"/>
                </a:lnTo>
                <a:lnTo>
                  <a:pt x="1800225" y="1552575"/>
                </a:lnTo>
                <a:lnTo>
                  <a:pt x="1800225" y="1514475"/>
                </a:lnTo>
                <a:lnTo>
                  <a:pt x="1790700" y="1504950"/>
                </a:lnTo>
                <a:lnTo>
                  <a:pt x="1790700" y="1495425"/>
                </a:lnTo>
                <a:lnTo>
                  <a:pt x="1781175" y="1485900"/>
                </a:lnTo>
                <a:lnTo>
                  <a:pt x="1762125" y="1485900"/>
                </a:lnTo>
                <a:lnTo>
                  <a:pt x="1752600" y="1476375"/>
                </a:lnTo>
                <a:close/>
              </a:path>
              <a:path w="4267200" h="4267200">
                <a:moveTo>
                  <a:pt x="2600325" y="914400"/>
                </a:moveTo>
                <a:lnTo>
                  <a:pt x="2609850" y="904875"/>
                </a:lnTo>
                <a:lnTo>
                  <a:pt x="2619375" y="904875"/>
                </a:lnTo>
                <a:lnTo>
                  <a:pt x="2647950" y="933450"/>
                </a:lnTo>
                <a:lnTo>
                  <a:pt x="2647950" y="952500"/>
                </a:lnTo>
                <a:lnTo>
                  <a:pt x="2657475" y="962025"/>
                </a:lnTo>
                <a:lnTo>
                  <a:pt x="2657475" y="971550"/>
                </a:lnTo>
                <a:lnTo>
                  <a:pt x="2647950" y="981075"/>
                </a:lnTo>
                <a:lnTo>
                  <a:pt x="2647950" y="1009650"/>
                </a:lnTo>
                <a:lnTo>
                  <a:pt x="2638425" y="1019175"/>
                </a:lnTo>
                <a:lnTo>
                  <a:pt x="2638425" y="1028700"/>
                </a:lnTo>
                <a:lnTo>
                  <a:pt x="2628900" y="1038225"/>
                </a:lnTo>
                <a:lnTo>
                  <a:pt x="2619375" y="1038225"/>
                </a:lnTo>
                <a:lnTo>
                  <a:pt x="2609850" y="1047750"/>
                </a:lnTo>
                <a:lnTo>
                  <a:pt x="2600325" y="1047750"/>
                </a:lnTo>
                <a:lnTo>
                  <a:pt x="2590800" y="1057275"/>
                </a:lnTo>
                <a:lnTo>
                  <a:pt x="2552700" y="1057275"/>
                </a:lnTo>
                <a:lnTo>
                  <a:pt x="2543175" y="1047750"/>
                </a:lnTo>
                <a:lnTo>
                  <a:pt x="2524125" y="1047750"/>
                </a:lnTo>
                <a:lnTo>
                  <a:pt x="2495550" y="1019175"/>
                </a:lnTo>
                <a:lnTo>
                  <a:pt x="2495550" y="1009650"/>
                </a:lnTo>
                <a:lnTo>
                  <a:pt x="2505075" y="1000125"/>
                </a:lnTo>
                <a:lnTo>
                  <a:pt x="2505075" y="990600"/>
                </a:lnTo>
                <a:lnTo>
                  <a:pt x="2581275" y="914400"/>
                </a:lnTo>
                <a:close/>
              </a:path>
              <a:path w="4267200" h="4267200">
                <a:moveTo>
                  <a:pt x="2838450" y="390525"/>
                </a:moveTo>
                <a:lnTo>
                  <a:pt x="2828925" y="400050"/>
                </a:lnTo>
                <a:lnTo>
                  <a:pt x="2790825" y="400050"/>
                </a:lnTo>
                <a:lnTo>
                  <a:pt x="2781300" y="409575"/>
                </a:lnTo>
                <a:lnTo>
                  <a:pt x="2752725" y="409575"/>
                </a:lnTo>
                <a:lnTo>
                  <a:pt x="2743200" y="419100"/>
                </a:lnTo>
                <a:lnTo>
                  <a:pt x="2724150" y="419100"/>
                </a:lnTo>
                <a:lnTo>
                  <a:pt x="2714625" y="428625"/>
                </a:lnTo>
                <a:lnTo>
                  <a:pt x="2705100" y="428625"/>
                </a:lnTo>
                <a:lnTo>
                  <a:pt x="2695575" y="438150"/>
                </a:lnTo>
                <a:lnTo>
                  <a:pt x="2686050" y="438150"/>
                </a:lnTo>
                <a:lnTo>
                  <a:pt x="2676525" y="447675"/>
                </a:lnTo>
                <a:lnTo>
                  <a:pt x="2676525" y="457200"/>
                </a:lnTo>
                <a:lnTo>
                  <a:pt x="2657475" y="476250"/>
                </a:lnTo>
                <a:lnTo>
                  <a:pt x="2657475" y="485775"/>
                </a:lnTo>
                <a:lnTo>
                  <a:pt x="2647950" y="495300"/>
                </a:lnTo>
                <a:lnTo>
                  <a:pt x="2647950" y="504825"/>
                </a:lnTo>
                <a:lnTo>
                  <a:pt x="2638425" y="514350"/>
                </a:lnTo>
                <a:lnTo>
                  <a:pt x="2638425" y="523875"/>
                </a:lnTo>
                <a:lnTo>
                  <a:pt x="2619375" y="542925"/>
                </a:lnTo>
                <a:lnTo>
                  <a:pt x="2552700" y="542925"/>
                </a:lnTo>
                <a:lnTo>
                  <a:pt x="2543175" y="533400"/>
                </a:lnTo>
                <a:lnTo>
                  <a:pt x="2524125" y="533400"/>
                </a:lnTo>
                <a:lnTo>
                  <a:pt x="2514600" y="523875"/>
                </a:lnTo>
                <a:lnTo>
                  <a:pt x="2438400" y="523875"/>
                </a:lnTo>
                <a:lnTo>
                  <a:pt x="2428875" y="533400"/>
                </a:lnTo>
                <a:lnTo>
                  <a:pt x="2409825" y="533400"/>
                </a:lnTo>
                <a:lnTo>
                  <a:pt x="2400300" y="542925"/>
                </a:lnTo>
                <a:lnTo>
                  <a:pt x="2390775" y="542925"/>
                </a:lnTo>
                <a:lnTo>
                  <a:pt x="2381250" y="552450"/>
                </a:lnTo>
                <a:lnTo>
                  <a:pt x="2371725" y="552450"/>
                </a:lnTo>
                <a:lnTo>
                  <a:pt x="2362200" y="561975"/>
                </a:lnTo>
                <a:lnTo>
                  <a:pt x="2352675" y="561975"/>
                </a:lnTo>
                <a:lnTo>
                  <a:pt x="2343150" y="571500"/>
                </a:lnTo>
                <a:lnTo>
                  <a:pt x="2333625" y="571500"/>
                </a:lnTo>
                <a:lnTo>
                  <a:pt x="2324100" y="581025"/>
                </a:lnTo>
                <a:lnTo>
                  <a:pt x="2314575" y="581025"/>
                </a:lnTo>
                <a:lnTo>
                  <a:pt x="2305050" y="590550"/>
                </a:lnTo>
                <a:lnTo>
                  <a:pt x="2276475" y="590550"/>
                </a:lnTo>
                <a:lnTo>
                  <a:pt x="2266950" y="600075"/>
                </a:lnTo>
                <a:lnTo>
                  <a:pt x="2228850" y="600075"/>
                </a:lnTo>
                <a:lnTo>
                  <a:pt x="2219325" y="609600"/>
                </a:lnTo>
                <a:lnTo>
                  <a:pt x="2200275" y="609600"/>
                </a:lnTo>
                <a:lnTo>
                  <a:pt x="2190750" y="619125"/>
                </a:lnTo>
                <a:lnTo>
                  <a:pt x="2171700" y="619125"/>
                </a:lnTo>
                <a:lnTo>
                  <a:pt x="2162175" y="628650"/>
                </a:lnTo>
                <a:lnTo>
                  <a:pt x="2143125" y="628650"/>
                </a:lnTo>
                <a:lnTo>
                  <a:pt x="2133600" y="638175"/>
                </a:lnTo>
                <a:lnTo>
                  <a:pt x="2085975" y="638175"/>
                </a:lnTo>
                <a:lnTo>
                  <a:pt x="2028825" y="581025"/>
                </a:lnTo>
                <a:lnTo>
                  <a:pt x="2028825" y="571500"/>
                </a:lnTo>
                <a:lnTo>
                  <a:pt x="1990725" y="533400"/>
                </a:lnTo>
                <a:lnTo>
                  <a:pt x="1981200" y="533400"/>
                </a:lnTo>
                <a:lnTo>
                  <a:pt x="1971675" y="523875"/>
                </a:lnTo>
                <a:lnTo>
                  <a:pt x="1952625" y="523875"/>
                </a:lnTo>
                <a:lnTo>
                  <a:pt x="1943100" y="514350"/>
                </a:lnTo>
                <a:lnTo>
                  <a:pt x="1885950" y="514350"/>
                </a:lnTo>
                <a:lnTo>
                  <a:pt x="1876425" y="523875"/>
                </a:lnTo>
                <a:lnTo>
                  <a:pt x="1838325" y="523875"/>
                </a:lnTo>
                <a:lnTo>
                  <a:pt x="1828800" y="533400"/>
                </a:lnTo>
                <a:lnTo>
                  <a:pt x="1724025" y="533400"/>
                </a:lnTo>
                <a:lnTo>
                  <a:pt x="1714500" y="523875"/>
                </a:lnTo>
                <a:lnTo>
                  <a:pt x="1676400" y="523875"/>
                </a:lnTo>
                <a:lnTo>
                  <a:pt x="1666875" y="514350"/>
                </a:lnTo>
                <a:lnTo>
                  <a:pt x="1647825" y="514350"/>
                </a:lnTo>
                <a:lnTo>
                  <a:pt x="1638300" y="523875"/>
                </a:lnTo>
                <a:lnTo>
                  <a:pt x="1619250" y="523875"/>
                </a:lnTo>
                <a:lnTo>
                  <a:pt x="1609725" y="533400"/>
                </a:lnTo>
                <a:lnTo>
                  <a:pt x="1600200" y="533400"/>
                </a:lnTo>
                <a:lnTo>
                  <a:pt x="1590675" y="542925"/>
                </a:lnTo>
                <a:lnTo>
                  <a:pt x="1581150" y="542925"/>
                </a:lnTo>
                <a:lnTo>
                  <a:pt x="1571625" y="552450"/>
                </a:lnTo>
                <a:lnTo>
                  <a:pt x="1562100" y="552450"/>
                </a:lnTo>
                <a:lnTo>
                  <a:pt x="1552575" y="561975"/>
                </a:lnTo>
                <a:lnTo>
                  <a:pt x="1524000" y="561975"/>
                </a:lnTo>
                <a:lnTo>
                  <a:pt x="1514475" y="571500"/>
                </a:lnTo>
                <a:lnTo>
                  <a:pt x="1485900" y="571500"/>
                </a:lnTo>
                <a:lnTo>
                  <a:pt x="1476375" y="561975"/>
                </a:lnTo>
                <a:lnTo>
                  <a:pt x="1457325" y="561975"/>
                </a:lnTo>
                <a:lnTo>
                  <a:pt x="1447800" y="552450"/>
                </a:lnTo>
                <a:lnTo>
                  <a:pt x="1400175" y="552450"/>
                </a:lnTo>
                <a:lnTo>
                  <a:pt x="1390650" y="561975"/>
                </a:lnTo>
                <a:lnTo>
                  <a:pt x="1381125" y="561975"/>
                </a:lnTo>
                <a:lnTo>
                  <a:pt x="1343025" y="600075"/>
                </a:lnTo>
                <a:lnTo>
                  <a:pt x="1333500" y="600075"/>
                </a:lnTo>
                <a:lnTo>
                  <a:pt x="1323975" y="609600"/>
                </a:lnTo>
                <a:lnTo>
                  <a:pt x="1314450" y="609600"/>
                </a:lnTo>
                <a:lnTo>
                  <a:pt x="1304925" y="619125"/>
                </a:lnTo>
                <a:lnTo>
                  <a:pt x="1266825" y="619125"/>
                </a:lnTo>
                <a:lnTo>
                  <a:pt x="1257300" y="609600"/>
                </a:lnTo>
                <a:lnTo>
                  <a:pt x="1247775" y="609600"/>
                </a:lnTo>
                <a:lnTo>
                  <a:pt x="1238250" y="600075"/>
                </a:lnTo>
                <a:lnTo>
                  <a:pt x="1228725" y="600075"/>
                </a:lnTo>
                <a:lnTo>
                  <a:pt x="1219200" y="590550"/>
                </a:lnTo>
                <a:lnTo>
                  <a:pt x="1209675" y="590550"/>
                </a:lnTo>
                <a:lnTo>
                  <a:pt x="1190625" y="571500"/>
                </a:lnTo>
                <a:lnTo>
                  <a:pt x="1181100" y="571500"/>
                </a:lnTo>
                <a:lnTo>
                  <a:pt x="1171575" y="561975"/>
                </a:lnTo>
                <a:lnTo>
                  <a:pt x="1152525" y="561975"/>
                </a:lnTo>
                <a:lnTo>
                  <a:pt x="1143000" y="552450"/>
                </a:lnTo>
                <a:lnTo>
                  <a:pt x="1114425" y="552450"/>
                </a:lnTo>
                <a:lnTo>
                  <a:pt x="1104900" y="542925"/>
                </a:lnTo>
                <a:lnTo>
                  <a:pt x="971550" y="542925"/>
                </a:lnTo>
                <a:lnTo>
                  <a:pt x="962025" y="533400"/>
                </a:lnTo>
                <a:lnTo>
                  <a:pt x="857250" y="533400"/>
                </a:lnTo>
                <a:lnTo>
                  <a:pt x="847725" y="542925"/>
                </a:lnTo>
                <a:lnTo>
                  <a:pt x="838200" y="542925"/>
                </a:lnTo>
                <a:lnTo>
                  <a:pt x="828675" y="552450"/>
                </a:lnTo>
                <a:lnTo>
                  <a:pt x="819150" y="552450"/>
                </a:lnTo>
                <a:lnTo>
                  <a:pt x="733425" y="638175"/>
                </a:lnTo>
                <a:lnTo>
                  <a:pt x="723900" y="638175"/>
                </a:lnTo>
                <a:lnTo>
                  <a:pt x="704850" y="657225"/>
                </a:lnTo>
                <a:lnTo>
                  <a:pt x="695325" y="657225"/>
                </a:lnTo>
                <a:lnTo>
                  <a:pt x="676275" y="676275"/>
                </a:lnTo>
                <a:lnTo>
                  <a:pt x="666750" y="676275"/>
                </a:lnTo>
                <a:lnTo>
                  <a:pt x="657225" y="685800"/>
                </a:lnTo>
                <a:lnTo>
                  <a:pt x="657225" y="695325"/>
                </a:lnTo>
                <a:lnTo>
                  <a:pt x="647700" y="704850"/>
                </a:lnTo>
                <a:lnTo>
                  <a:pt x="647700" y="714375"/>
                </a:lnTo>
                <a:lnTo>
                  <a:pt x="638175" y="723900"/>
                </a:lnTo>
                <a:lnTo>
                  <a:pt x="638175" y="771525"/>
                </a:lnTo>
                <a:lnTo>
                  <a:pt x="647700" y="781050"/>
                </a:lnTo>
                <a:lnTo>
                  <a:pt x="647700" y="790575"/>
                </a:lnTo>
                <a:lnTo>
                  <a:pt x="657225" y="800100"/>
                </a:lnTo>
                <a:lnTo>
                  <a:pt x="657225" y="809625"/>
                </a:lnTo>
                <a:lnTo>
                  <a:pt x="695325" y="847725"/>
                </a:lnTo>
                <a:lnTo>
                  <a:pt x="695325" y="857250"/>
                </a:lnTo>
                <a:lnTo>
                  <a:pt x="704850" y="866775"/>
                </a:lnTo>
                <a:lnTo>
                  <a:pt x="704850" y="876300"/>
                </a:lnTo>
                <a:lnTo>
                  <a:pt x="714375" y="885825"/>
                </a:lnTo>
                <a:lnTo>
                  <a:pt x="714375" y="981075"/>
                </a:lnTo>
                <a:lnTo>
                  <a:pt x="723900" y="990600"/>
                </a:lnTo>
                <a:lnTo>
                  <a:pt x="723900" y="1019175"/>
                </a:lnTo>
                <a:lnTo>
                  <a:pt x="733425" y="1028700"/>
                </a:lnTo>
                <a:lnTo>
                  <a:pt x="733425" y="1038225"/>
                </a:lnTo>
                <a:lnTo>
                  <a:pt x="742950" y="1047750"/>
                </a:lnTo>
                <a:lnTo>
                  <a:pt x="742950" y="1066800"/>
                </a:lnTo>
                <a:lnTo>
                  <a:pt x="752475" y="1076325"/>
                </a:lnTo>
                <a:lnTo>
                  <a:pt x="752475" y="1104900"/>
                </a:lnTo>
                <a:lnTo>
                  <a:pt x="762000" y="1114425"/>
                </a:lnTo>
                <a:lnTo>
                  <a:pt x="762000" y="1162050"/>
                </a:lnTo>
                <a:lnTo>
                  <a:pt x="771525" y="1171575"/>
                </a:lnTo>
                <a:lnTo>
                  <a:pt x="771525" y="1209675"/>
                </a:lnTo>
                <a:lnTo>
                  <a:pt x="781050" y="1219200"/>
                </a:lnTo>
                <a:lnTo>
                  <a:pt x="781050" y="1238250"/>
                </a:lnTo>
                <a:lnTo>
                  <a:pt x="790575" y="1247775"/>
                </a:lnTo>
                <a:lnTo>
                  <a:pt x="790575" y="1257300"/>
                </a:lnTo>
                <a:lnTo>
                  <a:pt x="800100" y="1266825"/>
                </a:lnTo>
                <a:lnTo>
                  <a:pt x="800100" y="1276350"/>
                </a:lnTo>
                <a:lnTo>
                  <a:pt x="809625" y="1285875"/>
                </a:lnTo>
                <a:lnTo>
                  <a:pt x="809625" y="1295400"/>
                </a:lnTo>
                <a:lnTo>
                  <a:pt x="828675" y="1314450"/>
                </a:lnTo>
                <a:lnTo>
                  <a:pt x="828675" y="1323975"/>
                </a:lnTo>
                <a:lnTo>
                  <a:pt x="857250" y="1352550"/>
                </a:lnTo>
                <a:lnTo>
                  <a:pt x="857250" y="1362075"/>
                </a:lnTo>
                <a:lnTo>
                  <a:pt x="876300" y="1381125"/>
                </a:lnTo>
                <a:lnTo>
                  <a:pt x="876300" y="1390650"/>
                </a:lnTo>
                <a:lnTo>
                  <a:pt x="885825" y="1400175"/>
                </a:lnTo>
                <a:lnTo>
                  <a:pt x="885825" y="1409700"/>
                </a:lnTo>
                <a:lnTo>
                  <a:pt x="895350" y="1419225"/>
                </a:lnTo>
                <a:lnTo>
                  <a:pt x="895350" y="1428750"/>
                </a:lnTo>
                <a:lnTo>
                  <a:pt x="904875" y="1438275"/>
                </a:lnTo>
                <a:lnTo>
                  <a:pt x="904875" y="1447800"/>
                </a:lnTo>
                <a:lnTo>
                  <a:pt x="914400" y="1457325"/>
                </a:lnTo>
                <a:lnTo>
                  <a:pt x="914400" y="1476375"/>
                </a:lnTo>
                <a:lnTo>
                  <a:pt x="923925" y="1485900"/>
                </a:lnTo>
                <a:lnTo>
                  <a:pt x="923925" y="1504950"/>
                </a:lnTo>
                <a:lnTo>
                  <a:pt x="933450" y="1514475"/>
                </a:lnTo>
                <a:lnTo>
                  <a:pt x="933450" y="1695450"/>
                </a:lnTo>
                <a:lnTo>
                  <a:pt x="942975" y="1704975"/>
                </a:lnTo>
                <a:lnTo>
                  <a:pt x="942975" y="1743075"/>
                </a:lnTo>
                <a:lnTo>
                  <a:pt x="952500" y="1752600"/>
                </a:lnTo>
                <a:lnTo>
                  <a:pt x="952500" y="1790700"/>
                </a:lnTo>
                <a:lnTo>
                  <a:pt x="962025" y="1800225"/>
                </a:lnTo>
                <a:lnTo>
                  <a:pt x="962025" y="1819275"/>
                </a:lnTo>
                <a:lnTo>
                  <a:pt x="971550" y="1828800"/>
                </a:lnTo>
                <a:lnTo>
                  <a:pt x="971550" y="1838325"/>
                </a:lnTo>
                <a:lnTo>
                  <a:pt x="981075" y="1847850"/>
                </a:lnTo>
                <a:lnTo>
                  <a:pt x="981075" y="1857375"/>
                </a:lnTo>
                <a:lnTo>
                  <a:pt x="1019175" y="1895475"/>
                </a:lnTo>
                <a:lnTo>
                  <a:pt x="1057275" y="1895475"/>
                </a:lnTo>
                <a:lnTo>
                  <a:pt x="1066800" y="1885950"/>
                </a:lnTo>
                <a:lnTo>
                  <a:pt x="1076325" y="1885950"/>
                </a:lnTo>
                <a:lnTo>
                  <a:pt x="1085850" y="1876425"/>
                </a:lnTo>
                <a:lnTo>
                  <a:pt x="1095375" y="1876425"/>
                </a:lnTo>
                <a:lnTo>
                  <a:pt x="1114425" y="1857375"/>
                </a:lnTo>
                <a:lnTo>
                  <a:pt x="1152525" y="1857375"/>
                </a:lnTo>
                <a:lnTo>
                  <a:pt x="1190625" y="1895475"/>
                </a:lnTo>
                <a:lnTo>
                  <a:pt x="1190625" y="1933575"/>
                </a:lnTo>
                <a:lnTo>
                  <a:pt x="1162050" y="1962150"/>
                </a:lnTo>
                <a:lnTo>
                  <a:pt x="1152525" y="1962150"/>
                </a:lnTo>
                <a:lnTo>
                  <a:pt x="1143000" y="1971675"/>
                </a:lnTo>
                <a:lnTo>
                  <a:pt x="1133475" y="1971675"/>
                </a:lnTo>
                <a:lnTo>
                  <a:pt x="1123950" y="1981200"/>
                </a:lnTo>
                <a:lnTo>
                  <a:pt x="1104900" y="1981200"/>
                </a:lnTo>
                <a:lnTo>
                  <a:pt x="1095375" y="1990725"/>
                </a:lnTo>
                <a:lnTo>
                  <a:pt x="1085850" y="1990725"/>
                </a:lnTo>
                <a:lnTo>
                  <a:pt x="1066800" y="2009775"/>
                </a:lnTo>
                <a:lnTo>
                  <a:pt x="1066800" y="2019300"/>
                </a:lnTo>
                <a:lnTo>
                  <a:pt x="1057275" y="2028825"/>
                </a:lnTo>
                <a:lnTo>
                  <a:pt x="1057275" y="2066925"/>
                </a:lnTo>
                <a:lnTo>
                  <a:pt x="1066800" y="2076450"/>
                </a:lnTo>
                <a:lnTo>
                  <a:pt x="1066800" y="2085975"/>
                </a:lnTo>
                <a:lnTo>
                  <a:pt x="1076325" y="2095500"/>
                </a:lnTo>
                <a:lnTo>
                  <a:pt x="1076325" y="2105025"/>
                </a:lnTo>
                <a:lnTo>
                  <a:pt x="1095375" y="2124075"/>
                </a:lnTo>
                <a:lnTo>
                  <a:pt x="1104900" y="2124075"/>
                </a:lnTo>
                <a:lnTo>
                  <a:pt x="1114425" y="2133600"/>
                </a:lnTo>
                <a:lnTo>
                  <a:pt x="1123950" y="2133600"/>
                </a:lnTo>
                <a:lnTo>
                  <a:pt x="1133475" y="2143125"/>
                </a:lnTo>
                <a:lnTo>
                  <a:pt x="1143000" y="2133600"/>
                </a:lnTo>
                <a:lnTo>
                  <a:pt x="1162050" y="2133600"/>
                </a:lnTo>
                <a:lnTo>
                  <a:pt x="1238250" y="2057400"/>
                </a:lnTo>
                <a:lnTo>
                  <a:pt x="1238250" y="2047875"/>
                </a:lnTo>
                <a:lnTo>
                  <a:pt x="1257300" y="2028825"/>
                </a:lnTo>
                <a:lnTo>
                  <a:pt x="1257300" y="2019300"/>
                </a:lnTo>
                <a:lnTo>
                  <a:pt x="1285875" y="1990725"/>
                </a:lnTo>
                <a:lnTo>
                  <a:pt x="1285875" y="1981200"/>
                </a:lnTo>
                <a:lnTo>
                  <a:pt x="1304925" y="1962150"/>
                </a:lnTo>
                <a:lnTo>
                  <a:pt x="1304925" y="1952625"/>
                </a:lnTo>
                <a:lnTo>
                  <a:pt x="1314450" y="1943100"/>
                </a:lnTo>
                <a:lnTo>
                  <a:pt x="1314450" y="1924050"/>
                </a:lnTo>
                <a:lnTo>
                  <a:pt x="1323975" y="1914525"/>
                </a:lnTo>
                <a:lnTo>
                  <a:pt x="1323975" y="1895475"/>
                </a:lnTo>
                <a:lnTo>
                  <a:pt x="1333500" y="1885950"/>
                </a:lnTo>
                <a:lnTo>
                  <a:pt x="1333500" y="1866900"/>
                </a:lnTo>
                <a:lnTo>
                  <a:pt x="1343025" y="1857375"/>
                </a:lnTo>
                <a:lnTo>
                  <a:pt x="1343025" y="1847850"/>
                </a:lnTo>
                <a:lnTo>
                  <a:pt x="1352550" y="1838325"/>
                </a:lnTo>
                <a:lnTo>
                  <a:pt x="1352550" y="1828800"/>
                </a:lnTo>
                <a:lnTo>
                  <a:pt x="1362075" y="1819275"/>
                </a:lnTo>
                <a:lnTo>
                  <a:pt x="1362075" y="1809750"/>
                </a:lnTo>
                <a:lnTo>
                  <a:pt x="1371600" y="1800225"/>
                </a:lnTo>
                <a:lnTo>
                  <a:pt x="1371600" y="1752600"/>
                </a:lnTo>
                <a:lnTo>
                  <a:pt x="1362075" y="1743075"/>
                </a:lnTo>
                <a:lnTo>
                  <a:pt x="1362075" y="1704975"/>
                </a:lnTo>
                <a:lnTo>
                  <a:pt x="1352550" y="1695450"/>
                </a:lnTo>
                <a:lnTo>
                  <a:pt x="1352550" y="1666875"/>
                </a:lnTo>
                <a:lnTo>
                  <a:pt x="1343025" y="1657350"/>
                </a:lnTo>
                <a:lnTo>
                  <a:pt x="1343025" y="1647825"/>
                </a:lnTo>
                <a:lnTo>
                  <a:pt x="1323975" y="1628775"/>
                </a:lnTo>
                <a:lnTo>
                  <a:pt x="1314450" y="1628775"/>
                </a:lnTo>
                <a:lnTo>
                  <a:pt x="1304925" y="1619250"/>
                </a:lnTo>
                <a:lnTo>
                  <a:pt x="1295400" y="1619250"/>
                </a:lnTo>
                <a:lnTo>
                  <a:pt x="1285875" y="1609725"/>
                </a:lnTo>
                <a:lnTo>
                  <a:pt x="1171575" y="1609725"/>
                </a:lnTo>
                <a:lnTo>
                  <a:pt x="1162050" y="1600200"/>
                </a:lnTo>
                <a:lnTo>
                  <a:pt x="1133475" y="1600200"/>
                </a:lnTo>
                <a:lnTo>
                  <a:pt x="1123950" y="1590675"/>
                </a:lnTo>
                <a:lnTo>
                  <a:pt x="1114425" y="1590675"/>
                </a:lnTo>
                <a:lnTo>
                  <a:pt x="1076325" y="1552575"/>
                </a:lnTo>
                <a:lnTo>
                  <a:pt x="1076325" y="1543050"/>
                </a:lnTo>
                <a:lnTo>
                  <a:pt x="1066800" y="1533525"/>
                </a:lnTo>
                <a:lnTo>
                  <a:pt x="1066800" y="1495425"/>
                </a:lnTo>
                <a:lnTo>
                  <a:pt x="1076325" y="1485900"/>
                </a:lnTo>
                <a:lnTo>
                  <a:pt x="1076325" y="1476375"/>
                </a:lnTo>
                <a:lnTo>
                  <a:pt x="1085850" y="1466850"/>
                </a:lnTo>
                <a:lnTo>
                  <a:pt x="1085850" y="1457325"/>
                </a:lnTo>
                <a:lnTo>
                  <a:pt x="1095375" y="1447800"/>
                </a:lnTo>
                <a:lnTo>
                  <a:pt x="1095375" y="1428750"/>
                </a:lnTo>
                <a:lnTo>
                  <a:pt x="1104900" y="1419225"/>
                </a:lnTo>
                <a:lnTo>
                  <a:pt x="1104900" y="1409700"/>
                </a:lnTo>
                <a:lnTo>
                  <a:pt x="1114425" y="1400175"/>
                </a:lnTo>
                <a:lnTo>
                  <a:pt x="1114425" y="1295400"/>
                </a:lnTo>
                <a:lnTo>
                  <a:pt x="1104900" y="1285875"/>
                </a:lnTo>
                <a:lnTo>
                  <a:pt x="1104900" y="1257300"/>
                </a:lnTo>
                <a:lnTo>
                  <a:pt x="1095375" y="1247775"/>
                </a:lnTo>
                <a:lnTo>
                  <a:pt x="1095375" y="1228725"/>
                </a:lnTo>
                <a:lnTo>
                  <a:pt x="1085850" y="1219200"/>
                </a:lnTo>
                <a:lnTo>
                  <a:pt x="1085850" y="1209675"/>
                </a:lnTo>
                <a:lnTo>
                  <a:pt x="1076325" y="1200150"/>
                </a:lnTo>
                <a:lnTo>
                  <a:pt x="1076325" y="1190625"/>
                </a:lnTo>
                <a:lnTo>
                  <a:pt x="1066800" y="1181100"/>
                </a:lnTo>
                <a:lnTo>
                  <a:pt x="1066800" y="1171575"/>
                </a:lnTo>
                <a:lnTo>
                  <a:pt x="1047750" y="1152525"/>
                </a:lnTo>
                <a:lnTo>
                  <a:pt x="1047750" y="1143000"/>
                </a:lnTo>
                <a:lnTo>
                  <a:pt x="1038225" y="1133475"/>
                </a:lnTo>
                <a:lnTo>
                  <a:pt x="1038225" y="1123950"/>
                </a:lnTo>
                <a:lnTo>
                  <a:pt x="1028700" y="1114425"/>
                </a:lnTo>
                <a:lnTo>
                  <a:pt x="1028700" y="1095375"/>
                </a:lnTo>
                <a:lnTo>
                  <a:pt x="1019175" y="1085850"/>
                </a:lnTo>
                <a:lnTo>
                  <a:pt x="1019175" y="1028700"/>
                </a:lnTo>
                <a:lnTo>
                  <a:pt x="1009650" y="1019175"/>
                </a:lnTo>
                <a:lnTo>
                  <a:pt x="1009650" y="990600"/>
                </a:lnTo>
                <a:lnTo>
                  <a:pt x="1019175" y="981075"/>
                </a:lnTo>
                <a:lnTo>
                  <a:pt x="1019175" y="952500"/>
                </a:lnTo>
                <a:lnTo>
                  <a:pt x="1028700" y="942975"/>
                </a:lnTo>
                <a:lnTo>
                  <a:pt x="1028700" y="923925"/>
                </a:lnTo>
                <a:lnTo>
                  <a:pt x="1038225" y="914400"/>
                </a:lnTo>
                <a:lnTo>
                  <a:pt x="1038225" y="904875"/>
                </a:lnTo>
                <a:lnTo>
                  <a:pt x="1085850" y="857250"/>
                </a:lnTo>
                <a:lnTo>
                  <a:pt x="1095375" y="857250"/>
                </a:lnTo>
                <a:lnTo>
                  <a:pt x="1104900" y="847725"/>
                </a:lnTo>
                <a:lnTo>
                  <a:pt x="1123950" y="847725"/>
                </a:lnTo>
                <a:lnTo>
                  <a:pt x="1133475" y="838200"/>
                </a:lnTo>
                <a:lnTo>
                  <a:pt x="1162050" y="838200"/>
                </a:lnTo>
                <a:lnTo>
                  <a:pt x="1171575" y="828675"/>
                </a:lnTo>
                <a:lnTo>
                  <a:pt x="1209675" y="828675"/>
                </a:lnTo>
                <a:lnTo>
                  <a:pt x="1219200" y="819150"/>
                </a:lnTo>
                <a:lnTo>
                  <a:pt x="1352550" y="819150"/>
                </a:lnTo>
                <a:lnTo>
                  <a:pt x="1371600" y="838200"/>
                </a:lnTo>
                <a:lnTo>
                  <a:pt x="1371600" y="857250"/>
                </a:lnTo>
                <a:lnTo>
                  <a:pt x="1362075" y="866775"/>
                </a:lnTo>
                <a:lnTo>
                  <a:pt x="1362075" y="876300"/>
                </a:lnTo>
                <a:lnTo>
                  <a:pt x="1343025" y="895350"/>
                </a:lnTo>
                <a:lnTo>
                  <a:pt x="1343025" y="904875"/>
                </a:lnTo>
                <a:lnTo>
                  <a:pt x="1333500" y="914400"/>
                </a:lnTo>
                <a:lnTo>
                  <a:pt x="1333500" y="923925"/>
                </a:lnTo>
                <a:lnTo>
                  <a:pt x="1323975" y="933450"/>
                </a:lnTo>
                <a:lnTo>
                  <a:pt x="1323975" y="942975"/>
                </a:lnTo>
                <a:lnTo>
                  <a:pt x="1314450" y="952500"/>
                </a:lnTo>
                <a:lnTo>
                  <a:pt x="1314450" y="971550"/>
                </a:lnTo>
                <a:lnTo>
                  <a:pt x="1304925" y="981075"/>
                </a:lnTo>
                <a:lnTo>
                  <a:pt x="1304925" y="1009650"/>
                </a:lnTo>
                <a:lnTo>
                  <a:pt x="1295400" y="1019175"/>
                </a:lnTo>
                <a:lnTo>
                  <a:pt x="1295400" y="1038225"/>
                </a:lnTo>
                <a:lnTo>
                  <a:pt x="1285875" y="1047750"/>
                </a:lnTo>
                <a:lnTo>
                  <a:pt x="1285875" y="1057275"/>
                </a:lnTo>
                <a:lnTo>
                  <a:pt x="1266825" y="1076325"/>
                </a:lnTo>
                <a:lnTo>
                  <a:pt x="1266825" y="1085850"/>
                </a:lnTo>
                <a:lnTo>
                  <a:pt x="1228725" y="1123950"/>
                </a:lnTo>
                <a:lnTo>
                  <a:pt x="1228725" y="1133475"/>
                </a:lnTo>
                <a:lnTo>
                  <a:pt x="1219200" y="1143000"/>
                </a:lnTo>
                <a:lnTo>
                  <a:pt x="1219200" y="1152525"/>
                </a:lnTo>
                <a:lnTo>
                  <a:pt x="1209675" y="1162050"/>
                </a:lnTo>
                <a:lnTo>
                  <a:pt x="1209675" y="1171575"/>
                </a:lnTo>
                <a:lnTo>
                  <a:pt x="1200150" y="1181100"/>
                </a:lnTo>
                <a:lnTo>
                  <a:pt x="1200150" y="1219200"/>
                </a:lnTo>
                <a:lnTo>
                  <a:pt x="1190625" y="1228725"/>
                </a:lnTo>
                <a:lnTo>
                  <a:pt x="1190625" y="1247775"/>
                </a:lnTo>
                <a:lnTo>
                  <a:pt x="1200150" y="1257300"/>
                </a:lnTo>
                <a:lnTo>
                  <a:pt x="1200150" y="1276350"/>
                </a:lnTo>
                <a:lnTo>
                  <a:pt x="1209675" y="1285875"/>
                </a:lnTo>
                <a:lnTo>
                  <a:pt x="1219200" y="1285875"/>
                </a:lnTo>
                <a:lnTo>
                  <a:pt x="1228725" y="1295400"/>
                </a:lnTo>
                <a:lnTo>
                  <a:pt x="1266825" y="1295400"/>
                </a:lnTo>
                <a:lnTo>
                  <a:pt x="1276350" y="1285875"/>
                </a:lnTo>
                <a:lnTo>
                  <a:pt x="1285875" y="1285875"/>
                </a:lnTo>
                <a:lnTo>
                  <a:pt x="1314450" y="1257300"/>
                </a:lnTo>
                <a:lnTo>
                  <a:pt x="1314450" y="1247775"/>
                </a:lnTo>
                <a:lnTo>
                  <a:pt x="1352550" y="1209675"/>
                </a:lnTo>
                <a:lnTo>
                  <a:pt x="1390650" y="1209675"/>
                </a:lnTo>
                <a:lnTo>
                  <a:pt x="1428750" y="1247775"/>
                </a:lnTo>
                <a:lnTo>
                  <a:pt x="1428750" y="1257300"/>
                </a:lnTo>
                <a:lnTo>
                  <a:pt x="1438275" y="1266825"/>
                </a:lnTo>
                <a:lnTo>
                  <a:pt x="1438275" y="1276350"/>
                </a:lnTo>
                <a:lnTo>
                  <a:pt x="1447800" y="1285875"/>
                </a:lnTo>
                <a:lnTo>
                  <a:pt x="1447800" y="1295400"/>
                </a:lnTo>
                <a:lnTo>
                  <a:pt x="1457325" y="1304925"/>
                </a:lnTo>
                <a:lnTo>
                  <a:pt x="1457325" y="1314450"/>
                </a:lnTo>
                <a:lnTo>
                  <a:pt x="1466850" y="1323975"/>
                </a:lnTo>
                <a:lnTo>
                  <a:pt x="1466850" y="1333500"/>
                </a:lnTo>
                <a:lnTo>
                  <a:pt x="1485900" y="1352550"/>
                </a:lnTo>
                <a:lnTo>
                  <a:pt x="1485900" y="1362075"/>
                </a:lnTo>
                <a:lnTo>
                  <a:pt x="1495425" y="1371600"/>
                </a:lnTo>
                <a:lnTo>
                  <a:pt x="1504950" y="1371600"/>
                </a:lnTo>
                <a:lnTo>
                  <a:pt x="1524000" y="1390650"/>
                </a:lnTo>
                <a:lnTo>
                  <a:pt x="1562100" y="1390650"/>
                </a:lnTo>
                <a:lnTo>
                  <a:pt x="1571625" y="1381125"/>
                </a:lnTo>
                <a:lnTo>
                  <a:pt x="1581150" y="1381125"/>
                </a:lnTo>
                <a:lnTo>
                  <a:pt x="1590675" y="1371600"/>
                </a:lnTo>
                <a:lnTo>
                  <a:pt x="1600200" y="1371600"/>
                </a:lnTo>
                <a:lnTo>
                  <a:pt x="1619250" y="1352550"/>
                </a:lnTo>
                <a:lnTo>
                  <a:pt x="1628775" y="1352550"/>
                </a:lnTo>
                <a:lnTo>
                  <a:pt x="1638300" y="1343025"/>
                </a:lnTo>
                <a:lnTo>
                  <a:pt x="1685925" y="1343025"/>
                </a:lnTo>
                <a:lnTo>
                  <a:pt x="1695450" y="1352550"/>
                </a:lnTo>
                <a:lnTo>
                  <a:pt x="1704975" y="1352550"/>
                </a:lnTo>
                <a:lnTo>
                  <a:pt x="1714500" y="1362075"/>
                </a:lnTo>
                <a:lnTo>
                  <a:pt x="1724025" y="1362075"/>
                </a:lnTo>
                <a:lnTo>
                  <a:pt x="1733550" y="1371600"/>
                </a:lnTo>
                <a:lnTo>
                  <a:pt x="1743075" y="1371600"/>
                </a:lnTo>
                <a:lnTo>
                  <a:pt x="1752600" y="1381125"/>
                </a:lnTo>
                <a:lnTo>
                  <a:pt x="1828800" y="1381125"/>
                </a:lnTo>
                <a:lnTo>
                  <a:pt x="1838325" y="1371600"/>
                </a:lnTo>
                <a:lnTo>
                  <a:pt x="1847850" y="1371600"/>
                </a:lnTo>
                <a:lnTo>
                  <a:pt x="1857375" y="1362075"/>
                </a:lnTo>
                <a:lnTo>
                  <a:pt x="1866900" y="1362075"/>
                </a:lnTo>
                <a:lnTo>
                  <a:pt x="1876425" y="1352550"/>
                </a:lnTo>
                <a:lnTo>
                  <a:pt x="1876425" y="1343025"/>
                </a:lnTo>
                <a:lnTo>
                  <a:pt x="1885950" y="1333500"/>
                </a:lnTo>
                <a:lnTo>
                  <a:pt x="1885950" y="1323975"/>
                </a:lnTo>
                <a:lnTo>
                  <a:pt x="1895475" y="1314450"/>
                </a:lnTo>
                <a:lnTo>
                  <a:pt x="1895475" y="1295400"/>
                </a:lnTo>
                <a:lnTo>
                  <a:pt x="1905000" y="1285875"/>
                </a:lnTo>
                <a:lnTo>
                  <a:pt x="1905000" y="1247775"/>
                </a:lnTo>
                <a:lnTo>
                  <a:pt x="1914525" y="1238250"/>
                </a:lnTo>
                <a:lnTo>
                  <a:pt x="1914525" y="1200150"/>
                </a:lnTo>
                <a:lnTo>
                  <a:pt x="1924050" y="1190625"/>
                </a:lnTo>
                <a:lnTo>
                  <a:pt x="1924050" y="1171575"/>
                </a:lnTo>
                <a:lnTo>
                  <a:pt x="1933575" y="1162050"/>
                </a:lnTo>
                <a:lnTo>
                  <a:pt x="1933575" y="1152525"/>
                </a:lnTo>
                <a:lnTo>
                  <a:pt x="1971675" y="1114425"/>
                </a:lnTo>
                <a:lnTo>
                  <a:pt x="1990725" y="1114425"/>
                </a:lnTo>
                <a:lnTo>
                  <a:pt x="2000250" y="1104900"/>
                </a:lnTo>
                <a:lnTo>
                  <a:pt x="2009775" y="1104900"/>
                </a:lnTo>
                <a:lnTo>
                  <a:pt x="2028825" y="1085850"/>
                </a:lnTo>
                <a:lnTo>
                  <a:pt x="2028825" y="1076325"/>
                </a:lnTo>
                <a:lnTo>
                  <a:pt x="2038350" y="1066800"/>
                </a:lnTo>
                <a:lnTo>
                  <a:pt x="2038350" y="1047750"/>
                </a:lnTo>
                <a:lnTo>
                  <a:pt x="2047875" y="1038225"/>
                </a:lnTo>
                <a:lnTo>
                  <a:pt x="2047875" y="1019175"/>
                </a:lnTo>
                <a:lnTo>
                  <a:pt x="2057400" y="1009650"/>
                </a:lnTo>
                <a:lnTo>
                  <a:pt x="2057400" y="1000125"/>
                </a:lnTo>
                <a:lnTo>
                  <a:pt x="2095500" y="962025"/>
                </a:lnTo>
                <a:lnTo>
                  <a:pt x="2105025" y="962025"/>
                </a:lnTo>
                <a:lnTo>
                  <a:pt x="2114550" y="952500"/>
                </a:lnTo>
                <a:lnTo>
                  <a:pt x="2133600" y="952500"/>
                </a:lnTo>
                <a:lnTo>
                  <a:pt x="2143125" y="942975"/>
                </a:lnTo>
                <a:lnTo>
                  <a:pt x="2219325" y="942975"/>
                </a:lnTo>
                <a:lnTo>
                  <a:pt x="2228850" y="952500"/>
                </a:lnTo>
                <a:lnTo>
                  <a:pt x="2247900" y="952500"/>
                </a:lnTo>
                <a:lnTo>
                  <a:pt x="2257425" y="962025"/>
                </a:lnTo>
                <a:lnTo>
                  <a:pt x="2286000" y="962025"/>
                </a:lnTo>
                <a:lnTo>
                  <a:pt x="2295525" y="971550"/>
                </a:lnTo>
                <a:lnTo>
                  <a:pt x="2324100" y="971550"/>
                </a:lnTo>
                <a:lnTo>
                  <a:pt x="2333625" y="981075"/>
                </a:lnTo>
                <a:lnTo>
                  <a:pt x="2352675" y="981075"/>
                </a:lnTo>
                <a:lnTo>
                  <a:pt x="2362200" y="990600"/>
                </a:lnTo>
                <a:lnTo>
                  <a:pt x="2371725" y="990600"/>
                </a:lnTo>
                <a:lnTo>
                  <a:pt x="2419350" y="1038225"/>
                </a:lnTo>
                <a:lnTo>
                  <a:pt x="2419350" y="1066800"/>
                </a:lnTo>
                <a:lnTo>
                  <a:pt x="2409825" y="1076325"/>
                </a:lnTo>
                <a:lnTo>
                  <a:pt x="2409825" y="1104900"/>
                </a:lnTo>
                <a:lnTo>
                  <a:pt x="2400300" y="1114425"/>
                </a:lnTo>
                <a:lnTo>
                  <a:pt x="2400300" y="1123950"/>
                </a:lnTo>
                <a:lnTo>
                  <a:pt x="2390775" y="1133475"/>
                </a:lnTo>
                <a:lnTo>
                  <a:pt x="2390775" y="1143000"/>
                </a:lnTo>
                <a:lnTo>
                  <a:pt x="2381250" y="1152525"/>
                </a:lnTo>
                <a:lnTo>
                  <a:pt x="2381250" y="1162050"/>
                </a:lnTo>
                <a:lnTo>
                  <a:pt x="2371725" y="1171575"/>
                </a:lnTo>
                <a:lnTo>
                  <a:pt x="2371725" y="1181100"/>
                </a:lnTo>
                <a:lnTo>
                  <a:pt x="2324100" y="1228725"/>
                </a:lnTo>
                <a:lnTo>
                  <a:pt x="2266950" y="1228725"/>
                </a:lnTo>
                <a:lnTo>
                  <a:pt x="2257425" y="1219200"/>
                </a:lnTo>
                <a:lnTo>
                  <a:pt x="2219325" y="1219200"/>
                </a:lnTo>
                <a:lnTo>
                  <a:pt x="2209800" y="1209675"/>
                </a:lnTo>
                <a:lnTo>
                  <a:pt x="2200275" y="1209675"/>
                </a:lnTo>
                <a:lnTo>
                  <a:pt x="2190750" y="1219200"/>
                </a:lnTo>
                <a:lnTo>
                  <a:pt x="2162175" y="1219200"/>
                </a:lnTo>
                <a:lnTo>
                  <a:pt x="2133600" y="1247775"/>
                </a:lnTo>
                <a:lnTo>
                  <a:pt x="2133600" y="1314450"/>
                </a:lnTo>
                <a:lnTo>
                  <a:pt x="2143125" y="1323975"/>
                </a:lnTo>
                <a:lnTo>
                  <a:pt x="2143125" y="1343025"/>
                </a:lnTo>
                <a:lnTo>
                  <a:pt x="2152650" y="1352550"/>
                </a:lnTo>
                <a:lnTo>
                  <a:pt x="2152650" y="1362075"/>
                </a:lnTo>
                <a:lnTo>
                  <a:pt x="2162175" y="1371600"/>
                </a:lnTo>
                <a:lnTo>
                  <a:pt x="2162175" y="1381125"/>
                </a:lnTo>
                <a:lnTo>
                  <a:pt x="2171700" y="1390650"/>
                </a:lnTo>
                <a:lnTo>
                  <a:pt x="2171700" y="1447800"/>
                </a:lnTo>
                <a:lnTo>
                  <a:pt x="2162175" y="1457325"/>
                </a:lnTo>
                <a:lnTo>
                  <a:pt x="2162175" y="1571625"/>
                </a:lnTo>
                <a:lnTo>
                  <a:pt x="2171700" y="1581150"/>
                </a:lnTo>
                <a:lnTo>
                  <a:pt x="2171700" y="1590675"/>
                </a:lnTo>
                <a:lnTo>
                  <a:pt x="2181225" y="1600200"/>
                </a:lnTo>
                <a:lnTo>
                  <a:pt x="2181225" y="1619250"/>
                </a:lnTo>
                <a:lnTo>
                  <a:pt x="2190750" y="1628775"/>
                </a:lnTo>
                <a:lnTo>
                  <a:pt x="2190750" y="1657350"/>
                </a:lnTo>
                <a:lnTo>
                  <a:pt x="2181225" y="1666875"/>
                </a:lnTo>
                <a:lnTo>
                  <a:pt x="2181225" y="1676400"/>
                </a:lnTo>
                <a:lnTo>
                  <a:pt x="2152650" y="1704975"/>
                </a:lnTo>
                <a:lnTo>
                  <a:pt x="2152650" y="1714500"/>
                </a:lnTo>
                <a:lnTo>
                  <a:pt x="2133600" y="1733550"/>
                </a:lnTo>
                <a:lnTo>
                  <a:pt x="2133600" y="1743075"/>
                </a:lnTo>
                <a:lnTo>
                  <a:pt x="2124075" y="1752600"/>
                </a:lnTo>
                <a:lnTo>
                  <a:pt x="2124075" y="1819275"/>
                </a:lnTo>
                <a:lnTo>
                  <a:pt x="2133600" y="1828800"/>
                </a:lnTo>
                <a:lnTo>
                  <a:pt x="2133600" y="1838325"/>
                </a:lnTo>
                <a:lnTo>
                  <a:pt x="2143125" y="1847850"/>
                </a:lnTo>
                <a:lnTo>
                  <a:pt x="2143125" y="1857375"/>
                </a:lnTo>
                <a:lnTo>
                  <a:pt x="2162175" y="1876425"/>
                </a:lnTo>
                <a:lnTo>
                  <a:pt x="2171700" y="1876425"/>
                </a:lnTo>
                <a:lnTo>
                  <a:pt x="2190750" y="1895475"/>
                </a:lnTo>
                <a:lnTo>
                  <a:pt x="2200275" y="1895475"/>
                </a:lnTo>
                <a:lnTo>
                  <a:pt x="2209800" y="1905000"/>
                </a:lnTo>
                <a:lnTo>
                  <a:pt x="2219325" y="1905000"/>
                </a:lnTo>
                <a:lnTo>
                  <a:pt x="2228850" y="1914525"/>
                </a:lnTo>
                <a:lnTo>
                  <a:pt x="2238375" y="1914525"/>
                </a:lnTo>
                <a:lnTo>
                  <a:pt x="2247900" y="1924050"/>
                </a:lnTo>
                <a:lnTo>
                  <a:pt x="2257425" y="1924050"/>
                </a:lnTo>
                <a:lnTo>
                  <a:pt x="2266950" y="1933575"/>
                </a:lnTo>
                <a:lnTo>
                  <a:pt x="2276475" y="1933575"/>
                </a:lnTo>
                <a:lnTo>
                  <a:pt x="2286000" y="1943100"/>
                </a:lnTo>
                <a:lnTo>
                  <a:pt x="2333625" y="1943100"/>
                </a:lnTo>
                <a:lnTo>
                  <a:pt x="2362200" y="1914525"/>
                </a:lnTo>
                <a:lnTo>
                  <a:pt x="2362200" y="1895475"/>
                </a:lnTo>
                <a:lnTo>
                  <a:pt x="2371725" y="1885950"/>
                </a:lnTo>
                <a:lnTo>
                  <a:pt x="2371725" y="1838325"/>
                </a:lnTo>
                <a:lnTo>
                  <a:pt x="2381250" y="1828800"/>
                </a:lnTo>
                <a:lnTo>
                  <a:pt x="2381250" y="1809750"/>
                </a:lnTo>
                <a:lnTo>
                  <a:pt x="2428875" y="1762125"/>
                </a:lnTo>
                <a:lnTo>
                  <a:pt x="2476500" y="1762125"/>
                </a:lnTo>
                <a:lnTo>
                  <a:pt x="2495550" y="1781175"/>
                </a:lnTo>
                <a:lnTo>
                  <a:pt x="2505075" y="1781175"/>
                </a:lnTo>
                <a:lnTo>
                  <a:pt x="2543175" y="1819275"/>
                </a:lnTo>
                <a:lnTo>
                  <a:pt x="2543175" y="1828800"/>
                </a:lnTo>
                <a:lnTo>
                  <a:pt x="2609850" y="1895475"/>
                </a:lnTo>
                <a:lnTo>
                  <a:pt x="2619375" y="1895475"/>
                </a:lnTo>
                <a:lnTo>
                  <a:pt x="2628900" y="1905000"/>
                </a:lnTo>
                <a:lnTo>
                  <a:pt x="2657475" y="1905000"/>
                </a:lnTo>
                <a:lnTo>
                  <a:pt x="2667000" y="1914525"/>
                </a:lnTo>
                <a:lnTo>
                  <a:pt x="2857500" y="1914525"/>
                </a:lnTo>
                <a:lnTo>
                  <a:pt x="2886075" y="1943100"/>
                </a:lnTo>
                <a:lnTo>
                  <a:pt x="2895600" y="1943100"/>
                </a:lnTo>
                <a:lnTo>
                  <a:pt x="2905125" y="1952625"/>
                </a:lnTo>
                <a:lnTo>
                  <a:pt x="2924175" y="1952625"/>
                </a:lnTo>
                <a:lnTo>
                  <a:pt x="2933700" y="1962150"/>
                </a:lnTo>
                <a:lnTo>
                  <a:pt x="2962275" y="1962150"/>
                </a:lnTo>
                <a:lnTo>
                  <a:pt x="2971800" y="1971675"/>
                </a:lnTo>
                <a:lnTo>
                  <a:pt x="3076575" y="1971675"/>
                </a:lnTo>
                <a:lnTo>
                  <a:pt x="3086100" y="1981200"/>
                </a:lnTo>
                <a:lnTo>
                  <a:pt x="3105150" y="1981200"/>
                </a:lnTo>
                <a:lnTo>
                  <a:pt x="3143250" y="2019300"/>
                </a:lnTo>
                <a:lnTo>
                  <a:pt x="3143250" y="2028825"/>
                </a:lnTo>
                <a:lnTo>
                  <a:pt x="3152775" y="2038350"/>
                </a:lnTo>
                <a:lnTo>
                  <a:pt x="3152775" y="2057400"/>
                </a:lnTo>
                <a:lnTo>
                  <a:pt x="3162300" y="2066925"/>
                </a:lnTo>
                <a:lnTo>
                  <a:pt x="3162300" y="2105025"/>
                </a:lnTo>
                <a:lnTo>
                  <a:pt x="3171825" y="2114550"/>
                </a:lnTo>
                <a:lnTo>
                  <a:pt x="3171825" y="2219325"/>
                </a:lnTo>
                <a:lnTo>
                  <a:pt x="3133725" y="2257425"/>
                </a:lnTo>
                <a:lnTo>
                  <a:pt x="3124200" y="2257425"/>
                </a:lnTo>
                <a:lnTo>
                  <a:pt x="3114675" y="2266950"/>
                </a:lnTo>
                <a:lnTo>
                  <a:pt x="3105150" y="2266950"/>
                </a:lnTo>
                <a:lnTo>
                  <a:pt x="3095625" y="2276475"/>
                </a:lnTo>
                <a:lnTo>
                  <a:pt x="3076575" y="2276475"/>
                </a:lnTo>
                <a:lnTo>
                  <a:pt x="3048000" y="2305050"/>
                </a:lnTo>
                <a:lnTo>
                  <a:pt x="3038475" y="2305050"/>
                </a:lnTo>
                <a:lnTo>
                  <a:pt x="3009900" y="2333625"/>
                </a:lnTo>
                <a:lnTo>
                  <a:pt x="3000375" y="2333625"/>
                </a:lnTo>
                <a:lnTo>
                  <a:pt x="2990850" y="2343150"/>
                </a:lnTo>
                <a:lnTo>
                  <a:pt x="2971800" y="2343150"/>
                </a:lnTo>
                <a:lnTo>
                  <a:pt x="2962275" y="2333625"/>
                </a:lnTo>
                <a:lnTo>
                  <a:pt x="2933700" y="2333625"/>
                </a:lnTo>
                <a:lnTo>
                  <a:pt x="2924175" y="2324100"/>
                </a:lnTo>
                <a:lnTo>
                  <a:pt x="2876550" y="2324100"/>
                </a:lnTo>
                <a:lnTo>
                  <a:pt x="2867025" y="2314575"/>
                </a:lnTo>
                <a:lnTo>
                  <a:pt x="2828925" y="2314575"/>
                </a:lnTo>
                <a:lnTo>
                  <a:pt x="2819400" y="2324100"/>
                </a:lnTo>
                <a:lnTo>
                  <a:pt x="2743200" y="2324100"/>
                </a:lnTo>
                <a:lnTo>
                  <a:pt x="2733675" y="2333625"/>
                </a:lnTo>
                <a:lnTo>
                  <a:pt x="2714625" y="2333625"/>
                </a:lnTo>
                <a:lnTo>
                  <a:pt x="2705100" y="2343150"/>
                </a:lnTo>
                <a:lnTo>
                  <a:pt x="2695575" y="2343150"/>
                </a:lnTo>
                <a:lnTo>
                  <a:pt x="2686050" y="2352675"/>
                </a:lnTo>
                <a:lnTo>
                  <a:pt x="2676525" y="2352675"/>
                </a:lnTo>
                <a:lnTo>
                  <a:pt x="2628900" y="2400300"/>
                </a:lnTo>
                <a:lnTo>
                  <a:pt x="2628900" y="2409825"/>
                </a:lnTo>
                <a:lnTo>
                  <a:pt x="2619375" y="2419350"/>
                </a:lnTo>
                <a:lnTo>
                  <a:pt x="2619375" y="2428875"/>
                </a:lnTo>
                <a:lnTo>
                  <a:pt x="2609850" y="2438400"/>
                </a:lnTo>
                <a:lnTo>
                  <a:pt x="2609850" y="2514600"/>
                </a:lnTo>
                <a:lnTo>
                  <a:pt x="2619375" y="2524125"/>
                </a:lnTo>
                <a:lnTo>
                  <a:pt x="2619375" y="2533650"/>
                </a:lnTo>
                <a:lnTo>
                  <a:pt x="2628900" y="2543175"/>
                </a:lnTo>
                <a:lnTo>
                  <a:pt x="2628900" y="2552700"/>
                </a:lnTo>
                <a:lnTo>
                  <a:pt x="2686050" y="2609850"/>
                </a:lnTo>
                <a:lnTo>
                  <a:pt x="2695575" y="2609850"/>
                </a:lnTo>
                <a:lnTo>
                  <a:pt x="2733675" y="2647950"/>
                </a:lnTo>
                <a:lnTo>
                  <a:pt x="2733675" y="2657475"/>
                </a:lnTo>
                <a:lnTo>
                  <a:pt x="2743200" y="2667000"/>
                </a:lnTo>
                <a:lnTo>
                  <a:pt x="2743200" y="2705100"/>
                </a:lnTo>
                <a:lnTo>
                  <a:pt x="2752725" y="2714625"/>
                </a:lnTo>
                <a:lnTo>
                  <a:pt x="2752725" y="2743200"/>
                </a:lnTo>
                <a:lnTo>
                  <a:pt x="2762250" y="2752725"/>
                </a:lnTo>
                <a:lnTo>
                  <a:pt x="2762250" y="2771775"/>
                </a:lnTo>
                <a:lnTo>
                  <a:pt x="2771775" y="2781300"/>
                </a:lnTo>
                <a:lnTo>
                  <a:pt x="2771775" y="2790825"/>
                </a:lnTo>
                <a:lnTo>
                  <a:pt x="2838450" y="2857500"/>
                </a:lnTo>
                <a:lnTo>
                  <a:pt x="2847975" y="2857500"/>
                </a:lnTo>
                <a:lnTo>
                  <a:pt x="2876550" y="2886075"/>
                </a:lnTo>
                <a:lnTo>
                  <a:pt x="2876550" y="2895600"/>
                </a:lnTo>
                <a:lnTo>
                  <a:pt x="2886075" y="2905125"/>
                </a:lnTo>
                <a:lnTo>
                  <a:pt x="2886075" y="2924175"/>
                </a:lnTo>
                <a:lnTo>
                  <a:pt x="2895600" y="2933700"/>
                </a:lnTo>
                <a:lnTo>
                  <a:pt x="2895600" y="2990850"/>
                </a:lnTo>
                <a:lnTo>
                  <a:pt x="2905125" y="3000375"/>
                </a:lnTo>
                <a:lnTo>
                  <a:pt x="2905125" y="3019425"/>
                </a:lnTo>
                <a:lnTo>
                  <a:pt x="2924175" y="3038475"/>
                </a:lnTo>
                <a:lnTo>
                  <a:pt x="2924175" y="3048000"/>
                </a:lnTo>
                <a:lnTo>
                  <a:pt x="2933700" y="3057525"/>
                </a:lnTo>
                <a:lnTo>
                  <a:pt x="2933700" y="3067050"/>
                </a:lnTo>
                <a:lnTo>
                  <a:pt x="2952750" y="3086100"/>
                </a:lnTo>
                <a:lnTo>
                  <a:pt x="2952750" y="3124200"/>
                </a:lnTo>
                <a:lnTo>
                  <a:pt x="2943225" y="3133725"/>
                </a:lnTo>
                <a:lnTo>
                  <a:pt x="2933700" y="3133725"/>
                </a:lnTo>
                <a:lnTo>
                  <a:pt x="2924175" y="3143250"/>
                </a:lnTo>
                <a:lnTo>
                  <a:pt x="2886075" y="3143250"/>
                </a:lnTo>
                <a:lnTo>
                  <a:pt x="2876550" y="3133725"/>
                </a:lnTo>
                <a:lnTo>
                  <a:pt x="2867025" y="3133725"/>
                </a:lnTo>
                <a:lnTo>
                  <a:pt x="2857500" y="3124200"/>
                </a:lnTo>
                <a:lnTo>
                  <a:pt x="2857500" y="3114675"/>
                </a:lnTo>
                <a:lnTo>
                  <a:pt x="2847975" y="3105150"/>
                </a:lnTo>
                <a:lnTo>
                  <a:pt x="2847975" y="3095625"/>
                </a:lnTo>
                <a:lnTo>
                  <a:pt x="2838450" y="3086100"/>
                </a:lnTo>
                <a:lnTo>
                  <a:pt x="2838450" y="3076575"/>
                </a:lnTo>
                <a:lnTo>
                  <a:pt x="2828925" y="3067050"/>
                </a:lnTo>
                <a:lnTo>
                  <a:pt x="2828925" y="3057525"/>
                </a:lnTo>
                <a:lnTo>
                  <a:pt x="2819400" y="3048000"/>
                </a:lnTo>
                <a:lnTo>
                  <a:pt x="2819400" y="3038475"/>
                </a:lnTo>
                <a:lnTo>
                  <a:pt x="2809875" y="3028950"/>
                </a:lnTo>
                <a:lnTo>
                  <a:pt x="2800350" y="3028950"/>
                </a:lnTo>
                <a:lnTo>
                  <a:pt x="2790825" y="3019425"/>
                </a:lnTo>
                <a:lnTo>
                  <a:pt x="2781300" y="3019425"/>
                </a:lnTo>
                <a:lnTo>
                  <a:pt x="2771775" y="3009900"/>
                </a:lnTo>
                <a:lnTo>
                  <a:pt x="2752725" y="3009900"/>
                </a:lnTo>
                <a:lnTo>
                  <a:pt x="2743200" y="3000375"/>
                </a:lnTo>
                <a:lnTo>
                  <a:pt x="2705100" y="3000375"/>
                </a:lnTo>
                <a:lnTo>
                  <a:pt x="2695575" y="2990850"/>
                </a:lnTo>
                <a:lnTo>
                  <a:pt x="2571750" y="2990850"/>
                </a:lnTo>
                <a:lnTo>
                  <a:pt x="2562225" y="3000375"/>
                </a:lnTo>
                <a:lnTo>
                  <a:pt x="2543175" y="3000375"/>
                </a:lnTo>
                <a:lnTo>
                  <a:pt x="2533650" y="3009900"/>
                </a:lnTo>
                <a:lnTo>
                  <a:pt x="2514600" y="3009900"/>
                </a:lnTo>
                <a:lnTo>
                  <a:pt x="2505075" y="3019425"/>
                </a:lnTo>
                <a:lnTo>
                  <a:pt x="2476500" y="3019425"/>
                </a:lnTo>
                <a:lnTo>
                  <a:pt x="2466975" y="3028950"/>
                </a:lnTo>
                <a:lnTo>
                  <a:pt x="2343150" y="3028950"/>
                </a:lnTo>
                <a:lnTo>
                  <a:pt x="2333625" y="3038475"/>
                </a:lnTo>
                <a:lnTo>
                  <a:pt x="2286000" y="3038475"/>
                </a:lnTo>
                <a:lnTo>
                  <a:pt x="2276475" y="3048000"/>
                </a:lnTo>
                <a:lnTo>
                  <a:pt x="2247900" y="3048000"/>
                </a:lnTo>
                <a:lnTo>
                  <a:pt x="2238375" y="3057525"/>
                </a:lnTo>
                <a:lnTo>
                  <a:pt x="2209800" y="3057525"/>
                </a:lnTo>
                <a:lnTo>
                  <a:pt x="2200275" y="3067050"/>
                </a:lnTo>
                <a:lnTo>
                  <a:pt x="2124075" y="3067050"/>
                </a:lnTo>
                <a:lnTo>
                  <a:pt x="2105025" y="3048000"/>
                </a:lnTo>
                <a:lnTo>
                  <a:pt x="2105025" y="3028950"/>
                </a:lnTo>
                <a:lnTo>
                  <a:pt x="2095500" y="3019425"/>
                </a:lnTo>
                <a:lnTo>
                  <a:pt x="2095500" y="2971800"/>
                </a:lnTo>
                <a:lnTo>
                  <a:pt x="2085975" y="2962275"/>
                </a:lnTo>
                <a:lnTo>
                  <a:pt x="2085975" y="2943225"/>
                </a:lnTo>
                <a:lnTo>
                  <a:pt x="2066925" y="2924175"/>
                </a:lnTo>
                <a:lnTo>
                  <a:pt x="2047875" y="2924175"/>
                </a:lnTo>
                <a:lnTo>
                  <a:pt x="2019300" y="2952750"/>
                </a:lnTo>
                <a:lnTo>
                  <a:pt x="2019300" y="2971800"/>
                </a:lnTo>
                <a:lnTo>
                  <a:pt x="2009775" y="2981325"/>
                </a:lnTo>
                <a:lnTo>
                  <a:pt x="2009775" y="3019425"/>
                </a:lnTo>
                <a:lnTo>
                  <a:pt x="2019300" y="3028950"/>
                </a:lnTo>
                <a:lnTo>
                  <a:pt x="2019300" y="3038475"/>
                </a:lnTo>
                <a:lnTo>
                  <a:pt x="2028825" y="3048000"/>
                </a:lnTo>
                <a:lnTo>
                  <a:pt x="2038350" y="3048000"/>
                </a:lnTo>
                <a:lnTo>
                  <a:pt x="2047875" y="3057525"/>
                </a:lnTo>
                <a:lnTo>
                  <a:pt x="2057400" y="3057525"/>
                </a:lnTo>
                <a:lnTo>
                  <a:pt x="2085975" y="3086100"/>
                </a:lnTo>
                <a:lnTo>
                  <a:pt x="2085975" y="3095625"/>
                </a:lnTo>
                <a:lnTo>
                  <a:pt x="2047875" y="3133725"/>
                </a:lnTo>
                <a:lnTo>
                  <a:pt x="2038350" y="3133725"/>
                </a:lnTo>
                <a:lnTo>
                  <a:pt x="2028825" y="3143250"/>
                </a:lnTo>
                <a:lnTo>
                  <a:pt x="2019300" y="3143250"/>
                </a:lnTo>
                <a:lnTo>
                  <a:pt x="2000250" y="3162300"/>
                </a:lnTo>
                <a:lnTo>
                  <a:pt x="1990725" y="3162300"/>
                </a:lnTo>
                <a:lnTo>
                  <a:pt x="1990725" y="3171825"/>
                </a:lnTo>
                <a:lnTo>
                  <a:pt x="1981200" y="3181350"/>
                </a:lnTo>
                <a:lnTo>
                  <a:pt x="1981200" y="3190875"/>
                </a:lnTo>
                <a:lnTo>
                  <a:pt x="1971675" y="3200400"/>
                </a:lnTo>
                <a:lnTo>
                  <a:pt x="1971675" y="3238500"/>
                </a:lnTo>
                <a:lnTo>
                  <a:pt x="1962150" y="3248025"/>
                </a:lnTo>
                <a:lnTo>
                  <a:pt x="1962150" y="3333750"/>
                </a:lnTo>
                <a:lnTo>
                  <a:pt x="1971675" y="3343275"/>
                </a:lnTo>
                <a:lnTo>
                  <a:pt x="1971675" y="3362325"/>
                </a:lnTo>
                <a:lnTo>
                  <a:pt x="1981200" y="3371850"/>
                </a:lnTo>
                <a:lnTo>
                  <a:pt x="1990725" y="3371850"/>
                </a:lnTo>
                <a:lnTo>
                  <a:pt x="2000250" y="3381375"/>
                </a:lnTo>
                <a:lnTo>
                  <a:pt x="2019300" y="3381375"/>
                </a:lnTo>
                <a:lnTo>
                  <a:pt x="2057400" y="3419475"/>
                </a:lnTo>
                <a:lnTo>
                  <a:pt x="2057400" y="3476625"/>
                </a:lnTo>
                <a:lnTo>
                  <a:pt x="2047875" y="3486150"/>
                </a:lnTo>
                <a:lnTo>
                  <a:pt x="2047875" y="3495675"/>
                </a:lnTo>
                <a:lnTo>
                  <a:pt x="2038350" y="3505200"/>
                </a:lnTo>
                <a:lnTo>
                  <a:pt x="2038350" y="3533775"/>
                </a:lnTo>
                <a:lnTo>
                  <a:pt x="2047875" y="3543300"/>
                </a:lnTo>
                <a:lnTo>
                  <a:pt x="2047875" y="3552825"/>
                </a:lnTo>
                <a:lnTo>
                  <a:pt x="2057400" y="3562350"/>
                </a:lnTo>
                <a:lnTo>
                  <a:pt x="2057400" y="3571875"/>
                </a:lnTo>
                <a:lnTo>
                  <a:pt x="2085975" y="3600450"/>
                </a:lnTo>
                <a:lnTo>
                  <a:pt x="2085975" y="3609975"/>
                </a:lnTo>
                <a:lnTo>
                  <a:pt x="2105025" y="3629025"/>
                </a:lnTo>
                <a:lnTo>
                  <a:pt x="2105025" y="3657600"/>
                </a:lnTo>
                <a:lnTo>
                  <a:pt x="2114550" y="3667125"/>
                </a:lnTo>
                <a:lnTo>
                  <a:pt x="2105025" y="3676650"/>
                </a:lnTo>
                <a:lnTo>
                  <a:pt x="2105025" y="3705225"/>
                </a:lnTo>
                <a:lnTo>
                  <a:pt x="2095500" y="3714750"/>
                </a:lnTo>
                <a:lnTo>
                  <a:pt x="2095500" y="3724275"/>
                </a:lnTo>
                <a:lnTo>
                  <a:pt x="2085975" y="3733800"/>
                </a:lnTo>
                <a:lnTo>
                  <a:pt x="2085975" y="3743325"/>
                </a:lnTo>
                <a:lnTo>
                  <a:pt x="2057400" y="3771900"/>
                </a:lnTo>
                <a:lnTo>
                  <a:pt x="2038350" y="3771900"/>
                </a:lnTo>
                <a:lnTo>
                  <a:pt x="2028825" y="3762375"/>
                </a:lnTo>
                <a:lnTo>
                  <a:pt x="2019300" y="3762375"/>
                </a:lnTo>
                <a:lnTo>
                  <a:pt x="2000250" y="3743325"/>
                </a:lnTo>
                <a:lnTo>
                  <a:pt x="1990725" y="3743325"/>
                </a:lnTo>
                <a:lnTo>
                  <a:pt x="1981200" y="3733800"/>
                </a:lnTo>
                <a:lnTo>
                  <a:pt x="1971675" y="3733800"/>
                </a:lnTo>
                <a:lnTo>
                  <a:pt x="1933575" y="3695700"/>
                </a:lnTo>
                <a:lnTo>
                  <a:pt x="1933575" y="3686175"/>
                </a:lnTo>
                <a:lnTo>
                  <a:pt x="1924050" y="3676650"/>
                </a:lnTo>
                <a:lnTo>
                  <a:pt x="1924050" y="3667125"/>
                </a:lnTo>
                <a:lnTo>
                  <a:pt x="1914525" y="3657600"/>
                </a:lnTo>
                <a:lnTo>
                  <a:pt x="1914525" y="3629025"/>
                </a:lnTo>
                <a:lnTo>
                  <a:pt x="1905000" y="3619500"/>
                </a:lnTo>
                <a:lnTo>
                  <a:pt x="1905000" y="3419475"/>
                </a:lnTo>
                <a:lnTo>
                  <a:pt x="1895475" y="3409950"/>
                </a:lnTo>
                <a:lnTo>
                  <a:pt x="1857375" y="3409950"/>
                </a:lnTo>
                <a:lnTo>
                  <a:pt x="1847850" y="3400425"/>
                </a:lnTo>
                <a:lnTo>
                  <a:pt x="1771650" y="3400425"/>
                </a:lnTo>
                <a:lnTo>
                  <a:pt x="1762125" y="3390900"/>
                </a:lnTo>
                <a:lnTo>
                  <a:pt x="1724025" y="3390900"/>
                </a:lnTo>
                <a:lnTo>
                  <a:pt x="1714500" y="3381375"/>
                </a:lnTo>
                <a:lnTo>
                  <a:pt x="1685925" y="3381375"/>
                </a:lnTo>
                <a:lnTo>
                  <a:pt x="1676400" y="3371850"/>
                </a:lnTo>
                <a:lnTo>
                  <a:pt x="1657350" y="3371850"/>
                </a:lnTo>
                <a:lnTo>
                  <a:pt x="1647825" y="3362325"/>
                </a:lnTo>
                <a:lnTo>
                  <a:pt x="1628775" y="3362325"/>
                </a:lnTo>
                <a:lnTo>
                  <a:pt x="1619250" y="3352800"/>
                </a:lnTo>
                <a:lnTo>
                  <a:pt x="1609725" y="3352800"/>
                </a:lnTo>
                <a:lnTo>
                  <a:pt x="1600200" y="3343275"/>
                </a:lnTo>
                <a:lnTo>
                  <a:pt x="1590675" y="3343275"/>
                </a:lnTo>
                <a:lnTo>
                  <a:pt x="1581150" y="3333750"/>
                </a:lnTo>
                <a:lnTo>
                  <a:pt x="1562100" y="3333750"/>
                </a:lnTo>
                <a:lnTo>
                  <a:pt x="1552575" y="3324225"/>
                </a:lnTo>
                <a:lnTo>
                  <a:pt x="1533525" y="3324225"/>
                </a:lnTo>
                <a:lnTo>
                  <a:pt x="1524000" y="3314700"/>
                </a:lnTo>
                <a:lnTo>
                  <a:pt x="1485900" y="3314700"/>
                </a:lnTo>
                <a:lnTo>
                  <a:pt x="1476375" y="3305175"/>
                </a:lnTo>
                <a:lnTo>
                  <a:pt x="1419225" y="3305175"/>
                </a:lnTo>
                <a:lnTo>
                  <a:pt x="1409700" y="3295650"/>
                </a:lnTo>
                <a:lnTo>
                  <a:pt x="1381125" y="3295650"/>
                </a:lnTo>
                <a:lnTo>
                  <a:pt x="1371600" y="3286125"/>
                </a:lnTo>
                <a:lnTo>
                  <a:pt x="1362075" y="3286125"/>
                </a:lnTo>
                <a:lnTo>
                  <a:pt x="1352550" y="3276600"/>
                </a:lnTo>
                <a:lnTo>
                  <a:pt x="1343025" y="3276600"/>
                </a:lnTo>
                <a:lnTo>
                  <a:pt x="1323975" y="3257550"/>
                </a:lnTo>
                <a:lnTo>
                  <a:pt x="1314450" y="3257550"/>
                </a:lnTo>
                <a:lnTo>
                  <a:pt x="1304925" y="3248025"/>
                </a:lnTo>
                <a:lnTo>
                  <a:pt x="1295400" y="3248025"/>
                </a:lnTo>
                <a:lnTo>
                  <a:pt x="1285875" y="3238500"/>
                </a:lnTo>
                <a:lnTo>
                  <a:pt x="1266825" y="3238500"/>
                </a:lnTo>
                <a:lnTo>
                  <a:pt x="1257300" y="3248025"/>
                </a:lnTo>
                <a:lnTo>
                  <a:pt x="1247775" y="3248025"/>
                </a:lnTo>
                <a:lnTo>
                  <a:pt x="1228725" y="3267075"/>
                </a:lnTo>
                <a:lnTo>
                  <a:pt x="1228725" y="3276600"/>
                </a:lnTo>
                <a:lnTo>
                  <a:pt x="1219200" y="3286125"/>
                </a:lnTo>
                <a:lnTo>
                  <a:pt x="1219200" y="3295650"/>
                </a:lnTo>
                <a:lnTo>
                  <a:pt x="1200150" y="3314700"/>
                </a:lnTo>
                <a:lnTo>
                  <a:pt x="1200150" y="3324225"/>
                </a:lnTo>
                <a:lnTo>
                  <a:pt x="1190625" y="3333750"/>
                </a:lnTo>
                <a:lnTo>
                  <a:pt x="1190625" y="3343275"/>
                </a:lnTo>
                <a:lnTo>
                  <a:pt x="1181100" y="3352800"/>
                </a:lnTo>
                <a:lnTo>
                  <a:pt x="1181100" y="3362325"/>
                </a:lnTo>
                <a:lnTo>
                  <a:pt x="1171575" y="3371850"/>
                </a:lnTo>
                <a:lnTo>
                  <a:pt x="1171575" y="3381375"/>
                </a:lnTo>
                <a:lnTo>
                  <a:pt x="1162050" y="3390900"/>
                </a:lnTo>
                <a:lnTo>
                  <a:pt x="1162050" y="3400425"/>
                </a:lnTo>
                <a:lnTo>
                  <a:pt x="1152525" y="3409950"/>
                </a:lnTo>
                <a:lnTo>
                  <a:pt x="1152525" y="3429000"/>
                </a:lnTo>
                <a:lnTo>
                  <a:pt x="1143000" y="3438525"/>
                </a:lnTo>
                <a:lnTo>
                  <a:pt x="1143000" y="3457575"/>
                </a:lnTo>
                <a:lnTo>
                  <a:pt x="1133475" y="3467100"/>
                </a:lnTo>
                <a:lnTo>
                  <a:pt x="1133475" y="3514725"/>
                </a:lnTo>
                <a:lnTo>
                  <a:pt x="1123950" y="3524250"/>
                </a:lnTo>
                <a:lnTo>
                  <a:pt x="1133475" y="3533775"/>
                </a:lnTo>
                <a:lnTo>
                  <a:pt x="1133475" y="3581400"/>
                </a:lnTo>
                <a:lnTo>
                  <a:pt x="1143000" y="3590925"/>
                </a:lnTo>
                <a:lnTo>
                  <a:pt x="1143000" y="3609975"/>
                </a:lnTo>
                <a:lnTo>
                  <a:pt x="1152525" y="3619500"/>
                </a:lnTo>
                <a:lnTo>
                  <a:pt x="1152525" y="3638550"/>
                </a:lnTo>
                <a:lnTo>
                  <a:pt x="1162050" y="3648075"/>
                </a:lnTo>
                <a:lnTo>
                  <a:pt x="1162050" y="3667125"/>
                </a:lnTo>
                <a:lnTo>
                  <a:pt x="1171575" y="3676650"/>
                </a:lnTo>
                <a:lnTo>
                  <a:pt x="1171575" y="3695700"/>
                </a:lnTo>
                <a:lnTo>
                  <a:pt x="1181100" y="3705225"/>
                </a:lnTo>
                <a:lnTo>
                  <a:pt x="1181100" y="3733800"/>
                </a:lnTo>
                <a:lnTo>
                  <a:pt x="1190625" y="3743325"/>
                </a:lnTo>
                <a:lnTo>
                  <a:pt x="1190625" y="3762375"/>
                </a:lnTo>
                <a:lnTo>
                  <a:pt x="1200150" y="3771900"/>
                </a:lnTo>
                <a:lnTo>
                  <a:pt x="1200150" y="3781425"/>
                </a:lnTo>
                <a:lnTo>
                  <a:pt x="1209675" y="3790950"/>
                </a:lnTo>
                <a:lnTo>
                  <a:pt x="1209675" y="3800475"/>
                </a:lnTo>
                <a:lnTo>
                  <a:pt x="1295400" y="3886200"/>
                </a:lnTo>
                <a:lnTo>
                  <a:pt x="1295400" y="3905250"/>
                </a:lnTo>
                <a:lnTo>
                  <a:pt x="1304925" y="3914775"/>
                </a:lnTo>
                <a:lnTo>
                  <a:pt x="1304925" y="3933825"/>
                </a:lnTo>
                <a:lnTo>
                  <a:pt x="1314450" y="3943350"/>
                </a:lnTo>
                <a:lnTo>
                  <a:pt x="1314450" y="3971925"/>
                </a:lnTo>
                <a:lnTo>
                  <a:pt x="1323975" y="3981450"/>
                </a:lnTo>
                <a:lnTo>
                  <a:pt x="1323975" y="3990975"/>
                </a:lnTo>
                <a:lnTo>
                  <a:pt x="1333500" y="4000500"/>
                </a:lnTo>
                <a:lnTo>
                  <a:pt x="1333500" y="4010025"/>
                </a:lnTo>
                <a:lnTo>
                  <a:pt x="1371600" y="4048125"/>
                </a:lnTo>
                <a:lnTo>
                  <a:pt x="1371600" y="4057650"/>
                </a:lnTo>
                <a:lnTo>
                  <a:pt x="1400175" y="4086225"/>
                </a:lnTo>
                <a:lnTo>
                  <a:pt x="1400175" y="4095750"/>
                </a:lnTo>
                <a:lnTo>
                  <a:pt x="1466850" y="4162425"/>
                </a:lnTo>
                <a:lnTo>
                  <a:pt x="1476375" y="4162425"/>
                </a:lnTo>
                <a:lnTo>
                  <a:pt x="1485900" y="4171950"/>
                </a:lnTo>
                <a:lnTo>
                  <a:pt x="1514475" y="4171950"/>
                </a:lnTo>
                <a:lnTo>
                  <a:pt x="1524000" y="4181475"/>
                </a:lnTo>
                <a:lnTo>
                  <a:pt x="1590675" y="4181475"/>
                </a:lnTo>
                <a:lnTo>
                  <a:pt x="1600200" y="4171950"/>
                </a:lnTo>
                <a:lnTo>
                  <a:pt x="1685925" y="4171950"/>
                </a:lnTo>
                <a:lnTo>
                  <a:pt x="1695450" y="4181475"/>
                </a:lnTo>
                <a:lnTo>
                  <a:pt x="1704975" y="4181475"/>
                </a:lnTo>
                <a:lnTo>
                  <a:pt x="1733550" y="4210050"/>
                </a:lnTo>
                <a:lnTo>
                  <a:pt x="1733550" y="4248150"/>
                </a:lnTo>
                <a:lnTo>
                  <a:pt x="1743075" y="4257675"/>
                </a:lnTo>
                <a:lnTo>
                  <a:pt x="1838325" y="4257675"/>
                </a:lnTo>
                <a:lnTo>
                  <a:pt x="1838325" y="4248150"/>
                </a:lnTo>
                <a:lnTo>
                  <a:pt x="1828800" y="4238625"/>
                </a:lnTo>
                <a:lnTo>
                  <a:pt x="1828800" y="4181475"/>
                </a:lnTo>
                <a:lnTo>
                  <a:pt x="1819275" y="4171950"/>
                </a:lnTo>
                <a:lnTo>
                  <a:pt x="1819275" y="4162425"/>
                </a:lnTo>
                <a:lnTo>
                  <a:pt x="1809750" y="4152900"/>
                </a:lnTo>
                <a:lnTo>
                  <a:pt x="1809750" y="4143375"/>
                </a:lnTo>
                <a:lnTo>
                  <a:pt x="1800225" y="4133850"/>
                </a:lnTo>
                <a:lnTo>
                  <a:pt x="1800225" y="4114800"/>
                </a:lnTo>
                <a:lnTo>
                  <a:pt x="1790700" y="4105275"/>
                </a:lnTo>
                <a:lnTo>
                  <a:pt x="1790700" y="4038600"/>
                </a:lnTo>
                <a:lnTo>
                  <a:pt x="1800225" y="4029075"/>
                </a:lnTo>
                <a:lnTo>
                  <a:pt x="1800225" y="4019550"/>
                </a:lnTo>
                <a:lnTo>
                  <a:pt x="1857375" y="3962400"/>
                </a:lnTo>
                <a:lnTo>
                  <a:pt x="1866900" y="3962400"/>
                </a:lnTo>
                <a:lnTo>
                  <a:pt x="1914525" y="3914775"/>
                </a:lnTo>
                <a:lnTo>
                  <a:pt x="1924050" y="3914775"/>
                </a:lnTo>
                <a:lnTo>
                  <a:pt x="1952625" y="3886200"/>
                </a:lnTo>
                <a:lnTo>
                  <a:pt x="1962150" y="3886200"/>
                </a:lnTo>
                <a:lnTo>
                  <a:pt x="1981200" y="3867150"/>
                </a:lnTo>
                <a:lnTo>
                  <a:pt x="1990725" y="3867150"/>
                </a:lnTo>
                <a:lnTo>
                  <a:pt x="2028825" y="3829050"/>
                </a:lnTo>
                <a:lnTo>
                  <a:pt x="2038350" y="3829050"/>
                </a:lnTo>
                <a:lnTo>
                  <a:pt x="2047875" y="3819525"/>
                </a:lnTo>
                <a:lnTo>
                  <a:pt x="2076450" y="3819525"/>
                </a:lnTo>
                <a:lnTo>
                  <a:pt x="2085975" y="3829050"/>
                </a:lnTo>
                <a:lnTo>
                  <a:pt x="2095500" y="3829050"/>
                </a:lnTo>
                <a:lnTo>
                  <a:pt x="2114550" y="3848100"/>
                </a:lnTo>
                <a:lnTo>
                  <a:pt x="2124075" y="3848100"/>
                </a:lnTo>
                <a:lnTo>
                  <a:pt x="2133600" y="3857625"/>
                </a:lnTo>
                <a:lnTo>
                  <a:pt x="2219325" y="3857625"/>
                </a:lnTo>
                <a:lnTo>
                  <a:pt x="2228850" y="3848100"/>
                </a:lnTo>
                <a:lnTo>
                  <a:pt x="2238375" y="3848100"/>
                </a:lnTo>
                <a:lnTo>
                  <a:pt x="2247900" y="3838575"/>
                </a:lnTo>
                <a:lnTo>
                  <a:pt x="2257425" y="3838575"/>
                </a:lnTo>
                <a:lnTo>
                  <a:pt x="2276475" y="3819525"/>
                </a:lnTo>
                <a:lnTo>
                  <a:pt x="2286000" y="3819525"/>
                </a:lnTo>
                <a:lnTo>
                  <a:pt x="2295525" y="3810000"/>
                </a:lnTo>
                <a:lnTo>
                  <a:pt x="2305050" y="3810000"/>
                </a:lnTo>
                <a:lnTo>
                  <a:pt x="2314575" y="3800475"/>
                </a:lnTo>
                <a:lnTo>
                  <a:pt x="2333625" y="3800475"/>
                </a:lnTo>
                <a:lnTo>
                  <a:pt x="2343150" y="3790950"/>
                </a:lnTo>
                <a:lnTo>
                  <a:pt x="2381250" y="3790950"/>
                </a:lnTo>
                <a:lnTo>
                  <a:pt x="2390775" y="3800475"/>
                </a:lnTo>
                <a:lnTo>
                  <a:pt x="2457450" y="3800475"/>
                </a:lnTo>
                <a:lnTo>
                  <a:pt x="2466975" y="3790950"/>
                </a:lnTo>
                <a:lnTo>
                  <a:pt x="2495550" y="3790950"/>
                </a:lnTo>
                <a:lnTo>
                  <a:pt x="2505075" y="3781425"/>
                </a:lnTo>
                <a:lnTo>
                  <a:pt x="2524125" y="3781425"/>
                </a:lnTo>
                <a:lnTo>
                  <a:pt x="2543175" y="3762375"/>
                </a:lnTo>
                <a:lnTo>
                  <a:pt x="2552700" y="3762375"/>
                </a:lnTo>
                <a:lnTo>
                  <a:pt x="2562225" y="3752850"/>
                </a:lnTo>
                <a:lnTo>
                  <a:pt x="2571750" y="3752850"/>
                </a:lnTo>
                <a:lnTo>
                  <a:pt x="2581275" y="3743325"/>
                </a:lnTo>
                <a:lnTo>
                  <a:pt x="2590800" y="3743325"/>
                </a:lnTo>
                <a:lnTo>
                  <a:pt x="2600325" y="3733800"/>
                </a:lnTo>
                <a:lnTo>
                  <a:pt x="2609850" y="3733800"/>
                </a:lnTo>
                <a:lnTo>
                  <a:pt x="2619375" y="3724275"/>
                </a:lnTo>
                <a:lnTo>
                  <a:pt x="2628900" y="3724275"/>
                </a:lnTo>
                <a:lnTo>
                  <a:pt x="2638425" y="3714750"/>
                </a:lnTo>
                <a:lnTo>
                  <a:pt x="2667000" y="3714750"/>
                </a:lnTo>
                <a:lnTo>
                  <a:pt x="2676525" y="3705225"/>
                </a:lnTo>
                <a:lnTo>
                  <a:pt x="2724150" y="3705225"/>
                </a:lnTo>
                <a:lnTo>
                  <a:pt x="2733675" y="3695700"/>
                </a:lnTo>
                <a:lnTo>
                  <a:pt x="2752725" y="3695700"/>
                </a:lnTo>
                <a:lnTo>
                  <a:pt x="2762250" y="3705225"/>
                </a:lnTo>
                <a:lnTo>
                  <a:pt x="2838450" y="3705225"/>
                </a:lnTo>
                <a:lnTo>
                  <a:pt x="2847975" y="3714750"/>
                </a:lnTo>
                <a:lnTo>
                  <a:pt x="2933700" y="3714750"/>
                </a:lnTo>
                <a:lnTo>
                  <a:pt x="2943225" y="3705225"/>
                </a:lnTo>
                <a:lnTo>
                  <a:pt x="2952750" y="3705225"/>
                </a:lnTo>
                <a:lnTo>
                  <a:pt x="2962275" y="3695700"/>
                </a:lnTo>
                <a:lnTo>
                  <a:pt x="2971800" y="3695700"/>
                </a:lnTo>
                <a:lnTo>
                  <a:pt x="3009900" y="3657600"/>
                </a:lnTo>
                <a:lnTo>
                  <a:pt x="3095625" y="3657600"/>
                </a:lnTo>
                <a:lnTo>
                  <a:pt x="3105150" y="3648075"/>
                </a:lnTo>
                <a:lnTo>
                  <a:pt x="3114675" y="3648075"/>
                </a:lnTo>
                <a:lnTo>
                  <a:pt x="3133725" y="3629025"/>
                </a:lnTo>
                <a:lnTo>
                  <a:pt x="3143250" y="3629025"/>
                </a:lnTo>
                <a:lnTo>
                  <a:pt x="3181350" y="3590925"/>
                </a:lnTo>
                <a:lnTo>
                  <a:pt x="3190875" y="3590925"/>
                </a:lnTo>
                <a:lnTo>
                  <a:pt x="3200400" y="3581400"/>
                </a:lnTo>
                <a:lnTo>
                  <a:pt x="3219450" y="3581400"/>
                </a:lnTo>
                <a:lnTo>
                  <a:pt x="3228975" y="3571875"/>
                </a:lnTo>
                <a:lnTo>
                  <a:pt x="3257550" y="3571875"/>
                </a:lnTo>
                <a:lnTo>
                  <a:pt x="3267075" y="3562350"/>
                </a:lnTo>
                <a:lnTo>
                  <a:pt x="3371850" y="3562350"/>
                </a:lnTo>
                <a:lnTo>
                  <a:pt x="3381375" y="3552825"/>
                </a:lnTo>
                <a:lnTo>
                  <a:pt x="3429000" y="3552825"/>
                </a:lnTo>
                <a:lnTo>
                  <a:pt x="3438525" y="3543300"/>
                </a:lnTo>
                <a:lnTo>
                  <a:pt x="3457575" y="3543300"/>
                </a:lnTo>
                <a:lnTo>
                  <a:pt x="3467100" y="3533775"/>
                </a:lnTo>
                <a:lnTo>
                  <a:pt x="3476625" y="3533775"/>
                </a:lnTo>
                <a:lnTo>
                  <a:pt x="3505200" y="3505200"/>
                </a:lnTo>
                <a:lnTo>
                  <a:pt x="3514725" y="3505200"/>
                </a:lnTo>
                <a:lnTo>
                  <a:pt x="3571875" y="3448050"/>
                </a:lnTo>
                <a:lnTo>
                  <a:pt x="3581400" y="3448050"/>
                </a:lnTo>
                <a:lnTo>
                  <a:pt x="3590925" y="3438525"/>
                </a:lnTo>
                <a:lnTo>
                  <a:pt x="3600450" y="3438525"/>
                </a:lnTo>
                <a:lnTo>
                  <a:pt x="3609975" y="3429000"/>
                </a:lnTo>
                <a:lnTo>
                  <a:pt x="3619500" y="3429000"/>
                </a:lnTo>
                <a:lnTo>
                  <a:pt x="3629025" y="3419475"/>
                </a:lnTo>
                <a:lnTo>
                  <a:pt x="3629025" y="3400425"/>
                </a:lnTo>
                <a:lnTo>
                  <a:pt x="3638550" y="3390900"/>
                </a:lnTo>
                <a:lnTo>
                  <a:pt x="3638550" y="3381375"/>
                </a:lnTo>
                <a:lnTo>
                  <a:pt x="3629025" y="3371850"/>
                </a:lnTo>
                <a:lnTo>
                  <a:pt x="3629025" y="3333750"/>
                </a:lnTo>
                <a:lnTo>
                  <a:pt x="3619500" y="3324225"/>
                </a:lnTo>
                <a:lnTo>
                  <a:pt x="3619500" y="3295650"/>
                </a:lnTo>
                <a:lnTo>
                  <a:pt x="3609975" y="3286125"/>
                </a:lnTo>
                <a:lnTo>
                  <a:pt x="3609975" y="3257550"/>
                </a:lnTo>
                <a:lnTo>
                  <a:pt x="3600450" y="3248025"/>
                </a:lnTo>
                <a:lnTo>
                  <a:pt x="3600450" y="3228975"/>
                </a:lnTo>
                <a:lnTo>
                  <a:pt x="3590925" y="3219450"/>
                </a:lnTo>
                <a:lnTo>
                  <a:pt x="3590925" y="3190875"/>
                </a:lnTo>
                <a:lnTo>
                  <a:pt x="3581400" y="3181350"/>
                </a:lnTo>
                <a:lnTo>
                  <a:pt x="3581400" y="3028950"/>
                </a:lnTo>
                <a:lnTo>
                  <a:pt x="3571875" y="3019425"/>
                </a:lnTo>
                <a:lnTo>
                  <a:pt x="3571875" y="2981325"/>
                </a:lnTo>
                <a:lnTo>
                  <a:pt x="3552825" y="2962275"/>
                </a:lnTo>
                <a:lnTo>
                  <a:pt x="3552825" y="2952750"/>
                </a:lnTo>
                <a:lnTo>
                  <a:pt x="3543300" y="2952750"/>
                </a:lnTo>
                <a:lnTo>
                  <a:pt x="3533775" y="2943225"/>
                </a:lnTo>
                <a:lnTo>
                  <a:pt x="3524250" y="2943225"/>
                </a:lnTo>
                <a:lnTo>
                  <a:pt x="3514725" y="2933700"/>
                </a:lnTo>
                <a:lnTo>
                  <a:pt x="3476625" y="2933700"/>
                </a:lnTo>
                <a:lnTo>
                  <a:pt x="3467100" y="2924175"/>
                </a:lnTo>
                <a:lnTo>
                  <a:pt x="3457575" y="2924175"/>
                </a:lnTo>
                <a:lnTo>
                  <a:pt x="3429000" y="2895600"/>
                </a:lnTo>
                <a:lnTo>
                  <a:pt x="3429000" y="2876550"/>
                </a:lnTo>
                <a:lnTo>
                  <a:pt x="3419475" y="2867025"/>
                </a:lnTo>
                <a:lnTo>
                  <a:pt x="3419475" y="2828925"/>
                </a:lnTo>
                <a:lnTo>
                  <a:pt x="3429000" y="2819400"/>
                </a:lnTo>
                <a:lnTo>
                  <a:pt x="3429000" y="2781300"/>
                </a:lnTo>
                <a:lnTo>
                  <a:pt x="3438525" y="2771775"/>
                </a:lnTo>
                <a:lnTo>
                  <a:pt x="3438525" y="2752725"/>
                </a:lnTo>
                <a:lnTo>
                  <a:pt x="3457575" y="2733675"/>
                </a:lnTo>
                <a:lnTo>
                  <a:pt x="3457575" y="2724150"/>
                </a:lnTo>
                <a:lnTo>
                  <a:pt x="3486150" y="2695575"/>
                </a:lnTo>
                <a:lnTo>
                  <a:pt x="3495675" y="2695575"/>
                </a:lnTo>
                <a:lnTo>
                  <a:pt x="3514725" y="2676525"/>
                </a:lnTo>
                <a:lnTo>
                  <a:pt x="3524250" y="2676525"/>
                </a:lnTo>
                <a:lnTo>
                  <a:pt x="3533775" y="2667000"/>
                </a:lnTo>
                <a:lnTo>
                  <a:pt x="3543300" y="2667000"/>
                </a:lnTo>
                <a:lnTo>
                  <a:pt x="3552825" y="2657475"/>
                </a:lnTo>
                <a:lnTo>
                  <a:pt x="3562350" y="2657475"/>
                </a:lnTo>
                <a:lnTo>
                  <a:pt x="3571875" y="2647950"/>
                </a:lnTo>
                <a:lnTo>
                  <a:pt x="3581400" y="2647950"/>
                </a:lnTo>
                <a:lnTo>
                  <a:pt x="3609975" y="2619375"/>
                </a:lnTo>
                <a:lnTo>
                  <a:pt x="3609975" y="2609850"/>
                </a:lnTo>
                <a:lnTo>
                  <a:pt x="3619500" y="2600325"/>
                </a:lnTo>
                <a:lnTo>
                  <a:pt x="3619500" y="2590800"/>
                </a:lnTo>
                <a:lnTo>
                  <a:pt x="3609975" y="2581275"/>
                </a:lnTo>
                <a:lnTo>
                  <a:pt x="3609975" y="2571750"/>
                </a:lnTo>
                <a:lnTo>
                  <a:pt x="3600450" y="2562225"/>
                </a:lnTo>
                <a:lnTo>
                  <a:pt x="3600450" y="2552700"/>
                </a:lnTo>
                <a:lnTo>
                  <a:pt x="3524250" y="2476500"/>
                </a:lnTo>
                <a:lnTo>
                  <a:pt x="3514725" y="2476500"/>
                </a:lnTo>
                <a:lnTo>
                  <a:pt x="3467100" y="2428875"/>
                </a:lnTo>
                <a:lnTo>
                  <a:pt x="3467100" y="2409825"/>
                </a:lnTo>
                <a:lnTo>
                  <a:pt x="3457575" y="2400300"/>
                </a:lnTo>
                <a:lnTo>
                  <a:pt x="3457575" y="2238375"/>
                </a:lnTo>
                <a:lnTo>
                  <a:pt x="3448050" y="2228850"/>
                </a:lnTo>
                <a:lnTo>
                  <a:pt x="3448050" y="2209800"/>
                </a:lnTo>
                <a:lnTo>
                  <a:pt x="3438525" y="2200275"/>
                </a:lnTo>
                <a:lnTo>
                  <a:pt x="3438525" y="2190750"/>
                </a:lnTo>
                <a:lnTo>
                  <a:pt x="3409950" y="2162175"/>
                </a:lnTo>
                <a:lnTo>
                  <a:pt x="3409950" y="2152650"/>
                </a:lnTo>
                <a:lnTo>
                  <a:pt x="3400425" y="2143125"/>
                </a:lnTo>
                <a:lnTo>
                  <a:pt x="3400425" y="2124075"/>
                </a:lnTo>
                <a:lnTo>
                  <a:pt x="3390900" y="2114550"/>
                </a:lnTo>
                <a:lnTo>
                  <a:pt x="3390900" y="2095500"/>
                </a:lnTo>
                <a:lnTo>
                  <a:pt x="3381375" y="2085975"/>
                </a:lnTo>
                <a:lnTo>
                  <a:pt x="3381375" y="1933575"/>
                </a:lnTo>
                <a:lnTo>
                  <a:pt x="3390900" y="1924050"/>
                </a:lnTo>
                <a:lnTo>
                  <a:pt x="3390900" y="1914525"/>
                </a:lnTo>
                <a:lnTo>
                  <a:pt x="3409950" y="1895475"/>
                </a:lnTo>
                <a:lnTo>
                  <a:pt x="3409950" y="1885950"/>
                </a:lnTo>
                <a:lnTo>
                  <a:pt x="3438525" y="1857375"/>
                </a:lnTo>
                <a:lnTo>
                  <a:pt x="3438525" y="1847850"/>
                </a:lnTo>
                <a:lnTo>
                  <a:pt x="3448050" y="1838325"/>
                </a:lnTo>
                <a:lnTo>
                  <a:pt x="3448050" y="1809750"/>
                </a:lnTo>
                <a:lnTo>
                  <a:pt x="3457575" y="1800225"/>
                </a:lnTo>
                <a:lnTo>
                  <a:pt x="3457575" y="1781175"/>
                </a:lnTo>
                <a:lnTo>
                  <a:pt x="3448050" y="1771650"/>
                </a:lnTo>
                <a:lnTo>
                  <a:pt x="3448050" y="1752600"/>
                </a:lnTo>
                <a:lnTo>
                  <a:pt x="3438525" y="1743075"/>
                </a:lnTo>
                <a:lnTo>
                  <a:pt x="3438525" y="1733550"/>
                </a:lnTo>
                <a:lnTo>
                  <a:pt x="3409950" y="1704975"/>
                </a:lnTo>
                <a:lnTo>
                  <a:pt x="3400425" y="1704975"/>
                </a:lnTo>
                <a:lnTo>
                  <a:pt x="3352800" y="1657350"/>
                </a:lnTo>
                <a:lnTo>
                  <a:pt x="3352800" y="1647825"/>
                </a:lnTo>
                <a:lnTo>
                  <a:pt x="3343275" y="1638300"/>
                </a:lnTo>
                <a:lnTo>
                  <a:pt x="3343275" y="1533525"/>
                </a:lnTo>
                <a:lnTo>
                  <a:pt x="3333750" y="1524000"/>
                </a:lnTo>
                <a:lnTo>
                  <a:pt x="3333750" y="1504950"/>
                </a:lnTo>
                <a:lnTo>
                  <a:pt x="3314700" y="1485900"/>
                </a:lnTo>
                <a:lnTo>
                  <a:pt x="3314700" y="1476375"/>
                </a:lnTo>
                <a:lnTo>
                  <a:pt x="3295650" y="1457325"/>
                </a:lnTo>
                <a:lnTo>
                  <a:pt x="3286125" y="1457325"/>
                </a:lnTo>
                <a:lnTo>
                  <a:pt x="3267075" y="1438275"/>
                </a:lnTo>
                <a:lnTo>
                  <a:pt x="3257550" y="1438275"/>
                </a:lnTo>
                <a:lnTo>
                  <a:pt x="3248025" y="1428750"/>
                </a:lnTo>
                <a:lnTo>
                  <a:pt x="3181350" y="1428750"/>
                </a:lnTo>
                <a:lnTo>
                  <a:pt x="3171825" y="1438275"/>
                </a:lnTo>
                <a:lnTo>
                  <a:pt x="3152775" y="1438275"/>
                </a:lnTo>
                <a:lnTo>
                  <a:pt x="3143250" y="1428750"/>
                </a:lnTo>
                <a:lnTo>
                  <a:pt x="3133725" y="1428750"/>
                </a:lnTo>
                <a:lnTo>
                  <a:pt x="3105150" y="1400175"/>
                </a:lnTo>
                <a:lnTo>
                  <a:pt x="3105150" y="1390650"/>
                </a:lnTo>
                <a:lnTo>
                  <a:pt x="3124200" y="1371600"/>
                </a:lnTo>
                <a:lnTo>
                  <a:pt x="3133725" y="1371600"/>
                </a:lnTo>
                <a:lnTo>
                  <a:pt x="3143250" y="1362075"/>
                </a:lnTo>
                <a:lnTo>
                  <a:pt x="3152775" y="1371600"/>
                </a:lnTo>
                <a:lnTo>
                  <a:pt x="3181350" y="1371600"/>
                </a:lnTo>
                <a:lnTo>
                  <a:pt x="3190875" y="1381125"/>
                </a:lnTo>
                <a:lnTo>
                  <a:pt x="3238500" y="1381125"/>
                </a:lnTo>
                <a:lnTo>
                  <a:pt x="3248025" y="1371600"/>
                </a:lnTo>
                <a:lnTo>
                  <a:pt x="3257550" y="1371600"/>
                </a:lnTo>
                <a:lnTo>
                  <a:pt x="3276600" y="1352550"/>
                </a:lnTo>
                <a:lnTo>
                  <a:pt x="3286125" y="1352550"/>
                </a:lnTo>
                <a:lnTo>
                  <a:pt x="3295650" y="1343025"/>
                </a:lnTo>
                <a:lnTo>
                  <a:pt x="3295650" y="1333500"/>
                </a:lnTo>
                <a:lnTo>
                  <a:pt x="3314700" y="1314450"/>
                </a:lnTo>
                <a:lnTo>
                  <a:pt x="3314700" y="1304925"/>
                </a:lnTo>
                <a:lnTo>
                  <a:pt x="3324225" y="1295400"/>
                </a:lnTo>
                <a:lnTo>
                  <a:pt x="3324225" y="1228725"/>
                </a:lnTo>
                <a:lnTo>
                  <a:pt x="3314700" y="1219200"/>
                </a:lnTo>
                <a:lnTo>
                  <a:pt x="3314700" y="1200150"/>
                </a:lnTo>
                <a:lnTo>
                  <a:pt x="3305175" y="1190625"/>
                </a:lnTo>
                <a:lnTo>
                  <a:pt x="3305175" y="1181100"/>
                </a:lnTo>
                <a:lnTo>
                  <a:pt x="3276600" y="1152525"/>
                </a:lnTo>
                <a:lnTo>
                  <a:pt x="3276600" y="1143000"/>
                </a:lnTo>
                <a:lnTo>
                  <a:pt x="3267075" y="1143000"/>
                </a:lnTo>
                <a:lnTo>
                  <a:pt x="3228975" y="1104900"/>
                </a:lnTo>
                <a:lnTo>
                  <a:pt x="3219450" y="1104900"/>
                </a:lnTo>
                <a:lnTo>
                  <a:pt x="3209925" y="1095375"/>
                </a:lnTo>
                <a:lnTo>
                  <a:pt x="3209925" y="1085850"/>
                </a:lnTo>
                <a:lnTo>
                  <a:pt x="3190875" y="1066800"/>
                </a:lnTo>
                <a:lnTo>
                  <a:pt x="3190875" y="1047750"/>
                </a:lnTo>
                <a:lnTo>
                  <a:pt x="3181350" y="1038225"/>
                </a:lnTo>
                <a:lnTo>
                  <a:pt x="3181350" y="981075"/>
                </a:lnTo>
                <a:lnTo>
                  <a:pt x="3190875" y="971550"/>
                </a:lnTo>
                <a:lnTo>
                  <a:pt x="3190875" y="952500"/>
                </a:lnTo>
                <a:lnTo>
                  <a:pt x="3200400" y="942975"/>
                </a:lnTo>
                <a:lnTo>
                  <a:pt x="3200400" y="933450"/>
                </a:lnTo>
                <a:lnTo>
                  <a:pt x="3209925" y="923925"/>
                </a:lnTo>
                <a:lnTo>
                  <a:pt x="3209925" y="914400"/>
                </a:lnTo>
                <a:lnTo>
                  <a:pt x="3248025" y="876300"/>
                </a:lnTo>
                <a:lnTo>
                  <a:pt x="3248025" y="866775"/>
                </a:lnTo>
                <a:lnTo>
                  <a:pt x="3257550" y="857250"/>
                </a:lnTo>
                <a:lnTo>
                  <a:pt x="3257550" y="847725"/>
                </a:lnTo>
                <a:lnTo>
                  <a:pt x="3267075" y="838200"/>
                </a:lnTo>
                <a:lnTo>
                  <a:pt x="3267075" y="771525"/>
                </a:lnTo>
                <a:lnTo>
                  <a:pt x="3257550" y="762000"/>
                </a:lnTo>
                <a:lnTo>
                  <a:pt x="3257550" y="742950"/>
                </a:lnTo>
                <a:lnTo>
                  <a:pt x="3248025" y="733425"/>
                </a:lnTo>
                <a:lnTo>
                  <a:pt x="3248025" y="723900"/>
                </a:lnTo>
                <a:lnTo>
                  <a:pt x="3238500" y="714375"/>
                </a:lnTo>
                <a:lnTo>
                  <a:pt x="3238500" y="704850"/>
                </a:lnTo>
                <a:lnTo>
                  <a:pt x="3228975" y="695325"/>
                </a:lnTo>
                <a:lnTo>
                  <a:pt x="3228975" y="685800"/>
                </a:lnTo>
                <a:lnTo>
                  <a:pt x="3209925" y="666750"/>
                </a:lnTo>
                <a:lnTo>
                  <a:pt x="3209925" y="647700"/>
                </a:lnTo>
                <a:lnTo>
                  <a:pt x="3200400" y="638175"/>
                </a:lnTo>
                <a:lnTo>
                  <a:pt x="3200400" y="628650"/>
                </a:lnTo>
                <a:lnTo>
                  <a:pt x="3190875" y="619125"/>
                </a:lnTo>
                <a:lnTo>
                  <a:pt x="3190875" y="609600"/>
                </a:lnTo>
                <a:lnTo>
                  <a:pt x="3162300" y="581025"/>
                </a:lnTo>
                <a:lnTo>
                  <a:pt x="3162300" y="571500"/>
                </a:lnTo>
                <a:lnTo>
                  <a:pt x="3152775" y="571500"/>
                </a:lnTo>
                <a:lnTo>
                  <a:pt x="3124200" y="542925"/>
                </a:lnTo>
                <a:lnTo>
                  <a:pt x="3114675" y="542925"/>
                </a:lnTo>
                <a:lnTo>
                  <a:pt x="3105150" y="533400"/>
                </a:lnTo>
                <a:lnTo>
                  <a:pt x="3095625" y="533400"/>
                </a:lnTo>
                <a:lnTo>
                  <a:pt x="3048000" y="485775"/>
                </a:lnTo>
                <a:lnTo>
                  <a:pt x="3048000" y="476250"/>
                </a:lnTo>
                <a:lnTo>
                  <a:pt x="3009900" y="438150"/>
                </a:lnTo>
                <a:lnTo>
                  <a:pt x="3000375" y="438150"/>
                </a:lnTo>
                <a:lnTo>
                  <a:pt x="2990850" y="428625"/>
                </a:lnTo>
                <a:lnTo>
                  <a:pt x="2981325" y="428625"/>
                </a:lnTo>
                <a:lnTo>
                  <a:pt x="2971800" y="419100"/>
                </a:lnTo>
                <a:lnTo>
                  <a:pt x="2962275" y="419100"/>
                </a:lnTo>
                <a:lnTo>
                  <a:pt x="2952750" y="409575"/>
                </a:lnTo>
                <a:lnTo>
                  <a:pt x="2933700" y="409575"/>
                </a:lnTo>
                <a:lnTo>
                  <a:pt x="2924175" y="400050"/>
                </a:lnTo>
                <a:lnTo>
                  <a:pt x="2886075" y="400050"/>
                </a:lnTo>
                <a:lnTo>
                  <a:pt x="2876550" y="390525"/>
                </a:lnTo>
                <a:close/>
              </a:path>
              <a:path w="4267200" h="4267200">
                <a:moveTo>
                  <a:pt x="4210050" y="152400"/>
                </a:moveTo>
                <a:lnTo>
                  <a:pt x="4200525" y="161925"/>
                </a:lnTo>
                <a:lnTo>
                  <a:pt x="4181475" y="161925"/>
                </a:lnTo>
                <a:lnTo>
                  <a:pt x="4171950" y="171450"/>
                </a:lnTo>
                <a:lnTo>
                  <a:pt x="4162425" y="171450"/>
                </a:lnTo>
                <a:lnTo>
                  <a:pt x="4152900" y="180975"/>
                </a:lnTo>
                <a:lnTo>
                  <a:pt x="4143375" y="180975"/>
                </a:lnTo>
                <a:lnTo>
                  <a:pt x="4114800" y="209550"/>
                </a:lnTo>
                <a:lnTo>
                  <a:pt x="4114800" y="228600"/>
                </a:lnTo>
                <a:lnTo>
                  <a:pt x="4105275" y="238125"/>
                </a:lnTo>
                <a:lnTo>
                  <a:pt x="4105275" y="314325"/>
                </a:lnTo>
                <a:lnTo>
                  <a:pt x="4114800" y="323850"/>
                </a:lnTo>
                <a:lnTo>
                  <a:pt x="4114800" y="466725"/>
                </a:lnTo>
                <a:lnTo>
                  <a:pt x="4105275" y="476250"/>
                </a:lnTo>
                <a:lnTo>
                  <a:pt x="4105275" y="866775"/>
                </a:lnTo>
                <a:lnTo>
                  <a:pt x="4095750" y="876300"/>
                </a:lnTo>
                <a:lnTo>
                  <a:pt x="4095750" y="885825"/>
                </a:lnTo>
                <a:lnTo>
                  <a:pt x="4076700" y="904875"/>
                </a:lnTo>
                <a:lnTo>
                  <a:pt x="4076700" y="914400"/>
                </a:lnTo>
                <a:lnTo>
                  <a:pt x="4048125" y="942975"/>
                </a:lnTo>
                <a:lnTo>
                  <a:pt x="4048125" y="952500"/>
                </a:lnTo>
                <a:lnTo>
                  <a:pt x="4029075" y="971550"/>
                </a:lnTo>
                <a:lnTo>
                  <a:pt x="4029075" y="981075"/>
                </a:lnTo>
                <a:lnTo>
                  <a:pt x="4019550" y="990600"/>
                </a:lnTo>
                <a:lnTo>
                  <a:pt x="4019550" y="1009650"/>
                </a:lnTo>
                <a:lnTo>
                  <a:pt x="4010025" y="1019175"/>
                </a:lnTo>
                <a:lnTo>
                  <a:pt x="4010025" y="1038225"/>
                </a:lnTo>
                <a:lnTo>
                  <a:pt x="4000500" y="1047750"/>
                </a:lnTo>
                <a:lnTo>
                  <a:pt x="4000500" y="1076325"/>
                </a:lnTo>
                <a:lnTo>
                  <a:pt x="3990975" y="1085850"/>
                </a:lnTo>
                <a:lnTo>
                  <a:pt x="3990975" y="1228725"/>
                </a:lnTo>
                <a:lnTo>
                  <a:pt x="4000500" y="1238250"/>
                </a:lnTo>
                <a:lnTo>
                  <a:pt x="4000500" y="1257300"/>
                </a:lnTo>
                <a:lnTo>
                  <a:pt x="3990975" y="1266825"/>
                </a:lnTo>
                <a:lnTo>
                  <a:pt x="3990975" y="1314450"/>
                </a:lnTo>
                <a:lnTo>
                  <a:pt x="3981450" y="1323975"/>
                </a:lnTo>
                <a:lnTo>
                  <a:pt x="3981450" y="1362075"/>
                </a:lnTo>
                <a:lnTo>
                  <a:pt x="3971925" y="1371600"/>
                </a:lnTo>
                <a:lnTo>
                  <a:pt x="3971925" y="1447800"/>
                </a:lnTo>
                <a:lnTo>
                  <a:pt x="3981450" y="1457325"/>
                </a:lnTo>
                <a:lnTo>
                  <a:pt x="3981450" y="1514475"/>
                </a:lnTo>
                <a:lnTo>
                  <a:pt x="3990975" y="1524000"/>
                </a:lnTo>
                <a:lnTo>
                  <a:pt x="3990975" y="1571625"/>
                </a:lnTo>
                <a:lnTo>
                  <a:pt x="4000500" y="1581150"/>
                </a:lnTo>
                <a:lnTo>
                  <a:pt x="4000500" y="1609725"/>
                </a:lnTo>
                <a:lnTo>
                  <a:pt x="4010025" y="1619250"/>
                </a:lnTo>
                <a:lnTo>
                  <a:pt x="4010025" y="1638300"/>
                </a:lnTo>
                <a:lnTo>
                  <a:pt x="4019550" y="1647825"/>
                </a:lnTo>
                <a:lnTo>
                  <a:pt x="4019550" y="1666875"/>
                </a:lnTo>
                <a:lnTo>
                  <a:pt x="4029075" y="1676400"/>
                </a:lnTo>
                <a:lnTo>
                  <a:pt x="4029075" y="1695450"/>
                </a:lnTo>
                <a:lnTo>
                  <a:pt x="4038600" y="1704975"/>
                </a:lnTo>
                <a:lnTo>
                  <a:pt x="4038600" y="1724025"/>
                </a:lnTo>
                <a:lnTo>
                  <a:pt x="4048125" y="1733550"/>
                </a:lnTo>
                <a:lnTo>
                  <a:pt x="4048125" y="1752600"/>
                </a:lnTo>
                <a:lnTo>
                  <a:pt x="4057650" y="1762125"/>
                </a:lnTo>
                <a:lnTo>
                  <a:pt x="4057650" y="1809750"/>
                </a:lnTo>
                <a:lnTo>
                  <a:pt x="4067175" y="1819275"/>
                </a:lnTo>
                <a:lnTo>
                  <a:pt x="4067175" y="1866900"/>
                </a:lnTo>
                <a:lnTo>
                  <a:pt x="4076700" y="1876425"/>
                </a:lnTo>
                <a:lnTo>
                  <a:pt x="4076700" y="1895475"/>
                </a:lnTo>
                <a:lnTo>
                  <a:pt x="4086225" y="1905000"/>
                </a:lnTo>
                <a:lnTo>
                  <a:pt x="4086225" y="1914525"/>
                </a:lnTo>
                <a:lnTo>
                  <a:pt x="4114800" y="1943100"/>
                </a:lnTo>
                <a:lnTo>
                  <a:pt x="4124325" y="1943100"/>
                </a:lnTo>
                <a:lnTo>
                  <a:pt x="4143375" y="1962150"/>
                </a:lnTo>
                <a:lnTo>
                  <a:pt x="4162425" y="1962150"/>
                </a:lnTo>
                <a:lnTo>
                  <a:pt x="4171950" y="1971675"/>
                </a:lnTo>
                <a:lnTo>
                  <a:pt x="4181475" y="1971675"/>
                </a:lnTo>
                <a:lnTo>
                  <a:pt x="4191000" y="1981200"/>
                </a:lnTo>
                <a:lnTo>
                  <a:pt x="4238625" y="1981200"/>
                </a:lnTo>
                <a:lnTo>
                  <a:pt x="4248150" y="1990725"/>
                </a:lnTo>
                <a:lnTo>
                  <a:pt x="4257675" y="1990725"/>
                </a:lnTo>
                <a:lnTo>
                  <a:pt x="4257675" y="152400"/>
                </a:lnTo>
                <a:close/>
              </a:path>
              <a:path w="4267200" h="4267200">
                <a:moveTo>
                  <a:pt x="190500" y="133350"/>
                </a:moveTo>
                <a:lnTo>
                  <a:pt x="180975" y="142875"/>
                </a:lnTo>
                <a:lnTo>
                  <a:pt x="161925" y="142875"/>
                </a:lnTo>
                <a:lnTo>
                  <a:pt x="142875" y="161925"/>
                </a:lnTo>
                <a:lnTo>
                  <a:pt x="142875" y="171450"/>
                </a:lnTo>
                <a:lnTo>
                  <a:pt x="133350" y="180975"/>
                </a:lnTo>
                <a:lnTo>
                  <a:pt x="133350" y="219075"/>
                </a:lnTo>
                <a:lnTo>
                  <a:pt x="142875" y="228600"/>
                </a:lnTo>
                <a:lnTo>
                  <a:pt x="142875" y="238125"/>
                </a:lnTo>
                <a:lnTo>
                  <a:pt x="152400" y="247650"/>
                </a:lnTo>
                <a:lnTo>
                  <a:pt x="161925" y="247650"/>
                </a:lnTo>
                <a:lnTo>
                  <a:pt x="171450" y="257175"/>
                </a:lnTo>
                <a:lnTo>
                  <a:pt x="228600" y="257175"/>
                </a:lnTo>
                <a:lnTo>
                  <a:pt x="257175" y="228600"/>
                </a:lnTo>
                <a:lnTo>
                  <a:pt x="257175" y="171450"/>
                </a:lnTo>
                <a:lnTo>
                  <a:pt x="247650" y="161925"/>
                </a:lnTo>
                <a:lnTo>
                  <a:pt x="247650" y="152400"/>
                </a:lnTo>
                <a:lnTo>
                  <a:pt x="238125" y="152400"/>
                </a:lnTo>
                <a:lnTo>
                  <a:pt x="228600" y="142875"/>
                </a:lnTo>
                <a:lnTo>
                  <a:pt x="219075" y="142875"/>
                </a:lnTo>
                <a:lnTo>
                  <a:pt x="209550" y="1333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FF382E"/>
            </a:solidFill>
          </a:ln>
        </p:spPr>
      </p:sp>
      <p:pic>
        <p:nvPicPr>
          <p:cNvPr id="303" name="DINO-only paired output original quer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008c5d3814c7c"/>
          <a:stretch xmlns:a="http://schemas.openxmlformats.org/drawingml/2006/main"/>
        </p:blipFill>
        <p:spPr>
          <a:xfrm xmlns:a="http://schemas.openxmlformats.org/drawingml/2006/main">
            <a:off x="13839825" y="4505325"/>
            <a:ext cx="1533525" cy="1533525"/>
          </a:xfrm>
          <a:prstGeom xmlns:a="http://schemas.openxmlformats.org/drawingml/2006/main" prst="rect">
            <a:avLst/>
          </a:prstGeom>
        </p:spPr>
      </p:pic>
      <p:sp>
        <p:nvSpPr>
          <p:cNvPr id="143" name="DINO-only paired output predicted contour">
            <a:extLst xmlns:a="http://schemas.openxmlformats.org/drawingml/2006/main">
              <a:ext uri="{FF2B5EF4-FFF2-40B4-BE49-F238E27FC236}">
                <a16:creationId xmlns:a16="http://schemas.microsoft.com/office/drawing/2014/main" id="{3CB7FC44-C1FA-4727-93B4-9D984F81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4505325"/>
            <a:ext cx="1533525" cy="1533525"/>
          </a:xfrm>
          <a:custGeom xmlns:a="http://schemas.openxmlformats.org/drawingml/2006/main">
            <a:pathLst>
              <a:path w="4267200" h="4267200">
                <a:moveTo>
                  <a:pt x="4086225" y="4238625"/>
                </a:moveTo>
                <a:lnTo>
                  <a:pt x="4086225" y="4248150"/>
                </a:lnTo>
                <a:lnTo>
                  <a:pt x="4076700" y="4257675"/>
                </a:lnTo>
                <a:lnTo>
                  <a:pt x="4114800" y="4257675"/>
                </a:lnTo>
                <a:lnTo>
                  <a:pt x="4114800" y="4248150"/>
                </a:lnTo>
                <a:lnTo>
                  <a:pt x="4105275" y="4238625"/>
                </a:lnTo>
                <a:close/>
              </a:path>
              <a:path w="4267200" h="4267200">
                <a:moveTo>
                  <a:pt x="1390650" y="3333750"/>
                </a:moveTo>
                <a:lnTo>
                  <a:pt x="1381125" y="3343275"/>
                </a:lnTo>
                <a:lnTo>
                  <a:pt x="1352550" y="3343275"/>
                </a:lnTo>
                <a:lnTo>
                  <a:pt x="1343025" y="3352800"/>
                </a:lnTo>
                <a:lnTo>
                  <a:pt x="1323975" y="3352800"/>
                </a:lnTo>
                <a:lnTo>
                  <a:pt x="1314450" y="3362325"/>
                </a:lnTo>
                <a:lnTo>
                  <a:pt x="1304925" y="3362325"/>
                </a:lnTo>
                <a:lnTo>
                  <a:pt x="1285875" y="3381375"/>
                </a:lnTo>
                <a:lnTo>
                  <a:pt x="1276350" y="3381375"/>
                </a:lnTo>
                <a:lnTo>
                  <a:pt x="1266825" y="3390900"/>
                </a:lnTo>
                <a:lnTo>
                  <a:pt x="1257300" y="3390900"/>
                </a:lnTo>
                <a:lnTo>
                  <a:pt x="1200150" y="3448050"/>
                </a:lnTo>
                <a:lnTo>
                  <a:pt x="1200150" y="3457575"/>
                </a:lnTo>
                <a:lnTo>
                  <a:pt x="1190625" y="3467100"/>
                </a:lnTo>
                <a:lnTo>
                  <a:pt x="1190625" y="3476625"/>
                </a:lnTo>
                <a:lnTo>
                  <a:pt x="1181100" y="3486150"/>
                </a:lnTo>
                <a:lnTo>
                  <a:pt x="1181100" y="3514725"/>
                </a:lnTo>
                <a:lnTo>
                  <a:pt x="1171575" y="3524250"/>
                </a:lnTo>
                <a:lnTo>
                  <a:pt x="1171575" y="3609975"/>
                </a:lnTo>
                <a:lnTo>
                  <a:pt x="1181100" y="3619500"/>
                </a:lnTo>
                <a:lnTo>
                  <a:pt x="1181100" y="3676650"/>
                </a:lnTo>
                <a:lnTo>
                  <a:pt x="1190625" y="3686175"/>
                </a:lnTo>
                <a:lnTo>
                  <a:pt x="1190625" y="3733800"/>
                </a:lnTo>
                <a:lnTo>
                  <a:pt x="1200150" y="3743325"/>
                </a:lnTo>
                <a:lnTo>
                  <a:pt x="1200150" y="3771900"/>
                </a:lnTo>
                <a:lnTo>
                  <a:pt x="1209675" y="3781425"/>
                </a:lnTo>
                <a:lnTo>
                  <a:pt x="1209675" y="3800475"/>
                </a:lnTo>
                <a:lnTo>
                  <a:pt x="1266825" y="3857625"/>
                </a:lnTo>
                <a:lnTo>
                  <a:pt x="1276350" y="3857625"/>
                </a:lnTo>
                <a:lnTo>
                  <a:pt x="1285875" y="3867150"/>
                </a:lnTo>
                <a:lnTo>
                  <a:pt x="1285875" y="3876675"/>
                </a:lnTo>
                <a:lnTo>
                  <a:pt x="1304925" y="3895725"/>
                </a:lnTo>
                <a:lnTo>
                  <a:pt x="1304925" y="3914775"/>
                </a:lnTo>
                <a:lnTo>
                  <a:pt x="1314450" y="3924300"/>
                </a:lnTo>
                <a:lnTo>
                  <a:pt x="1314450" y="3943350"/>
                </a:lnTo>
                <a:lnTo>
                  <a:pt x="1323975" y="3952875"/>
                </a:lnTo>
                <a:lnTo>
                  <a:pt x="1323975" y="3971925"/>
                </a:lnTo>
                <a:lnTo>
                  <a:pt x="1333500" y="3981450"/>
                </a:lnTo>
                <a:lnTo>
                  <a:pt x="1333500" y="3990975"/>
                </a:lnTo>
                <a:lnTo>
                  <a:pt x="1400175" y="4057650"/>
                </a:lnTo>
                <a:lnTo>
                  <a:pt x="1400175" y="4067175"/>
                </a:lnTo>
                <a:lnTo>
                  <a:pt x="1409700" y="4076700"/>
                </a:lnTo>
                <a:lnTo>
                  <a:pt x="1409700" y="4086225"/>
                </a:lnTo>
                <a:lnTo>
                  <a:pt x="1419225" y="4095750"/>
                </a:lnTo>
                <a:lnTo>
                  <a:pt x="1419225" y="4105275"/>
                </a:lnTo>
                <a:lnTo>
                  <a:pt x="1457325" y="4143375"/>
                </a:lnTo>
                <a:lnTo>
                  <a:pt x="1466850" y="4143375"/>
                </a:lnTo>
                <a:lnTo>
                  <a:pt x="1476375" y="4152900"/>
                </a:lnTo>
                <a:lnTo>
                  <a:pt x="1495425" y="4152900"/>
                </a:lnTo>
                <a:lnTo>
                  <a:pt x="1504950" y="4162425"/>
                </a:lnTo>
                <a:lnTo>
                  <a:pt x="1638300" y="4162425"/>
                </a:lnTo>
                <a:lnTo>
                  <a:pt x="1647825" y="4152900"/>
                </a:lnTo>
                <a:lnTo>
                  <a:pt x="1685925" y="4152900"/>
                </a:lnTo>
                <a:lnTo>
                  <a:pt x="1695450" y="4143375"/>
                </a:lnTo>
                <a:lnTo>
                  <a:pt x="1714500" y="4143375"/>
                </a:lnTo>
                <a:lnTo>
                  <a:pt x="1743075" y="4114800"/>
                </a:lnTo>
                <a:lnTo>
                  <a:pt x="1743075" y="4105275"/>
                </a:lnTo>
                <a:lnTo>
                  <a:pt x="1752600" y="4095750"/>
                </a:lnTo>
                <a:lnTo>
                  <a:pt x="1752600" y="4057650"/>
                </a:lnTo>
                <a:lnTo>
                  <a:pt x="1762125" y="4048125"/>
                </a:lnTo>
                <a:lnTo>
                  <a:pt x="1762125" y="3952875"/>
                </a:lnTo>
                <a:lnTo>
                  <a:pt x="1771650" y="3943350"/>
                </a:lnTo>
                <a:lnTo>
                  <a:pt x="1771650" y="3933825"/>
                </a:lnTo>
                <a:lnTo>
                  <a:pt x="1819275" y="3886200"/>
                </a:lnTo>
                <a:lnTo>
                  <a:pt x="1828800" y="3886200"/>
                </a:lnTo>
                <a:lnTo>
                  <a:pt x="1838325" y="3876675"/>
                </a:lnTo>
                <a:lnTo>
                  <a:pt x="1847850" y="3876675"/>
                </a:lnTo>
                <a:lnTo>
                  <a:pt x="1895475" y="3829050"/>
                </a:lnTo>
                <a:lnTo>
                  <a:pt x="1895475" y="3752850"/>
                </a:lnTo>
                <a:lnTo>
                  <a:pt x="1885950" y="3743325"/>
                </a:lnTo>
                <a:lnTo>
                  <a:pt x="1885950" y="3724275"/>
                </a:lnTo>
                <a:lnTo>
                  <a:pt x="1876425" y="3714750"/>
                </a:lnTo>
                <a:lnTo>
                  <a:pt x="1876425" y="3667125"/>
                </a:lnTo>
                <a:lnTo>
                  <a:pt x="1866900" y="3657600"/>
                </a:lnTo>
                <a:lnTo>
                  <a:pt x="1866900" y="3543300"/>
                </a:lnTo>
                <a:lnTo>
                  <a:pt x="1857375" y="3533775"/>
                </a:lnTo>
                <a:lnTo>
                  <a:pt x="1857375" y="3514725"/>
                </a:lnTo>
                <a:lnTo>
                  <a:pt x="1847850" y="3505200"/>
                </a:lnTo>
                <a:lnTo>
                  <a:pt x="1847850" y="3495675"/>
                </a:lnTo>
                <a:lnTo>
                  <a:pt x="1828800" y="3476625"/>
                </a:lnTo>
                <a:lnTo>
                  <a:pt x="1828800" y="3467100"/>
                </a:lnTo>
                <a:lnTo>
                  <a:pt x="1819275" y="3467100"/>
                </a:lnTo>
                <a:lnTo>
                  <a:pt x="1800225" y="3448050"/>
                </a:lnTo>
                <a:lnTo>
                  <a:pt x="1781175" y="3448050"/>
                </a:lnTo>
                <a:lnTo>
                  <a:pt x="1771650" y="3438525"/>
                </a:lnTo>
                <a:lnTo>
                  <a:pt x="1752600" y="3438525"/>
                </a:lnTo>
                <a:lnTo>
                  <a:pt x="1743075" y="3429000"/>
                </a:lnTo>
                <a:lnTo>
                  <a:pt x="1714500" y="3429000"/>
                </a:lnTo>
                <a:lnTo>
                  <a:pt x="1704975" y="3419475"/>
                </a:lnTo>
                <a:lnTo>
                  <a:pt x="1676400" y="3419475"/>
                </a:lnTo>
                <a:lnTo>
                  <a:pt x="1666875" y="3409950"/>
                </a:lnTo>
                <a:lnTo>
                  <a:pt x="1638300" y="3409950"/>
                </a:lnTo>
                <a:lnTo>
                  <a:pt x="1628775" y="3400425"/>
                </a:lnTo>
                <a:lnTo>
                  <a:pt x="1619250" y="3400425"/>
                </a:lnTo>
                <a:lnTo>
                  <a:pt x="1609725" y="3390900"/>
                </a:lnTo>
                <a:lnTo>
                  <a:pt x="1600200" y="3390900"/>
                </a:lnTo>
                <a:lnTo>
                  <a:pt x="1590675" y="3381375"/>
                </a:lnTo>
                <a:lnTo>
                  <a:pt x="1581150" y="3381375"/>
                </a:lnTo>
                <a:lnTo>
                  <a:pt x="1571625" y="3371850"/>
                </a:lnTo>
                <a:lnTo>
                  <a:pt x="1562100" y="3371850"/>
                </a:lnTo>
                <a:lnTo>
                  <a:pt x="1552575" y="3362325"/>
                </a:lnTo>
                <a:lnTo>
                  <a:pt x="1543050" y="3362325"/>
                </a:lnTo>
                <a:lnTo>
                  <a:pt x="1533525" y="3352800"/>
                </a:lnTo>
                <a:lnTo>
                  <a:pt x="1514475" y="3352800"/>
                </a:lnTo>
                <a:lnTo>
                  <a:pt x="1504950" y="3343275"/>
                </a:lnTo>
                <a:lnTo>
                  <a:pt x="1476375" y="3343275"/>
                </a:lnTo>
                <a:lnTo>
                  <a:pt x="1466850" y="3333750"/>
                </a:lnTo>
                <a:close/>
              </a:path>
              <a:path w="4267200" h="4267200">
                <a:moveTo>
                  <a:pt x="1533525" y="3048000"/>
                </a:moveTo>
                <a:lnTo>
                  <a:pt x="1504950" y="3076575"/>
                </a:lnTo>
                <a:lnTo>
                  <a:pt x="1504950" y="3086100"/>
                </a:lnTo>
                <a:lnTo>
                  <a:pt x="1495425" y="3095625"/>
                </a:lnTo>
                <a:lnTo>
                  <a:pt x="1495425" y="3143250"/>
                </a:lnTo>
                <a:lnTo>
                  <a:pt x="1514475" y="3162300"/>
                </a:lnTo>
                <a:lnTo>
                  <a:pt x="1552575" y="3162300"/>
                </a:lnTo>
                <a:lnTo>
                  <a:pt x="1571625" y="3143250"/>
                </a:lnTo>
                <a:lnTo>
                  <a:pt x="1571625" y="3133725"/>
                </a:lnTo>
                <a:lnTo>
                  <a:pt x="1581150" y="3124200"/>
                </a:lnTo>
                <a:lnTo>
                  <a:pt x="1581150" y="3086100"/>
                </a:lnTo>
                <a:lnTo>
                  <a:pt x="1571625" y="3076575"/>
                </a:lnTo>
                <a:lnTo>
                  <a:pt x="1571625" y="3067050"/>
                </a:lnTo>
                <a:lnTo>
                  <a:pt x="1552575" y="3048000"/>
                </a:lnTo>
                <a:close/>
              </a:path>
              <a:path w="4267200" h="4267200">
                <a:moveTo>
                  <a:pt x="2047875" y="2943225"/>
                </a:moveTo>
                <a:lnTo>
                  <a:pt x="2038350" y="2952750"/>
                </a:lnTo>
                <a:lnTo>
                  <a:pt x="2028825" y="2952750"/>
                </a:lnTo>
                <a:lnTo>
                  <a:pt x="2009775" y="2971800"/>
                </a:lnTo>
                <a:lnTo>
                  <a:pt x="2009775" y="3009900"/>
                </a:lnTo>
                <a:lnTo>
                  <a:pt x="2019300" y="3019425"/>
                </a:lnTo>
                <a:lnTo>
                  <a:pt x="2019300" y="3028950"/>
                </a:lnTo>
                <a:lnTo>
                  <a:pt x="2028825" y="3038475"/>
                </a:lnTo>
                <a:lnTo>
                  <a:pt x="2038350" y="3038475"/>
                </a:lnTo>
                <a:lnTo>
                  <a:pt x="2047875" y="3048000"/>
                </a:lnTo>
                <a:lnTo>
                  <a:pt x="2057400" y="3048000"/>
                </a:lnTo>
                <a:lnTo>
                  <a:pt x="2066925" y="3057525"/>
                </a:lnTo>
                <a:lnTo>
                  <a:pt x="2095500" y="3057525"/>
                </a:lnTo>
                <a:lnTo>
                  <a:pt x="2105025" y="3048000"/>
                </a:lnTo>
                <a:lnTo>
                  <a:pt x="2105025" y="3019425"/>
                </a:lnTo>
                <a:lnTo>
                  <a:pt x="2095500" y="3009900"/>
                </a:lnTo>
                <a:lnTo>
                  <a:pt x="2095500" y="2981325"/>
                </a:lnTo>
                <a:lnTo>
                  <a:pt x="2085975" y="2971800"/>
                </a:lnTo>
                <a:lnTo>
                  <a:pt x="2085975" y="2962275"/>
                </a:lnTo>
                <a:lnTo>
                  <a:pt x="2066925" y="2943225"/>
                </a:lnTo>
                <a:close/>
              </a:path>
              <a:path w="4267200" h="4267200">
                <a:moveTo>
                  <a:pt x="1762125" y="2447925"/>
                </a:moveTo>
                <a:lnTo>
                  <a:pt x="1752600" y="2457450"/>
                </a:lnTo>
                <a:lnTo>
                  <a:pt x="1733550" y="2457450"/>
                </a:lnTo>
                <a:lnTo>
                  <a:pt x="1724025" y="2466975"/>
                </a:lnTo>
                <a:lnTo>
                  <a:pt x="1676400" y="2466975"/>
                </a:lnTo>
                <a:lnTo>
                  <a:pt x="1666875" y="2476500"/>
                </a:lnTo>
                <a:lnTo>
                  <a:pt x="1524000" y="2476500"/>
                </a:lnTo>
                <a:lnTo>
                  <a:pt x="1514475" y="2486025"/>
                </a:lnTo>
                <a:lnTo>
                  <a:pt x="1495425" y="2486025"/>
                </a:lnTo>
                <a:lnTo>
                  <a:pt x="1485900" y="2495550"/>
                </a:lnTo>
                <a:lnTo>
                  <a:pt x="1476375" y="2495550"/>
                </a:lnTo>
                <a:lnTo>
                  <a:pt x="1466850" y="2505075"/>
                </a:lnTo>
                <a:lnTo>
                  <a:pt x="1457325" y="2505075"/>
                </a:lnTo>
                <a:lnTo>
                  <a:pt x="1371600" y="2590800"/>
                </a:lnTo>
                <a:lnTo>
                  <a:pt x="1362075" y="2590800"/>
                </a:lnTo>
                <a:lnTo>
                  <a:pt x="1352550" y="2600325"/>
                </a:lnTo>
                <a:lnTo>
                  <a:pt x="1343025" y="2600325"/>
                </a:lnTo>
                <a:lnTo>
                  <a:pt x="1333500" y="2609850"/>
                </a:lnTo>
                <a:lnTo>
                  <a:pt x="1314450" y="2609850"/>
                </a:lnTo>
                <a:lnTo>
                  <a:pt x="1304925" y="2619375"/>
                </a:lnTo>
                <a:lnTo>
                  <a:pt x="1238250" y="2619375"/>
                </a:lnTo>
                <a:lnTo>
                  <a:pt x="1200150" y="2581275"/>
                </a:lnTo>
                <a:lnTo>
                  <a:pt x="1200150" y="2571750"/>
                </a:lnTo>
                <a:lnTo>
                  <a:pt x="1181100" y="2552700"/>
                </a:lnTo>
                <a:lnTo>
                  <a:pt x="1181100" y="2543175"/>
                </a:lnTo>
                <a:lnTo>
                  <a:pt x="1162050" y="2524125"/>
                </a:lnTo>
                <a:lnTo>
                  <a:pt x="1152525" y="2524125"/>
                </a:lnTo>
                <a:lnTo>
                  <a:pt x="1143000" y="2514600"/>
                </a:lnTo>
                <a:lnTo>
                  <a:pt x="1114425" y="2514600"/>
                </a:lnTo>
                <a:lnTo>
                  <a:pt x="1104900" y="2524125"/>
                </a:lnTo>
                <a:lnTo>
                  <a:pt x="1095375" y="2524125"/>
                </a:lnTo>
                <a:lnTo>
                  <a:pt x="1066800" y="2552700"/>
                </a:lnTo>
                <a:lnTo>
                  <a:pt x="1066800" y="2562225"/>
                </a:lnTo>
                <a:lnTo>
                  <a:pt x="1057275" y="2571750"/>
                </a:lnTo>
                <a:lnTo>
                  <a:pt x="1057275" y="2619375"/>
                </a:lnTo>
                <a:lnTo>
                  <a:pt x="1066800" y="2628900"/>
                </a:lnTo>
                <a:lnTo>
                  <a:pt x="1066800" y="2638425"/>
                </a:lnTo>
                <a:lnTo>
                  <a:pt x="1076325" y="2647950"/>
                </a:lnTo>
                <a:lnTo>
                  <a:pt x="1076325" y="2657475"/>
                </a:lnTo>
                <a:lnTo>
                  <a:pt x="1085850" y="2667000"/>
                </a:lnTo>
                <a:lnTo>
                  <a:pt x="1085850" y="2676525"/>
                </a:lnTo>
                <a:lnTo>
                  <a:pt x="1095375" y="2686050"/>
                </a:lnTo>
                <a:lnTo>
                  <a:pt x="1095375" y="2695575"/>
                </a:lnTo>
                <a:lnTo>
                  <a:pt x="1104900" y="2705100"/>
                </a:lnTo>
                <a:lnTo>
                  <a:pt x="1104900" y="2781300"/>
                </a:lnTo>
                <a:lnTo>
                  <a:pt x="1095375" y="2790825"/>
                </a:lnTo>
                <a:lnTo>
                  <a:pt x="1095375" y="2809875"/>
                </a:lnTo>
                <a:lnTo>
                  <a:pt x="1085850" y="2819400"/>
                </a:lnTo>
                <a:lnTo>
                  <a:pt x="1085850" y="3019425"/>
                </a:lnTo>
                <a:lnTo>
                  <a:pt x="1095375" y="3028950"/>
                </a:lnTo>
                <a:lnTo>
                  <a:pt x="1095375" y="3057525"/>
                </a:lnTo>
                <a:lnTo>
                  <a:pt x="1104900" y="3067050"/>
                </a:lnTo>
                <a:lnTo>
                  <a:pt x="1104900" y="3086100"/>
                </a:lnTo>
                <a:lnTo>
                  <a:pt x="1114425" y="3095625"/>
                </a:lnTo>
                <a:lnTo>
                  <a:pt x="1114425" y="3105150"/>
                </a:lnTo>
                <a:lnTo>
                  <a:pt x="1133475" y="3124200"/>
                </a:lnTo>
                <a:lnTo>
                  <a:pt x="1143000" y="3124200"/>
                </a:lnTo>
                <a:lnTo>
                  <a:pt x="1171575" y="3095625"/>
                </a:lnTo>
                <a:lnTo>
                  <a:pt x="1171575" y="3076575"/>
                </a:lnTo>
                <a:lnTo>
                  <a:pt x="1181100" y="3067050"/>
                </a:lnTo>
                <a:lnTo>
                  <a:pt x="1181100" y="3019425"/>
                </a:lnTo>
                <a:lnTo>
                  <a:pt x="1190625" y="3009900"/>
                </a:lnTo>
                <a:lnTo>
                  <a:pt x="1190625" y="2914650"/>
                </a:lnTo>
                <a:lnTo>
                  <a:pt x="1200150" y="2905125"/>
                </a:lnTo>
                <a:lnTo>
                  <a:pt x="1200150" y="2876550"/>
                </a:lnTo>
                <a:lnTo>
                  <a:pt x="1209675" y="2867025"/>
                </a:lnTo>
                <a:lnTo>
                  <a:pt x="1209675" y="2857500"/>
                </a:lnTo>
                <a:lnTo>
                  <a:pt x="1228725" y="2838450"/>
                </a:lnTo>
                <a:lnTo>
                  <a:pt x="1238250" y="2838450"/>
                </a:lnTo>
                <a:lnTo>
                  <a:pt x="1247775" y="2828925"/>
                </a:lnTo>
                <a:lnTo>
                  <a:pt x="1362075" y="2828925"/>
                </a:lnTo>
                <a:lnTo>
                  <a:pt x="1371600" y="2838450"/>
                </a:lnTo>
                <a:lnTo>
                  <a:pt x="1381125" y="2838450"/>
                </a:lnTo>
                <a:lnTo>
                  <a:pt x="1428750" y="2886075"/>
                </a:lnTo>
                <a:lnTo>
                  <a:pt x="1428750" y="2895600"/>
                </a:lnTo>
                <a:lnTo>
                  <a:pt x="1438275" y="2905125"/>
                </a:lnTo>
                <a:lnTo>
                  <a:pt x="1438275" y="2914650"/>
                </a:lnTo>
                <a:lnTo>
                  <a:pt x="1457325" y="2933700"/>
                </a:lnTo>
                <a:lnTo>
                  <a:pt x="1457325" y="2943225"/>
                </a:lnTo>
                <a:lnTo>
                  <a:pt x="1514475" y="3000375"/>
                </a:lnTo>
                <a:lnTo>
                  <a:pt x="1524000" y="3000375"/>
                </a:lnTo>
                <a:lnTo>
                  <a:pt x="1533525" y="3009900"/>
                </a:lnTo>
                <a:lnTo>
                  <a:pt x="1562100" y="3009900"/>
                </a:lnTo>
                <a:lnTo>
                  <a:pt x="1571625" y="3000375"/>
                </a:lnTo>
                <a:lnTo>
                  <a:pt x="1581150" y="3000375"/>
                </a:lnTo>
                <a:lnTo>
                  <a:pt x="1600200" y="2981325"/>
                </a:lnTo>
                <a:lnTo>
                  <a:pt x="1609725" y="2981325"/>
                </a:lnTo>
                <a:lnTo>
                  <a:pt x="1638300" y="2952750"/>
                </a:lnTo>
                <a:lnTo>
                  <a:pt x="1647825" y="2952750"/>
                </a:lnTo>
                <a:lnTo>
                  <a:pt x="1695450" y="2905125"/>
                </a:lnTo>
                <a:lnTo>
                  <a:pt x="1704975" y="2905125"/>
                </a:lnTo>
                <a:lnTo>
                  <a:pt x="1714500" y="2895600"/>
                </a:lnTo>
                <a:lnTo>
                  <a:pt x="1724025" y="2895600"/>
                </a:lnTo>
                <a:lnTo>
                  <a:pt x="1733550" y="2886075"/>
                </a:lnTo>
                <a:lnTo>
                  <a:pt x="1743075" y="2886075"/>
                </a:lnTo>
                <a:lnTo>
                  <a:pt x="1752600" y="2876550"/>
                </a:lnTo>
                <a:lnTo>
                  <a:pt x="1762125" y="2876550"/>
                </a:lnTo>
                <a:lnTo>
                  <a:pt x="1771650" y="2867025"/>
                </a:lnTo>
                <a:lnTo>
                  <a:pt x="1781175" y="2867025"/>
                </a:lnTo>
                <a:lnTo>
                  <a:pt x="1790700" y="2857500"/>
                </a:lnTo>
                <a:lnTo>
                  <a:pt x="1800225" y="2857500"/>
                </a:lnTo>
                <a:lnTo>
                  <a:pt x="1819275" y="2838450"/>
                </a:lnTo>
                <a:lnTo>
                  <a:pt x="1828800" y="2838450"/>
                </a:lnTo>
                <a:lnTo>
                  <a:pt x="1847850" y="2819400"/>
                </a:lnTo>
                <a:lnTo>
                  <a:pt x="1847850" y="2809875"/>
                </a:lnTo>
                <a:lnTo>
                  <a:pt x="1866900" y="2790825"/>
                </a:lnTo>
                <a:lnTo>
                  <a:pt x="1866900" y="2781300"/>
                </a:lnTo>
                <a:lnTo>
                  <a:pt x="1876425" y="2771775"/>
                </a:lnTo>
                <a:lnTo>
                  <a:pt x="1876425" y="2762250"/>
                </a:lnTo>
                <a:lnTo>
                  <a:pt x="1885950" y="2752725"/>
                </a:lnTo>
                <a:lnTo>
                  <a:pt x="1885950" y="2667000"/>
                </a:lnTo>
                <a:lnTo>
                  <a:pt x="1876425" y="2657475"/>
                </a:lnTo>
                <a:lnTo>
                  <a:pt x="1876425" y="2647950"/>
                </a:lnTo>
                <a:lnTo>
                  <a:pt x="1800225" y="2571750"/>
                </a:lnTo>
                <a:lnTo>
                  <a:pt x="1800225" y="2495550"/>
                </a:lnTo>
                <a:lnTo>
                  <a:pt x="1809750" y="2486025"/>
                </a:lnTo>
                <a:lnTo>
                  <a:pt x="1809750" y="2466975"/>
                </a:lnTo>
                <a:lnTo>
                  <a:pt x="1800225" y="2457450"/>
                </a:lnTo>
                <a:lnTo>
                  <a:pt x="1800225" y="2447925"/>
                </a:lnTo>
                <a:close/>
              </a:path>
              <a:path w="4267200" h="4267200">
                <a:moveTo>
                  <a:pt x="3305175" y="2305050"/>
                </a:moveTo>
                <a:lnTo>
                  <a:pt x="3295650" y="2314575"/>
                </a:lnTo>
                <a:lnTo>
                  <a:pt x="3248025" y="2314575"/>
                </a:lnTo>
                <a:lnTo>
                  <a:pt x="3238500" y="2324100"/>
                </a:lnTo>
                <a:lnTo>
                  <a:pt x="3200400" y="2324100"/>
                </a:lnTo>
                <a:lnTo>
                  <a:pt x="3190875" y="2333625"/>
                </a:lnTo>
                <a:lnTo>
                  <a:pt x="3152775" y="2333625"/>
                </a:lnTo>
                <a:lnTo>
                  <a:pt x="3143250" y="2343150"/>
                </a:lnTo>
                <a:lnTo>
                  <a:pt x="3114675" y="2343150"/>
                </a:lnTo>
                <a:lnTo>
                  <a:pt x="3105150" y="2352675"/>
                </a:lnTo>
                <a:lnTo>
                  <a:pt x="3086100" y="2352675"/>
                </a:lnTo>
                <a:lnTo>
                  <a:pt x="3076575" y="2362200"/>
                </a:lnTo>
                <a:lnTo>
                  <a:pt x="3067050" y="2362200"/>
                </a:lnTo>
                <a:lnTo>
                  <a:pt x="3048000" y="2381250"/>
                </a:lnTo>
                <a:lnTo>
                  <a:pt x="3038475" y="2381250"/>
                </a:lnTo>
                <a:lnTo>
                  <a:pt x="3019425" y="2400300"/>
                </a:lnTo>
                <a:lnTo>
                  <a:pt x="3009900" y="2400300"/>
                </a:lnTo>
                <a:lnTo>
                  <a:pt x="3000375" y="2409825"/>
                </a:lnTo>
                <a:lnTo>
                  <a:pt x="2962275" y="2409825"/>
                </a:lnTo>
                <a:lnTo>
                  <a:pt x="2952750" y="2400300"/>
                </a:lnTo>
                <a:lnTo>
                  <a:pt x="2943225" y="2400300"/>
                </a:lnTo>
                <a:lnTo>
                  <a:pt x="2933700" y="2390775"/>
                </a:lnTo>
                <a:lnTo>
                  <a:pt x="2924175" y="2390775"/>
                </a:lnTo>
                <a:lnTo>
                  <a:pt x="2914650" y="2381250"/>
                </a:lnTo>
                <a:lnTo>
                  <a:pt x="2895600" y="2381250"/>
                </a:lnTo>
                <a:lnTo>
                  <a:pt x="2886075" y="2371725"/>
                </a:lnTo>
                <a:lnTo>
                  <a:pt x="2790825" y="2371725"/>
                </a:lnTo>
                <a:lnTo>
                  <a:pt x="2781300" y="2381250"/>
                </a:lnTo>
                <a:lnTo>
                  <a:pt x="2752725" y="2381250"/>
                </a:lnTo>
                <a:lnTo>
                  <a:pt x="2743200" y="2390775"/>
                </a:lnTo>
                <a:lnTo>
                  <a:pt x="2733675" y="2390775"/>
                </a:lnTo>
                <a:lnTo>
                  <a:pt x="2695575" y="2428875"/>
                </a:lnTo>
                <a:lnTo>
                  <a:pt x="2695575" y="2447925"/>
                </a:lnTo>
                <a:lnTo>
                  <a:pt x="2686050" y="2457450"/>
                </a:lnTo>
                <a:lnTo>
                  <a:pt x="2695575" y="2466975"/>
                </a:lnTo>
                <a:lnTo>
                  <a:pt x="2695575" y="2486025"/>
                </a:lnTo>
                <a:lnTo>
                  <a:pt x="2724150" y="2514600"/>
                </a:lnTo>
                <a:lnTo>
                  <a:pt x="2733675" y="2514600"/>
                </a:lnTo>
                <a:lnTo>
                  <a:pt x="2743200" y="2524125"/>
                </a:lnTo>
                <a:lnTo>
                  <a:pt x="2762250" y="2524125"/>
                </a:lnTo>
                <a:lnTo>
                  <a:pt x="2771775" y="2533650"/>
                </a:lnTo>
                <a:lnTo>
                  <a:pt x="2790825" y="2533650"/>
                </a:lnTo>
                <a:lnTo>
                  <a:pt x="2800350" y="2543175"/>
                </a:lnTo>
                <a:lnTo>
                  <a:pt x="2809875" y="2543175"/>
                </a:lnTo>
                <a:lnTo>
                  <a:pt x="2819400" y="2552700"/>
                </a:lnTo>
                <a:lnTo>
                  <a:pt x="2828925" y="2552700"/>
                </a:lnTo>
                <a:lnTo>
                  <a:pt x="2857500" y="2581275"/>
                </a:lnTo>
                <a:lnTo>
                  <a:pt x="2857500" y="2619375"/>
                </a:lnTo>
                <a:lnTo>
                  <a:pt x="2809875" y="2667000"/>
                </a:lnTo>
                <a:lnTo>
                  <a:pt x="2809875" y="2676525"/>
                </a:lnTo>
                <a:lnTo>
                  <a:pt x="2800350" y="2686050"/>
                </a:lnTo>
                <a:lnTo>
                  <a:pt x="2800350" y="2695575"/>
                </a:lnTo>
                <a:lnTo>
                  <a:pt x="2790825" y="2705100"/>
                </a:lnTo>
                <a:lnTo>
                  <a:pt x="2790825" y="2752725"/>
                </a:lnTo>
                <a:lnTo>
                  <a:pt x="2800350" y="2762250"/>
                </a:lnTo>
                <a:lnTo>
                  <a:pt x="2800350" y="2771775"/>
                </a:lnTo>
                <a:lnTo>
                  <a:pt x="2809875" y="2781300"/>
                </a:lnTo>
                <a:lnTo>
                  <a:pt x="2819400" y="2781300"/>
                </a:lnTo>
                <a:lnTo>
                  <a:pt x="2828925" y="2790825"/>
                </a:lnTo>
                <a:lnTo>
                  <a:pt x="2838450" y="2790825"/>
                </a:lnTo>
                <a:lnTo>
                  <a:pt x="2847975" y="2800350"/>
                </a:lnTo>
                <a:lnTo>
                  <a:pt x="2867025" y="2800350"/>
                </a:lnTo>
                <a:lnTo>
                  <a:pt x="2876550" y="2809875"/>
                </a:lnTo>
                <a:lnTo>
                  <a:pt x="2895600" y="2809875"/>
                </a:lnTo>
                <a:lnTo>
                  <a:pt x="2905125" y="2819400"/>
                </a:lnTo>
                <a:lnTo>
                  <a:pt x="2924175" y="2819400"/>
                </a:lnTo>
                <a:lnTo>
                  <a:pt x="2933700" y="2828925"/>
                </a:lnTo>
                <a:lnTo>
                  <a:pt x="2952750" y="2828925"/>
                </a:lnTo>
                <a:lnTo>
                  <a:pt x="2971800" y="2847975"/>
                </a:lnTo>
                <a:lnTo>
                  <a:pt x="2981325" y="2847975"/>
                </a:lnTo>
                <a:lnTo>
                  <a:pt x="3000375" y="2867025"/>
                </a:lnTo>
                <a:lnTo>
                  <a:pt x="3000375" y="2876550"/>
                </a:lnTo>
                <a:lnTo>
                  <a:pt x="3009900" y="2886075"/>
                </a:lnTo>
                <a:lnTo>
                  <a:pt x="3009900" y="2905125"/>
                </a:lnTo>
                <a:lnTo>
                  <a:pt x="3000375" y="2914650"/>
                </a:lnTo>
                <a:lnTo>
                  <a:pt x="3000375" y="2924175"/>
                </a:lnTo>
                <a:lnTo>
                  <a:pt x="2990850" y="2933700"/>
                </a:lnTo>
                <a:lnTo>
                  <a:pt x="2990850" y="2943225"/>
                </a:lnTo>
                <a:lnTo>
                  <a:pt x="2971800" y="2962275"/>
                </a:lnTo>
                <a:lnTo>
                  <a:pt x="2971800" y="2971800"/>
                </a:lnTo>
                <a:lnTo>
                  <a:pt x="2962275" y="2981325"/>
                </a:lnTo>
                <a:lnTo>
                  <a:pt x="2962275" y="3048000"/>
                </a:lnTo>
                <a:lnTo>
                  <a:pt x="2971800" y="3057525"/>
                </a:lnTo>
                <a:lnTo>
                  <a:pt x="2971800" y="3067050"/>
                </a:lnTo>
                <a:lnTo>
                  <a:pt x="2981325" y="3076575"/>
                </a:lnTo>
                <a:lnTo>
                  <a:pt x="2981325" y="3086100"/>
                </a:lnTo>
                <a:lnTo>
                  <a:pt x="2990850" y="3095625"/>
                </a:lnTo>
                <a:lnTo>
                  <a:pt x="2990850" y="3105150"/>
                </a:lnTo>
                <a:lnTo>
                  <a:pt x="3000375" y="3114675"/>
                </a:lnTo>
                <a:lnTo>
                  <a:pt x="3000375" y="3124200"/>
                </a:lnTo>
                <a:lnTo>
                  <a:pt x="3009900" y="3133725"/>
                </a:lnTo>
                <a:lnTo>
                  <a:pt x="3009900" y="3143250"/>
                </a:lnTo>
                <a:lnTo>
                  <a:pt x="3019425" y="3152775"/>
                </a:lnTo>
                <a:lnTo>
                  <a:pt x="3019425" y="3162300"/>
                </a:lnTo>
                <a:lnTo>
                  <a:pt x="3038475" y="3181350"/>
                </a:lnTo>
                <a:lnTo>
                  <a:pt x="3038475" y="3190875"/>
                </a:lnTo>
                <a:lnTo>
                  <a:pt x="3057525" y="3209925"/>
                </a:lnTo>
                <a:lnTo>
                  <a:pt x="3057525" y="3219450"/>
                </a:lnTo>
                <a:lnTo>
                  <a:pt x="3067050" y="3228975"/>
                </a:lnTo>
                <a:lnTo>
                  <a:pt x="3067050" y="3257550"/>
                </a:lnTo>
                <a:lnTo>
                  <a:pt x="3048000" y="3276600"/>
                </a:lnTo>
                <a:lnTo>
                  <a:pt x="3000375" y="3276600"/>
                </a:lnTo>
                <a:lnTo>
                  <a:pt x="2981325" y="3257550"/>
                </a:lnTo>
                <a:lnTo>
                  <a:pt x="2981325" y="3248025"/>
                </a:lnTo>
                <a:lnTo>
                  <a:pt x="2971800" y="3238500"/>
                </a:lnTo>
                <a:lnTo>
                  <a:pt x="2971800" y="3228975"/>
                </a:lnTo>
                <a:lnTo>
                  <a:pt x="2962275" y="3219450"/>
                </a:lnTo>
                <a:lnTo>
                  <a:pt x="2962275" y="3209925"/>
                </a:lnTo>
                <a:lnTo>
                  <a:pt x="2924175" y="3171825"/>
                </a:lnTo>
                <a:lnTo>
                  <a:pt x="2914650" y="3171825"/>
                </a:lnTo>
                <a:lnTo>
                  <a:pt x="2905125" y="3162300"/>
                </a:lnTo>
                <a:lnTo>
                  <a:pt x="2895600" y="3162300"/>
                </a:lnTo>
                <a:lnTo>
                  <a:pt x="2886075" y="3152775"/>
                </a:lnTo>
                <a:lnTo>
                  <a:pt x="2876550" y="3152775"/>
                </a:lnTo>
                <a:lnTo>
                  <a:pt x="2857500" y="3133725"/>
                </a:lnTo>
                <a:lnTo>
                  <a:pt x="2857500" y="3124200"/>
                </a:lnTo>
                <a:lnTo>
                  <a:pt x="2838450" y="3105150"/>
                </a:lnTo>
                <a:lnTo>
                  <a:pt x="2838450" y="3095625"/>
                </a:lnTo>
                <a:lnTo>
                  <a:pt x="2800350" y="3057525"/>
                </a:lnTo>
                <a:lnTo>
                  <a:pt x="2790825" y="3057525"/>
                </a:lnTo>
                <a:lnTo>
                  <a:pt x="2781300" y="3048000"/>
                </a:lnTo>
                <a:lnTo>
                  <a:pt x="2771775" y="3048000"/>
                </a:lnTo>
                <a:lnTo>
                  <a:pt x="2762250" y="3038475"/>
                </a:lnTo>
                <a:lnTo>
                  <a:pt x="2743200" y="3038475"/>
                </a:lnTo>
                <a:lnTo>
                  <a:pt x="2733675" y="3028950"/>
                </a:lnTo>
                <a:lnTo>
                  <a:pt x="2714625" y="3028950"/>
                </a:lnTo>
                <a:lnTo>
                  <a:pt x="2705100" y="3019425"/>
                </a:lnTo>
                <a:lnTo>
                  <a:pt x="2695575" y="3019425"/>
                </a:lnTo>
                <a:lnTo>
                  <a:pt x="2686050" y="3009900"/>
                </a:lnTo>
                <a:lnTo>
                  <a:pt x="2676525" y="3009900"/>
                </a:lnTo>
                <a:lnTo>
                  <a:pt x="2657475" y="2990850"/>
                </a:lnTo>
                <a:lnTo>
                  <a:pt x="2647950" y="2990850"/>
                </a:lnTo>
                <a:lnTo>
                  <a:pt x="2628900" y="2971800"/>
                </a:lnTo>
                <a:lnTo>
                  <a:pt x="2562225" y="2971800"/>
                </a:lnTo>
                <a:lnTo>
                  <a:pt x="2552700" y="2981325"/>
                </a:lnTo>
                <a:lnTo>
                  <a:pt x="2543175" y="2981325"/>
                </a:lnTo>
                <a:lnTo>
                  <a:pt x="2524125" y="3000375"/>
                </a:lnTo>
                <a:lnTo>
                  <a:pt x="2514600" y="3000375"/>
                </a:lnTo>
                <a:lnTo>
                  <a:pt x="2505075" y="3009900"/>
                </a:lnTo>
                <a:lnTo>
                  <a:pt x="2495550" y="3009900"/>
                </a:lnTo>
                <a:lnTo>
                  <a:pt x="2486025" y="3019425"/>
                </a:lnTo>
                <a:lnTo>
                  <a:pt x="2466975" y="3019425"/>
                </a:lnTo>
                <a:lnTo>
                  <a:pt x="2457450" y="3028950"/>
                </a:lnTo>
                <a:lnTo>
                  <a:pt x="2333625" y="3028950"/>
                </a:lnTo>
                <a:lnTo>
                  <a:pt x="2324100" y="3038475"/>
                </a:lnTo>
                <a:lnTo>
                  <a:pt x="2286000" y="3038475"/>
                </a:lnTo>
                <a:lnTo>
                  <a:pt x="2276475" y="3048000"/>
                </a:lnTo>
                <a:lnTo>
                  <a:pt x="2257425" y="3048000"/>
                </a:lnTo>
                <a:lnTo>
                  <a:pt x="2247900" y="3057525"/>
                </a:lnTo>
                <a:lnTo>
                  <a:pt x="2228850" y="3057525"/>
                </a:lnTo>
                <a:lnTo>
                  <a:pt x="2219325" y="3067050"/>
                </a:lnTo>
                <a:lnTo>
                  <a:pt x="2190750" y="3067050"/>
                </a:lnTo>
                <a:lnTo>
                  <a:pt x="2181225" y="3076575"/>
                </a:lnTo>
                <a:lnTo>
                  <a:pt x="2114550" y="3076575"/>
                </a:lnTo>
                <a:lnTo>
                  <a:pt x="2105025" y="3086100"/>
                </a:lnTo>
                <a:lnTo>
                  <a:pt x="2105025" y="3095625"/>
                </a:lnTo>
                <a:lnTo>
                  <a:pt x="2028825" y="3171825"/>
                </a:lnTo>
                <a:lnTo>
                  <a:pt x="2019300" y="3171825"/>
                </a:lnTo>
                <a:lnTo>
                  <a:pt x="2009775" y="3181350"/>
                </a:lnTo>
                <a:lnTo>
                  <a:pt x="2009775" y="3190875"/>
                </a:lnTo>
                <a:lnTo>
                  <a:pt x="1981200" y="3219450"/>
                </a:lnTo>
                <a:lnTo>
                  <a:pt x="1981200" y="3238500"/>
                </a:lnTo>
                <a:lnTo>
                  <a:pt x="1971675" y="3248025"/>
                </a:lnTo>
                <a:lnTo>
                  <a:pt x="1971675" y="3295650"/>
                </a:lnTo>
                <a:lnTo>
                  <a:pt x="1981200" y="3305175"/>
                </a:lnTo>
                <a:lnTo>
                  <a:pt x="1981200" y="3314700"/>
                </a:lnTo>
                <a:lnTo>
                  <a:pt x="1990725" y="3324225"/>
                </a:lnTo>
                <a:lnTo>
                  <a:pt x="1990725" y="3333750"/>
                </a:lnTo>
                <a:lnTo>
                  <a:pt x="2066925" y="3409950"/>
                </a:lnTo>
                <a:lnTo>
                  <a:pt x="2066925" y="3448050"/>
                </a:lnTo>
                <a:lnTo>
                  <a:pt x="2076450" y="3457575"/>
                </a:lnTo>
                <a:lnTo>
                  <a:pt x="2066925" y="3467100"/>
                </a:lnTo>
                <a:lnTo>
                  <a:pt x="2066925" y="3505200"/>
                </a:lnTo>
                <a:lnTo>
                  <a:pt x="2076450" y="3514725"/>
                </a:lnTo>
                <a:lnTo>
                  <a:pt x="2076450" y="3533775"/>
                </a:lnTo>
                <a:lnTo>
                  <a:pt x="2085975" y="3543300"/>
                </a:lnTo>
                <a:lnTo>
                  <a:pt x="2095500" y="3543300"/>
                </a:lnTo>
                <a:lnTo>
                  <a:pt x="2105025" y="3552825"/>
                </a:lnTo>
                <a:lnTo>
                  <a:pt x="2124075" y="3552825"/>
                </a:lnTo>
                <a:lnTo>
                  <a:pt x="2133600" y="3562350"/>
                </a:lnTo>
                <a:lnTo>
                  <a:pt x="2162175" y="3562350"/>
                </a:lnTo>
                <a:lnTo>
                  <a:pt x="2171700" y="3571875"/>
                </a:lnTo>
                <a:lnTo>
                  <a:pt x="2200275" y="3571875"/>
                </a:lnTo>
                <a:lnTo>
                  <a:pt x="2209800" y="3562350"/>
                </a:lnTo>
                <a:lnTo>
                  <a:pt x="2257425" y="3562350"/>
                </a:lnTo>
                <a:lnTo>
                  <a:pt x="2266950" y="3552825"/>
                </a:lnTo>
                <a:lnTo>
                  <a:pt x="2324100" y="3552825"/>
                </a:lnTo>
                <a:lnTo>
                  <a:pt x="2333625" y="3562350"/>
                </a:lnTo>
                <a:lnTo>
                  <a:pt x="2343150" y="3562350"/>
                </a:lnTo>
                <a:lnTo>
                  <a:pt x="2371725" y="3590925"/>
                </a:lnTo>
                <a:lnTo>
                  <a:pt x="2371725" y="3600450"/>
                </a:lnTo>
                <a:lnTo>
                  <a:pt x="2381250" y="3609975"/>
                </a:lnTo>
                <a:lnTo>
                  <a:pt x="2381250" y="3648075"/>
                </a:lnTo>
                <a:lnTo>
                  <a:pt x="2390775" y="3657600"/>
                </a:lnTo>
                <a:lnTo>
                  <a:pt x="2390775" y="3686175"/>
                </a:lnTo>
                <a:lnTo>
                  <a:pt x="2400300" y="3695700"/>
                </a:lnTo>
                <a:lnTo>
                  <a:pt x="2400300" y="3714750"/>
                </a:lnTo>
                <a:lnTo>
                  <a:pt x="2428875" y="3743325"/>
                </a:lnTo>
                <a:lnTo>
                  <a:pt x="2476500" y="3743325"/>
                </a:lnTo>
                <a:lnTo>
                  <a:pt x="2486025" y="3733800"/>
                </a:lnTo>
                <a:lnTo>
                  <a:pt x="2495550" y="3733800"/>
                </a:lnTo>
                <a:lnTo>
                  <a:pt x="2543175" y="3686175"/>
                </a:lnTo>
                <a:lnTo>
                  <a:pt x="2543175" y="3676650"/>
                </a:lnTo>
                <a:lnTo>
                  <a:pt x="2571750" y="3648075"/>
                </a:lnTo>
                <a:lnTo>
                  <a:pt x="2581275" y="3648075"/>
                </a:lnTo>
                <a:lnTo>
                  <a:pt x="2590800" y="3638550"/>
                </a:lnTo>
                <a:lnTo>
                  <a:pt x="2600325" y="3638550"/>
                </a:lnTo>
                <a:lnTo>
                  <a:pt x="2609850" y="3629025"/>
                </a:lnTo>
                <a:lnTo>
                  <a:pt x="2619375" y="3629025"/>
                </a:lnTo>
                <a:lnTo>
                  <a:pt x="2628900" y="3619500"/>
                </a:lnTo>
                <a:lnTo>
                  <a:pt x="2647950" y="3619500"/>
                </a:lnTo>
                <a:lnTo>
                  <a:pt x="2667000" y="3600450"/>
                </a:lnTo>
                <a:lnTo>
                  <a:pt x="2667000" y="3590925"/>
                </a:lnTo>
                <a:lnTo>
                  <a:pt x="2676525" y="3581400"/>
                </a:lnTo>
                <a:lnTo>
                  <a:pt x="2676525" y="3467100"/>
                </a:lnTo>
                <a:lnTo>
                  <a:pt x="2667000" y="3457575"/>
                </a:lnTo>
                <a:lnTo>
                  <a:pt x="2667000" y="3400425"/>
                </a:lnTo>
                <a:lnTo>
                  <a:pt x="2695575" y="3371850"/>
                </a:lnTo>
                <a:lnTo>
                  <a:pt x="2705100" y="3371850"/>
                </a:lnTo>
                <a:lnTo>
                  <a:pt x="2714625" y="3362325"/>
                </a:lnTo>
                <a:lnTo>
                  <a:pt x="2762250" y="3362325"/>
                </a:lnTo>
                <a:lnTo>
                  <a:pt x="2771775" y="3371850"/>
                </a:lnTo>
                <a:lnTo>
                  <a:pt x="2781300" y="3371850"/>
                </a:lnTo>
                <a:lnTo>
                  <a:pt x="2790825" y="3381375"/>
                </a:lnTo>
                <a:lnTo>
                  <a:pt x="2800350" y="3381375"/>
                </a:lnTo>
                <a:lnTo>
                  <a:pt x="2828925" y="3409950"/>
                </a:lnTo>
                <a:lnTo>
                  <a:pt x="2828925" y="3419475"/>
                </a:lnTo>
                <a:lnTo>
                  <a:pt x="2838450" y="3429000"/>
                </a:lnTo>
                <a:lnTo>
                  <a:pt x="2838450" y="3543300"/>
                </a:lnTo>
                <a:lnTo>
                  <a:pt x="2828925" y="3552825"/>
                </a:lnTo>
                <a:lnTo>
                  <a:pt x="2828925" y="3609975"/>
                </a:lnTo>
                <a:lnTo>
                  <a:pt x="2838450" y="3619500"/>
                </a:lnTo>
                <a:lnTo>
                  <a:pt x="2838450" y="3629025"/>
                </a:lnTo>
                <a:lnTo>
                  <a:pt x="2886075" y="3629025"/>
                </a:lnTo>
                <a:lnTo>
                  <a:pt x="2905125" y="3609975"/>
                </a:lnTo>
                <a:lnTo>
                  <a:pt x="2914650" y="3609975"/>
                </a:lnTo>
                <a:lnTo>
                  <a:pt x="2943225" y="3581400"/>
                </a:lnTo>
                <a:lnTo>
                  <a:pt x="2952750" y="3581400"/>
                </a:lnTo>
                <a:lnTo>
                  <a:pt x="2971800" y="3562350"/>
                </a:lnTo>
                <a:lnTo>
                  <a:pt x="2981325" y="3562350"/>
                </a:lnTo>
                <a:lnTo>
                  <a:pt x="2990850" y="3552825"/>
                </a:lnTo>
                <a:lnTo>
                  <a:pt x="3000375" y="3552825"/>
                </a:lnTo>
                <a:lnTo>
                  <a:pt x="3009900" y="3543300"/>
                </a:lnTo>
                <a:lnTo>
                  <a:pt x="3019425" y="3543300"/>
                </a:lnTo>
                <a:lnTo>
                  <a:pt x="3028950" y="3533775"/>
                </a:lnTo>
                <a:lnTo>
                  <a:pt x="3038475" y="3533775"/>
                </a:lnTo>
                <a:lnTo>
                  <a:pt x="3048000" y="3524250"/>
                </a:lnTo>
                <a:lnTo>
                  <a:pt x="3057525" y="3524250"/>
                </a:lnTo>
                <a:lnTo>
                  <a:pt x="3067050" y="3514725"/>
                </a:lnTo>
                <a:lnTo>
                  <a:pt x="3086100" y="3514725"/>
                </a:lnTo>
                <a:lnTo>
                  <a:pt x="3095625" y="3505200"/>
                </a:lnTo>
                <a:lnTo>
                  <a:pt x="3114675" y="3505200"/>
                </a:lnTo>
                <a:lnTo>
                  <a:pt x="3124200" y="3495675"/>
                </a:lnTo>
                <a:lnTo>
                  <a:pt x="3228975" y="3495675"/>
                </a:lnTo>
                <a:lnTo>
                  <a:pt x="3238500" y="3505200"/>
                </a:lnTo>
                <a:lnTo>
                  <a:pt x="3314700" y="3505200"/>
                </a:lnTo>
                <a:lnTo>
                  <a:pt x="3324225" y="3514725"/>
                </a:lnTo>
                <a:lnTo>
                  <a:pt x="3381375" y="3514725"/>
                </a:lnTo>
                <a:lnTo>
                  <a:pt x="3390900" y="3505200"/>
                </a:lnTo>
                <a:lnTo>
                  <a:pt x="3419475" y="3505200"/>
                </a:lnTo>
                <a:lnTo>
                  <a:pt x="3429000" y="3495675"/>
                </a:lnTo>
                <a:lnTo>
                  <a:pt x="3438525" y="3495675"/>
                </a:lnTo>
                <a:lnTo>
                  <a:pt x="3448050" y="3486150"/>
                </a:lnTo>
                <a:lnTo>
                  <a:pt x="3448050" y="3476625"/>
                </a:lnTo>
                <a:lnTo>
                  <a:pt x="3457575" y="3467100"/>
                </a:lnTo>
                <a:lnTo>
                  <a:pt x="3457575" y="3419475"/>
                </a:lnTo>
                <a:lnTo>
                  <a:pt x="3467100" y="3409950"/>
                </a:lnTo>
                <a:lnTo>
                  <a:pt x="3467100" y="3343275"/>
                </a:lnTo>
                <a:lnTo>
                  <a:pt x="3486150" y="3324225"/>
                </a:lnTo>
                <a:lnTo>
                  <a:pt x="3524250" y="3324225"/>
                </a:lnTo>
                <a:lnTo>
                  <a:pt x="3533775" y="3314700"/>
                </a:lnTo>
                <a:lnTo>
                  <a:pt x="3552825" y="3314700"/>
                </a:lnTo>
                <a:lnTo>
                  <a:pt x="3562350" y="3305175"/>
                </a:lnTo>
                <a:lnTo>
                  <a:pt x="3581400" y="3305175"/>
                </a:lnTo>
                <a:lnTo>
                  <a:pt x="3590925" y="3295650"/>
                </a:lnTo>
                <a:lnTo>
                  <a:pt x="3590925" y="3286125"/>
                </a:lnTo>
                <a:lnTo>
                  <a:pt x="3600450" y="3276600"/>
                </a:lnTo>
                <a:lnTo>
                  <a:pt x="3600450" y="3267075"/>
                </a:lnTo>
                <a:lnTo>
                  <a:pt x="3590925" y="3257550"/>
                </a:lnTo>
                <a:lnTo>
                  <a:pt x="3590925" y="3248025"/>
                </a:lnTo>
                <a:lnTo>
                  <a:pt x="3571875" y="3228975"/>
                </a:lnTo>
                <a:lnTo>
                  <a:pt x="3571875" y="3219450"/>
                </a:lnTo>
                <a:lnTo>
                  <a:pt x="3552825" y="3200400"/>
                </a:lnTo>
                <a:lnTo>
                  <a:pt x="3552825" y="3190875"/>
                </a:lnTo>
                <a:lnTo>
                  <a:pt x="3533775" y="3171825"/>
                </a:lnTo>
                <a:lnTo>
                  <a:pt x="3533775" y="3162300"/>
                </a:lnTo>
                <a:lnTo>
                  <a:pt x="3524250" y="3152775"/>
                </a:lnTo>
                <a:lnTo>
                  <a:pt x="3524250" y="3124200"/>
                </a:lnTo>
                <a:lnTo>
                  <a:pt x="3533775" y="3114675"/>
                </a:lnTo>
                <a:lnTo>
                  <a:pt x="3533775" y="3105150"/>
                </a:lnTo>
                <a:lnTo>
                  <a:pt x="3543300" y="3095625"/>
                </a:lnTo>
                <a:lnTo>
                  <a:pt x="3543300" y="3086100"/>
                </a:lnTo>
                <a:lnTo>
                  <a:pt x="3552825" y="3076575"/>
                </a:lnTo>
                <a:lnTo>
                  <a:pt x="3552825" y="3067050"/>
                </a:lnTo>
                <a:lnTo>
                  <a:pt x="3571875" y="3048000"/>
                </a:lnTo>
                <a:lnTo>
                  <a:pt x="3571875" y="3038475"/>
                </a:lnTo>
                <a:lnTo>
                  <a:pt x="3581400" y="3028950"/>
                </a:lnTo>
                <a:lnTo>
                  <a:pt x="3581400" y="3019425"/>
                </a:lnTo>
                <a:lnTo>
                  <a:pt x="3590925" y="3009900"/>
                </a:lnTo>
                <a:lnTo>
                  <a:pt x="3590925" y="3000375"/>
                </a:lnTo>
                <a:lnTo>
                  <a:pt x="3600450" y="2990850"/>
                </a:lnTo>
                <a:lnTo>
                  <a:pt x="3600450" y="2952750"/>
                </a:lnTo>
                <a:lnTo>
                  <a:pt x="3571875" y="2924175"/>
                </a:lnTo>
                <a:lnTo>
                  <a:pt x="3524250" y="2924175"/>
                </a:lnTo>
                <a:lnTo>
                  <a:pt x="3514725" y="2933700"/>
                </a:lnTo>
                <a:lnTo>
                  <a:pt x="3505200" y="2933700"/>
                </a:lnTo>
                <a:lnTo>
                  <a:pt x="3486150" y="2952750"/>
                </a:lnTo>
                <a:lnTo>
                  <a:pt x="3486150" y="2962275"/>
                </a:lnTo>
                <a:lnTo>
                  <a:pt x="3476625" y="2971800"/>
                </a:lnTo>
                <a:lnTo>
                  <a:pt x="3476625" y="3057525"/>
                </a:lnTo>
                <a:lnTo>
                  <a:pt x="3486150" y="3067050"/>
                </a:lnTo>
                <a:lnTo>
                  <a:pt x="3486150" y="3086100"/>
                </a:lnTo>
                <a:lnTo>
                  <a:pt x="3495675" y="3095625"/>
                </a:lnTo>
                <a:lnTo>
                  <a:pt x="3495675" y="3114675"/>
                </a:lnTo>
                <a:lnTo>
                  <a:pt x="3505200" y="3124200"/>
                </a:lnTo>
                <a:lnTo>
                  <a:pt x="3505200" y="3152775"/>
                </a:lnTo>
                <a:lnTo>
                  <a:pt x="3495675" y="3162300"/>
                </a:lnTo>
                <a:lnTo>
                  <a:pt x="3495675" y="3181350"/>
                </a:lnTo>
                <a:lnTo>
                  <a:pt x="3486150" y="3190875"/>
                </a:lnTo>
                <a:lnTo>
                  <a:pt x="3486150" y="3219450"/>
                </a:lnTo>
                <a:lnTo>
                  <a:pt x="3476625" y="3228975"/>
                </a:lnTo>
                <a:lnTo>
                  <a:pt x="3476625" y="3267075"/>
                </a:lnTo>
                <a:lnTo>
                  <a:pt x="3467100" y="3276600"/>
                </a:lnTo>
                <a:lnTo>
                  <a:pt x="3467100" y="3305175"/>
                </a:lnTo>
                <a:lnTo>
                  <a:pt x="3448050" y="3324225"/>
                </a:lnTo>
                <a:lnTo>
                  <a:pt x="3400425" y="3324225"/>
                </a:lnTo>
                <a:lnTo>
                  <a:pt x="3390900" y="3333750"/>
                </a:lnTo>
                <a:lnTo>
                  <a:pt x="3257550" y="3333750"/>
                </a:lnTo>
                <a:lnTo>
                  <a:pt x="3248025" y="3324225"/>
                </a:lnTo>
                <a:lnTo>
                  <a:pt x="3238500" y="3324225"/>
                </a:lnTo>
                <a:lnTo>
                  <a:pt x="3219450" y="3305175"/>
                </a:lnTo>
                <a:lnTo>
                  <a:pt x="3209925" y="3305175"/>
                </a:lnTo>
                <a:lnTo>
                  <a:pt x="3190875" y="3286125"/>
                </a:lnTo>
                <a:lnTo>
                  <a:pt x="3190875" y="3276600"/>
                </a:lnTo>
                <a:lnTo>
                  <a:pt x="3181350" y="3267075"/>
                </a:lnTo>
                <a:lnTo>
                  <a:pt x="3181350" y="3238500"/>
                </a:lnTo>
                <a:lnTo>
                  <a:pt x="3190875" y="3228975"/>
                </a:lnTo>
                <a:lnTo>
                  <a:pt x="3190875" y="3219450"/>
                </a:lnTo>
                <a:lnTo>
                  <a:pt x="3200400" y="3209925"/>
                </a:lnTo>
                <a:lnTo>
                  <a:pt x="3200400" y="3200400"/>
                </a:lnTo>
                <a:lnTo>
                  <a:pt x="3219450" y="3181350"/>
                </a:lnTo>
                <a:lnTo>
                  <a:pt x="3219450" y="3171825"/>
                </a:lnTo>
                <a:lnTo>
                  <a:pt x="3228975" y="3162300"/>
                </a:lnTo>
                <a:lnTo>
                  <a:pt x="3228975" y="3152775"/>
                </a:lnTo>
                <a:lnTo>
                  <a:pt x="3238500" y="3143250"/>
                </a:lnTo>
                <a:lnTo>
                  <a:pt x="3238500" y="3133725"/>
                </a:lnTo>
                <a:lnTo>
                  <a:pt x="3267075" y="3105150"/>
                </a:lnTo>
                <a:lnTo>
                  <a:pt x="3267075" y="3095625"/>
                </a:lnTo>
                <a:lnTo>
                  <a:pt x="3295650" y="3067050"/>
                </a:lnTo>
                <a:lnTo>
                  <a:pt x="3295650" y="3057525"/>
                </a:lnTo>
                <a:lnTo>
                  <a:pt x="3305175" y="3048000"/>
                </a:lnTo>
                <a:lnTo>
                  <a:pt x="3305175" y="3028950"/>
                </a:lnTo>
                <a:lnTo>
                  <a:pt x="3314700" y="3019425"/>
                </a:lnTo>
                <a:lnTo>
                  <a:pt x="3314700" y="2971800"/>
                </a:lnTo>
                <a:lnTo>
                  <a:pt x="3305175" y="2962275"/>
                </a:lnTo>
                <a:lnTo>
                  <a:pt x="3305175" y="2943225"/>
                </a:lnTo>
                <a:lnTo>
                  <a:pt x="3286125" y="2924175"/>
                </a:lnTo>
                <a:lnTo>
                  <a:pt x="3286125" y="2914650"/>
                </a:lnTo>
                <a:lnTo>
                  <a:pt x="3276600" y="2905125"/>
                </a:lnTo>
                <a:lnTo>
                  <a:pt x="3276600" y="2895600"/>
                </a:lnTo>
                <a:lnTo>
                  <a:pt x="3267075" y="2886075"/>
                </a:lnTo>
                <a:lnTo>
                  <a:pt x="3267075" y="2876550"/>
                </a:lnTo>
                <a:lnTo>
                  <a:pt x="3276600" y="2867025"/>
                </a:lnTo>
                <a:lnTo>
                  <a:pt x="3276600" y="2857500"/>
                </a:lnTo>
                <a:lnTo>
                  <a:pt x="3314700" y="2819400"/>
                </a:lnTo>
                <a:lnTo>
                  <a:pt x="3324225" y="2819400"/>
                </a:lnTo>
                <a:lnTo>
                  <a:pt x="3362325" y="2781300"/>
                </a:lnTo>
                <a:lnTo>
                  <a:pt x="3362325" y="2771775"/>
                </a:lnTo>
                <a:lnTo>
                  <a:pt x="3419475" y="2714625"/>
                </a:lnTo>
                <a:lnTo>
                  <a:pt x="3429000" y="2714625"/>
                </a:lnTo>
                <a:lnTo>
                  <a:pt x="3438525" y="2705100"/>
                </a:lnTo>
                <a:lnTo>
                  <a:pt x="3448050" y="2705100"/>
                </a:lnTo>
                <a:lnTo>
                  <a:pt x="3457575" y="2695575"/>
                </a:lnTo>
                <a:lnTo>
                  <a:pt x="3476625" y="2695575"/>
                </a:lnTo>
                <a:lnTo>
                  <a:pt x="3486150" y="2686050"/>
                </a:lnTo>
                <a:lnTo>
                  <a:pt x="3514725" y="2686050"/>
                </a:lnTo>
                <a:lnTo>
                  <a:pt x="3524250" y="2676525"/>
                </a:lnTo>
                <a:lnTo>
                  <a:pt x="3552825" y="2676525"/>
                </a:lnTo>
                <a:lnTo>
                  <a:pt x="3562350" y="2667000"/>
                </a:lnTo>
                <a:lnTo>
                  <a:pt x="3571875" y="2667000"/>
                </a:lnTo>
                <a:lnTo>
                  <a:pt x="3581400" y="2657475"/>
                </a:lnTo>
                <a:lnTo>
                  <a:pt x="3590925" y="2657475"/>
                </a:lnTo>
                <a:lnTo>
                  <a:pt x="3609975" y="2638425"/>
                </a:lnTo>
                <a:lnTo>
                  <a:pt x="3609975" y="2562225"/>
                </a:lnTo>
                <a:lnTo>
                  <a:pt x="3600450" y="2552700"/>
                </a:lnTo>
                <a:lnTo>
                  <a:pt x="3600450" y="2533650"/>
                </a:lnTo>
                <a:lnTo>
                  <a:pt x="3590925" y="2524125"/>
                </a:lnTo>
                <a:lnTo>
                  <a:pt x="3590925" y="2514600"/>
                </a:lnTo>
                <a:lnTo>
                  <a:pt x="3581400" y="2505075"/>
                </a:lnTo>
                <a:lnTo>
                  <a:pt x="3581400" y="2495550"/>
                </a:lnTo>
                <a:lnTo>
                  <a:pt x="3533775" y="2447925"/>
                </a:lnTo>
                <a:lnTo>
                  <a:pt x="3524250" y="2447925"/>
                </a:lnTo>
                <a:lnTo>
                  <a:pt x="3514725" y="2438400"/>
                </a:lnTo>
                <a:lnTo>
                  <a:pt x="3419475" y="2438400"/>
                </a:lnTo>
                <a:lnTo>
                  <a:pt x="3409950" y="2428875"/>
                </a:lnTo>
                <a:lnTo>
                  <a:pt x="3409950" y="2333625"/>
                </a:lnTo>
                <a:lnTo>
                  <a:pt x="3400425" y="2324100"/>
                </a:lnTo>
                <a:lnTo>
                  <a:pt x="3400425" y="2314575"/>
                </a:lnTo>
                <a:lnTo>
                  <a:pt x="3390900" y="2305050"/>
                </a:lnTo>
                <a:close/>
              </a:path>
              <a:path w="4267200" h="4267200">
                <a:moveTo>
                  <a:pt x="971550" y="1609725"/>
                </a:moveTo>
                <a:lnTo>
                  <a:pt x="952500" y="1628775"/>
                </a:lnTo>
                <a:lnTo>
                  <a:pt x="952500" y="1647825"/>
                </a:lnTo>
                <a:lnTo>
                  <a:pt x="942975" y="1657350"/>
                </a:lnTo>
                <a:lnTo>
                  <a:pt x="942975" y="1695450"/>
                </a:lnTo>
                <a:lnTo>
                  <a:pt x="952500" y="1704975"/>
                </a:lnTo>
                <a:lnTo>
                  <a:pt x="952500" y="1733550"/>
                </a:lnTo>
                <a:lnTo>
                  <a:pt x="962025" y="1743075"/>
                </a:lnTo>
                <a:lnTo>
                  <a:pt x="962025" y="1762125"/>
                </a:lnTo>
                <a:lnTo>
                  <a:pt x="981075" y="1781175"/>
                </a:lnTo>
                <a:lnTo>
                  <a:pt x="981075" y="1790700"/>
                </a:lnTo>
                <a:lnTo>
                  <a:pt x="990600" y="1800225"/>
                </a:lnTo>
                <a:lnTo>
                  <a:pt x="1019175" y="1800225"/>
                </a:lnTo>
                <a:lnTo>
                  <a:pt x="1028700" y="1790700"/>
                </a:lnTo>
                <a:lnTo>
                  <a:pt x="1028700" y="1781175"/>
                </a:lnTo>
                <a:lnTo>
                  <a:pt x="1038225" y="1771650"/>
                </a:lnTo>
                <a:lnTo>
                  <a:pt x="1038225" y="1752600"/>
                </a:lnTo>
                <a:lnTo>
                  <a:pt x="1047750" y="1743075"/>
                </a:lnTo>
                <a:lnTo>
                  <a:pt x="1047750" y="1704975"/>
                </a:lnTo>
                <a:lnTo>
                  <a:pt x="1057275" y="1695450"/>
                </a:lnTo>
                <a:lnTo>
                  <a:pt x="1057275" y="1685925"/>
                </a:lnTo>
                <a:lnTo>
                  <a:pt x="1047750" y="1676400"/>
                </a:lnTo>
                <a:lnTo>
                  <a:pt x="1047750" y="1647825"/>
                </a:lnTo>
                <a:lnTo>
                  <a:pt x="1009650" y="1609725"/>
                </a:lnTo>
                <a:close/>
              </a:path>
              <a:path w="4267200" h="4267200">
                <a:moveTo>
                  <a:pt x="2314575" y="752475"/>
                </a:moveTo>
                <a:lnTo>
                  <a:pt x="2305050" y="762000"/>
                </a:lnTo>
                <a:lnTo>
                  <a:pt x="2295525" y="762000"/>
                </a:lnTo>
                <a:lnTo>
                  <a:pt x="2286000" y="771525"/>
                </a:lnTo>
                <a:lnTo>
                  <a:pt x="2286000" y="857250"/>
                </a:lnTo>
                <a:lnTo>
                  <a:pt x="2324100" y="895350"/>
                </a:lnTo>
                <a:lnTo>
                  <a:pt x="2333625" y="895350"/>
                </a:lnTo>
                <a:lnTo>
                  <a:pt x="2343150" y="904875"/>
                </a:lnTo>
                <a:lnTo>
                  <a:pt x="2390775" y="904875"/>
                </a:lnTo>
                <a:lnTo>
                  <a:pt x="2400300" y="895350"/>
                </a:lnTo>
                <a:lnTo>
                  <a:pt x="2419350" y="895350"/>
                </a:lnTo>
                <a:lnTo>
                  <a:pt x="2447925" y="866775"/>
                </a:lnTo>
                <a:lnTo>
                  <a:pt x="2447925" y="857250"/>
                </a:lnTo>
                <a:lnTo>
                  <a:pt x="2438400" y="847725"/>
                </a:lnTo>
                <a:lnTo>
                  <a:pt x="2438400" y="838200"/>
                </a:lnTo>
                <a:lnTo>
                  <a:pt x="2428875" y="828675"/>
                </a:lnTo>
                <a:lnTo>
                  <a:pt x="2419350" y="828675"/>
                </a:lnTo>
                <a:lnTo>
                  <a:pt x="2390775" y="800100"/>
                </a:lnTo>
                <a:lnTo>
                  <a:pt x="2381250" y="800100"/>
                </a:lnTo>
                <a:lnTo>
                  <a:pt x="2343150" y="762000"/>
                </a:lnTo>
                <a:lnTo>
                  <a:pt x="2324100" y="762000"/>
                </a:lnTo>
                <a:close/>
              </a:path>
              <a:path w="4267200" h="4267200">
                <a:moveTo>
                  <a:pt x="2457450" y="561975"/>
                </a:moveTo>
                <a:lnTo>
                  <a:pt x="2447925" y="571500"/>
                </a:lnTo>
                <a:lnTo>
                  <a:pt x="2438400" y="571500"/>
                </a:lnTo>
                <a:lnTo>
                  <a:pt x="2409825" y="600075"/>
                </a:lnTo>
                <a:lnTo>
                  <a:pt x="2409825" y="619125"/>
                </a:lnTo>
                <a:lnTo>
                  <a:pt x="2428875" y="638175"/>
                </a:lnTo>
                <a:lnTo>
                  <a:pt x="2447925" y="638175"/>
                </a:lnTo>
                <a:lnTo>
                  <a:pt x="2457450" y="647700"/>
                </a:lnTo>
                <a:lnTo>
                  <a:pt x="2505075" y="647700"/>
                </a:lnTo>
                <a:lnTo>
                  <a:pt x="2514600" y="657225"/>
                </a:lnTo>
                <a:lnTo>
                  <a:pt x="2524125" y="657225"/>
                </a:lnTo>
                <a:lnTo>
                  <a:pt x="2543175" y="676275"/>
                </a:lnTo>
                <a:lnTo>
                  <a:pt x="2543175" y="685800"/>
                </a:lnTo>
                <a:lnTo>
                  <a:pt x="2552700" y="695325"/>
                </a:lnTo>
                <a:lnTo>
                  <a:pt x="2552700" y="723900"/>
                </a:lnTo>
                <a:lnTo>
                  <a:pt x="2562225" y="733425"/>
                </a:lnTo>
                <a:lnTo>
                  <a:pt x="2562225" y="752475"/>
                </a:lnTo>
                <a:lnTo>
                  <a:pt x="2590800" y="781050"/>
                </a:lnTo>
                <a:lnTo>
                  <a:pt x="2609850" y="781050"/>
                </a:lnTo>
                <a:lnTo>
                  <a:pt x="2619375" y="790575"/>
                </a:lnTo>
                <a:lnTo>
                  <a:pt x="2667000" y="790575"/>
                </a:lnTo>
                <a:lnTo>
                  <a:pt x="2676525" y="800100"/>
                </a:lnTo>
                <a:lnTo>
                  <a:pt x="2743200" y="800100"/>
                </a:lnTo>
                <a:lnTo>
                  <a:pt x="2752725" y="809625"/>
                </a:lnTo>
                <a:lnTo>
                  <a:pt x="2771775" y="809625"/>
                </a:lnTo>
                <a:lnTo>
                  <a:pt x="2790825" y="828675"/>
                </a:lnTo>
                <a:lnTo>
                  <a:pt x="2790825" y="885825"/>
                </a:lnTo>
                <a:lnTo>
                  <a:pt x="2781300" y="895350"/>
                </a:lnTo>
                <a:lnTo>
                  <a:pt x="2781300" y="904875"/>
                </a:lnTo>
                <a:lnTo>
                  <a:pt x="2752725" y="933450"/>
                </a:lnTo>
                <a:lnTo>
                  <a:pt x="2743200" y="933450"/>
                </a:lnTo>
                <a:lnTo>
                  <a:pt x="2733675" y="942975"/>
                </a:lnTo>
                <a:lnTo>
                  <a:pt x="2724150" y="942975"/>
                </a:lnTo>
                <a:lnTo>
                  <a:pt x="2676525" y="990600"/>
                </a:lnTo>
                <a:lnTo>
                  <a:pt x="2676525" y="1000125"/>
                </a:lnTo>
                <a:lnTo>
                  <a:pt x="2628900" y="1047750"/>
                </a:lnTo>
                <a:lnTo>
                  <a:pt x="2619375" y="1047750"/>
                </a:lnTo>
                <a:lnTo>
                  <a:pt x="2609850" y="1057275"/>
                </a:lnTo>
                <a:lnTo>
                  <a:pt x="2600325" y="1057275"/>
                </a:lnTo>
                <a:lnTo>
                  <a:pt x="2590800" y="1066800"/>
                </a:lnTo>
                <a:lnTo>
                  <a:pt x="2581275" y="1066800"/>
                </a:lnTo>
                <a:lnTo>
                  <a:pt x="2571750" y="1076325"/>
                </a:lnTo>
                <a:lnTo>
                  <a:pt x="2562225" y="1076325"/>
                </a:lnTo>
                <a:lnTo>
                  <a:pt x="2524125" y="1114425"/>
                </a:lnTo>
                <a:lnTo>
                  <a:pt x="2524125" y="1123950"/>
                </a:lnTo>
                <a:lnTo>
                  <a:pt x="2514600" y="1133475"/>
                </a:lnTo>
                <a:lnTo>
                  <a:pt x="2514600" y="1143000"/>
                </a:lnTo>
                <a:lnTo>
                  <a:pt x="2486025" y="1171575"/>
                </a:lnTo>
                <a:lnTo>
                  <a:pt x="2476500" y="1171575"/>
                </a:lnTo>
                <a:lnTo>
                  <a:pt x="2457450" y="1190625"/>
                </a:lnTo>
                <a:lnTo>
                  <a:pt x="2447925" y="1190625"/>
                </a:lnTo>
                <a:lnTo>
                  <a:pt x="2438400" y="1200150"/>
                </a:lnTo>
                <a:lnTo>
                  <a:pt x="2428875" y="1200150"/>
                </a:lnTo>
                <a:lnTo>
                  <a:pt x="2362200" y="1266825"/>
                </a:lnTo>
                <a:lnTo>
                  <a:pt x="2362200" y="1276350"/>
                </a:lnTo>
                <a:lnTo>
                  <a:pt x="2295525" y="1343025"/>
                </a:lnTo>
                <a:lnTo>
                  <a:pt x="2295525" y="1362075"/>
                </a:lnTo>
                <a:lnTo>
                  <a:pt x="2286000" y="1371600"/>
                </a:lnTo>
                <a:lnTo>
                  <a:pt x="2286000" y="1400175"/>
                </a:lnTo>
                <a:lnTo>
                  <a:pt x="2276475" y="1409700"/>
                </a:lnTo>
                <a:lnTo>
                  <a:pt x="2276475" y="1438275"/>
                </a:lnTo>
                <a:lnTo>
                  <a:pt x="2266950" y="1447800"/>
                </a:lnTo>
                <a:lnTo>
                  <a:pt x="2266950" y="1476375"/>
                </a:lnTo>
                <a:lnTo>
                  <a:pt x="2257425" y="1485900"/>
                </a:lnTo>
                <a:lnTo>
                  <a:pt x="2257425" y="1514475"/>
                </a:lnTo>
                <a:lnTo>
                  <a:pt x="2247900" y="1524000"/>
                </a:lnTo>
                <a:lnTo>
                  <a:pt x="2247900" y="1590675"/>
                </a:lnTo>
                <a:lnTo>
                  <a:pt x="2257425" y="1600200"/>
                </a:lnTo>
                <a:lnTo>
                  <a:pt x="2257425" y="1647825"/>
                </a:lnTo>
                <a:lnTo>
                  <a:pt x="2247900" y="1657350"/>
                </a:lnTo>
                <a:lnTo>
                  <a:pt x="2247900" y="1676400"/>
                </a:lnTo>
                <a:lnTo>
                  <a:pt x="2181225" y="1743075"/>
                </a:lnTo>
                <a:lnTo>
                  <a:pt x="2181225" y="1752600"/>
                </a:lnTo>
                <a:lnTo>
                  <a:pt x="2171700" y="1762125"/>
                </a:lnTo>
                <a:lnTo>
                  <a:pt x="2171700" y="1819275"/>
                </a:lnTo>
                <a:lnTo>
                  <a:pt x="2181225" y="1828800"/>
                </a:lnTo>
                <a:lnTo>
                  <a:pt x="2181225" y="1838325"/>
                </a:lnTo>
                <a:lnTo>
                  <a:pt x="2219325" y="1876425"/>
                </a:lnTo>
                <a:lnTo>
                  <a:pt x="2228850" y="1876425"/>
                </a:lnTo>
                <a:lnTo>
                  <a:pt x="2238375" y="1885950"/>
                </a:lnTo>
                <a:lnTo>
                  <a:pt x="2257425" y="1885950"/>
                </a:lnTo>
                <a:lnTo>
                  <a:pt x="2266950" y="1895475"/>
                </a:lnTo>
                <a:lnTo>
                  <a:pt x="2314575" y="1895475"/>
                </a:lnTo>
                <a:lnTo>
                  <a:pt x="2324100" y="1885950"/>
                </a:lnTo>
                <a:lnTo>
                  <a:pt x="2324100" y="1866900"/>
                </a:lnTo>
                <a:lnTo>
                  <a:pt x="2333625" y="1857375"/>
                </a:lnTo>
                <a:lnTo>
                  <a:pt x="2333625" y="1828800"/>
                </a:lnTo>
                <a:lnTo>
                  <a:pt x="2343150" y="1819275"/>
                </a:lnTo>
                <a:lnTo>
                  <a:pt x="2343150" y="1800225"/>
                </a:lnTo>
                <a:lnTo>
                  <a:pt x="2352675" y="1790700"/>
                </a:lnTo>
                <a:lnTo>
                  <a:pt x="2352675" y="1781175"/>
                </a:lnTo>
                <a:lnTo>
                  <a:pt x="2400300" y="1733550"/>
                </a:lnTo>
                <a:lnTo>
                  <a:pt x="2409825" y="1733550"/>
                </a:lnTo>
                <a:lnTo>
                  <a:pt x="2419350" y="1724025"/>
                </a:lnTo>
                <a:lnTo>
                  <a:pt x="2428875" y="1724025"/>
                </a:lnTo>
                <a:lnTo>
                  <a:pt x="2438400" y="1714500"/>
                </a:lnTo>
                <a:lnTo>
                  <a:pt x="2505075" y="1714500"/>
                </a:lnTo>
                <a:lnTo>
                  <a:pt x="2514600" y="1724025"/>
                </a:lnTo>
                <a:lnTo>
                  <a:pt x="2533650" y="1724025"/>
                </a:lnTo>
                <a:lnTo>
                  <a:pt x="2543175" y="1733550"/>
                </a:lnTo>
                <a:lnTo>
                  <a:pt x="2552700" y="1733550"/>
                </a:lnTo>
                <a:lnTo>
                  <a:pt x="2600325" y="1781175"/>
                </a:lnTo>
                <a:lnTo>
                  <a:pt x="2600325" y="1790700"/>
                </a:lnTo>
                <a:lnTo>
                  <a:pt x="2628900" y="1819275"/>
                </a:lnTo>
                <a:lnTo>
                  <a:pt x="2628900" y="1828800"/>
                </a:lnTo>
                <a:lnTo>
                  <a:pt x="2657475" y="1857375"/>
                </a:lnTo>
                <a:lnTo>
                  <a:pt x="2667000" y="1857375"/>
                </a:lnTo>
                <a:lnTo>
                  <a:pt x="2676525" y="1866900"/>
                </a:lnTo>
                <a:lnTo>
                  <a:pt x="2686050" y="1866900"/>
                </a:lnTo>
                <a:lnTo>
                  <a:pt x="2695575" y="1876425"/>
                </a:lnTo>
                <a:lnTo>
                  <a:pt x="2714625" y="1876425"/>
                </a:lnTo>
                <a:lnTo>
                  <a:pt x="2724150" y="1885950"/>
                </a:lnTo>
                <a:lnTo>
                  <a:pt x="2743200" y="1885950"/>
                </a:lnTo>
                <a:lnTo>
                  <a:pt x="2752725" y="1876425"/>
                </a:lnTo>
                <a:lnTo>
                  <a:pt x="2771775" y="1876425"/>
                </a:lnTo>
                <a:lnTo>
                  <a:pt x="2800350" y="1847850"/>
                </a:lnTo>
                <a:lnTo>
                  <a:pt x="2800350" y="1838325"/>
                </a:lnTo>
                <a:lnTo>
                  <a:pt x="2809875" y="1828800"/>
                </a:lnTo>
                <a:lnTo>
                  <a:pt x="2809875" y="1819275"/>
                </a:lnTo>
                <a:lnTo>
                  <a:pt x="2819400" y="1809750"/>
                </a:lnTo>
                <a:lnTo>
                  <a:pt x="2819400" y="1800225"/>
                </a:lnTo>
                <a:lnTo>
                  <a:pt x="2847975" y="1771650"/>
                </a:lnTo>
                <a:lnTo>
                  <a:pt x="2895600" y="1771650"/>
                </a:lnTo>
                <a:lnTo>
                  <a:pt x="2914650" y="1790700"/>
                </a:lnTo>
                <a:lnTo>
                  <a:pt x="2914650" y="1800225"/>
                </a:lnTo>
                <a:lnTo>
                  <a:pt x="2924175" y="1809750"/>
                </a:lnTo>
                <a:lnTo>
                  <a:pt x="2924175" y="1819275"/>
                </a:lnTo>
                <a:lnTo>
                  <a:pt x="2933700" y="1828800"/>
                </a:lnTo>
                <a:lnTo>
                  <a:pt x="2933700" y="1847850"/>
                </a:lnTo>
                <a:lnTo>
                  <a:pt x="2943225" y="1857375"/>
                </a:lnTo>
                <a:lnTo>
                  <a:pt x="2943225" y="1866900"/>
                </a:lnTo>
                <a:lnTo>
                  <a:pt x="2952750" y="1876425"/>
                </a:lnTo>
                <a:lnTo>
                  <a:pt x="2952750" y="1885950"/>
                </a:lnTo>
                <a:lnTo>
                  <a:pt x="2971800" y="1905000"/>
                </a:lnTo>
                <a:lnTo>
                  <a:pt x="2981325" y="1905000"/>
                </a:lnTo>
                <a:lnTo>
                  <a:pt x="2990850" y="1914525"/>
                </a:lnTo>
                <a:lnTo>
                  <a:pt x="3048000" y="1914525"/>
                </a:lnTo>
                <a:lnTo>
                  <a:pt x="3057525" y="1905000"/>
                </a:lnTo>
                <a:lnTo>
                  <a:pt x="3124200" y="1905000"/>
                </a:lnTo>
                <a:lnTo>
                  <a:pt x="3133725" y="1914525"/>
                </a:lnTo>
                <a:lnTo>
                  <a:pt x="3143250" y="1914525"/>
                </a:lnTo>
                <a:lnTo>
                  <a:pt x="3171825" y="1943100"/>
                </a:lnTo>
                <a:lnTo>
                  <a:pt x="3171825" y="1952625"/>
                </a:lnTo>
                <a:lnTo>
                  <a:pt x="3181350" y="1962150"/>
                </a:lnTo>
                <a:lnTo>
                  <a:pt x="3181350" y="1990725"/>
                </a:lnTo>
                <a:lnTo>
                  <a:pt x="3190875" y="2000250"/>
                </a:lnTo>
                <a:lnTo>
                  <a:pt x="3190875" y="2047875"/>
                </a:lnTo>
                <a:lnTo>
                  <a:pt x="3200400" y="2057400"/>
                </a:lnTo>
                <a:lnTo>
                  <a:pt x="3200400" y="2076450"/>
                </a:lnTo>
                <a:lnTo>
                  <a:pt x="3209925" y="2085975"/>
                </a:lnTo>
                <a:lnTo>
                  <a:pt x="3209925" y="2095500"/>
                </a:lnTo>
                <a:lnTo>
                  <a:pt x="3228975" y="2114550"/>
                </a:lnTo>
                <a:lnTo>
                  <a:pt x="3238500" y="2114550"/>
                </a:lnTo>
                <a:lnTo>
                  <a:pt x="3248025" y="2124075"/>
                </a:lnTo>
                <a:lnTo>
                  <a:pt x="3276600" y="2124075"/>
                </a:lnTo>
                <a:lnTo>
                  <a:pt x="3314700" y="2085975"/>
                </a:lnTo>
                <a:lnTo>
                  <a:pt x="3314700" y="1943100"/>
                </a:lnTo>
                <a:lnTo>
                  <a:pt x="3324225" y="1933575"/>
                </a:lnTo>
                <a:lnTo>
                  <a:pt x="3324225" y="1924050"/>
                </a:lnTo>
                <a:lnTo>
                  <a:pt x="3352800" y="1895475"/>
                </a:lnTo>
                <a:lnTo>
                  <a:pt x="3362325" y="1895475"/>
                </a:lnTo>
                <a:lnTo>
                  <a:pt x="3371850" y="1885950"/>
                </a:lnTo>
                <a:lnTo>
                  <a:pt x="3381375" y="1885950"/>
                </a:lnTo>
                <a:lnTo>
                  <a:pt x="3390900" y="1876425"/>
                </a:lnTo>
                <a:lnTo>
                  <a:pt x="3409950" y="1876425"/>
                </a:lnTo>
                <a:lnTo>
                  <a:pt x="3419475" y="1866900"/>
                </a:lnTo>
                <a:lnTo>
                  <a:pt x="3438525" y="1866900"/>
                </a:lnTo>
                <a:lnTo>
                  <a:pt x="3448050" y="1857375"/>
                </a:lnTo>
                <a:lnTo>
                  <a:pt x="3457575" y="1857375"/>
                </a:lnTo>
                <a:lnTo>
                  <a:pt x="3476625" y="1838325"/>
                </a:lnTo>
                <a:lnTo>
                  <a:pt x="3476625" y="1828800"/>
                </a:lnTo>
                <a:lnTo>
                  <a:pt x="3486150" y="1819275"/>
                </a:lnTo>
                <a:lnTo>
                  <a:pt x="3486150" y="1800225"/>
                </a:lnTo>
                <a:lnTo>
                  <a:pt x="3495675" y="1790700"/>
                </a:lnTo>
                <a:lnTo>
                  <a:pt x="3495675" y="1733550"/>
                </a:lnTo>
                <a:lnTo>
                  <a:pt x="3505200" y="1724025"/>
                </a:lnTo>
                <a:lnTo>
                  <a:pt x="3505200" y="1685925"/>
                </a:lnTo>
                <a:lnTo>
                  <a:pt x="3495675" y="1676400"/>
                </a:lnTo>
                <a:lnTo>
                  <a:pt x="3495675" y="1657350"/>
                </a:lnTo>
                <a:lnTo>
                  <a:pt x="3486150" y="1647825"/>
                </a:lnTo>
                <a:lnTo>
                  <a:pt x="3476625" y="1647825"/>
                </a:lnTo>
                <a:lnTo>
                  <a:pt x="3467100" y="1638300"/>
                </a:lnTo>
                <a:lnTo>
                  <a:pt x="3457575" y="1638300"/>
                </a:lnTo>
                <a:lnTo>
                  <a:pt x="3448050" y="1628775"/>
                </a:lnTo>
                <a:lnTo>
                  <a:pt x="3438525" y="1628775"/>
                </a:lnTo>
                <a:lnTo>
                  <a:pt x="3429000" y="1619250"/>
                </a:lnTo>
                <a:lnTo>
                  <a:pt x="3419475" y="1619250"/>
                </a:lnTo>
                <a:lnTo>
                  <a:pt x="3390900" y="1590675"/>
                </a:lnTo>
                <a:lnTo>
                  <a:pt x="3390900" y="1581150"/>
                </a:lnTo>
                <a:lnTo>
                  <a:pt x="3381375" y="1571625"/>
                </a:lnTo>
                <a:lnTo>
                  <a:pt x="3381375" y="1562100"/>
                </a:lnTo>
                <a:lnTo>
                  <a:pt x="3371850" y="1552575"/>
                </a:lnTo>
                <a:lnTo>
                  <a:pt x="3371850" y="1533525"/>
                </a:lnTo>
                <a:lnTo>
                  <a:pt x="3362325" y="1524000"/>
                </a:lnTo>
                <a:lnTo>
                  <a:pt x="3362325" y="1514475"/>
                </a:lnTo>
                <a:lnTo>
                  <a:pt x="3324225" y="1476375"/>
                </a:lnTo>
                <a:lnTo>
                  <a:pt x="3314700" y="1476375"/>
                </a:lnTo>
                <a:lnTo>
                  <a:pt x="3305175" y="1466850"/>
                </a:lnTo>
                <a:lnTo>
                  <a:pt x="3248025" y="1466850"/>
                </a:lnTo>
                <a:lnTo>
                  <a:pt x="3200400" y="1514475"/>
                </a:lnTo>
                <a:lnTo>
                  <a:pt x="3200400" y="1524000"/>
                </a:lnTo>
                <a:lnTo>
                  <a:pt x="3190875" y="1533525"/>
                </a:lnTo>
                <a:lnTo>
                  <a:pt x="3190875" y="1543050"/>
                </a:lnTo>
                <a:lnTo>
                  <a:pt x="3171825" y="1562100"/>
                </a:lnTo>
                <a:lnTo>
                  <a:pt x="3133725" y="1562100"/>
                </a:lnTo>
                <a:lnTo>
                  <a:pt x="3086100" y="1514475"/>
                </a:lnTo>
                <a:lnTo>
                  <a:pt x="3086100" y="1504950"/>
                </a:lnTo>
                <a:lnTo>
                  <a:pt x="3048000" y="1466850"/>
                </a:lnTo>
                <a:lnTo>
                  <a:pt x="3038475" y="1466850"/>
                </a:lnTo>
                <a:lnTo>
                  <a:pt x="3028950" y="1457325"/>
                </a:lnTo>
                <a:lnTo>
                  <a:pt x="3019425" y="1457325"/>
                </a:lnTo>
                <a:lnTo>
                  <a:pt x="3009900" y="1447800"/>
                </a:lnTo>
                <a:lnTo>
                  <a:pt x="2981325" y="1447800"/>
                </a:lnTo>
                <a:lnTo>
                  <a:pt x="2971800" y="1438275"/>
                </a:lnTo>
                <a:lnTo>
                  <a:pt x="2905125" y="1438275"/>
                </a:lnTo>
                <a:lnTo>
                  <a:pt x="2895600" y="1428750"/>
                </a:lnTo>
                <a:lnTo>
                  <a:pt x="2876550" y="1428750"/>
                </a:lnTo>
                <a:lnTo>
                  <a:pt x="2867025" y="1419225"/>
                </a:lnTo>
                <a:lnTo>
                  <a:pt x="2857500" y="1419225"/>
                </a:lnTo>
                <a:lnTo>
                  <a:pt x="2847975" y="1409700"/>
                </a:lnTo>
                <a:lnTo>
                  <a:pt x="2847975" y="1400175"/>
                </a:lnTo>
                <a:lnTo>
                  <a:pt x="2838450" y="1390650"/>
                </a:lnTo>
                <a:lnTo>
                  <a:pt x="2847975" y="1381125"/>
                </a:lnTo>
                <a:lnTo>
                  <a:pt x="2847975" y="1371600"/>
                </a:lnTo>
                <a:lnTo>
                  <a:pt x="2867025" y="1352550"/>
                </a:lnTo>
                <a:lnTo>
                  <a:pt x="2876550" y="1352550"/>
                </a:lnTo>
                <a:lnTo>
                  <a:pt x="2886075" y="1343025"/>
                </a:lnTo>
                <a:lnTo>
                  <a:pt x="2905125" y="1343025"/>
                </a:lnTo>
                <a:lnTo>
                  <a:pt x="2914650" y="1333500"/>
                </a:lnTo>
                <a:lnTo>
                  <a:pt x="2952750" y="1333500"/>
                </a:lnTo>
                <a:lnTo>
                  <a:pt x="2962275" y="1323975"/>
                </a:lnTo>
                <a:lnTo>
                  <a:pt x="2990850" y="1323975"/>
                </a:lnTo>
                <a:lnTo>
                  <a:pt x="3000375" y="1314450"/>
                </a:lnTo>
                <a:lnTo>
                  <a:pt x="3019425" y="1314450"/>
                </a:lnTo>
                <a:lnTo>
                  <a:pt x="3038475" y="1295400"/>
                </a:lnTo>
                <a:lnTo>
                  <a:pt x="3048000" y="1295400"/>
                </a:lnTo>
                <a:lnTo>
                  <a:pt x="3067050" y="1276350"/>
                </a:lnTo>
                <a:lnTo>
                  <a:pt x="3067050" y="1266825"/>
                </a:lnTo>
                <a:lnTo>
                  <a:pt x="3076575" y="1257300"/>
                </a:lnTo>
                <a:lnTo>
                  <a:pt x="3076575" y="1238250"/>
                </a:lnTo>
                <a:lnTo>
                  <a:pt x="3086100" y="1228725"/>
                </a:lnTo>
                <a:lnTo>
                  <a:pt x="3086100" y="1200150"/>
                </a:lnTo>
                <a:lnTo>
                  <a:pt x="3076575" y="1190625"/>
                </a:lnTo>
                <a:lnTo>
                  <a:pt x="3076575" y="1152525"/>
                </a:lnTo>
                <a:lnTo>
                  <a:pt x="3105150" y="1123950"/>
                </a:lnTo>
                <a:lnTo>
                  <a:pt x="3114675" y="1123950"/>
                </a:lnTo>
                <a:lnTo>
                  <a:pt x="3124200" y="1114425"/>
                </a:lnTo>
                <a:lnTo>
                  <a:pt x="3133725" y="1114425"/>
                </a:lnTo>
                <a:lnTo>
                  <a:pt x="3152775" y="1133475"/>
                </a:lnTo>
                <a:lnTo>
                  <a:pt x="3152775" y="1238250"/>
                </a:lnTo>
                <a:lnTo>
                  <a:pt x="3162300" y="1247775"/>
                </a:lnTo>
                <a:lnTo>
                  <a:pt x="3162300" y="1266825"/>
                </a:lnTo>
                <a:lnTo>
                  <a:pt x="3171825" y="1276350"/>
                </a:lnTo>
                <a:lnTo>
                  <a:pt x="3171825" y="1285875"/>
                </a:lnTo>
                <a:lnTo>
                  <a:pt x="3190875" y="1304925"/>
                </a:lnTo>
                <a:lnTo>
                  <a:pt x="3190875" y="1314450"/>
                </a:lnTo>
                <a:lnTo>
                  <a:pt x="3200400" y="1323975"/>
                </a:lnTo>
                <a:lnTo>
                  <a:pt x="3209925" y="1323975"/>
                </a:lnTo>
                <a:lnTo>
                  <a:pt x="3228975" y="1343025"/>
                </a:lnTo>
                <a:lnTo>
                  <a:pt x="3257550" y="1343025"/>
                </a:lnTo>
                <a:lnTo>
                  <a:pt x="3267075" y="1352550"/>
                </a:lnTo>
                <a:lnTo>
                  <a:pt x="3276600" y="1343025"/>
                </a:lnTo>
                <a:lnTo>
                  <a:pt x="3295650" y="1343025"/>
                </a:lnTo>
                <a:lnTo>
                  <a:pt x="3324225" y="1314450"/>
                </a:lnTo>
                <a:lnTo>
                  <a:pt x="3324225" y="1304925"/>
                </a:lnTo>
                <a:lnTo>
                  <a:pt x="3333750" y="1295400"/>
                </a:lnTo>
                <a:lnTo>
                  <a:pt x="3333750" y="1219200"/>
                </a:lnTo>
                <a:lnTo>
                  <a:pt x="3324225" y="1209675"/>
                </a:lnTo>
                <a:lnTo>
                  <a:pt x="3324225" y="1200150"/>
                </a:lnTo>
                <a:lnTo>
                  <a:pt x="3314700" y="1190625"/>
                </a:lnTo>
                <a:lnTo>
                  <a:pt x="3314700" y="1181100"/>
                </a:lnTo>
                <a:lnTo>
                  <a:pt x="3305175" y="1171575"/>
                </a:lnTo>
                <a:lnTo>
                  <a:pt x="3305175" y="1162050"/>
                </a:lnTo>
                <a:lnTo>
                  <a:pt x="3267075" y="1123950"/>
                </a:lnTo>
                <a:lnTo>
                  <a:pt x="3257550" y="1123950"/>
                </a:lnTo>
                <a:lnTo>
                  <a:pt x="3248025" y="1114425"/>
                </a:lnTo>
                <a:lnTo>
                  <a:pt x="3228975" y="1114425"/>
                </a:lnTo>
                <a:lnTo>
                  <a:pt x="3219450" y="1104900"/>
                </a:lnTo>
                <a:lnTo>
                  <a:pt x="3171825" y="1104900"/>
                </a:lnTo>
                <a:lnTo>
                  <a:pt x="3162300" y="1095375"/>
                </a:lnTo>
                <a:lnTo>
                  <a:pt x="3162300" y="1085850"/>
                </a:lnTo>
                <a:lnTo>
                  <a:pt x="3152775" y="1076325"/>
                </a:lnTo>
                <a:lnTo>
                  <a:pt x="3152775" y="942975"/>
                </a:lnTo>
                <a:lnTo>
                  <a:pt x="3143250" y="933450"/>
                </a:lnTo>
                <a:lnTo>
                  <a:pt x="3143250" y="790575"/>
                </a:lnTo>
                <a:lnTo>
                  <a:pt x="3152775" y="781050"/>
                </a:lnTo>
                <a:lnTo>
                  <a:pt x="3152775" y="742950"/>
                </a:lnTo>
                <a:lnTo>
                  <a:pt x="3162300" y="733425"/>
                </a:lnTo>
                <a:lnTo>
                  <a:pt x="3152775" y="723900"/>
                </a:lnTo>
                <a:lnTo>
                  <a:pt x="3152775" y="714375"/>
                </a:lnTo>
                <a:lnTo>
                  <a:pt x="3133725" y="714375"/>
                </a:lnTo>
                <a:lnTo>
                  <a:pt x="3124200" y="723900"/>
                </a:lnTo>
                <a:lnTo>
                  <a:pt x="3124200" y="733425"/>
                </a:lnTo>
                <a:lnTo>
                  <a:pt x="3105150" y="752475"/>
                </a:lnTo>
                <a:lnTo>
                  <a:pt x="3095625" y="752475"/>
                </a:lnTo>
                <a:lnTo>
                  <a:pt x="3086100" y="762000"/>
                </a:lnTo>
                <a:lnTo>
                  <a:pt x="3076575" y="762000"/>
                </a:lnTo>
                <a:lnTo>
                  <a:pt x="3067050" y="771525"/>
                </a:lnTo>
                <a:lnTo>
                  <a:pt x="3048000" y="771525"/>
                </a:lnTo>
                <a:lnTo>
                  <a:pt x="3038475" y="781050"/>
                </a:lnTo>
                <a:lnTo>
                  <a:pt x="2943225" y="781050"/>
                </a:lnTo>
                <a:lnTo>
                  <a:pt x="2933700" y="790575"/>
                </a:lnTo>
                <a:lnTo>
                  <a:pt x="2847975" y="790575"/>
                </a:lnTo>
                <a:lnTo>
                  <a:pt x="2838450" y="781050"/>
                </a:lnTo>
                <a:lnTo>
                  <a:pt x="2828925" y="781050"/>
                </a:lnTo>
                <a:lnTo>
                  <a:pt x="2809875" y="762000"/>
                </a:lnTo>
                <a:lnTo>
                  <a:pt x="2809875" y="742950"/>
                </a:lnTo>
                <a:lnTo>
                  <a:pt x="2800350" y="733425"/>
                </a:lnTo>
                <a:lnTo>
                  <a:pt x="2800350" y="723900"/>
                </a:lnTo>
                <a:lnTo>
                  <a:pt x="2790825" y="714375"/>
                </a:lnTo>
                <a:lnTo>
                  <a:pt x="2790825" y="704850"/>
                </a:lnTo>
                <a:lnTo>
                  <a:pt x="2752725" y="666750"/>
                </a:lnTo>
                <a:lnTo>
                  <a:pt x="2733675" y="666750"/>
                </a:lnTo>
                <a:lnTo>
                  <a:pt x="2724150" y="657225"/>
                </a:lnTo>
                <a:lnTo>
                  <a:pt x="2667000" y="657225"/>
                </a:lnTo>
                <a:lnTo>
                  <a:pt x="2657475" y="647700"/>
                </a:lnTo>
                <a:lnTo>
                  <a:pt x="2581275" y="647700"/>
                </a:lnTo>
                <a:lnTo>
                  <a:pt x="2571750" y="638175"/>
                </a:lnTo>
                <a:lnTo>
                  <a:pt x="2562225" y="638175"/>
                </a:lnTo>
                <a:lnTo>
                  <a:pt x="2543175" y="619125"/>
                </a:lnTo>
                <a:lnTo>
                  <a:pt x="2543175" y="609600"/>
                </a:lnTo>
                <a:lnTo>
                  <a:pt x="2505075" y="571500"/>
                </a:lnTo>
                <a:lnTo>
                  <a:pt x="2495550" y="571500"/>
                </a:lnTo>
                <a:lnTo>
                  <a:pt x="2486025" y="561975"/>
                </a:lnTo>
                <a:close/>
              </a:path>
              <a:path w="4267200" h="4267200">
                <a:moveTo>
                  <a:pt x="1781175" y="542925"/>
                </a:moveTo>
                <a:lnTo>
                  <a:pt x="1771650" y="552450"/>
                </a:lnTo>
                <a:lnTo>
                  <a:pt x="1724025" y="552450"/>
                </a:lnTo>
                <a:lnTo>
                  <a:pt x="1714500" y="561975"/>
                </a:lnTo>
                <a:lnTo>
                  <a:pt x="1704975" y="561975"/>
                </a:lnTo>
                <a:lnTo>
                  <a:pt x="1695450" y="571500"/>
                </a:lnTo>
                <a:lnTo>
                  <a:pt x="1685925" y="571500"/>
                </a:lnTo>
                <a:lnTo>
                  <a:pt x="1657350" y="600075"/>
                </a:lnTo>
                <a:lnTo>
                  <a:pt x="1657350" y="609600"/>
                </a:lnTo>
                <a:lnTo>
                  <a:pt x="1647825" y="619125"/>
                </a:lnTo>
                <a:lnTo>
                  <a:pt x="1647825" y="628650"/>
                </a:lnTo>
                <a:lnTo>
                  <a:pt x="1628775" y="647700"/>
                </a:lnTo>
                <a:lnTo>
                  <a:pt x="1628775" y="657225"/>
                </a:lnTo>
                <a:lnTo>
                  <a:pt x="1609725" y="676275"/>
                </a:lnTo>
                <a:lnTo>
                  <a:pt x="1609725" y="685800"/>
                </a:lnTo>
                <a:lnTo>
                  <a:pt x="1600200" y="695325"/>
                </a:lnTo>
                <a:lnTo>
                  <a:pt x="1600200" y="714375"/>
                </a:lnTo>
                <a:lnTo>
                  <a:pt x="1590675" y="723900"/>
                </a:lnTo>
                <a:lnTo>
                  <a:pt x="1590675" y="752475"/>
                </a:lnTo>
                <a:lnTo>
                  <a:pt x="1600200" y="762000"/>
                </a:lnTo>
                <a:lnTo>
                  <a:pt x="1600200" y="923925"/>
                </a:lnTo>
                <a:lnTo>
                  <a:pt x="1590675" y="933450"/>
                </a:lnTo>
                <a:lnTo>
                  <a:pt x="1590675" y="971550"/>
                </a:lnTo>
                <a:lnTo>
                  <a:pt x="1581150" y="981075"/>
                </a:lnTo>
                <a:lnTo>
                  <a:pt x="1581150" y="1000125"/>
                </a:lnTo>
                <a:lnTo>
                  <a:pt x="1571625" y="1009650"/>
                </a:lnTo>
                <a:lnTo>
                  <a:pt x="1571625" y="1019175"/>
                </a:lnTo>
                <a:lnTo>
                  <a:pt x="1562100" y="1028700"/>
                </a:lnTo>
                <a:lnTo>
                  <a:pt x="1562100" y="1038225"/>
                </a:lnTo>
                <a:lnTo>
                  <a:pt x="1533525" y="1066800"/>
                </a:lnTo>
                <a:lnTo>
                  <a:pt x="1524000" y="1066800"/>
                </a:lnTo>
                <a:lnTo>
                  <a:pt x="1504950" y="1085850"/>
                </a:lnTo>
                <a:lnTo>
                  <a:pt x="1495425" y="1085850"/>
                </a:lnTo>
                <a:lnTo>
                  <a:pt x="1476375" y="1104900"/>
                </a:lnTo>
                <a:lnTo>
                  <a:pt x="1476375" y="1114425"/>
                </a:lnTo>
                <a:lnTo>
                  <a:pt x="1466850" y="1123950"/>
                </a:lnTo>
                <a:lnTo>
                  <a:pt x="1466850" y="1162050"/>
                </a:lnTo>
                <a:lnTo>
                  <a:pt x="1476375" y="1171575"/>
                </a:lnTo>
                <a:lnTo>
                  <a:pt x="1476375" y="1219200"/>
                </a:lnTo>
                <a:lnTo>
                  <a:pt x="1485900" y="1228725"/>
                </a:lnTo>
                <a:lnTo>
                  <a:pt x="1485900" y="1257300"/>
                </a:lnTo>
                <a:lnTo>
                  <a:pt x="1495425" y="1266825"/>
                </a:lnTo>
                <a:lnTo>
                  <a:pt x="1495425" y="1295400"/>
                </a:lnTo>
                <a:lnTo>
                  <a:pt x="1504950" y="1304925"/>
                </a:lnTo>
                <a:lnTo>
                  <a:pt x="1504950" y="1314450"/>
                </a:lnTo>
                <a:lnTo>
                  <a:pt x="1514475" y="1323975"/>
                </a:lnTo>
                <a:lnTo>
                  <a:pt x="1514475" y="1333500"/>
                </a:lnTo>
                <a:lnTo>
                  <a:pt x="1533525" y="1352550"/>
                </a:lnTo>
                <a:lnTo>
                  <a:pt x="1543050" y="1352550"/>
                </a:lnTo>
                <a:lnTo>
                  <a:pt x="1552575" y="1362075"/>
                </a:lnTo>
                <a:lnTo>
                  <a:pt x="1562100" y="1352550"/>
                </a:lnTo>
                <a:lnTo>
                  <a:pt x="1581150" y="1352550"/>
                </a:lnTo>
                <a:lnTo>
                  <a:pt x="1590675" y="1343025"/>
                </a:lnTo>
                <a:lnTo>
                  <a:pt x="1600200" y="1343025"/>
                </a:lnTo>
                <a:lnTo>
                  <a:pt x="1609725" y="1333500"/>
                </a:lnTo>
                <a:lnTo>
                  <a:pt x="1619250" y="1333500"/>
                </a:lnTo>
                <a:lnTo>
                  <a:pt x="1628775" y="1323975"/>
                </a:lnTo>
                <a:lnTo>
                  <a:pt x="1657350" y="1323975"/>
                </a:lnTo>
                <a:lnTo>
                  <a:pt x="1666875" y="1314450"/>
                </a:lnTo>
                <a:lnTo>
                  <a:pt x="1676400" y="1314450"/>
                </a:lnTo>
                <a:lnTo>
                  <a:pt x="1685925" y="1323975"/>
                </a:lnTo>
                <a:lnTo>
                  <a:pt x="1733550" y="1323975"/>
                </a:lnTo>
                <a:lnTo>
                  <a:pt x="1743075" y="1333500"/>
                </a:lnTo>
                <a:lnTo>
                  <a:pt x="1800225" y="1333500"/>
                </a:lnTo>
                <a:lnTo>
                  <a:pt x="1809750" y="1323975"/>
                </a:lnTo>
                <a:lnTo>
                  <a:pt x="1828800" y="1323975"/>
                </a:lnTo>
                <a:lnTo>
                  <a:pt x="1847850" y="1304925"/>
                </a:lnTo>
                <a:lnTo>
                  <a:pt x="1857375" y="1304925"/>
                </a:lnTo>
                <a:lnTo>
                  <a:pt x="1876425" y="1285875"/>
                </a:lnTo>
                <a:lnTo>
                  <a:pt x="1876425" y="1276350"/>
                </a:lnTo>
                <a:lnTo>
                  <a:pt x="1885950" y="1266825"/>
                </a:lnTo>
                <a:lnTo>
                  <a:pt x="1885950" y="1257300"/>
                </a:lnTo>
                <a:lnTo>
                  <a:pt x="1895475" y="1247775"/>
                </a:lnTo>
                <a:lnTo>
                  <a:pt x="1895475" y="1171575"/>
                </a:lnTo>
                <a:lnTo>
                  <a:pt x="1905000" y="1162050"/>
                </a:lnTo>
                <a:lnTo>
                  <a:pt x="1905000" y="1133475"/>
                </a:lnTo>
                <a:lnTo>
                  <a:pt x="1914525" y="1123950"/>
                </a:lnTo>
                <a:lnTo>
                  <a:pt x="1914525" y="1114425"/>
                </a:lnTo>
                <a:lnTo>
                  <a:pt x="1933575" y="1095375"/>
                </a:lnTo>
                <a:lnTo>
                  <a:pt x="1933575" y="1085850"/>
                </a:lnTo>
                <a:lnTo>
                  <a:pt x="1971675" y="1047750"/>
                </a:lnTo>
                <a:lnTo>
                  <a:pt x="1971675" y="1038225"/>
                </a:lnTo>
                <a:lnTo>
                  <a:pt x="1981200" y="1028700"/>
                </a:lnTo>
                <a:lnTo>
                  <a:pt x="1981200" y="1000125"/>
                </a:lnTo>
                <a:lnTo>
                  <a:pt x="1990725" y="990600"/>
                </a:lnTo>
                <a:lnTo>
                  <a:pt x="1990725" y="923925"/>
                </a:lnTo>
                <a:lnTo>
                  <a:pt x="1981200" y="914400"/>
                </a:lnTo>
                <a:lnTo>
                  <a:pt x="1981200" y="895350"/>
                </a:lnTo>
                <a:lnTo>
                  <a:pt x="1990725" y="885825"/>
                </a:lnTo>
                <a:lnTo>
                  <a:pt x="1990725" y="876300"/>
                </a:lnTo>
                <a:lnTo>
                  <a:pt x="2000250" y="866775"/>
                </a:lnTo>
                <a:lnTo>
                  <a:pt x="2009775" y="866775"/>
                </a:lnTo>
                <a:lnTo>
                  <a:pt x="2019300" y="857250"/>
                </a:lnTo>
                <a:lnTo>
                  <a:pt x="2038350" y="857250"/>
                </a:lnTo>
                <a:lnTo>
                  <a:pt x="2047875" y="847725"/>
                </a:lnTo>
                <a:lnTo>
                  <a:pt x="2057400" y="847725"/>
                </a:lnTo>
                <a:lnTo>
                  <a:pt x="2066925" y="838200"/>
                </a:lnTo>
                <a:lnTo>
                  <a:pt x="2076450" y="838200"/>
                </a:lnTo>
                <a:lnTo>
                  <a:pt x="2143125" y="771525"/>
                </a:lnTo>
                <a:lnTo>
                  <a:pt x="2143125" y="762000"/>
                </a:lnTo>
                <a:lnTo>
                  <a:pt x="2152650" y="752475"/>
                </a:lnTo>
                <a:lnTo>
                  <a:pt x="2152650" y="723900"/>
                </a:lnTo>
                <a:lnTo>
                  <a:pt x="2133600" y="704850"/>
                </a:lnTo>
                <a:lnTo>
                  <a:pt x="2124075" y="704850"/>
                </a:lnTo>
                <a:lnTo>
                  <a:pt x="2114550" y="695325"/>
                </a:lnTo>
                <a:lnTo>
                  <a:pt x="2105025" y="695325"/>
                </a:lnTo>
                <a:lnTo>
                  <a:pt x="2095500" y="685800"/>
                </a:lnTo>
                <a:lnTo>
                  <a:pt x="2085975" y="685800"/>
                </a:lnTo>
                <a:lnTo>
                  <a:pt x="2076450" y="676275"/>
                </a:lnTo>
                <a:lnTo>
                  <a:pt x="2066925" y="676275"/>
                </a:lnTo>
                <a:lnTo>
                  <a:pt x="2057400" y="666750"/>
                </a:lnTo>
                <a:lnTo>
                  <a:pt x="2047875" y="666750"/>
                </a:lnTo>
                <a:lnTo>
                  <a:pt x="2019300" y="638175"/>
                </a:lnTo>
                <a:lnTo>
                  <a:pt x="2019300" y="628650"/>
                </a:lnTo>
                <a:lnTo>
                  <a:pt x="2000250" y="609600"/>
                </a:lnTo>
                <a:lnTo>
                  <a:pt x="2000250" y="600075"/>
                </a:lnTo>
                <a:lnTo>
                  <a:pt x="1981200" y="581025"/>
                </a:lnTo>
                <a:lnTo>
                  <a:pt x="1981200" y="571500"/>
                </a:lnTo>
                <a:lnTo>
                  <a:pt x="1971675" y="561975"/>
                </a:lnTo>
                <a:lnTo>
                  <a:pt x="1962150" y="561975"/>
                </a:lnTo>
                <a:lnTo>
                  <a:pt x="1952625" y="552450"/>
                </a:lnTo>
                <a:lnTo>
                  <a:pt x="1943100" y="552450"/>
                </a:lnTo>
                <a:lnTo>
                  <a:pt x="1933575" y="542925"/>
                </a:lnTo>
                <a:close/>
              </a:path>
              <a:path w="4267200" h="4267200">
                <a:moveTo>
                  <a:pt x="866775" y="542925"/>
                </a:moveTo>
                <a:lnTo>
                  <a:pt x="857250" y="552450"/>
                </a:lnTo>
                <a:lnTo>
                  <a:pt x="838200" y="552450"/>
                </a:lnTo>
                <a:lnTo>
                  <a:pt x="809625" y="581025"/>
                </a:lnTo>
                <a:lnTo>
                  <a:pt x="809625" y="590550"/>
                </a:lnTo>
                <a:lnTo>
                  <a:pt x="800100" y="600075"/>
                </a:lnTo>
                <a:lnTo>
                  <a:pt x="800100" y="609600"/>
                </a:lnTo>
                <a:lnTo>
                  <a:pt x="781050" y="628650"/>
                </a:lnTo>
                <a:lnTo>
                  <a:pt x="781050" y="638175"/>
                </a:lnTo>
                <a:lnTo>
                  <a:pt x="771525" y="647700"/>
                </a:lnTo>
                <a:lnTo>
                  <a:pt x="771525" y="657225"/>
                </a:lnTo>
                <a:lnTo>
                  <a:pt x="723900" y="704850"/>
                </a:lnTo>
                <a:lnTo>
                  <a:pt x="723900" y="714375"/>
                </a:lnTo>
                <a:lnTo>
                  <a:pt x="704850" y="733425"/>
                </a:lnTo>
                <a:lnTo>
                  <a:pt x="704850" y="742950"/>
                </a:lnTo>
                <a:lnTo>
                  <a:pt x="695325" y="752475"/>
                </a:lnTo>
                <a:lnTo>
                  <a:pt x="695325" y="762000"/>
                </a:lnTo>
                <a:lnTo>
                  <a:pt x="704850" y="771525"/>
                </a:lnTo>
                <a:lnTo>
                  <a:pt x="704850" y="790575"/>
                </a:lnTo>
                <a:lnTo>
                  <a:pt x="714375" y="800100"/>
                </a:lnTo>
                <a:lnTo>
                  <a:pt x="714375" y="809625"/>
                </a:lnTo>
                <a:lnTo>
                  <a:pt x="723900" y="819150"/>
                </a:lnTo>
                <a:lnTo>
                  <a:pt x="723900" y="838200"/>
                </a:lnTo>
                <a:lnTo>
                  <a:pt x="733425" y="847725"/>
                </a:lnTo>
                <a:lnTo>
                  <a:pt x="733425" y="866775"/>
                </a:lnTo>
                <a:lnTo>
                  <a:pt x="742950" y="876300"/>
                </a:lnTo>
                <a:lnTo>
                  <a:pt x="742950" y="904875"/>
                </a:lnTo>
                <a:lnTo>
                  <a:pt x="752475" y="914400"/>
                </a:lnTo>
                <a:lnTo>
                  <a:pt x="752475" y="962025"/>
                </a:lnTo>
                <a:lnTo>
                  <a:pt x="762000" y="971550"/>
                </a:lnTo>
                <a:lnTo>
                  <a:pt x="762000" y="1152525"/>
                </a:lnTo>
                <a:lnTo>
                  <a:pt x="771525" y="1162050"/>
                </a:lnTo>
                <a:lnTo>
                  <a:pt x="771525" y="1181100"/>
                </a:lnTo>
                <a:lnTo>
                  <a:pt x="781050" y="1190625"/>
                </a:lnTo>
                <a:lnTo>
                  <a:pt x="781050" y="1200150"/>
                </a:lnTo>
                <a:lnTo>
                  <a:pt x="790575" y="1209675"/>
                </a:lnTo>
                <a:lnTo>
                  <a:pt x="790575" y="1219200"/>
                </a:lnTo>
                <a:lnTo>
                  <a:pt x="838200" y="1266825"/>
                </a:lnTo>
                <a:lnTo>
                  <a:pt x="847725" y="1266825"/>
                </a:lnTo>
                <a:lnTo>
                  <a:pt x="857250" y="1276350"/>
                </a:lnTo>
                <a:lnTo>
                  <a:pt x="876300" y="1276350"/>
                </a:lnTo>
                <a:lnTo>
                  <a:pt x="885825" y="1285875"/>
                </a:lnTo>
                <a:lnTo>
                  <a:pt x="904875" y="1285875"/>
                </a:lnTo>
                <a:lnTo>
                  <a:pt x="914400" y="1276350"/>
                </a:lnTo>
                <a:lnTo>
                  <a:pt x="933450" y="1276350"/>
                </a:lnTo>
                <a:lnTo>
                  <a:pt x="962025" y="1247775"/>
                </a:lnTo>
                <a:lnTo>
                  <a:pt x="962025" y="1228725"/>
                </a:lnTo>
                <a:lnTo>
                  <a:pt x="971550" y="1219200"/>
                </a:lnTo>
                <a:lnTo>
                  <a:pt x="971550" y="1162050"/>
                </a:lnTo>
                <a:lnTo>
                  <a:pt x="981075" y="1152525"/>
                </a:lnTo>
                <a:lnTo>
                  <a:pt x="981075" y="1095375"/>
                </a:lnTo>
                <a:lnTo>
                  <a:pt x="971550" y="1085850"/>
                </a:lnTo>
                <a:lnTo>
                  <a:pt x="971550" y="1000125"/>
                </a:lnTo>
                <a:lnTo>
                  <a:pt x="962025" y="990600"/>
                </a:lnTo>
                <a:lnTo>
                  <a:pt x="962025" y="733425"/>
                </a:lnTo>
                <a:lnTo>
                  <a:pt x="971550" y="723900"/>
                </a:lnTo>
                <a:lnTo>
                  <a:pt x="971550" y="657225"/>
                </a:lnTo>
                <a:lnTo>
                  <a:pt x="981075" y="647700"/>
                </a:lnTo>
                <a:lnTo>
                  <a:pt x="981075" y="600075"/>
                </a:lnTo>
                <a:lnTo>
                  <a:pt x="971550" y="590550"/>
                </a:lnTo>
                <a:lnTo>
                  <a:pt x="971550" y="581025"/>
                </a:lnTo>
                <a:lnTo>
                  <a:pt x="942975" y="552450"/>
                </a:lnTo>
                <a:lnTo>
                  <a:pt x="923925" y="552450"/>
                </a:lnTo>
                <a:lnTo>
                  <a:pt x="914400" y="542925"/>
                </a:lnTo>
                <a:close/>
              </a:path>
              <a:path w="4267200" h="4267200">
                <a:moveTo>
                  <a:pt x="180975" y="133350"/>
                </a:moveTo>
                <a:lnTo>
                  <a:pt x="171450" y="142875"/>
                </a:lnTo>
                <a:lnTo>
                  <a:pt x="161925" y="142875"/>
                </a:lnTo>
                <a:lnTo>
                  <a:pt x="142875" y="161925"/>
                </a:lnTo>
                <a:lnTo>
                  <a:pt x="142875" y="171450"/>
                </a:lnTo>
                <a:lnTo>
                  <a:pt x="133350" y="180975"/>
                </a:lnTo>
                <a:lnTo>
                  <a:pt x="133350" y="228600"/>
                </a:lnTo>
                <a:lnTo>
                  <a:pt x="142875" y="238125"/>
                </a:lnTo>
                <a:lnTo>
                  <a:pt x="142875" y="247650"/>
                </a:lnTo>
                <a:lnTo>
                  <a:pt x="152400" y="257175"/>
                </a:lnTo>
                <a:lnTo>
                  <a:pt x="161925" y="257175"/>
                </a:lnTo>
                <a:lnTo>
                  <a:pt x="171450" y="266700"/>
                </a:lnTo>
                <a:lnTo>
                  <a:pt x="190500" y="266700"/>
                </a:lnTo>
                <a:lnTo>
                  <a:pt x="200025" y="276225"/>
                </a:lnTo>
                <a:lnTo>
                  <a:pt x="209550" y="266700"/>
                </a:lnTo>
                <a:lnTo>
                  <a:pt x="228600" y="266700"/>
                </a:lnTo>
                <a:lnTo>
                  <a:pt x="238125" y="257175"/>
                </a:lnTo>
                <a:lnTo>
                  <a:pt x="247650" y="257175"/>
                </a:lnTo>
                <a:lnTo>
                  <a:pt x="247650" y="247650"/>
                </a:lnTo>
                <a:lnTo>
                  <a:pt x="266700" y="228600"/>
                </a:lnTo>
                <a:lnTo>
                  <a:pt x="266700" y="171450"/>
                </a:lnTo>
                <a:lnTo>
                  <a:pt x="228600" y="133350"/>
                </a:lnTo>
                <a:close/>
              </a:path>
              <a:path w="4267200" h="4267200">
                <a:moveTo>
                  <a:pt x="4229100" y="123825"/>
                </a:moveTo>
                <a:lnTo>
                  <a:pt x="4219575" y="133350"/>
                </a:lnTo>
                <a:lnTo>
                  <a:pt x="4200525" y="133350"/>
                </a:lnTo>
                <a:lnTo>
                  <a:pt x="4191000" y="142875"/>
                </a:lnTo>
                <a:lnTo>
                  <a:pt x="4181475" y="142875"/>
                </a:lnTo>
                <a:lnTo>
                  <a:pt x="4143375" y="180975"/>
                </a:lnTo>
                <a:lnTo>
                  <a:pt x="4143375" y="190500"/>
                </a:lnTo>
                <a:lnTo>
                  <a:pt x="4124325" y="209550"/>
                </a:lnTo>
                <a:lnTo>
                  <a:pt x="4124325" y="228600"/>
                </a:lnTo>
                <a:lnTo>
                  <a:pt x="4114800" y="238125"/>
                </a:lnTo>
                <a:lnTo>
                  <a:pt x="4114800" y="266700"/>
                </a:lnTo>
                <a:lnTo>
                  <a:pt x="4105275" y="276225"/>
                </a:lnTo>
                <a:lnTo>
                  <a:pt x="4105275" y="476250"/>
                </a:lnTo>
                <a:lnTo>
                  <a:pt x="4095750" y="485775"/>
                </a:lnTo>
                <a:lnTo>
                  <a:pt x="4095750" y="571500"/>
                </a:lnTo>
                <a:lnTo>
                  <a:pt x="4086225" y="581025"/>
                </a:lnTo>
                <a:lnTo>
                  <a:pt x="4086225" y="638175"/>
                </a:lnTo>
                <a:lnTo>
                  <a:pt x="4095750" y="647700"/>
                </a:lnTo>
                <a:lnTo>
                  <a:pt x="4095750" y="819150"/>
                </a:lnTo>
                <a:lnTo>
                  <a:pt x="4086225" y="828675"/>
                </a:lnTo>
                <a:lnTo>
                  <a:pt x="4086225" y="847725"/>
                </a:lnTo>
                <a:lnTo>
                  <a:pt x="4076700" y="857250"/>
                </a:lnTo>
                <a:lnTo>
                  <a:pt x="4076700" y="866775"/>
                </a:lnTo>
                <a:lnTo>
                  <a:pt x="4029075" y="914400"/>
                </a:lnTo>
                <a:lnTo>
                  <a:pt x="4029075" y="923925"/>
                </a:lnTo>
                <a:lnTo>
                  <a:pt x="4019550" y="933450"/>
                </a:lnTo>
                <a:lnTo>
                  <a:pt x="4019550" y="942975"/>
                </a:lnTo>
                <a:lnTo>
                  <a:pt x="4010025" y="952500"/>
                </a:lnTo>
                <a:lnTo>
                  <a:pt x="4010025" y="971550"/>
                </a:lnTo>
                <a:lnTo>
                  <a:pt x="4000500" y="981075"/>
                </a:lnTo>
                <a:lnTo>
                  <a:pt x="4000500" y="1009650"/>
                </a:lnTo>
                <a:lnTo>
                  <a:pt x="3990975" y="1019175"/>
                </a:lnTo>
                <a:lnTo>
                  <a:pt x="3990975" y="1066800"/>
                </a:lnTo>
                <a:lnTo>
                  <a:pt x="3981450" y="1076325"/>
                </a:lnTo>
                <a:lnTo>
                  <a:pt x="3981450" y="1276350"/>
                </a:lnTo>
                <a:lnTo>
                  <a:pt x="3971925" y="1285875"/>
                </a:lnTo>
                <a:lnTo>
                  <a:pt x="3971925" y="1314450"/>
                </a:lnTo>
                <a:lnTo>
                  <a:pt x="3962400" y="1323975"/>
                </a:lnTo>
                <a:lnTo>
                  <a:pt x="3962400" y="1352550"/>
                </a:lnTo>
                <a:lnTo>
                  <a:pt x="3952875" y="1362075"/>
                </a:lnTo>
                <a:lnTo>
                  <a:pt x="3952875" y="1466850"/>
                </a:lnTo>
                <a:lnTo>
                  <a:pt x="3962400" y="1476375"/>
                </a:lnTo>
                <a:lnTo>
                  <a:pt x="3962400" y="1533525"/>
                </a:lnTo>
                <a:lnTo>
                  <a:pt x="3971925" y="1543050"/>
                </a:lnTo>
                <a:lnTo>
                  <a:pt x="3971925" y="1628775"/>
                </a:lnTo>
                <a:lnTo>
                  <a:pt x="3981450" y="1638300"/>
                </a:lnTo>
                <a:lnTo>
                  <a:pt x="3981450" y="1666875"/>
                </a:lnTo>
                <a:lnTo>
                  <a:pt x="3990975" y="1676400"/>
                </a:lnTo>
                <a:lnTo>
                  <a:pt x="3990975" y="1704975"/>
                </a:lnTo>
                <a:lnTo>
                  <a:pt x="4000500" y="1714500"/>
                </a:lnTo>
                <a:lnTo>
                  <a:pt x="4000500" y="1733550"/>
                </a:lnTo>
                <a:lnTo>
                  <a:pt x="4010025" y="1743075"/>
                </a:lnTo>
                <a:lnTo>
                  <a:pt x="4010025" y="1762125"/>
                </a:lnTo>
                <a:lnTo>
                  <a:pt x="4019550" y="1771650"/>
                </a:lnTo>
                <a:lnTo>
                  <a:pt x="4019550" y="1828800"/>
                </a:lnTo>
                <a:lnTo>
                  <a:pt x="4029075" y="1838325"/>
                </a:lnTo>
                <a:lnTo>
                  <a:pt x="4029075" y="1895475"/>
                </a:lnTo>
                <a:lnTo>
                  <a:pt x="4038600" y="1905000"/>
                </a:lnTo>
                <a:lnTo>
                  <a:pt x="4038600" y="1924050"/>
                </a:lnTo>
                <a:lnTo>
                  <a:pt x="4048125" y="1933575"/>
                </a:lnTo>
                <a:lnTo>
                  <a:pt x="4048125" y="1943100"/>
                </a:lnTo>
                <a:lnTo>
                  <a:pt x="4086225" y="1981200"/>
                </a:lnTo>
                <a:lnTo>
                  <a:pt x="4095750" y="1981200"/>
                </a:lnTo>
                <a:lnTo>
                  <a:pt x="4114800" y="2000250"/>
                </a:lnTo>
                <a:lnTo>
                  <a:pt x="4124325" y="2000250"/>
                </a:lnTo>
                <a:lnTo>
                  <a:pt x="4171950" y="2047875"/>
                </a:lnTo>
                <a:lnTo>
                  <a:pt x="4171950" y="2057400"/>
                </a:lnTo>
                <a:lnTo>
                  <a:pt x="4162425" y="2066925"/>
                </a:lnTo>
                <a:lnTo>
                  <a:pt x="4162425" y="2076450"/>
                </a:lnTo>
                <a:lnTo>
                  <a:pt x="4143375" y="2095500"/>
                </a:lnTo>
                <a:lnTo>
                  <a:pt x="4143375" y="2105025"/>
                </a:lnTo>
                <a:lnTo>
                  <a:pt x="4124325" y="2124075"/>
                </a:lnTo>
                <a:lnTo>
                  <a:pt x="4124325" y="2133600"/>
                </a:lnTo>
                <a:lnTo>
                  <a:pt x="4114800" y="2143125"/>
                </a:lnTo>
                <a:lnTo>
                  <a:pt x="4114800" y="2162175"/>
                </a:lnTo>
                <a:lnTo>
                  <a:pt x="4105275" y="2171700"/>
                </a:lnTo>
                <a:lnTo>
                  <a:pt x="4105275" y="2219325"/>
                </a:lnTo>
                <a:lnTo>
                  <a:pt x="4095750" y="2228850"/>
                </a:lnTo>
                <a:lnTo>
                  <a:pt x="4095750" y="2295525"/>
                </a:lnTo>
                <a:lnTo>
                  <a:pt x="4105275" y="2305050"/>
                </a:lnTo>
                <a:lnTo>
                  <a:pt x="4105275" y="2419350"/>
                </a:lnTo>
                <a:lnTo>
                  <a:pt x="4114800" y="2428875"/>
                </a:lnTo>
                <a:lnTo>
                  <a:pt x="4114800" y="2486025"/>
                </a:lnTo>
                <a:lnTo>
                  <a:pt x="4124325" y="2495550"/>
                </a:lnTo>
                <a:lnTo>
                  <a:pt x="4124325" y="2533650"/>
                </a:lnTo>
                <a:lnTo>
                  <a:pt x="4133850" y="2543175"/>
                </a:lnTo>
                <a:lnTo>
                  <a:pt x="4133850" y="2562225"/>
                </a:lnTo>
                <a:lnTo>
                  <a:pt x="4143375" y="2571750"/>
                </a:lnTo>
                <a:lnTo>
                  <a:pt x="4143375" y="2590800"/>
                </a:lnTo>
                <a:lnTo>
                  <a:pt x="4152900" y="2600325"/>
                </a:lnTo>
                <a:lnTo>
                  <a:pt x="4152900" y="2609850"/>
                </a:lnTo>
                <a:lnTo>
                  <a:pt x="4181475" y="2638425"/>
                </a:lnTo>
                <a:lnTo>
                  <a:pt x="4191000" y="2638425"/>
                </a:lnTo>
                <a:lnTo>
                  <a:pt x="4200525" y="2647950"/>
                </a:lnTo>
                <a:lnTo>
                  <a:pt x="4219575" y="2647950"/>
                </a:lnTo>
                <a:lnTo>
                  <a:pt x="4229100" y="2657475"/>
                </a:lnTo>
                <a:lnTo>
                  <a:pt x="4257675" y="2657475"/>
                </a:lnTo>
                <a:lnTo>
                  <a:pt x="4257675" y="123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FF382E"/>
            </a:solidFill>
          </a:ln>
        </p:spPr>
      </p:sp>
      <p:sp>
        <p:nvSpPr>
          <p:cNvPr id="144" name="fused-map-name">
            <a:extLst xmlns:a="http://schemas.openxmlformats.org/drawingml/2006/main">
              <a:ext uri="{FF2B5EF4-FFF2-40B4-BE49-F238E27FC236}">
                <a16:creationId xmlns:a16="http://schemas.microsoft.com/office/drawing/2014/main" id="{3A3238AD-7076-4BAC-9C7D-F16D67D1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5909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DCFnet outline</a:t>
            </a:r>
          </a:p>
        </p:txBody>
      </p:sp>
      <p:sp>
        <p:nvSpPr>
          <p:cNvPr id="145" name="single-map-name">
            <a:extLst xmlns:a="http://schemas.openxmlformats.org/drawingml/2006/main">
              <a:ext uri="{FF2B5EF4-FFF2-40B4-BE49-F238E27FC236}">
                <a16:creationId xmlns:a16="http://schemas.microsoft.com/office/drawing/2014/main" id="{7A40382D-0DE1-4E39-8A90-5D35822A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6057900"/>
            <a:ext cx="2181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DINO-only outline</a:t>
            </a:r>
          </a:p>
        </p:txBody>
      </p:sp>
      <p:sp>
        <p:nvSpPr>
          <p:cNvPr id="146" name="row-rule">
            <a:extLst xmlns:a="http://schemas.openxmlformats.org/drawingml/2006/main">
              <a:ext uri="{FF2B5EF4-FFF2-40B4-BE49-F238E27FC236}">
                <a16:creationId xmlns:a16="http://schemas.microsoft.com/office/drawing/2014/main" id="{CA930D75-EB45-41C7-A853-5E397789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9097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AD4DA"/>
            </a:solidFill>
          </a:ln>
        </p:spPr>
      </p:sp>
      <p:sp>
        <p:nvSpPr>
          <p:cNvPr id="147" name="protocol-rule">
            <a:extLst xmlns:a="http://schemas.openxmlformats.org/drawingml/2006/main">
              <a:ext uri="{FF2B5EF4-FFF2-40B4-BE49-F238E27FC236}">
                <a16:creationId xmlns:a16="http://schemas.microsoft.com/office/drawing/2014/main" id="{F3EB5054-083B-46A5-B44D-259B7778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627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148" name="shared-protocol">
            <a:extLst xmlns:a="http://schemas.openxmlformats.org/drawingml/2006/main">
              <a:ext uri="{FF2B5EF4-FFF2-40B4-BE49-F238E27FC236}">
                <a16:creationId xmlns:a16="http://schemas.microsoft.com/office/drawing/2014/main" id="{BAD5C701-0AEC-4BDF-A323-6CA541B2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57975"/>
            <a:ext cx="15316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latin typeface="Arial"/>
                <a:ea typeface="Arial"/>
                <a:cs typeface="Arial"/>
              </a:rPr>
              <a:t>(</a:t>
            </a:r>
            <a:r>
              <a:rPr sz="2250" b="0" i="1">
                <a:latin typeface="Cambria Math"/>
                <a:ea typeface="Cambria Math"/>
                <a:cs typeface="Cambria Math"/>
              </a:rPr>
              <a:t>c</a:t>
            </a:r>
            <a:r>
              <a:rPr sz="2250" b="1" i="0">
                <a:latin typeface="Arial"/>
                <a:ea typeface="Arial"/>
                <a:cs typeface="Arial"/>
              </a:rPr>
              <a:t>) Fixed conditions in every paired run</a:t>
            </a:r>
          </a:p>
        </p:txBody>
      </p:sp>
      <p:sp>
        <p:nvSpPr>
          <p:cNvPr id="149" name="protocol-title0">
            <a:extLst xmlns:a="http://schemas.openxmlformats.org/drawingml/2006/main">
              <a:ext uri="{FF2B5EF4-FFF2-40B4-BE49-F238E27FC236}">
                <a16:creationId xmlns:a16="http://schemas.microsoft.com/office/drawing/2014/main" id="{A0194561-B40B-49A6-9676-81D7A32B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7162800"/>
            <a:ext cx="3533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Same input manifest</a:t>
            </a:r>
          </a:p>
        </p:txBody>
      </p:sp>
      <p:sp>
        <p:nvSpPr>
          <p:cNvPr id="150" name="protocol-text0">
            <a:extLst xmlns:a="http://schemas.openxmlformats.org/drawingml/2006/main">
              <a:ext uri="{FF2B5EF4-FFF2-40B4-BE49-F238E27FC236}">
                <a16:creationId xmlns:a16="http://schemas.microsoft.com/office/drawing/2014/main" id="{94E0A3EA-CAC1-4CAC-834F-C52BF563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7591425"/>
            <a:ext cx="3571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latin typeface="Cambria Math"/>
                <a:ea typeface="Cambria Math"/>
                <a:cs typeface="Cambria Math"/>
              </a:rPr>
              <a:t>K</a:t>
            </a:r>
            <a:r>
              <a:rPr sz="1875" b="0" i="0">
                <a:latin typeface="Cambria Math"/>
                <a:ea typeface="Cambria Math"/>
                <a:cs typeface="Cambria Math"/>
              </a:rPr>
              <a:t> = 1, 2, 4</a:t>
            </a:r>
            <a:r>
              <a:rPr sz="1875" b="0" i="0">
                <a:latin typeface="Arial"/>
                <a:ea typeface="Arial"/>
                <a:cs typeface="Arial"/>
              </a:rPr>
              <a:t>
Seeds = 0, 1, 2
Same support and query IDs</a:t>
            </a:r>
          </a:p>
        </p:txBody>
      </p:sp>
      <p:sp>
        <p:nvSpPr>
          <p:cNvPr id="151" name="protocol-sep0">
            <a:extLst xmlns:a="http://schemas.openxmlformats.org/drawingml/2006/main">
              <a:ext uri="{FF2B5EF4-FFF2-40B4-BE49-F238E27FC236}">
                <a16:creationId xmlns:a16="http://schemas.microsoft.com/office/drawing/2014/main" id="{15E74AE2-EE9A-40C8-8936-60F9ACDE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7210425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A"/>
            </a:solidFill>
          </a:ln>
        </p:spPr>
      </p:sp>
      <p:sp>
        <p:nvSpPr>
          <p:cNvPr id="152" name="protocol-title1">
            <a:extLst xmlns:a="http://schemas.openxmlformats.org/drawingml/2006/main">
              <a:ext uri="{FF2B5EF4-FFF2-40B4-BE49-F238E27FC236}">
                <a16:creationId xmlns:a16="http://schemas.microsoft.com/office/drawing/2014/main" id="{F04501C4-D14A-46A8-B0B2-7B60A68E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162800"/>
            <a:ext cx="3533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4856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4856C"/>
                </a:solidFill>
                <a:latin typeface="Arial"/>
                <a:ea typeface="Arial"/>
                <a:cs typeface="Arial"/>
              </a:rPr>
              <a:t>Same distance</a:t>
            </a:r>
          </a:p>
        </p:txBody>
      </p:sp>
      <p:sp>
        <p:nvSpPr>
          <p:cNvPr id="153" name="protocol-text1">
            <a:extLst xmlns:a="http://schemas.openxmlformats.org/drawingml/2006/main">
              <a:ext uri="{FF2B5EF4-FFF2-40B4-BE49-F238E27FC236}">
                <a16:creationId xmlns:a16="http://schemas.microsoft.com/office/drawing/2014/main" id="{AF136038-1724-46A9-9D8F-E5EAF56F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591425"/>
            <a:ext cx="3571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latin typeface="Arial"/>
                <a:ea typeface="Arial"/>
                <a:cs typeface="Arial"/>
              </a:rPr>
              <a:t>All normal support patches
FAISS IndexFlatL2
Nearest squared </a:t>
            </a:r>
            <a:r>
              <a:rPr sz="1875" b="0" i="1">
                <a:latin typeface="Cambria Math"/>
                <a:ea typeface="Cambria Math"/>
                <a:cs typeface="Cambria Math"/>
              </a:rPr>
              <a:t>ℓ</a:t>
            </a:r>
            <a:r>
              <a:rPr sz="1350" b="0" i="0" baseline="-25000">
                <a:latin typeface="Cambria Math"/>
                <a:ea typeface="Cambria Math"/>
                <a:cs typeface="Cambria Math"/>
              </a:rPr>
              <a:t>2</a:t>
            </a:r>
            <a:r>
              <a:rPr sz="1875" b="0" i="0">
                <a:latin typeface="Cambria Math"/>
                <a:ea typeface="Cambria Math"/>
                <a:cs typeface="Cambria Math"/>
              </a:rPr>
              <a:t> / 2</a:t>
            </a:r>
          </a:p>
        </p:txBody>
      </p:sp>
      <p:sp>
        <p:nvSpPr>
          <p:cNvPr id="154" name="protocol-sep1">
            <a:extLst xmlns:a="http://schemas.openxmlformats.org/drawingml/2006/main">
              <a:ext uri="{FF2B5EF4-FFF2-40B4-BE49-F238E27FC236}">
                <a16:creationId xmlns:a16="http://schemas.microsoft.com/office/drawing/2014/main" id="{3D823017-FD32-448F-9D1E-9B4C18C0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210425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A"/>
            </a:solidFill>
          </a:ln>
        </p:spPr>
      </p:sp>
      <p:sp>
        <p:nvSpPr>
          <p:cNvPr id="155" name="protocol-title2">
            <a:extLst xmlns:a="http://schemas.openxmlformats.org/drawingml/2006/main">
              <a:ext uri="{FF2B5EF4-FFF2-40B4-BE49-F238E27FC236}">
                <a16:creationId xmlns:a16="http://schemas.microsoft.com/office/drawing/2014/main" id="{26BDC528-3DB9-4229-99EA-EEAD240B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7162800"/>
            <a:ext cx="3533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4856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4856C"/>
                </a:solidFill>
                <a:latin typeface="Arial"/>
                <a:ea typeface="Arial"/>
                <a:cs typeface="Arial"/>
              </a:rPr>
              <a:t>Same output processing</a:t>
            </a:r>
          </a:p>
        </p:txBody>
      </p:sp>
      <p:sp>
        <p:nvSpPr>
          <p:cNvPr id="156" name="protocol-text2">
            <a:extLst xmlns:a="http://schemas.openxmlformats.org/drawingml/2006/main">
              <a:ext uri="{FF2B5EF4-FFF2-40B4-BE49-F238E27FC236}">
                <a16:creationId xmlns:a16="http://schemas.microsoft.com/office/drawing/2014/main" id="{AA08D634-0F40-42E1-9F8F-30A98589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7591425"/>
            <a:ext cx="3571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latin typeface="Arial"/>
                <a:ea typeface="Arial"/>
                <a:cs typeface="Arial"/>
              </a:rPr>
              <a:t>448 × 448 maps, Gaussian </a:t>
            </a:r>
            <a:r>
              <a:rPr sz="1875" b="0" i="1">
                <a:latin typeface="Cambria Math"/>
                <a:ea typeface="Cambria Math"/>
                <a:cs typeface="Cambria Math"/>
              </a:rPr>
              <a:t>σ</a:t>
            </a:r>
            <a:r>
              <a:rPr sz="1875" b="0" i="0">
                <a:latin typeface="Cambria Math"/>
                <a:ea typeface="Cambria Math"/>
                <a:cs typeface="Cambria Math"/>
              </a:rPr>
              <a:t> = 4</a:t>
            </a:r>
            <a:r>
              <a:rPr sz="1875" b="0" i="0">
                <a:latin typeface="Arial"/>
                <a:ea typeface="Arial"/>
                <a:cs typeface="Arial"/>
              </a:rPr>
              <a:t>
Image score = spatial max
Threshold + contour display</a:t>
            </a:r>
          </a:p>
        </p:txBody>
      </p:sp>
      <p:sp>
        <p:nvSpPr>
          <p:cNvPr id="157" name="protocol-sep2">
            <a:extLst xmlns:a="http://schemas.openxmlformats.org/drawingml/2006/main">
              <a:ext uri="{FF2B5EF4-FFF2-40B4-BE49-F238E27FC236}">
                <a16:creationId xmlns:a16="http://schemas.microsoft.com/office/drawing/2014/main" id="{F6328839-C040-4F6C-A518-0B2A773C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7210425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A"/>
            </a:solidFill>
          </a:ln>
        </p:spPr>
      </p:sp>
      <p:sp>
        <p:nvSpPr>
          <p:cNvPr id="158" name="protocol-title3">
            <a:extLst xmlns:a="http://schemas.openxmlformats.org/drawingml/2006/main">
              <a:ext uri="{FF2B5EF4-FFF2-40B4-BE49-F238E27FC236}">
                <a16:creationId xmlns:a16="http://schemas.microsoft.com/office/drawing/2014/main" id="{099BDF1B-4D8C-4242-AB2C-114A4449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7162800"/>
            <a:ext cx="3533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4856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4856C"/>
                </a:solidFill>
                <a:latin typeface="Arial"/>
                <a:ea typeface="Arial"/>
                <a:cs typeface="Arial"/>
              </a:rPr>
              <a:t>Same evaluation</a:t>
            </a:r>
          </a:p>
        </p:txBody>
      </p:sp>
      <p:sp>
        <p:nvSpPr>
          <p:cNvPr id="159" name="protocol-text3">
            <a:extLst xmlns:a="http://schemas.openxmlformats.org/drawingml/2006/main">
              <a:ext uri="{FF2B5EF4-FFF2-40B4-BE49-F238E27FC236}">
                <a16:creationId xmlns:a16="http://schemas.microsoft.com/office/drawing/2014/main" id="{9E7D7779-C532-4F87-BF2D-3F3CEBF1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7591425"/>
            <a:ext cx="3571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latin typeface="Arial"/>
                <a:ea typeface="Arial"/>
                <a:cs typeface="Arial"/>
              </a:rPr>
              <a:t>Same category and test split
Same metric implementation
Paired comparison per </a:t>
            </a:r>
            <a:r>
              <a:rPr sz="1875" b="0" i="1">
                <a:latin typeface="Cambria Math"/>
                <a:ea typeface="Cambria Math"/>
                <a:cs typeface="Cambria Math"/>
              </a:rPr>
              <a:t>K</a:t>
            </a:r>
            <a:r>
              <a:rPr sz="1875" b="0" i="0">
                <a:latin typeface="Arial"/>
                <a:ea typeface="Arial"/>
                <a:cs typeface="Arial"/>
              </a:rPr>
              <a:t> / seed</a:t>
            </a:r>
          </a:p>
        </p:txBody>
      </p:sp>
      <p:sp>
        <p:nvSpPr>
          <p:cNvPr id="160" name="cost-note">
            <a:extLst xmlns:a="http://schemas.openxmlformats.org/drawingml/2006/main">
              <a:ext uri="{FF2B5EF4-FFF2-40B4-BE49-F238E27FC236}">
                <a16:creationId xmlns:a16="http://schemas.microsoft.com/office/drawing/2014/main" id="{2D0364AE-5061-4F56-9395-83855F95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658225"/>
            <a:ext cx="1204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Descriptor storage: DCFnet = 2 × DINO-only for the same number of stored patches</a:t>
            </a:r>
          </a:p>
        </p:txBody>
      </p:sp>
      <p:sp>
        <p:nvSpPr>
          <p:cNvPr id="161" name="example-note">
            <a:extLst xmlns:a="http://schemas.openxmlformats.org/drawingml/2006/main">
              <a:ext uri="{FF2B5EF4-FFF2-40B4-BE49-F238E27FC236}">
                <a16:creationId xmlns:a16="http://schemas.microsoft.com/office/drawing/2014/main" id="{FDB89206-5706-4C2A-BE3F-4725F109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6582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Illustrative contour threshold</a:t>
            </a:r>
          </a:p>
        </p:txBody>
      </p:sp>
    </p:spTree>
    <p:extLst>
      <p:ext uri="{BB962C8B-B14F-4D97-AF65-F5344CB8AC3E}">
        <p14:creationId xmlns:p14="http://schemas.microsoft.com/office/powerpoint/2010/main" val="16336664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2026-09-11T06:54:06.6980000Z</dcterms:created>
  <dcterms:modified xsi:type="dcterms:W3CDTF">2026-09-11T06:54:06.6980000Z</dcterms:modified>
</coreProperties>
</file>