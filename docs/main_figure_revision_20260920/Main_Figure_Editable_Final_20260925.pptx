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5bd350ae7c4e7a" /><Relationship Type="http://schemas.openxmlformats.org/officeDocument/2006/relationships/extended-properties" Target="/docProps/app.xml" Id="Rf92796217a47429e" /><Relationship Type="http://schemas.openxmlformats.org/officeDocument/2006/relationships/officeDocument" Target="/ppt/presentation.xml" Id="Rfa54f82c992948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85aee557c84b6d"/>
  </p:sldMasterIdLst>
  <p:notesMasterIdLst>
    <p:notesMasterId xmlns:r="http://schemas.openxmlformats.org/officeDocument/2006/relationships" r:id="R21ebbce6716544d6"/>
  </p:notesMasterIdLst>
  <p:sldIdLst>
    <p:sldId xmlns:r="http://schemas.openxmlformats.org/officeDocument/2006/relationships" id="256" r:id="Rcd0c5581f5294c28"/>
  </p:sldIdLst>
  <p:sldSz cx="12192000" cy="10096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52a79f823f456d" /><Relationship Type="http://schemas.openxmlformats.org/officeDocument/2006/relationships/slideMaster" Target="/ppt/slideMasters/slideMaster1.xml" Id="Ra585aee557c84b6d" /><Relationship Type="http://schemas.openxmlformats.org/officeDocument/2006/relationships/notesMaster" Target="/ppt/notesMasters/notesMaster1.xml" Id="R21ebbce6716544d6" /><Relationship Type="http://schemas.openxmlformats.org/officeDocument/2006/relationships/presProps" Target="/ppt/presProps.xml" Id="R91915a6f169b4f14" /><Relationship Type="http://schemas.openxmlformats.org/officeDocument/2006/relationships/tableStyles" Target="/ppt/tableStyles.xml" Id="R92b2b1decd3f4ae1" /><Relationship Type="http://schemas.openxmlformats.org/officeDocument/2006/relationships/slide" Target="/ppt/slides/slide1.xml" Id="Rcd0c5581f5294c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a61e0b406c4e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785c176b884a6b" /><Relationship Type="http://schemas.openxmlformats.org/officeDocument/2006/relationships/notesMaster" Target="/ppt/notesMasters/notesMaster1.xml" Id="R8778dedc155c40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Scientific sources: scripts/manuscript_build_20260914 and docs/manuscript_polished_20260919. Real image assets: D:\STUDY\My_github\reference-matching-interaction-ad\scripts\figures_reference_matching_20260914\assets. MPDD metal_plate/test/scratches/026.png, A1 joint matching, seed 0 K=1. Score map follows stored resize and Gaussian sigma=4 processing. Red contour uses archived 256-bin Otsu polygons without loading a test mask. Three support thumbnails illustrate the general K-image input; they do not claim the output example used all three. The four constructions are the dual-encoder baseline, duplicate-branch control, equal-weight replacement, and balanced replacement. The frozen encoder names are DINOv2-B/14, AnomalyCLIP visual, and the replacement options DINOv2-S/14 or WideResNet50-2. p is query-patch index, b branch index, r normal-bank candidate. Native model outputs are the continuous anomaly map and its spatial maximum. Contour is display only. The replacement slot is a fixed construction, never a runtime switch. All diagrams and labels are editable native shapes, with real images embedded.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e6d770af7548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005c5cfb404710" /><Relationship Type="http://schemas.openxmlformats.org/officeDocument/2006/relationships/slideLayout" Target="/ppt/slideLayouts/slideLayout1.xml" Id="R1395b844a18344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95b844a18344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c8e7cf811b4ffd" /><Relationship Type="http://schemas.openxmlformats.org/officeDocument/2006/relationships/image" Target="/ppt/media/image.png" Id="Rb387ba49410d4f07" /><Relationship Type="http://schemas.openxmlformats.org/officeDocument/2006/relationships/image" Target="/ppt/media/image2.png" Id="Re4c446af887d4f59" /><Relationship Type="http://schemas.openxmlformats.org/officeDocument/2006/relationships/image" Target="/ppt/media/image3.png" Id="Re7779d8fd0544371" /><Relationship Type="http://schemas.openxmlformats.org/officeDocument/2006/relationships/image" Target="/ppt/media/image4.png" Id="R72b32a40e7e0481f" /><Relationship Type="http://schemas.openxmlformats.org/officeDocument/2006/relationships/image" Target="/ppt/media/image5.png" Id="R9312dc7cc8b848ff" /><Relationship Type="http://schemas.openxmlformats.org/officeDocument/2006/relationships/image" Target="/ppt/media/image6.png" Id="R6332d0510af6457d" /><Relationship Type="http://schemas.openxmlformats.org/officeDocument/2006/relationships/notesSlide" Target="/ppt/notesSlides/notesSlide1.xml" Id="R82826a8bbd7c4a1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9" name="memory-band">
            <a:extLst xmlns:a="http://schemas.openxmlformats.org/drawingml/2006/main">
              <a:ext uri="{FF2B5EF4-FFF2-40B4-BE49-F238E27FC236}">
                <a16:creationId xmlns:a16="http://schemas.microsoft.com/office/drawing/2014/main" id="{DB5B9EA5-F7DF-4060-9D9B-F2F8816C1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76200"/>
            <a:ext cx="1196340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9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query-band">
            <a:extLst xmlns:a="http://schemas.openxmlformats.org/drawingml/2006/main">
              <a:ext uri="{FF2B5EF4-FFF2-40B4-BE49-F238E27FC236}">
                <a16:creationId xmlns:a16="http://schemas.microsoft.com/office/drawing/2014/main" id="{81A9188B-6BA3-44B7-8095-918BA9F1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3314700"/>
            <a:ext cx="119634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ntrol-band">
            <a:extLst xmlns:a="http://schemas.openxmlformats.org/drawingml/2006/main">
              <a:ext uri="{FF2B5EF4-FFF2-40B4-BE49-F238E27FC236}">
                <a16:creationId xmlns:a16="http://schemas.microsoft.com/office/drawing/2014/main" id="{B4A0CD0E-632B-4889-8A48-BF72ACBD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7162800"/>
            <a:ext cx="1196340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-a">
            <a:extLst xmlns:a="http://schemas.openxmlformats.org/drawingml/2006/main">
              <a:ext uri="{FF2B5EF4-FFF2-40B4-BE49-F238E27FC236}">
                <a16:creationId xmlns:a16="http://schemas.microsoft.com/office/drawing/2014/main" id="{468119D4-233C-4359-BA44-0E9D1204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71450"/>
            <a:ext cx="1123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(a) Construct the normal reference bank</a:t>
            </a:r>
          </a:p>
        </p:txBody>
      </p:sp>
      <p:pic>
        <p:nvPicPr>
          <p:cNvPr id="1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87ba49410d4f07"/>
          <a:stretch xmlns:a="http://schemas.openxmlformats.org/drawingml/2006/main"/>
        </p:blipFill>
        <p:spPr>
          <a:xfrm xmlns:a="http://schemas.openxmlformats.org/drawingml/2006/main">
            <a:off x="257175" y="857250"/>
            <a:ext cx="952500" cy="952500"/>
          </a:xfrm>
          <a:prstGeom xmlns:a="http://schemas.openxmlformats.org/drawingml/2006/main" prst="rect">
            <a:avLst/>
          </a:prstGeom>
        </p:spPr>
      </p:pic>
      <p:sp>
        <p:nvSpPr>
          <p:cNvPr id="6" name="support-border-0">
            <a:extLst xmlns:a="http://schemas.openxmlformats.org/drawingml/2006/main">
              <a:ext uri="{FF2B5EF4-FFF2-40B4-BE49-F238E27FC236}">
                <a16:creationId xmlns:a16="http://schemas.microsoft.com/office/drawing/2014/main" id="{23B2D91B-B393-4C1E-9EBC-A2F4B3BE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857250"/>
            <a:ext cx="95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4A5AE"/>
            </a:solidFill>
            <a:prstDash val="solid"/>
          </a:ln>
        </p:spPr>
      </p:sp>
      <p:pic>
        <p:nvPicPr>
          <p:cNvPr id="1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c446af887d4f59"/>
          <a:stretch xmlns:a="http://schemas.openxmlformats.org/drawingml/2006/main"/>
        </p:blipFill>
        <p:spPr>
          <a:xfrm xmlns:a="http://schemas.openxmlformats.org/drawingml/2006/main">
            <a:off x="609600" y="1085850"/>
            <a:ext cx="952500" cy="952500"/>
          </a:xfrm>
          <a:prstGeom xmlns:a="http://schemas.openxmlformats.org/drawingml/2006/main" prst="rect">
            <a:avLst/>
          </a:prstGeom>
        </p:spPr>
      </p:pic>
      <p:sp>
        <p:nvSpPr>
          <p:cNvPr id="8" name="support-border-1">
            <a:extLst xmlns:a="http://schemas.openxmlformats.org/drawingml/2006/main">
              <a:ext uri="{FF2B5EF4-FFF2-40B4-BE49-F238E27FC236}">
                <a16:creationId xmlns:a16="http://schemas.microsoft.com/office/drawing/2014/main" id="{91A76466-7E78-450D-9F2A-2FEFA812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95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4A5AE"/>
            </a:solidFill>
            <a:prstDash val="solid"/>
          </a:ln>
        </p:spPr>
      </p:sp>
      <p:pic>
        <p:nvPicPr>
          <p:cNvPr id="1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779d8fd0544371"/>
          <a:stretch xmlns:a="http://schemas.openxmlformats.org/drawingml/2006/main"/>
        </p:blipFill>
        <p:spPr>
          <a:xfrm xmlns:a="http://schemas.openxmlformats.org/drawingml/2006/main">
            <a:off x="962025" y="1314450"/>
            <a:ext cx="952500" cy="952500"/>
          </a:xfrm>
          <a:prstGeom xmlns:a="http://schemas.openxmlformats.org/drawingml/2006/main" prst="rect">
            <a:avLst/>
          </a:prstGeom>
        </p:spPr>
      </p:pic>
      <p:sp>
        <p:nvSpPr>
          <p:cNvPr id="10" name="support-border-2">
            <a:extLst xmlns:a="http://schemas.openxmlformats.org/drawingml/2006/main">
              <a:ext uri="{FF2B5EF4-FFF2-40B4-BE49-F238E27FC236}">
                <a16:creationId xmlns:a16="http://schemas.microsoft.com/office/drawing/2014/main" id="{7D9108DF-F781-46FB-94DA-12E2409B6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314450"/>
            <a:ext cx="95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4A5AE"/>
            </a:solidFill>
            <a:prstDash val="solid"/>
          </a:ln>
        </p:spPr>
      </p:sp>
      <p:sp>
        <p:nvSpPr>
          <p:cNvPr id="11" name="support-set">
            <a:extLst xmlns:a="http://schemas.openxmlformats.org/drawingml/2006/main">
              <a:ext uri="{FF2B5EF4-FFF2-40B4-BE49-F238E27FC236}">
                <a16:creationId xmlns:a16="http://schemas.microsoft.com/office/drawing/2014/main" id="{BD214326-EEF7-40E4-A139-3316C78B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333625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>
                <a:solidFill>
                  <a:srgbClr val="1E2E38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1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x</a:t>
            </a:r>
            <a:r>
              <a:rPr sz="2250" b="0" i="1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2250" b="0" i="1" baseline="30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c</a:t>
            </a:r>
          </a:p>
        </p:txBody>
      </p:sp>
      <p:sp>
        <p:nvSpPr>
          <p:cNvPr id="12" name="support-description">
            <a:extLst xmlns:a="http://schemas.openxmlformats.org/drawingml/2006/main">
              <a:ext uri="{FF2B5EF4-FFF2-40B4-BE49-F238E27FC236}">
                <a16:creationId xmlns:a16="http://schemas.microsoft.com/office/drawing/2014/main" id="{393E63C4-09E6-4C55-A6E5-96BB970A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3837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1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K</a:t>
            </a:r>
            <a:r>
              <a:rPr sz="2250" b="0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 normal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support images</a:t>
            </a:r>
          </a:p>
        </p:txBody>
      </p:sp>
      <p:sp>
        <p:nvSpPr>
          <p:cNvPr id="13" name="frozen-box">
            <a:extLst xmlns:a="http://schemas.openxmlformats.org/drawingml/2006/main">
              <a:ext uri="{FF2B5EF4-FFF2-40B4-BE49-F238E27FC236}">
                <a16:creationId xmlns:a16="http://schemas.microsoft.com/office/drawing/2014/main" id="{53403DAC-C115-4784-BD38-C81C5937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762000"/>
            <a:ext cx="2724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4A5AE"/>
            </a:solidFill>
            <a:prstDash val="solid"/>
          </a:ln>
        </p:spPr>
      </p:sp>
      <p:sp>
        <p:nvSpPr>
          <p:cNvPr id="14" name="frozen-title">
            <a:extLst xmlns:a="http://schemas.openxmlformats.org/drawingml/2006/main">
              <a:ext uri="{FF2B5EF4-FFF2-40B4-BE49-F238E27FC236}">
                <a16:creationId xmlns:a16="http://schemas.microsoft.com/office/drawing/2014/main" id="{ED5B9273-E4DB-4BE2-8E6D-893D67C3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790575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Frozen encoders</a:t>
            </a:r>
          </a:p>
        </p:txBody>
      </p:sp>
      <p:sp>
        <p:nvSpPr>
          <p:cNvPr id="15" name="branch-0">
            <a:extLst xmlns:a="http://schemas.openxmlformats.org/drawingml/2006/main">
              <a:ext uri="{FF2B5EF4-FFF2-40B4-BE49-F238E27FC236}">
                <a16:creationId xmlns:a16="http://schemas.microsoft.com/office/drawing/2014/main" id="{CE6756CA-344B-4169-87D4-12D44BC63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209675"/>
            <a:ext cx="2590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7"/>
          </a:solidFill>
          <a:ln xmlns:a="http://schemas.openxmlformats.org/drawingml/2006/main" w="14288">
            <a:solidFill>
              <a:srgbClr val="2E6F9E"/>
            </a:solidFill>
            <a:prstDash val="solid"/>
          </a:ln>
        </p:spPr>
      </p:sp>
      <p:sp>
        <p:nvSpPr>
          <p:cNvPr id="16" name="branch-label-0">
            <a:extLst xmlns:a="http://schemas.openxmlformats.org/drawingml/2006/main">
              <a:ext uri="{FF2B5EF4-FFF2-40B4-BE49-F238E27FC236}">
                <a16:creationId xmlns:a16="http://schemas.microsoft.com/office/drawing/2014/main" id="{494392EE-57E5-455F-84FE-B7278D68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190625"/>
            <a:ext cx="2590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2E6F9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2E6F9E"/>
                </a:solidFill>
                <a:latin typeface="Times New Roman"/>
                <a:ea typeface="Times New Roman"/>
                <a:cs typeface="Times New Roman"/>
              </a:rPr>
              <a:t>DINOv2-B/14</a:t>
            </a:r>
          </a:p>
        </p:txBody>
      </p:sp>
      <p:sp>
        <p:nvSpPr>
          <p:cNvPr id="17" name="branch-1">
            <a:extLst xmlns:a="http://schemas.openxmlformats.org/drawingml/2006/main">
              <a:ext uri="{FF2B5EF4-FFF2-40B4-BE49-F238E27FC236}">
                <a16:creationId xmlns:a16="http://schemas.microsoft.com/office/drawing/2014/main" id="{CC5D4F5E-3B1E-42A3-A1C3-4755B25C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543050"/>
            <a:ext cx="2590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F"/>
          </a:solidFill>
          <a:ln xmlns:a="http://schemas.openxmlformats.org/drawingml/2006/main" w="14288">
            <a:solidFill>
              <a:srgbClr val="B27C20"/>
            </a:solidFill>
            <a:prstDash val="solid"/>
          </a:ln>
        </p:spPr>
      </p:sp>
      <p:sp>
        <p:nvSpPr>
          <p:cNvPr id="18" name="branch-label-1">
            <a:extLst xmlns:a="http://schemas.openxmlformats.org/drawingml/2006/main">
              <a:ext uri="{FF2B5EF4-FFF2-40B4-BE49-F238E27FC236}">
                <a16:creationId xmlns:a16="http://schemas.microsoft.com/office/drawing/2014/main" id="{CDA66387-BCD0-4A89-B7D2-8D751C139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524000"/>
            <a:ext cx="2590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B27C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B27C20"/>
                </a:solidFill>
                <a:latin typeface="Times New Roman"/>
                <a:ea typeface="Times New Roman"/>
                <a:cs typeface="Times New Roman"/>
              </a:rPr>
              <a:t>AnomalyCLIP visual</a:t>
            </a:r>
          </a:p>
        </p:txBody>
      </p:sp>
      <p:sp>
        <p:nvSpPr>
          <p:cNvPr id="19" name="branch-2">
            <a:extLst xmlns:a="http://schemas.openxmlformats.org/drawingml/2006/main">
              <a:ext uri="{FF2B5EF4-FFF2-40B4-BE49-F238E27FC236}">
                <a16:creationId xmlns:a16="http://schemas.microsoft.com/office/drawing/2014/main" id="{C196E2D4-722E-44D3-8ABD-36A09C67B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876425"/>
            <a:ext cx="2590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0E8"/>
          </a:solidFill>
          <a:ln xmlns:a="http://schemas.openxmlformats.org/drawingml/2006/main" w="14288">
            <a:solidFill>
              <a:srgbClr val="3F7C5E"/>
            </a:solidFill>
            <a:prstDash val="solid"/>
          </a:ln>
        </p:spPr>
      </p:sp>
      <p:sp>
        <p:nvSpPr>
          <p:cNvPr id="20" name="branch-label-2">
            <a:extLst xmlns:a="http://schemas.openxmlformats.org/drawingml/2006/main">
              <a:ext uri="{FF2B5EF4-FFF2-40B4-BE49-F238E27FC236}">
                <a16:creationId xmlns:a16="http://schemas.microsoft.com/office/drawing/2014/main" id="{C06A13D4-D687-4FBD-AC75-AB8CBC46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857375"/>
            <a:ext cx="2590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3F7C5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3F7C5E"/>
                </a:solidFill>
                <a:latin typeface="Times New Roman"/>
                <a:ea typeface="Times New Roman"/>
                <a:cs typeface="Times New Roman"/>
              </a:rPr>
              <a:t>DINOv2-S/14 or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3F7C5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3F7C5E"/>
                </a:solidFill>
                <a:latin typeface="Times New Roman"/>
                <a:ea typeface="Times New Roman"/>
                <a:cs typeface="Times New Roman"/>
              </a:rPr>
              <a:t>WideResNet50-2</a:t>
            </a:r>
          </a:p>
        </p:txBody>
      </p:sp>
      <p:sp>
        <p:nvSpPr>
          <p:cNvPr id="21" name="frozen-note">
            <a:extLst xmlns:a="http://schemas.openxmlformats.org/drawingml/2006/main">
              <a:ext uri="{FF2B5EF4-FFF2-40B4-BE49-F238E27FC236}">
                <a16:creationId xmlns:a16="http://schemas.microsoft.com/office/drawing/2014/main" id="{49548193-C1C4-4805-A7F1-CDC5286D3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05075"/>
            <a:ext cx="2647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Replacement options</a:t>
            </a:r>
          </a:p>
        </p:txBody>
      </p:sp>
      <p:sp>
        <p:nvSpPr>
          <p:cNvPr id="22" name="anchor-0">
            <a:extLst xmlns:a="http://schemas.openxmlformats.org/drawingml/2006/main">
              <a:ext uri="{FF2B5EF4-FFF2-40B4-BE49-F238E27FC236}">
                <a16:creationId xmlns:a16="http://schemas.microsoft.com/office/drawing/2014/main" id="{FBB0E017-4906-4590-A276-E7481A44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013" y="15859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anchor-1">
            <a:extLst xmlns:a="http://schemas.openxmlformats.org/drawingml/2006/main">
              <a:ext uri="{FF2B5EF4-FFF2-40B4-BE49-F238E27FC236}">
                <a16:creationId xmlns:a16="http://schemas.microsoft.com/office/drawing/2014/main" id="{DEB182D8-838B-4827-A546-249E1D56C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0788" y="15859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62" name="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2014538" y="1590676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E2E38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25" name="anchor-2">
            <a:extLst xmlns:a="http://schemas.openxmlformats.org/drawingml/2006/main">
              <a:ext uri="{FF2B5EF4-FFF2-40B4-BE49-F238E27FC236}">
                <a16:creationId xmlns:a16="http://schemas.microsoft.com/office/drawing/2014/main" id="{DFA32277-2AF7-4417-A145-1754037B0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4038" y="15859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anchor-3">
            <a:extLst xmlns:a="http://schemas.openxmlformats.org/drawingml/2006/main">
              <a:ext uri="{FF2B5EF4-FFF2-40B4-BE49-F238E27FC236}">
                <a16:creationId xmlns:a16="http://schemas.microsoft.com/office/drawing/2014/main" id="{C668F7F4-800D-4832-9D40-AE9A422A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938" y="15859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65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5643563" y="1590676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E2E38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28" name="alignment-box">
            <a:extLst xmlns:a="http://schemas.openxmlformats.org/drawingml/2006/main">
              <a:ext uri="{FF2B5EF4-FFF2-40B4-BE49-F238E27FC236}">
                <a16:creationId xmlns:a16="http://schemas.microsoft.com/office/drawing/2014/main" id="{8971FA6A-9FF2-402F-B910-E9291E504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762000"/>
            <a:ext cx="21240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1F3"/>
          </a:solidFill>
          <a:ln xmlns:a="http://schemas.openxmlformats.org/drawingml/2006/main" w="19050">
            <a:solidFill>
              <a:srgbClr val="4C7C86"/>
            </a:solidFill>
            <a:prstDash val="solid"/>
          </a:ln>
        </p:spPr>
      </p:sp>
      <p:sp>
        <p:nvSpPr>
          <p:cNvPr id="29" name="alignment-title">
            <a:extLst xmlns:a="http://schemas.openxmlformats.org/drawingml/2006/main">
              <a:ext uri="{FF2B5EF4-FFF2-40B4-BE49-F238E27FC236}">
                <a16:creationId xmlns:a16="http://schemas.microsoft.com/office/drawing/2014/main" id="{28CD4EBE-3511-4DED-BC44-F7E69B81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809625"/>
            <a:ext cx="1905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Align grids</a:t>
            </a:r>
          </a:p>
        </p:txBody>
      </p:sp>
      <p:sp>
        <p:nvSpPr>
          <p:cNvPr id="30" name="feature-grid-0-0">
            <a:extLst xmlns:a="http://schemas.openxmlformats.org/drawingml/2006/main">
              <a:ext uri="{FF2B5EF4-FFF2-40B4-BE49-F238E27FC236}">
                <a16:creationId xmlns:a16="http://schemas.microsoft.com/office/drawing/2014/main" id="{ADFCF94D-99CE-4A81-9AD6-83FF2538E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2954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7EA"/>
          </a:solidFill>
          <a:ln xmlns:a="http://schemas.openxmlformats.org/drawingml/2006/main" w="9525">
            <a:solidFill>
              <a:srgbClr val="4C7C86"/>
            </a:solidFill>
            <a:prstDash val="solid"/>
          </a:ln>
        </p:spPr>
      </p:sp>
      <p:sp>
        <p:nvSpPr>
          <p:cNvPr id="31" name="feature-grid-0-1">
            <a:extLst xmlns:a="http://schemas.openxmlformats.org/drawingml/2006/main">
              <a:ext uri="{FF2B5EF4-FFF2-40B4-BE49-F238E27FC236}">
                <a16:creationId xmlns:a16="http://schemas.microsoft.com/office/drawing/2014/main" id="{60EAC2A1-C293-4A93-B84A-D3BA2A79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2954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7EA"/>
          </a:solidFill>
          <a:ln xmlns:a="http://schemas.openxmlformats.org/drawingml/2006/main" w="9525">
            <a:solidFill>
              <a:srgbClr val="4C7C86"/>
            </a:solidFill>
            <a:prstDash val="solid"/>
          </a:ln>
        </p:spPr>
      </p:sp>
      <p:sp>
        <p:nvSpPr>
          <p:cNvPr id="32" name="feature-grid-0-2">
            <a:extLst xmlns:a="http://schemas.openxmlformats.org/drawingml/2006/main">
              <a:ext uri="{FF2B5EF4-FFF2-40B4-BE49-F238E27FC236}">
                <a16:creationId xmlns:a16="http://schemas.microsoft.com/office/drawing/2014/main" id="{1514508C-9820-4781-807B-6B1E9B11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12954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7EA"/>
          </a:solidFill>
          <a:ln xmlns:a="http://schemas.openxmlformats.org/drawingml/2006/main" w="9525">
            <a:solidFill>
              <a:srgbClr val="4C7C86"/>
            </a:solidFill>
            <a:prstDash val="solid"/>
          </a:ln>
        </p:spPr>
      </p:sp>
      <p:sp>
        <p:nvSpPr>
          <p:cNvPr id="33" name="feature-grid-1-0">
            <a:extLst xmlns:a="http://schemas.openxmlformats.org/drawingml/2006/main">
              <a:ext uri="{FF2B5EF4-FFF2-40B4-BE49-F238E27FC236}">
                <a16:creationId xmlns:a16="http://schemas.microsoft.com/office/drawing/2014/main" id="{2BFD1ECB-8148-4179-80D9-59DEAD2F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5335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7EA"/>
          </a:solidFill>
          <a:ln xmlns:a="http://schemas.openxmlformats.org/drawingml/2006/main" w="9525">
            <a:solidFill>
              <a:srgbClr val="4C7C86"/>
            </a:solidFill>
            <a:prstDash val="solid"/>
          </a:ln>
        </p:spPr>
      </p:sp>
      <p:sp>
        <p:nvSpPr>
          <p:cNvPr id="34" name="feature-grid-1-1">
            <a:extLst xmlns:a="http://schemas.openxmlformats.org/drawingml/2006/main">
              <a:ext uri="{FF2B5EF4-FFF2-40B4-BE49-F238E27FC236}">
                <a16:creationId xmlns:a16="http://schemas.microsoft.com/office/drawing/2014/main" id="{6D3DCB05-83BA-4553-BB50-3BBCBEB14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5335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7EA"/>
          </a:solidFill>
          <a:ln xmlns:a="http://schemas.openxmlformats.org/drawingml/2006/main" w="9525">
            <a:solidFill>
              <a:srgbClr val="4C7C86"/>
            </a:solidFill>
            <a:prstDash val="solid"/>
          </a:ln>
        </p:spPr>
      </p:sp>
      <p:sp>
        <p:nvSpPr>
          <p:cNvPr id="35" name="feature-grid-1-2">
            <a:extLst xmlns:a="http://schemas.openxmlformats.org/drawingml/2006/main">
              <a:ext uri="{FF2B5EF4-FFF2-40B4-BE49-F238E27FC236}">
                <a16:creationId xmlns:a16="http://schemas.microsoft.com/office/drawing/2014/main" id="{89431F01-8BDB-49B4-80DE-E436FD74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15335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7EA"/>
          </a:solidFill>
          <a:ln xmlns:a="http://schemas.openxmlformats.org/drawingml/2006/main" w="9525">
            <a:solidFill>
              <a:srgbClr val="4C7C86"/>
            </a:solidFill>
            <a:prstDash val="solid"/>
          </a:ln>
        </p:spPr>
      </p:sp>
      <p:sp>
        <p:nvSpPr>
          <p:cNvPr id="36" name="feature-grid-2-0">
            <a:extLst xmlns:a="http://schemas.openxmlformats.org/drawingml/2006/main">
              <a:ext uri="{FF2B5EF4-FFF2-40B4-BE49-F238E27FC236}">
                <a16:creationId xmlns:a16="http://schemas.microsoft.com/office/drawing/2014/main" id="{954B5308-7426-4FD0-89BB-31941FBD7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77165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7EA"/>
          </a:solidFill>
          <a:ln xmlns:a="http://schemas.openxmlformats.org/drawingml/2006/main" w="9525">
            <a:solidFill>
              <a:srgbClr val="4C7C86"/>
            </a:solidFill>
            <a:prstDash val="solid"/>
          </a:ln>
        </p:spPr>
      </p:sp>
      <p:sp>
        <p:nvSpPr>
          <p:cNvPr id="37" name="feature-grid-2-1">
            <a:extLst xmlns:a="http://schemas.openxmlformats.org/drawingml/2006/main">
              <a:ext uri="{FF2B5EF4-FFF2-40B4-BE49-F238E27FC236}">
                <a16:creationId xmlns:a16="http://schemas.microsoft.com/office/drawing/2014/main" id="{57E8E774-6DD1-4B54-A95F-EAD1C221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7165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7EA"/>
          </a:solidFill>
          <a:ln xmlns:a="http://schemas.openxmlformats.org/drawingml/2006/main" w="9525">
            <a:solidFill>
              <a:srgbClr val="4C7C86"/>
            </a:solidFill>
            <a:prstDash val="solid"/>
          </a:ln>
        </p:spPr>
      </p:sp>
      <p:sp>
        <p:nvSpPr>
          <p:cNvPr id="38" name="feature-grid-2-2">
            <a:extLst xmlns:a="http://schemas.openxmlformats.org/drawingml/2006/main">
              <a:ext uri="{FF2B5EF4-FFF2-40B4-BE49-F238E27FC236}">
                <a16:creationId xmlns:a16="http://schemas.microsoft.com/office/drawing/2014/main" id="{74B24B84-2AF2-4161-87E6-BB9E426A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177165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7EA"/>
          </a:solidFill>
          <a:ln xmlns:a="http://schemas.openxmlformats.org/drawingml/2006/main" w="9525">
            <a:solidFill>
              <a:srgbClr val="4C7C86"/>
            </a:solidFill>
            <a:prstDash val="solid"/>
          </a:ln>
        </p:spPr>
      </p:sp>
      <p:sp>
        <p:nvSpPr>
          <p:cNvPr id="39" name="unit-norm">
            <a:extLst xmlns:a="http://schemas.openxmlformats.org/drawingml/2006/main">
              <a:ext uri="{FF2B5EF4-FFF2-40B4-BE49-F238E27FC236}">
                <a16:creationId xmlns:a16="http://schemas.microsoft.com/office/drawing/2014/main" id="{158643FD-A7A0-40A9-85F5-744CF9C1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40970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>
                <a:solidFill>
                  <a:srgbClr val="1E2E38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ℓ</a:t>
            </a:r>
            <a:r>
              <a:rPr sz="2250" b="0" i="0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unit</a:t>
            </a:r>
          </a:p>
        </p:txBody>
      </p:sp>
      <p:sp>
        <p:nvSpPr>
          <p:cNvPr id="40" name="aligned-note">
            <a:extLst xmlns:a="http://schemas.openxmlformats.org/drawingml/2006/main">
              <a:ext uri="{FF2B5EF4-FFF2-40B4-BE49-F238E27FC236}">
                <a16:creationId xmlns:a16="http://schemas.microsoft.com/office/drawing/2014/main" id="{E44D9148-F67A-4A3F-90CC-97616DEF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505075"/>
            <a:ext cx="2400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Unit descriptors</a:t>
            </a:r>
          </a:p>
        </p:txBody>
      </p:sp>
      <p:sp>
        <p:nvSpPr>
          <p:cNvPr id="41" name="anchor-4">
            <a:extLst xmlns:a="http://schemas.openxmlformats.org/drawingml/2006/main">
              <a:ext uri="{FF2B5EF4-FFF2-40B4-BE49-F238E27FC236}">
                <a16:creationId xmlns:a16="http://schemas.microsoft.com/office/drawing/2014/main" id="{F7A16AF1-FD7F-403E-AA93-B978536C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4363" y="15859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2" name="anchor-5">
            <a:extLst xmlns:a="http://schemas.openxmlformats.org/drawingml/2006/main">
              <a:ext uri="{FF2B5EF4-FFF2-40B4-BE49-F238E27FC236}">
                <a16:creationId xmlns:a16="http://schemas.microsoft.com/office/drawing/2014/main" id="{CC6FB4FC-E58E-49A6-8FA0-DA71CB8A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9638" y="15859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81" name=""/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8243888" y="1590676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E2E38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44" name="bank-box">
            <a:extLst xmlns:a="http://schemas.openxmlformats.org/drawingml/2006/main">
              <a:ext uri="{FF2B5EF4-FFF2-40B4-BE49-F238E27FC236}">
                <a16:creationId xmlns:a16="http://schemas.microsoft.com/office/drawing/2014/main" id="{2D088903-AE21-43D2-8AD0-C38326A9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762000"/>
            <a:ext cx="3333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19050">
            <a:solidFill>
              <a:srgbClr val="5C7386"/>
            </a:solidFill>
            <a:prstDash val="solid"/>
          </a:ln>
        </p:spPr>
      </p:sp>
      <p:sp>
        <p:nvSpPr>
          <p:cNvPr id="45" name="bank-title">
            <a:extLst xmlns:a="http://schemas.openxmlformats.org/drawingml/2006/main">
              <a:ext uri="{FF2B5EF4-FFF2-40B4-BE49-F238E27FC236}">
                <a16:creationId xmlns:a16="http://schemas.microsoft.com/office/drawing/2014/main" id="{5DA54EDC-B104-412D-9444-0AE1905D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0100"/>
            <a:ext cx="31623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Fixed reference bank</a:t>
            </a:r>
          </a:p>
        </p:txBody>
      </p:sp>
      <p:sp>
        <p:nvSpPr>
          <p:cNvPr id="46" name="bank-0-0">
            <a:extLst xmlns:a="http://schemas.openxmlformats.org/drawingml/2006/main">
              <a:ext uri="{FF2B5EF4-FFF2-40B4-BE49-F238E27FC236}">
                <a16:creationId xmlns:a16="http://schemas.microsoft.com/office/drawing/2014/main" id="{D752B6CC-F6C0-48D6-92A5-CF58859D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323975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47" name="bank-0-1">
            <a:extLst xmlns:a="http://schemas.openxmlformats.org/drawingml/2006/main">
              <a:ext uri="{FF2B5EF4-FFF2-40B4-BE49-F238E27FC236}">
                <a16:creationId xmlns:a16="http://schemas.microsoft.com/office/drawing/2014/main" id="{9687BD31-5208-4AF9-8589-A5D6C434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323975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48" name="bank-0-2">
            <a:extLst xmlns:a="http://schemas.openxmlformats.org/drawingml/2006/main">
              <a:ext uri="{FF2B5EF4-FFF2-40B4-BE49-F238E27FC236}">
                <a16:creationId xmlns:a16="http://schemas.microsoft.com/office/drawing/2014/main" id="{230672C3-FA32-40E3-AB9E-2A01345C9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1323975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49" name="bank-0-3">
            <a:extLst xmlns:a="http://schemas.openxmlformats.org/drawingml/2006/main">
              <a:ext uri="{FF2B5EF4-FFF2-40B4-BE49-F238E27FC236}">
                <a16:creationId xmlns:a16="http://schemas.microsoft.com/office/drawing/2014/main" id="{C174996C-470C-433E-A7B7-EA0463D2A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23975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50" name="bank-0-4">
            <a:extLst xmlns:a="http://schemas.openxmlformats.org/drawingml/2006/main">
              <a:ext uri="{FF2B5EF4-FFF2-40B4-BE49-F238E27FC236}">
                <a16:creationId xmlns:a16="http://schemas.microsoft.com/office/drawing/2014/main" id="{B0FF1C35-4319-4061-8160-3945BB71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1323975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51" name="bank-0-5">
            <a:extLst xmlns:a="http://schemas.openxmlformats.org/drawingml/2006/main">
              <a:ext uri="{FF2B5EF4-FFF2-40B4-BE49-F238E27FC236}">
                <a16:creationId xmlns:a16="http://schemas.microsoft.com/office/drawing/2014/main" id="{62E79383-066E-400E-A62C-8AED667BC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323975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52" name="bank-0-6">
            <a:extLst xmlns:a="http://schemas.openxmlformats.org/drawingml/2006/main">
              <a:ext uri="{FF2B5EF4-FFF2-40B4-BE49-F238E27FC236}">
                <a16:creationId xmlns:a16="http://schemas.microsoft.com/office/drawing/2014/main" id="{ECEAD69B-C6B8-4328-81A7-C48AF1DE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1323975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53" name="bank-0-7">
            <a:extLst xmlns:a="http://schemas.openxmlformats.org/drawingml/2006/main">
              <a:ext uri="{FF2B5EF4-FFF2-40B4-BE49-F238E27FC236}">
                <a16:creationId xmlns:a16="http://schemas.microsoft.com/office/drawing/2014/main" id="{AB9E6977-79A3-4D40-AA43-0C4714BC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1323975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54" name="bank-1-0">
            <a:extLst xmlns:a="http://schemas.openxmlformats.org/drawingml/2006/main">
              <a:ext uri="{FF2B5EF4-FFF2-40B4-BE49-F238E27FC236}">
                <a16:creationId xmlns:a16="http://schemas.microsoft.com/office/drawing/2014/main" id="{FB139640-2C1A-42FB-83CE-EE92CBF5E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581150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55" name="bank-1-1">
            <a:extLst xmlns:a="http://schemas.openxmlformats.org/drawingml/2006/main">
              <a:ext uri="{FF2B5EF4-FFF2-40B4-BE49-F238E27FC236}">
                <a16:creationId xmlns:a16="http://schemas.microsoft.com/office/drawing/2014/main" id="{04FDCEBB-E4F9-45A5-9CD9-148B93F01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581150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56" name="bank-1-2">
            <a:extLst xmlns:a="http://schemas.openxmlformats.org/drawingml/2006/main">
              <a:ext uri="{FF2B5EF4-FFF2-40B4-BE49-F238E27FC236}">
                <a16:creationId xmlns:a16="http://schemas.microsoft.com/office/drawing/2014/main" id="{ED717057-87C8-4C47-BA36-AB5D03EA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1581150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57" name="bank-1-3">
            <a:extLst xmlns:a="http://schemas.openxmlformats.org/drawingml/2006/main">
              <a:ext uri="{FF2B5EF4-FFF2-40B4-BE49-F238E27FC236}">
                <a16:creationId xmlns:a16="http://schemas.microsoft.com/office/drawing/2014/main" id="{6798AFB3-69C2-4EE2-9814-F393BDCDD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581150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58" name="bank-1-4">
            <a:extLst xmlns:a="http://schemas.openxmlformats.org/drawingml/2006/main">
              <a:ext uri="{FF2B5EF4-FFF2-40B4-BE49-F238E27FC236}">
                <a16:creationId xmlns:a16="http://schemas.microsoft.com/office/drawing/2014/main" id="{D4CE0CF7-E7AC-41EB-9959-77ECADC1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1581150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59" name="bank-1-5">
            <a:extLst xmlns:a="http://schemas.openxmlformats.org/drawingml/2006/main">
              <a:ext uri="{FF2B5EF4-FFF2-40B4-BE49-F238E27FC236}">
                <a16:creationId xmlns:a16="http://schemas.microsoft.com/office/drawing/2014/main" id="{236472CA-C3EC-4A85-9780-14CF4E5E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581150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60" name="bank-1-6">
            <a:extLst xmlns:a="http://schemas.openxmlformats.org/drawingml/2006/main">
              <a:ext uri="{FF2B5EF4-FFF2-40B4-BE49-F238E27FC236}">
                <a16:creationId xmlns:a16="http://schemas.microsoft.com/office/drawing/2014/main" id="{E211A0B2-A951-446A-8F80-471F437BD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1581150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61" name="bank-1-7">
            <a:extLst xmlns:a="http://schemas.openxmlformats.org/drawingml/2006/main">
              <a:ext uri="{FF2B5EF4-FFF2-40B4-BE49-F238E27FC236}">
                <a16:creationId xmlns:a16="http://schemas.microsoft.com/office/drawing/2014/main" id="{16F2E88C-E4C1-4C1B-B8B1-EB1E763C3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1581150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62" name="bank-2-0">
            <a:extLst xmlns:a="http://schemas.openxmlformats.org/drawingml/2006/main">
              <a:ext uri="{FF2B5EF4-FFF2-40B4-BE49-F238E27FC236}">
                <a16:creationId xmlns:a16="http://schemas.microsoft.com/office/drawing/2014/main" id="{27155BEE-44DE-4E43-964D-0652C2DF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838325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63" name="bank-2-1">
            <a:extLst xmlns:a="http://schemas.openxmlformats.org/drawingml/2006/main">
              <a:ext uri="{FF2B5EF4-FFF2-40B4-BE49-F238E27FC236}">
                <a16:creationId xmlns:a16="http://schemas.microsoft.com/office/drawing/2014/main" id="{DB2DEECE-8E9B-4B99-9D57-4DF989E7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838325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64" name="bank-2-2">
            <a:extLst xmlns:a="http://schemas.openxmlformats.org/drawingml/2006/main">
              <a:ext uri="{FF2B5EF4-FFF2-40B4-BE49-F238E27FC236}">
                <a16:creationId xmlns:a16="http://schemas.microsoft.com/office/drawing/2014/main" id="{42C14849-8FFA-4F32-BDB7-7042B676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1838325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65" name="bank-2-3">
            <a:extLst xmlns:a="http://schemas.openxmlformats.org/drawingml/2006/main">
              <a:ext uri="{FF2B5EF4-FFF2-40B4-BE49-F238E27FC236}">
                <a16:creationId xmlns:a16="http://schemas.microsoft.com/office/drawing/2014/main" id="{0F6625AE-E1AF-4AD6-B2A4-54755904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838325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66" name="bank-2-4">
            <a:extLst xmlns:a="http://schemas.openxmlformats.org/drawingml/2006/main">
              <a:ext uri="{FF2B5EF4-FFF2-40B4-BE49-F238E27FC236}">
                <a16:creationId xmlns:a16="http://schemas.microsoft.com/office/drawing/2014/main" id="{23222AD7-45FB-4B14-A05C-C22B3E791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1838325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67" name="bank-2-5">
            <a:extLst xmlns:a="http://schemas.openxmlformats.org/drawingml/2006/main">
              <a:ext uri="{FF2B5EF4-FFF2-40B4-BE49-F238E27FC236}">
                <a16:creationId xmlns:a16="http://schemas.microsoft.com/office/drawing/2014/main" id="{0A43B7FA-3CE7-434C-83B9-1897192E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838325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68" name="bank-2-6">
            <a:extLst xmlns:a="http://schemas.openxmlformats.org/drawingml/2006/main">
              <a:ext uri="{FF2B5EF4-FFF2-40B4-BE49-F238E27FC236}">
                <a16:creationId xmlns:a16="http://schemas.microsoft.com/office/drawing/2014/main" id="{B3170571-5094-4768-8341-CF16E122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1838325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69" name="bank-2-7">
            <a:extLst xmlns:a="http://schemas.openxmlformats.org/drawingml/2006/main">
              <a:ext uri="{FF2B5EF4-FFF2-40B4-BE49-F238E27FC236}">
                <a16:creationId xmlns:a16="http://schemas.microsoft.com/office/drawing/2014/main" id="{93083BD0-A8E4-42BD-8D6B-B3EE4EF4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1838325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70" name="bank-accent">
            <a:extLst xmlns:a="http://schemas.openxmlformats.org/drawingml/2006/main">
              <a:ext uri="{FF2B5EF4-FFF2-40B4-BE49-F238E27FC236}">
                <a16:creationId xmlns:a16="http://schemas.microsoft.com/office/drawing/2014/main" id="{8A42ACF9-EE2E-4D1F-8C7E-1C4CEF59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562100"/>
            <a:ext cx="29813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E6F9E"/>
            </a:solidFill>
            <a:prstDash val="solid"/>
          </a:ln>
        </p:spPr>
      </p:sp>
      <p:sp>
        <p:nvSpPr>
          <p:cNvPr id="71" name="candidate-set">
            <a:extLst xmlns:a="http://schemas.openxmlformats.org/drawingml/2006/main">
              <a:ext uri="{FF2B5EF4-FFF2-40B4-BE49-F238E27FC236}">
                <a16:creationId xmlns:a16="http://schemas.microsoft.com/office/drawing/2014/main" id="{F4E234FB-B933-4AB1-A9C1-A063B61B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505075"/>
            <a:ext cx="1362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>
                <a:solidFill>
                  <a:srgbClr val="2E6F9E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 i="1">
                <a:solidFill>
                  <a:srgbClr val="2E6F9E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250" b="0" i="0">
                <a:solidFill>
                  <a:srgbClr val="2E6F9E"/>
                </a:solidFill>
                <a:latin typeface="Cambria Math"/>
                <a:ea typeface="Cambria Math"/>
                <a:cs typeface="Cambria Math"/>
              </a:rPr>
              <a:t> ∈ ℛ</a:t>
            </a:r>
            <a:r>
              <a:rPr sz="2250" b="0" i="1" baseline="-25000">
                <a:solidFill>
                  <a:srgbClr val="2E6F9E"/>
                </a:solidFill>
                <a:latin typeface="Cambria Math"/>
                <a:ea typeface="Cambria Math"/>
                <a:cs typeface="Cambria Math"/>
              </a:rPr>
              <a:t>c</a:t>
            </a:r>
          </a:p>
        </p:txBody>
      </p:sp>
      <p:sp>
        <p:nvSpPr>
          <p:cNvPr id="72" name="bank-note">
            <a:extLst xmlns:a="http://schemas.openxmlformats.org/drawingml/2006/main">
              <a:ext uri="{FF2B5EF4-FFF2-40B4-BE49-F238E27FC236}">
                <a16:creationId xmlns:a16="http://schemas.microsoft.com/office/drawing/2014/main" id="{0E71D3DB-158E-4141-B9AC-F7ED31244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505075"/>
            <a:ext cx="1752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All patches</a:t>
            </a:r>
          </a:p>
        </p:txBody>
      </p:sp>
      <p:sp>
        <p:nvSpPr>
          <p:cNvPr id="73" name="anchor-6">
            <a:extLst xmlns:a="http://schemas.openxmlformats.org/drawingml/2006/main">
              <a:ext uri="{FF2B5EF4-FFF2-40B4-BE49-F238E27FC236}">
                <a16:creationId xmlns:a16="http://schemas.microsoft.com/office/drawing/2014/main" id="{A80C25A2-87B3-4C77-84E4-1DFC95EC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6213" y="28527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4" name="anchor-7">
            <a:extLst xmlns:a="http://schemas.openxmlformats.org/drawingml/2006/main">
              <a:ext uri="{FF2B5EF4-FFF2-40B4-BE49-F238E27FC236}">
                <a16:creationId xmlns:a16="http://schemas.microsoft.com/office/drawing/2014/main" id="{94A1A8BA-90A5-43A5-ACEE-0C7A269F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6213" y="30908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13" name=""/>
          <p:cNvCxnSpPr>
            <a:stCxn xmlns:a="http://schemas.openxmlformats.org/drawingml/2006/main" id="73" idx="2"/>
            <a:endCxn xmlns:a="http://schemas.openxmlformats.org/drawingml/2006/main" id="74" idx="0"/>
          </p:cNvCxnSpPr>
          <p:nvPr/>
        </p:nvCxnSpPr>
        <p:spPr>
          <a:xfrm xmlns:a="http://schemas.openxmlformats.org/drawingml/2006/main">
            <a:off x="11610976" y="2862263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C7386"/>
            </a:solidFill>
            <a:prstDash val="dash"/>
            <a:headEnd type="none" w="med" len="med"/>
            <a:tailEnd type="none" w="med" len="med"/>
          </a:ln>
        </p:spPr>
      </p:cxnSp>
      <p:sp>
        <p:nvSpPr>
          <p:cNvPr id="76" name="anchor-8">
            <a:extLst xmlns:a="http://schemas.openxmlformats.org/drawingml/2006/main">
              <a:ext uri="{FF2B5EF4-FFF2-40B4-BE49-F238E27FC236}">
                <a16:creationId xmlns:a16="http://schemas.microsoft.com/office/drawing/2014/main" id="{ADB3EAFA-0448-49FE-A927-4E7E3E44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6213" y="30908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7" name="anchor-9">
            <a:extLst xmlns:a="http://schemas.openxmlformats.org/drawingml/2006/main">
              <a:ext uri="{FF2B5EF4-FFF2-40B4-BE49-F238E27FC236}">
                <a16:creationId xmlns:a16="http://schemas.microsoft.com/office/drawing/2014/main" id="{00CF8A05-3F3C-4833-9BCD-AC68EA3C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338" y="30908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16" name=""/>
          <p:cNvCxnSpPr>
            <a:stCxn xmlns:a="http://schemas.openxmlformats.org/drawingml/2006/main" id="76" idx="1"/>
            <a:endCxn xmlns:a="http://schemas.openxmlformats.org/drawingml/2006/main" id="77" idx="3"/>
          </p:cNvCxnSpPr>
          <p:nvPr/>
        </p:nvCxnSpPr>
        <p:spPr>
          <a:xfrm xmlns:a="http://schemas.openxmlformats.org/drawingml/2006/main" flipH="1">
            <a:off x="8043863" y="3095626"/>
            <a:ext cx="35623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C7386"/>
            </a:solidFill>
            <a:prstDash val="dash"/>
            <a:headEnd type="none" w="med" len="med"/>
            <a:tailEnd type="none" w="med" len="med"/>
          </a:ln>
        </p:spPr>
      </p:cxnSp>
      <p:sp>
        <p:nvSpPr>
          <p:cNvPr id="79" name="anchor-10">
            <a:extLst xmlns:a="http://schemas.openxmlformats.org/drawingml/2006/main">
              <a:ext uri="{FF2B5EF4-FFF2-40B4-BE49-F238E27FC236}">
                <a16:creationId xmlns:a16="http://schemas.microsoft.com/office/drawing/2014/main" id="{2ABC9496-A6D5-4061-97C0-1B27F12D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338" y="30908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0" name="anchor-11">
            <a:extLst xmlns:a="http://schemas.openxmlformats.org/drawingml/2006/main">
              <a:ext uri="{FF2B5EF4-FFF2-40B4-BE49-F238E27FC236}">
                <a16:creationId xmlns:a16="http://schemas.microsoft.com/office/drawing/2014/main" id="{885AB1E8-0451-4136-B248-11A583763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338" y="39385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19" name=""/>
          <p:cNvCxnSpPr>
            <a:stCxn xmlns:a="http://schemas.openxmlformats.org/drawingml/2006/main" id="79" idx="2"/>
            <a:endCxn xmlns:a="http://schemas.openxmlformats.org/drawingml/2006/main" id="80" idx="0"/>
          </p:cNvCxnSpPr>
          <p:nvPr/>
        </p:nvCxnSpPr>
        <p:spPr>
          <a:xfrm xmlns:a="http://schemas.openxmlformats.org/drawingml/2006/main">
            <a:off x="8039101" y="3100388"/>
            <a:ext cx="0" cy="8382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C7386"/>
            </a:solidFill>
            <a:prstDash val="dash"/>
            <a:headEnd type="none" w="med" len="med"/>
            <a:tailEnd type="triangle" w="med" len="med"/>
          </a:ln>
        </p:spPr>
      </p:cxnSp>
      <p:sp>
        <p:nvSpPr>
          <p:cNvPr id="82" name="read-only">
            <a:extLst xmlns:a="http://schemas.openxmlformats.org/drawingml/2006/main">
              <a:ext uri="{FF2B5EF4-FFF2-40B4-BE49-F238E27FC236}">
                <a16:creationId xmlns:a16="http://schemas.microsoft.com/office/drawing/2014/main" id="{893C2DAE-FEF7-4AFA-9B91-66C8BD87A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28925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>
                <a:solidFill>
                  <a:srgbClr val="5C73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5C7386"/>
                </a:solidFill>
                <a:latin typeface="Times New Roman"/>
                <a:ea typeface="Times New Roman"/>
                <a:cs typeface="Times New Roman"/>
              </a:rPr>
              <a:t>Read only</a:t>
            </a:r>
          </a:p>
        </p:txBody>
      </p:sp>
      <p:sp>
        <p:nvSpPr>
          <p:cNvPr id="83" name="section-b">
            <a:extLst xmlns:a="http://schemas.openxmlformats.org/drawingml/2006/main">
              <a:ext uri="{FF2B5EF4-FFF2-40B4-BE49-F238E27FC236}">
                <a16:creationId xmlns:a16="http://schemas.microsoft.com/office/drawing/2014/main" id="{56051147-9438-4D0F-8862-BAB8A82E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3409950"/>
            <a:ext cx="1123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(b) Score the query using the fixed bank</a:t>
            </a:r>
          </a:p>
        </p:txBody>
      </p:sp>
      <p:pic>
        <p:nvPicPr>
          <p:cNvPr id="2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b32a40e7e0481f"/>
          <a:stretch xmlns:a="http://schemas.openxmlformats.org/drawingml/2006/main"/>
        </p:blipFill>
        <p:spPr>
          <a:xfrm xmlns:a="http://schemas.openxmlformats.org/drawingml/2006/main">
            <a:off x="266700" y="4124325"/>
            <a:ext cx="1428750" cy="1428750"/>
          </a:xfrm>
          <a:prstGeom xmlns:a="http://schemas.openxmlformats.org/drawingml/2006/main" prst="rect">
            <a:avLst/>
          </a:prstGeom>
        </p:spPr>
      </p:pic>
      <p:sp>
        <p:nvSpPr>
          <p:cNvPr id="85" name="query-frame">
            <a:extLst xmlns:a="http://schemas.openxmlformats.org/drawingml/2006/main">
              <a:ext uri="{FF2B5EF4-FFF2-40B4-BE49-F238E27FC236}">
                <a16:creationId xmlns:a16="http://schemas.microsoft.com/office/drawing/2014/main" id="{C099170E-4546-4C60-BD94-EE5DE513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124325"/>
            <a:ext cx="1428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4A5AE"/>
            </a:solidFill>
            <a:prstDash val="solid"/>
          </a:ln>
        </p:spPr>
      </p:sp>
      <p:sp>
        <p:nvSpPr>
          <p:cNvPr id="86" name="query-input">
            <a:extLst xmlns:a="http://schemas.openxmlformats.org/drawingml/2006/main">
              <a:ext uri="{FF2B5EF4-FFF2-40B4-BE49-F238E27FC236}">
                <a16:creationId xmlns:a16="http://schemas.microsoft.com/office/drawing/2014/main" id="{E004B20E-A2D2-416A-B640-8C12BE37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5657850"/>
            <a:ext cx="1504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>
                <a:solidFill>
                  <a:srgbClr val="1E2E38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Query </a:t>
            </a:r>
            <a:r>
              <a:rPr sz="2250" b="1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x</a:t>
            </a:r>
          </a:p>
        </p:txBody>
      </p:sp>
      <p:sp>
        <p:nvSpPr>
          <p:cNvPr id="87" name="anchor-12">
            <a:extLst xmlns:a="http://schemas.openxmlformats.org/drawingml/2006/main">
              <a:ext uri="{FF2B5EF4-FFF2-40B4-BE49-F238E27FC236}">
                <a16:creationId xmlns:a16="http://schemas.microsoft.com/office/drawing/2014/main" id="{8AC06110-4C47-4210-9E0F-5FFAA32C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8313" y="48434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8" name="anchor-13">
            <a:extLst xmlns:a="http://schemas.openxmlformats.org/drawingml/2006/main">
              <a:ext uri="{FF2B5EF4-FFF2-40B4-BE49-F238E27FC236}">
                <a16:creationId xmlns:a16="http://schemas.microsoft.com/office/drawing/2014/main" id="{B46E82A5-BA43-4851-B320-429F6DF8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4063" y="48434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27" name=""/>
          <p:cNvCxnSpPr>
            <a:stCxn xmlns:a="http://schemas.openxmlformats.org/drawingml/2006/main" id="87" idx="3"/>
            <a:endCxn xmlns:a="http://schemas.openxmlformats.org/drawingml/2006/main" id="88" idx="1"/>
          </p:cNvCxnSpPr>
          <p:nvPr/>
        </p:nvCxnSpPr>
        <p:spPr>
          <a:xfrm xmlns:a="http://schemas.openxmlformats.org/drawingml/2006/main">
            <a:off x="1747838" y="4848226"/>
            <a:ext cx="2762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E2E38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90" name="query-encoder-path">
            <a:extLst xmlns:a="http://schemas.openxmlformats.org/drawingml/2006/main">
              <a:ext uri="{FF2B5EF4-FFF2-40B4-BE49-F238E27FC236}">
                <a16:creationId xmlns:a16="http://schemas.microsoft.com/office/drawing/2014/main" id="{15397776-A35A-469B-8FF3-464469B69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171950"/>
            <a:ext cx="1885950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4A5AE"/>
            </a:solidFill>
            <a:prstDash val="solid"/>
          </a:ln>
        </p:spPr>
      </p:sp>
      <p:sp>
        <p:nvSpPr>
          <p:cNvPr id="91" name="query-path-title">
            <a:extLst xmlns:a="http://schemas.openxmlformats.org/drawingml/2006/main">
              <a:ext uri="{FF2B5EF4-FFF2-40B4-BE49-F238E27FC236}">
                <a16:creationId xmlns:a16="http://schemas.microsoft.com/office/drawing/2014/main" id="{B1B6ABDF-BDF0-4A62-A1CF-5BD0734AC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238625"/>
            <a:ext cx="17716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Same frozen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feature path</a:t>
            </a:r>
          </a:p>
        </p:txBody>
      </p:sp>
      <p:sp>
        <p:nvSpPr>
          <p:cNvPr id="92" name="query-path-steps">
            <a:extLst xmlns:a="http://schemas.openxmlformats.org/drawingml/2006/main">
              <a:ext uri="{FF2B5EF4-FFF2-40B4-BE49-F238E27FC236}">
                <a16:creationId xmlns:a16="http://schemas.microsoft.com/office/drawing/2014/main" id="{798EFB60-1184-4C99-B3BE-09ACDAD3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529263"/>
            <a:ext cx="2057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Align + normalize</a:t>
            </a:r>
          </a:p>
        </p:txBody>
      </p:sp>
      <p:sp>
        <p:nvSpPr>
          <p:cNvPr id="93" name="query-grid-0-0">
            <a:extLst xmlns:a="http://schemas.openxmlformats.org/drawingml/2006/main">
              <a:ext uri="{FF2B5EF4-FFF2-40B4-BE49-F238E27FC236}">
                <a16:creationId xmlns:a16="http://schemas.microsoft.com/office/drawing/2014/main" id="{1ACF0830-ABCE-4B27-8CB4-5F6826BC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51054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1F3"/>
          </a:solidFill>
          <a:ln xmlns:a="http://schemas.openxmlformats.org/drawingml/2006/main" w="9525">
            <a:solidFill>
              <a:srgbClr val="4C7C86"/>
            </a:solidFill>
            <a:prstDash val="solid"/>
          </a:ln>
        </p:spPr>
      </p:sp>
      <p:sp>
        <p:nvSpPr>
          <p:cNvPr id="94" name="query-grid-0-1">
            <a:extLst xmlns:a="http://schemas.openxmlformats.org/drawingml/2006/main">
              <a:ext uri="{FF2B5EF4-FFF2-40B4-BE49-F238E27FC236}">
                <a16:creationId xmlns:a16="http://schemas.microsoft.com/office/drawing/2014/main" id="{AAADB515-1478-482F-876D-45867DCC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1054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1F3"/>
          </a:solidFill>
          <a:ln xmlns:a="http://schemas.openxmlformats.org/drawingml/2006/main" w="9525">
            <a:solidFill>
              <a:srgbClr val="4C7C86"/>
            </a:solidFill>
            <a:prstDash val="solid"/>
          </a:ln>
        </p:spPr>
      </p:sp>
      <p:sp>
        <p:nvSpPr>
          <p:cNvPr id="95" name="query-grid-0-2">
            <a:extLst xmlns:a="http://schemas.openxmlformats.org/drawingml/2006/main">
              <a:ext uri="{FF2B5EF4-FFF2-40B4-BE49-F238E27FC236}">
                <a16:creationId xmlns:a16="http://schemas.microsoft.com/office/drawing/2014/main" id="{63EAD841-0331-46C6-BCB5-9F513A3D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51054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1F3"/>
          </a:solidFill>
          <a:ln xmlns:a="http://schemas.openxmlformats.org/drawingml/2006/main" w="9525">
            <a:solidFill>
              <a:srgbClr val="4C7C86"/>
            </a:solidFill>
            <a:prstDash val="solid"/>
          </a:ln>
        </p:spPr>
      </p:sp>
      <p:sp>
        <p:nvSpPr>
          <p:cNvPr id="96" name="query-grid-0-3">
            <a:extLst xmlns:a="http://schemas.openxmlformats.org/drawingml/2006/main">
              <a:ext uri="{FF2B5EF4-FFF2-40B4-BE49-F238E27FC236}">
                <a16:creationId xmlns:a16="http://schemas.microsoft.com/office/drawing/2014/main" id="{8043CB78-3E36-4D97-BC5B-F3851AEBB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51054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1F3"/>
          </a:solidFill>
          <a:ln xmlns:a="http://schemas.openxmlformats.org/drawingml/2006/main" w="9525">
            <a:solidFill>
              <a:srgbClr val="4C7C86"/>
            </a:solidFill>
            <a:prstDash val="solid"/>
          </a:ln>
        </p:spPr>
      </p:sp>
      <p:sp>
        <p:nvSpPr>
          <p:cNvPr id="97" name="anchor-14">
            <a:extLst xmlns:a="http://schemas.openxmlformats.org/drawingml/2006/main">
              <a:ext uri="{FF2B5EF4-FFF2-40B4-BE49-F238E27FC236}">
                <a16:creationId xmlns:a16="http://schemas.microsoft.com/office/drawing/2014/main" id="{2440A4E9-8A9E-416D-ACA1-10064A549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4313" y="48434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8" name="anchor-15">
            <a:extLst xmlns:a="http://schemas.openxmlformats.org/drawingml/2006/main">
              <a:ext uri="{FF2B5EF4-FFF2-40B4-BE49-F238E27FC236}">
                <a16:creationId xmlns:a16="http://schemas.microsoft.com/office/drawing/2014/main" id="{599BA007-3061-4E0F-BE80-8B7D6F43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0538" y="48434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37" name=""/>
          <p:cNvCxnSpPr>
            <a:stCxn xmlns:a="http://schemas.openxmlformats.org/drawingml/2006/main" id="97" idx="3"/>
            <a:endCxn xmlns:a="http://schemas.openxmlformats.org/drawingml/2006/main" id="98" idx="1"/>
          </p:cNvCxnSpPr>
          <p:nvPr/>
        </p:nvCxnSpPr>
        <p:spPr>
          <a:xfrm xmlns:a="http://schemas.openxmlformats.org/drawingml/2006/main">
            <a:off x="4033838" y="4848226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E2E38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00" name="matching-box">
            <a:extLst xmlns:a="http://schemas.openxmlformats.org/drawingml/2006/main">
              <a:ext uri="{FF2B5EF4-FFF2-40B4-BE49-F238E27FC236}">
                <a16:creationId xmlns:a16="http://schemas.microsoft.com/office/drawing/2014/main" id="{90BFB23C-4477-4696-86C1-42C52E44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010025"/>
            <a:ext cx="40957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6F6"/>
          </a:solidFill>
          <a:ln xmlns:a="http://schemas.openxmlformats.org/drawingml/2006/main" w="19050">
            <a:solidFill>
              <a:srgbClr val="6E4E9E"/>
            </a:solidFill>
            <a:prstDash val="solid"/>
          </a:ln>
        </p:spPr>
      </p:sp>
      <p:sp>
        <p:nvSpPr>
          <p:cNvPr id="101" name="matching-title">
            <a:extLst xmlns:a="http://schemas.openxmlformats.org/drawingml/2006/main">
              <a:ext uri="{FF2B5EF4-FFF2-40B4-BE49-F238E27FC236}">
                <a16:creationId xmlns:a16="http://schemas.microsoft.com/office/drawing/2014/main" id="{8B590EB4-0945-4109-A928-BCB13030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048125"/>
            <a:ext cx="3943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Reference matching</a:t>
            </a:r>
          </a:p>
        </p:txBody>
      </p:sp>
      <p:sp>
        <p:nvSpPr>
          <p:cNvPr id="102" name="j-background">
            <a:extLst xmlns:a="http://schemas.openxmlformats.org/drawingml/2006/main">
              <a:ext uri="{FF2B5EF4-FFF2-40B4-BE49-F238E27FC236}">
                <a16:creationId xmlns:a16="http://schemas.microsoft.com/office/drawing/2014/main" id="{DBBFCB1D-189B-4964-A8ED-6D909EE48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05325"/>
            <a:ext cx="388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BF1"/>
          </a:solidFill>
          <a:ln xmlns:a="http://schemas.openxmlformats.org/drawingml/2006/main" w="11430">
            <a:solidFill>
              <a:srgbClr val="6E4E9E"/>
            </a:solidFill>
            <a:prstDash val="solid"/>
          </a:ln>
        </p:spPr>
      </p:sp>
      <p:sp>
        <p:nvSpPr>
          <p:cNvPr id="103" name="joint-equation">
            <a:extLst xmlns:a="http://schemas.openxmlformats.org/drawingml/2006/main">
              <a:ext uri="{FF2B5EF4-FFF2-40B4-BE49-F238E27FC236}">
                <a16:creationId xmlns:a16="http://schemas.microsoft.com/office/drawing/2014/main" id="{B42FB2D3-2278-4E95-816A-7C4EE556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476750"/>
            <a:ext cx="381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>
                <a:solidFill>
                  <a:srgbClr val="1E2E38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J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(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p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) = min</a:t>
            </a:r>
            <a:r>
              <a:rPr sz="2250" b="0" i="1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∑</a:t>
            </a:r>
            <a:r>
              <a:rPr sz="2250" b="0" i="1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b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w</a:t>
            </a:r>
            <a:r>
              <a:rPr sz="2250" b="0" i="1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b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d</a:t>
            </a:r>
            <a:r>
              <a:rPr sz="2250" b="0" i="1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b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(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p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,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)</a:t>
            </a:r>
          </a:p>
        </p:txBody>
      </p:sp>
      <p:sp>
        <p:nvSpPr>
          <p:cNvPr id="104" name="l-background">
            <a:extLst xmlns:a="http://schemas.openxmlformats.org/drawingml/2006/main">
              <a:ext uri="{FF2B5EF4-FFF2-40B4-BE49-F238E27FC236}">
                <a16:creationId xmlns:a16="http://schemas.microsoft.com/office/drawing/2014/main" id="{F1CE8F39-E334-43D6-B851-1DE320B5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38725"/>
            <a:ext cx="388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4E1"/>
          </a:solidFill>
          <a:ln xmlns:a="http://schemas.openxmlformats.org/drawingml/2006/main" w="11430">
            <a:solidFill>
              <a:srgbClr val="B23A2C"/>
            </a:solidFill>
            <a:prstDash val="solid"/>
          </a:ln>
        </p:spPr>
      </p:sp>
      <p:sp>
        <p:nvSpPr>
          <p:cNvPr id="105" name="independent-equation">
            <a:extLst xmlns:a="http://schemas.openxmlformats.org/drawingml/2006/main">
              <a:ext uri="{FF2B5EF4-FFF2-40B4-BE49-F238E27FC236}">
                <a16:creationId xmlns:a16="http://schemas.microsoft.com/office/drawing/2014/main" id="{53B5C03C-1002-4AF9-B947-0FFF730B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000625"/>
            <a:ext cx="381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>
                <a:solidFill>
                  <a:srgbClr val="1E2E38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L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(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p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) = ∑</a:t>
            </a:r>
            <a:r>
              <a:rPr sz="2250" b="0" i="1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b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w</a:t>
            </a:r>
            <a:r>
              <a:rPr sz="2250" b="0" i="1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b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min</a:t>
            </a:r>
            <a:r>
              <a:rPr sz="2250" b="0" i="1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d</a:t>
            </a:r>
            <a:r>
              <a:rPr sz="2250" b="0" i="1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b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(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p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,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)</a:t>
            </a:r>
          </a:p>
        </p:txBody>
      </p:sp>
      <p:sp>
        <p:nvSpPr>
          <p:cNvPr id="106" name="resize-smooth">
            <a:extLst xmlns:a="http://schemas.openxmlformats.org/drawingml/2006/main">
              <a:ext uri="{FF2B5EF4-FFF2-40B4-BE49-F238E27FC236}">
                <a16:creationId xmlns:a16="http://schemas.microsoft.com/office/drawing/2014/main" id="{E7CC626B-A5B5-4EF3-9F3D-93E1A2AD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686425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>
                <a:solidFill>
                  <a:srgbClr val="1E2E38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Resize 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H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× 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W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  Gaussian 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σ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= 4</a:t>
            </a:r>
          </a:p>
        </p:txBody>
      </p:sp>
      <p:sp>
        <p:nvSpPr>
          <p:cNvPr id="107" name="anchor-16">
            <a:extLst xmlns:a="http://schemas.openxmlformats.org/drawingml/2006/main">
              <a:ext uri="{FF2B5EF4-FFF2-40B4-BE49-F238E27FC236}">
                <a16:creationId xmlns:a16="http://schemas.microsoft.com/office/drawing/2014/main" id="{07C78DE6-5C4B-4585-B640-51A5925C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5088" y="55102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8" name="anchor-17">
            <a:extLst xmlns:a="http://schemas.openxmlformats.org/drawingml/2006/main">
              <a:ext uri="{FF2B5EF4-FFF2-40B4-BE49-F238E27FC236}">
                <a16:creationId xmlns:a16="http://schemas.microsoft.com/office/drawing/2014/main" id="{F7B691B9-4698-4AE2-8746-90DE8B1C2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5088" y="56626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47" name=""/>
          <p:cNvCxnSpPr>
            <a:stCxn xmlns:a="http://schemas.openxmlformats.org/drawingml/2006/main" id="107" idx="2"/>
            <a:endCxn xmlns:a="http://schemas.openxmlformats.org/drawingml/2006/main" id="108" idx="0"/>
          </p:cNvCxnSpPr>
          <p:nvPr/>
        </p:nvCxnSpPr>
        <p:spPr>
          <a:xfrm xmlns:a="http://schemas.openxmlformats.org/drawingml/2006/main">
            <a:off x="6419851" y="5519738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E2E38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10" name="anchor-18">
            <a:extLst xmlns:a="http://schemas.openxmlformats.org/drawingml/2006/main">
              <a:ext uri="{FF2B5EF4-FFF2-40B4-BE49-F238E27FC236}">
                <a16:creationId xmlns:a16="http://schemas.microsoft.com/office/drawing/2014/main" id="{DC66BFF0-8D9C-4BBE-83BE-032184C0A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0113" y="59007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1" name="anchor-19">
            <a:extLst xmlns:a="http://schemas.openxmlformats.org/drawingml/2006/main">
              <a:ext uri="{FF2B5EF4-FFF2-40B4-BE49-F238E27FC236}">
                <a16:creationId xmlns:a16="http://schemas.microsoft.com/office/drawing/2014/main" id="{7071E179-9511-4406-AEA0-1732EB93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488" y="59007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0" name=""/>
          <p:cNvCxnSpPr>
            <a:stCxn xmlns:a="http://schemas.openxmlformats.org/drawingml/2006/main" id="110" idx="3"/>
            <a:endCxn xmlns:a="http://schemas.openxmlformats.org/drawingml/2006/main" id="111" idx="1"/>
          </p:cNvCxnSpPr>
          <p:nvPr/>
        </p:nvCxnSpPr>
        <p:spPr>
          <a:xfrm xmlns:a="http://schemas.openxmlformats.org/drawingml/2006/main">
            <a:off x="8529638" y="5905501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E2E38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13" name="matching-explanation">
            <a:extLst xmlns:a="http://schemas.openxmlformats.org/drawingml/2006/main">
              <a:ext uri="{FF2B5EF4-FFF2-40B4-BE49-F238E27FC236}">
                <a16:creationId xmlns:a16="http://schemas.microsoft.com/office/drawing/2014/main" id="{B867EAFD-4F5C-497B-AC35-576816D1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6315075"/>
            <a:ext cx="4191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Joint: one shared row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Independent: separate rows</a:t>
            </a:r>
          </a:p>
        </p:txBody>
      </p:sp>
      <p:sp>
        <p:nvSpPr>
          <p:cNvPr id="114" name="outputs-box">
            <a:extLst xmlns:a="http://schemas.openxmlformats.org/drawingml/2006/main">
              <a:ext uri="{FF2B5EF4-FFF2-40B4-BE49-F238E27FC236}">
                <a16:creationId xmlns:a16="http://schemas.microsoft.com/office/drawing/2014/main" id="{51EE25DB-A87A-43FA-87B7-1B95D558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00500"/>
            <a:ext cx="30099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4A5AE"/>
            </a:solidFill>
            <a:prstDash val="solid"/>
          </a:ln>
        </p:spPr>
      </p:sp>
      <p:sp>
        <p:nvSpPr>
          <p:cNvPr id="115" name="output-heading">
            <a:extLst xmlns:a="http://schemas.openxmlformats.org/drawingml/2006/main">
              <a:ext uri="{FF2B5EF4-FFF2-40B4-BE49-F238E27FC236}">
                <a16:creationId xmlns:a16="http://schemas.microsoft.com/office/drawing/2014/main" id="{E6F0132C-EFE3-4731-80D4-CEBAEA4A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019550"/>
            <a:ext cx="2924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Output and display</a:t>
            </a:r>
          </a:p>
        </p:txBody>
      </p:sp>
      <p:pic>
        <p:nvPicPr>
          <p:cNvPr id="2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12dc7cc8b848ff"/>
          <a:stretch xmlns:a="http://schemas.openxmlformats.org/drawingml/2006/main"/>
        </p:blipFill>
        <p:spPr>
          <a:xfrm xmlns:a="http://schemas.openxmlformats.org/drawingml/2006/main">
            <a:off x="9048750" y="4552950"/>
            <a:ext cx="1238250" cy="1238250"/>
          </a:xfrm>
          <a:prstGeom xmlns:a="http://schemas.openxmlformats.org/drawingml/2006/main" prst="rect">
            <a:avLst/>
          </a:prstGeom>
        </p:spPr>
      </p:pic>
      <p:sp>
        <p:nvSpPr>
          <p:cNvPr id="117" name="map-frame">
            <a:extLst xmlns:a="http://schemas.openxmlformats.org/drawingml/2006/main">
              <a:ext uri="{FF2B5EF4-FFF2-40B4-BE49-F238E27FC236}">
                <a16:creationId xmlns:a16="http://schemas.microsoft.com/office/drawing/2014/main" id="{B04F50B8-9ED0-408E-BAB4-A48E231F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52950"/>
            <a:ext cx="1238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4A5AE"/>
            </a:solidFill>
            <a:prstDash val="solid"/>
          </a:ln>
        </p:spPr>
      </p:sp>
      <p:pic>
        <p:nvPicPr>
          <p:cNvPr id="2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32d0510af6457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53700" y="4552950"/>
            <a:ext cx="1238250" cy="1238250"/>
          </a:xfrm>
          <a:prstGeom xmlns:a="http://schemas.openxmlformats.org/drawingml/2006/main" prst="rect">
            <a:avLst/>
          </a:prstGeom>
        </p:spPr>
      </p:pic>
      <p:sp>
        <p:nvSpPr>
          <p:cNvPr id="119" name="threshold-display-contour">
            <a:extLst xmlns:a="http://schemas.openxmlformats.org/drawingml/2006/main">
              <a:ext uri="{FF2B5EF4-FFF2-40B4-BE49-F238E27FC236}">
                <a16:creationId xmlns:a16="http://schemas.microsoft.com/office/drawing/2014/main" id="{1F7FBC37-0149-4932-A4D4-5638160C4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552950"/>
            <a:ext cx="1238250" cy="1238250"/>
          </a:xfrm>
          <a:custGeom xmlns:a="http://schemas.openxmlformats.org/drawingml/2006/main">
            <a:pathLst>
              <a:path w="4267200" h="4267200">
                <a:moveTo>
                  <a:pt x="2733675" y="3457575"/>
                </a:moveTo>
                <a:lnTo>
                  <a:pt x="2743200" y="3448050"/>
                </a:lnTo>
                <a:lnTo>
                  <a:pt x="2752725" y="3448050"/>
                </a:lnTo>
                <a:lnTo>
                  <a:pt x="2771775" y="3467100"/>
                </a:lnTo>
                <a:lnTo>
                  <a:pt x="2771775" y="3476625"/>
                </a:lnTo>
                <a:lnTo>
                  <a:pt x="2781300" y="3486150"/>
                </a:lnTo>
                <a:lnTo>
                  <a:pt x="2781300" y="3514725"/>
                </a:lnTo>
                <a:lnTo>
                  <a:pt x="2762250" y="3533775"/>
                </a:lnTo>
                <a:lnTo>
                  <a:pt x="2743200" y="3533775"/>
                </a:lnTo>
                <a:lnTo>
                  <a:pt x="2733675" y="3524250"/>
                </a:lnTo>
                <a:close/>
              </a:path>
              <a:path w="4267200" h="4267200">
                <a:moveTo>
                  <a:pt x="2447925" y="2581275"/>
                </a:moveTo>
                <a:lnTo>
                  <a:pt x="2428875" y="2600325"/>
                </a:lnTo>
                <a:lnTo>
                  <a:pt x="2428875" y="2609850"/>
                </a:lnTo>
                <a:lnTo>
                  <a:pt x="2447925" y="2628900"/>
                </a:lnTo>
                <a:lnTo>
                  <a:pt x="2486025" y="2628900"/>
                </a:lnTo>
                <a:lnTo>
                  <a:pt x="2495550" y="2619375"/>
                </a:lnTo>
                <a:lnTo>
                  <a:pt x="2495550" y="2590800"/>
                </a:lnTo>
                <a:lnTo>
                  <a:pt x="2486025" y="2590800"/>
                </a:lnTo>
                <a:lnTo>
                  <a:pt x="2476500" y="2581275"/>
                </a:lnTo>
                <a:close/>
              </a:path>
              <a:path w="4267200" h="4267200">
                <a:moveTo>
                  <a:pt x="1114425" y="2228850"/>
                </a:moveTo>
                <a:lnTo>
                  <a:pt x="1104900" y="2238375"/>
                </a:lnTo>
                <a:lnTo>
                  <a:pt x="1095375" y="2238375"/>
                </a:lnTo>
                <a:lnTo>
                  <a:pt x="1076325" y="2257425"/>
                </a:lnTo>
                <a:lnTo>
                  <a:pt x="1076325" y="2266950"/>
                </a:lnTo>
                <a:lnTo>
                  <a:pt x="1057275" y="2286000"/>
                </a:lnTo>
                <a:lnTo>
                  <a:pt x="1057275" y="2305050"/>
                </a:lnTo>
                <a:lnTo>
                  <a:pt x="1047750" y="2314575"/>
                </a:lnTo>
                <a:lnTo>
                  <a:pt x="1047750" y="2352675"/>
                </a:lnTo>
                <a:lnTo>
                  <a:pt x="1057275" y="2362200"/>
                </a:lnTo>
                <a:lnTo>
                  <a:pt x="1057275" y="2390775"/>
                </a:lnTo>
                <a:lnTo>
                  <a:pt x="1066800" y="2400300"/>
                </a:lnTo>
                <a:lnTo>
                  <a:pt x="1066800" y="2428875"/>
                </a:lnTo>
                <a:lnTo>
                  <a:pt x="1076325" y="2438400"/>
                </a:lnTo>
                <a:lnTo>
                  <a:pt x="1076325" y="2476500"/>
                </a:lnTo>
                <a:lnTo>
                  <a:pt x="1066800" y="2486025"/>
                </a:lnTo>
                <a:lnTo>
                  <a:pt x="1066800" y="2514600"/>
                </a:lnTo>
                <a:lnTo>
                  <a:pt x="1057275" y="2524125"/>
                </a:lnTo>
                <a:lnTo>
                  <a:pt x="1057275" y="2543175"/>
                </a:lnTo>
                <a:lnTo>
                  <a:pt x="1047750" y="2552700"/>
                </a:lnTo>
                <a:lnTo>
                  <a:pt x="1047750" y="2638425"/>
                </a:lnTo>
                <a:lnTo>
                  <a:pt x="1057275" y="2647950"/>
                </a:lnTo>
                <a:lnTo>
                  <a:pt x="1057275" y="2676525"/>
                </a:lnTo>
                <a:lnTo>
                  <a:pt x="1066800" y="2686050"/>
                </a:lnTo>
                <a:lnTo>
                  <a:pt x="1066800" y="2714625"/>
                </a:lnTo>
                <a:lnTo>
                  <a:pt x="1076325" y="2724150"/>
                </a:lnTo>
                <a:lnTo>
                  <a:pt x="1076325" y="3019425"/>
                </a:lnTo>
                <a:lnTo>
                  <a:pt x="1085850" y="3028950"/>
                </a:lnTo>
                <a:lnTo>
                  <a:pt x="1085850" y="3057525"/>
                </a:lnTo>
                <a:lnTo>
                  <a:pt x="1095375" y="3067050"/>
                </a:lnTo>
                <a:lnTo>
                  <a:pt x="1095375" y="3095625"/>
                </a:lnTo>
                <a:lnTo>
                  <a:pt x="1104900" y="3105150"/>
                </a:lnTo>
                <a:lnTo>
                  <a:pt x="1104900" y="3114675"/>
                </a:lnTo>
                <a:lnTo>
                  <a:pt x="1114425" y="3124200"/>
                </a:lnTo>
                <a:lnTo>
                  <a:pt x="1114425" y="3133725"/>
                </a:lnTo>
                <a:lnTo>
                  <a:pt x="1123950" y="3143250"/>
                </a:lnTo>
                <a:lnTo>
                  <a:pt x="1133475" y="3143250"/>
                </a:lnTo>
                <a:lnTo>
                  <a:pt x="1143000" y="3152775"/>
                </a:lnTo>
                <a:lnTo>
                  <a:pt x="1181100" y="3152775"/>
                </a:lnTo>
                <a:lnTo>
                  <a:pt x="1200150" y="3133725"/>
                </a:lnTo>
                <a:lnTo>
                  <a:pt x="1200150" y="3086100"/>
                </a:lnTo>
                <a:lnTo>
                  <a:pt x="1209675" y="3076575"/>
                </a:lnTo>
                <a:lnTo>
                  <a:pt x="1209675" y="2971800"/>
                </a:lnTo>
                <a:lnTo>
                  <a:pt x="1219200" y="2962275"/>
                </a:lnTo>
                <a:lnTo>
                  <a:pt x="1219200" y="2924175"/>
                </a:lnTo>
                <a:lnTo>
                  <a:pt x="1228725" y="2914650"/>
                </a:lnTo>
                <a:lnTo>
                  <a:pt x="1228725" y="2905125"/>
                </a:lnTo>
                <a:lnTo>
                  <a:pt x="1266825" y="2867025"/>
                </a:lnTo>
                <a:lnTo>
                  <a:pt x="1314450" y="2867025"/>
                </a:lnTo>
                <a:lnTo>
                  <a:pt x="1323975" y="2876550"/>
                </a:lnTo>
                <a:lnTo>
                  <a:pt x="1333500" y="2876550"/>
                </a:lnTo>
                <a:lnTo>
                  <a:pt x="1352550" y="2895600"/>
                </a:lnTo>
                <a:lnTo>
                  <a:pt x="1352550" y="2943225"/>
                </a:lnTo>
                <a:lnTo>
                  <a:pt x="1343025" y="2952750"/>
                </a:lnTo>
                <a:lnTo>
                  <a:pt x="1343025" y="2981325"/>
                </a:lnTo>
                <a:lnTo>
                  <a:pt x="1333500" y="2990850"/>
                </a:lnTo>
                <a:lnTo>
                  <a:pt x="1333500" y="3124200"/>
                </a:lnTo>
                <a:lnTo>
                  <a:pt x="1343025" y="3133725"/>
                </a:lnTo>
                <a:lnTo>
                  <a:pt x="1343025" y="3152775"/>
                </a:lnTo>
                <a:lnTo>
                  <a:pt x="1352550" y="3162300"/>
                </a:lnTo>
                <a:lnTo>
                  <a:pt x="1362075" y="3162300"/>
                </a:lnTo>
                <a:lnTo>
                  <a:pt x="1371600" y="3171825"/>
                </a:lnTo>
                <a:lnTo>
                  <a:pt x="1495425" y="3171825"/>
                </a:lnTo>
                <a:lnTo>
                  <a:pt x="1504950" y="3162300"/>
                </a:lnTo>
                <a:lnTo>
                  <a:pt x="1514475" y="3162300"/>
                </a:lnTo>
                <a:lnTo>
                  <a:pt x="1562100" y="3114675"/>
                </a:lnTo>
                <a:lnTo>
                  <a:pt x="1562100" y="3105150"/>
                </a:lnTo>
                <a:lnTo>
                  <a:pt x="1571625" y="3095625"/>
                </a:lnTo>
                <a:lnTo>
                  <a:pt x="1571625" y="3086100"/>
                </a:lnTo>
                <a:lnTo>
                  <a:pt x="1581150" y="3076575"/>
                </a:lnTo>
                <a:lnTo>
                  <a:pt x="1581150" y="3067050"/>
                </a:lnTo>
                <a:lnTo>
                  <a:pt x="1647825" y="3000375"/>
                </a:lnTo>
                <a:lnTo>
                  <a:pt x="1657350" y="3000375"/>
                </a:lnTo>
                <a:lnTo>
                  <a:pt x="1666875" y="2990850"/>
                </a:lnTo>
                <a:lnTo>
                  <a:pt x="1666875" y="2981325"/>
                </a:lnTo>
                <a:lnTo>
                  <a:pt x="1704975" y="2943225"/>
                </a:lnTo>
                <a:lnTo>
                  <a:pt x="1704975" y="2933700"/>
                </a:lnTo>
                <a:lnTo>
                  <a:pt x="1781175" y="2857500"/>
                </a:lnTo>
                <a:lnTo>
                  <a:pt x="1790700" y="2857500"/>
                </a:lnTo>
                <a:lnTo>
                  <a:pt x="1800225" y="2847975"/>
                </a:lnTo>
                <a:lnTo>
                  <a:pt x="1809750" y="2847975"/>
                </a:lnTo>
                <a:lnTo>
                  <a:pt x="1819275" y="2838450"/>
                </a:lnTo>
                <a:lnTo>
                  <a:pt x="1828800" y="2838450"/>
                </a:lnTo>
                <a:lnTo>
                  <a:pt x="1838325" y="2828925"/>
                </a:lnTo>
                <a:lnTo>
                  <a:pt x="1847850" y="2828925"/>
                </a:lnTo>
                <a:lnTo>
                  <a:pt x="1905000" y="2771775"/>
                </a:lnTo>
                <a:lnTo>
                  <a:pt x="1905000" y="2762250"/>
                </a:lnTo>
                <a:lnTo>
                  <a:pt x="1914525" y="2752725"/>
                </a:lnTo>
                <a:lnTo>
                  <a:pt x="1914525" y="2733675"/>
                </a:lnTo>
                <a:lnTo>
                  <a:pt x="1924050" y="2724150"/>
                </a:lnTo>
                <a:lnTo>
                  <a:pt x="1924050" y="2705100"/>
                </a:lnTo>
                <a:lnTo>
                  <a:pt x="1933575" y="2695575"/>
                </a:lnTo>
                <a:lnTo>
                  <a:pt x="1933575" y="2686050"/>
                </a:lnTo>
                <a:lnTo>
                  <a:pt x="1971675" y="2647950"/>
                </a:lnTo>
                <a:lnTo>
                  <a:pt x="2038350" y="2647950"/>
                </a:lnTo>
                <a:lnTo>
                  <a:pt x="2047875" y="2638425"/>
                </a:lnTo>
                <a:lnTo>
                  <a:pt x="2066925" y="2638425"/>
                </a:lnTo>
                <a:lnTo>
                  <a:pt x="2076450" y="2628900"/>
                </a:lnTo>
                <a:lnTo>
                  <a:pt x="2076450" y="2600325"/>
                </a:lnTo>
                <a:lnTo>
                  <a:pt x="2057400" y="2581275"/>
                </a:lnTo>
                <a:lnTo>
                  <a:pt x="2047875" y="2581275"/>
                </a:lnTo>
                <a:lnTo>
                  <a:pt x="2038350" y="2571750"/>
                </a:lnTo>
                <a:lnTo>
                  <a:pt x="1924050" y="2571750"/>
                </a:lnTo>
                <a:lnTo>
                  <a:pt x="1914525" y="2562225"/>
                </a:lnTo>
                <a:lnTo>
                  <a:pt x="1905000" y="2562225"/>
                </a:lnTo>
                <a:lnTo>
                  <a:pt x="1876425" y="2533650"/>
                </a:lnTo>
                <a:lnTo>
                  <a:pt x="1876425" y="2476500"/>
                </a:lnTo>
                <a:lnTo>
                  <a:pt x="1866900" y="2466975"/>
                </a:lnTo>
                <a:lnTo>
                  <a:pt x="1866900" y="2428875"/>
                </a:lnTo>
                <a:lnTo>
                  <a:pt x="1857375" y="2419350"/>
                </a:lnTo>
                <a:lnTo>
                  <a:pt x="1857375" y="2409825"/>
                </a:lnTo>
                <a:lnTo>
                  <a:pt x="1838325" y="2390775"/>
                </a:lnTo>
                <a:lnTo>
                  <a:pt x="1819275" y="2390775"/>
                </a:lnTo>
                <a:lnTo>
                  <a:pt x="1809750" y="2381250"/>
                </a:lnTo>
                <a:lnTo>
                  <a:pt x="1781175" y="2381250"/>
                </a:lnTo>
                <a:lnTo>
                  <a:pt x="1771650" y="2390775"/>
                </a:lnTo>
                <a:lnTo>
                  <a:pt x="1762125" y="2390775"/>
                </a:lnTo>
                <a:lnTo>
                  <a:pt x="1752600" y="2400300"/>
                </a:lnTo>
                <a:lnTo>
                  <a:pt x="1743075" y="2400300"/>
                </a:lnTo>
                <a:lnTo>
                  <a:pt x="1685925" y="2457450"/>
                </a:lnTo>
                <a:lnTo>
                  <a:pt x="1676400" y="2457450"/>
                </a:lnTo>
                <a:lnTo>
                  <a:pt x="1666875" y="2466975"/>
                </a:lnTo>
                <a:lnTo>
                  <a:pt x="1638300" y="2466975"/>
                </a:lnTo>
                <a:lnTo>
                  <a:pt x="1628775" y="2457450"/>
                </a:lnTo>
                <a:lnTo>
                  <a:pt x="1609725" y="2457450"/>
                </a:lnTo>
                <a:lnTo>
                  <a:pt x="1600200" y="2447925"/>
                </a:lnTo>
                <a:lnTo>
                  <a:pt x="1590675" y="2447925"/>
                </a:lnTo>
                <a:lnTo>
                  <a:pt x="1552575" y="2409825"/>
                </a:lnTo>
                <a:lnTo>
                  <a:pt x="1552575" y="2400300"/>
                </a:lnTo>
                <a:lnTo>
                  <a:pt x="1543050" y="2390775"/>
                </a:lnTo>
                <a:lnTo>
                  <a:pt x="1543050" y="2371725"/>
                </a:lnTo>
                <a:lnTo>
                  <a:pt x="1524000" y="2352675"/>
                </a:lnTo>
                <a:lnTo>
                  <a:pt x="1514475" y="2352675"/>
                </a:lnTo>
                <a:lnTo>
                  <a:pt x="1504950" y="2362200"/>
                </a:lnTo>
                <a:lnTo>
                  <a:pt x="1495425" y="2362200"/>
                </a:lnTo>
                <a:lnTo>
                  <a:pt x="1485900" y="2371725"/>
                </a:lnTo>
                <a:lnTo>
                  <a:pt x="1466850" y="2371725"/>
                </a:lnTo>
                <a:lnTo>
                  <a:pt x="1457325" y="2381250"/>
                </a:lnTo>
                <a:lnTo>
                  <a:pt x="1438275" y="2381250"/>
                </a:lnTo>
                <a:lnTo>
                  <a:pt x="1428750" y="2390775"/>
                </a:lnTo>
                <a:lnTo>
                  <a:pt x="1323975" y="2390775"/>
                </a:lnTo>
                <a:lnTo>
                  <a:pt x="1314450" y="2381250"/>
                </a:lnTo>
                <a:lnTo>
                  <a:pt x="1304925" y="2381250"/>
                </a:lnTo>
                <a:lnTo>
                  <a:pt x="1295400" y="2371725"/>
                </a:lnTo>
                <a:lnTo>
                  <a:pt x="1285875" y="2371725"/>
                </a:lnTo>
                <a:lnTo>
                  <a:pt x="1257300" y="2343150"/>
                </a:lnTo>
                <a:lnTo>
                  <a:pt x="1257300" y="2333625"/>
                </a:lnTo>
                <a:lnTo>
                  <a:pt x="1238250" y="2314575"/>
                </a:lnTo>
                <a:lnTo>
                  <a:pt x="1238250" y="2305050"/>
                </a:lnTo>
                <a:lnTo>
                  <a:pt x="1171575" y="2238375"/>
                </a:lnTo>
                <a:lnTo>
                  <a:pt x="1162050" y="2238375"/>
                </a:lnTo>
                <a:lnTo>
                  <a:pt x="1152525" y="2228850"/>
                </a:lnTo>
                <a:close/>
              </a:path>
              <a:path w="4267200" h="4267200">
                <a:moveTo>
                  <a:pt x="2619375" y="2133600"/>
                </a:moveTo>
                <a:lnTo>
                  <a:pt x="2609850" y="2143125"/>
                </a:lnTo>
                <a:lnTo>
                  <a:pt x="2600325" y="2143125"/>
                </a:lnTo>
                <a:lnTo>
                  <a:pt x="2581275" y="2162175"/>
                </a:lnTo>
                <a:lnTo>
                  <a:pt x="2581275" y="2209800"/>
                </a:lnTo>
                <a:lnTo>
                  <a:pt x="2590800" y="2219325"/>
                </a:lnTo>
                <a:lnTo>
                  <a:pt x="2600325" y="2219325"/>
                </a:lnTo>
                <a:lnTo>
                  <a:pt x="2609850" y="2228850"/>
                </a:lnTo>
                <a:lnTo>
                  <a:pt x="2619375" y="2219325"/>
                </a:lnTo>
                <a:lnTo>
                  <a:pt x="2628900" y="2219325"/>
                </a:lnTo>
                <a:lnTo>
                  <a:pt x="2628900" y="2209800"/>
                </a:lnTo>
                <a:lnTo>
                  <a:pt x="2638425" y="2200275"/>
                </a:lnTo>
                <a:lnTo>
                  <a:pt x="2638425" y="2152650"/>
                </a:lnTo>
                <a:close/>
              </a:path>
              <a:path w="4267200" h="4267200">
                <a:moveTo>
                  <a:pt x="4219575" y="2095500"/>
                </a:moveTo>
                <a:lnTo>
                  <a:pt x="4210050" y="2105025"/>
                </a:lnTo>
                <a:lnTo>
                  <a:pt x="4191000" y="2105025"/>
                </a:lnTo>
                <a:lnTo>
                  <a:pt x="4181475" y="2114550"/>
                </a:lnTo>
                <a:lnTo>
                  <a:pt x="4171950" y="2114550"/>
                </a:lnTo>
                <a:lnTo>
                  <a:pt x="4152900" y="2133600"/>
                </a:lnTo>
                <a:lnTo>
                  <a:pt x="4152900" y="2143125"/>
                </a:lnTo>
                <a:lnTo>
                  <a:pt x="4133850" y="2162175"/>
                </a:lnTo>
                <a:lnTo>
                  <a:pt x="4133850" y="2181225"/>
                </a:lnTo>
                <a:lnTo>
                  <a:pt x="4124325" y="2190750"/>
                </a:lnTo>
                <a:lnTo>
                  <a:pt x="4124325" y="2228850"/>
                </a:lnTo>
                <a:lnTo>
                  <a:pt x="4114800" y="2238375"/>
                </a:lnTo>
                <a:lnTo>
                  <a:pt x="4114800" y="2352675"/>
                </a:lnTo>
                <a:lnTo>
                  <a:pt x="4124325" y="2362200"/>
                </a:lnTo>
                <a:lnTo>
                  <a:pt x="4124325" y="2438400"/>
                </a:lnTo>
                <a:lnTo>
                  <a:pt x="4133850" y="2447925"/>
                </a:lnTo>
                <a:lnTo>
                  <a:pt x="4133850" y="2505075"/>
                </a:lnTo>
                <a:lnTo>
                  <a:pt x="4143375" y="2514600"/>
                </a:lnTo>
                <a:lnTo>
                  <a:pt x="4143375" y="2552700"/>
                </a:lnTo>
                <a:lnTo>
                  <a:pt x="4152900" y="2562225"/>
                </a:lnTo>
                <a:lnTo>
                  <a:pt x="4152900" y="2590800"/>
                </a:lnTo>
                <a:lnTo>
                  <a:pt x="4162425" y="2600325"/>
                </a:lnTo>
                <a:lnTo>
                  <a:pt x="4162425" y="2609850"/>
                </a:lnTo>
                <a:lnTo>
                  <a:pt x="4171950" y="2619375"/>
                </a:lnTo>
                <a:lnTo>
                  <a:pt x="4171950" y="2628900"/>
                </a:lnTo>
                <a:lnTo>
                  <a:pt x="4181475" y="2638425"/>
                </a:lnTo>
                <a:lnTo>
                  <a:pt x="4191000" y="2638425"/>
                </a:lnTo>
                <a:lnTo>
                  <a:pt x="4200525" y="2647950"/>
                </a:lnTo>
                <a:lnTo>
                  <a:pt x="4257675" y="2647950"/>
                </a:lnTo>
                <a:lnTo>
                  <a:pt x="4257675" y="2095500"/>
                </a:lnTo>
                <a:close/>
              </a:path>
              <a:path w="4267200" h="4267200">
                <a:moveTo>
                  <a:pt x="1743075" y="1476375"/>
                </a:moveTo>
                <a:lnTo>
                  <a:pt x="1733550" y="1485900"/>
                </a:lnTo>
                <a:lnTo>
                  <a:pt x="1685925" y="1485900"/>
                </a:lnTo>
                <a:lnTo>
                  <a:pt x="1676400" y="1495425"/>
                </a:lnTo>
                <a:lnTo>
                  <a:pt x="1666875" y="1495425"/>
                </a:lnTo>
                <a:lnTo>
                  <a:pt x="1657350" y="1504950"/>
                </a:lnTo>
                <a:lnTo>
                  <a:pt x="1647825" y="1504950"/>
                </a:lnTo>
                <a:lnTo>
                  <a:pt x="1628775" y="1524000"/>
                </a:lnTo>
                <a:lnTo>
                  <a:pt x="1628775" y="1533525"/>
                </a:lnTo>
                <a:lnTo>
                  <a:pt x="1619250" y="1543050"/>
                </a:lnTo>
                <a:lnTo>
                  <a:pt x="1619250" y="1552575"/>
                </a:lnTo>
                <a:lnTo>
                  <a:pt x="1581150" y="1590675"/>
                </a:lnTo>
                <a:lnTo>
                  <a:pt x="1571625" y="1590675"/>
                </a:lnTo>
                <a:lnTo>
                  <a:pt x="1562100" y="1600200"/>
                </a:lnTo>
                <a:lnTo>
                  <a:pt x="1552575" y="1600200"/>
                </a:lnTo>
                <a:lnTo>
                  <a:pt x="1543050" y="1609725"/>
                </a:lnTo>
                <a:lnTo>
                  <a:pt x="1533525" y="1609725"/>
                </a:lnTo>
                <a:lnTo>
                  <a:pt x="1524000" y="1619250"/>
                </a:lnTo>
                <a:lnTo>
                  <a:pt x="1514475" y="1619250"/>
                </a:lnTo>
                <a:lnTo>
                  <a:pt x="1476375" y="1657350"/>
                </a:lnTo>
                <a:lnTo>
                  <a:pt x="1476375" y="1676400"/>
                </a:lnTo>
                <a:lnTo>
                  <a:pt x="1466850" y="1685925"/>
                </a:lnTo>
                <a:lnTo>
                  <a:pt x="1466850" y="1762125"/>
                </a:lnTo>
                <a:lnTo>
                  <a:pt x="1476375" y="1771650"/>
                </a:lnTo>
                <a:lnTo>
                  <a:pt x="1514475" y="1771650"/>
                </a:lnTo>
                <a:lnTo>
                  <a:pt x="1524000" y="1762125"/>
                </a:lnTo>
                <a:lnTo>
                  <a:pt x="1533525" y="1762125"/>
                </a:lnTo>
                <a:lnTo>
                  <a:pt x="1590675" y="1704975"/>
                </a:lnTo>
                <a:lnTo>
                  <a:pt x="1600200" y="1704975"/>
                </a:lnTo>
                <a:lnTo>
                  <a:pt x="1619250" y="1685925"/>
                </a:lnTo>
                <a:lnTo>
                  <a:pt x="1628775" y="1685925"/>
                </a:lnTo>
                <a:lnTo>
                  <a:pt x="1638300" y="1676400"/>
                </a:lnTo>
                <a:lnTo>
                  <a:pt x="1685925" y="1676400"/>
                </a:lnTo>
                <a:lnTo>
                  <a:pt x="1695450" y="1685925"/>
                </a:lnTo>
                <a:lnTo>
                  <a:pt x="1704975" y="1685925"/>
                </a:lnTo>
                <a:lnTo>
                  <a:pt x="1743075" y="1724025"/>
                </a:lnTo>
                <a:lnTo>
                  <a:pt x="1743075" y="1733550"/>
                </a:lnTo>
                <a:lnTo>
                  <a:pt x="1762125" y="1752600"/>
                </a:lnTo>
                <a:lnTo>
                  <a:pt x="1762125" y="1762125"/>
                </a:lnTo>
                <a:lnTo>
                  <a:pt x="1771650" y="1771650"/>
                </a:lnTo>
                <a:lnTo>
                  <a:pt x="1781175" y="1771650"/>
                </a:lnTo>
                <a:lnTo>
                  <a:pt x="1790700" y="1781175"/>
                </a:lnTo>
                <a:lnTo>
                  <a:pt x="1800225" y="1781175"/>
                </a:lnTo>
                <a:lnTo>
                  <a:pt x="1819275" y="1762125"/>
                </a:lnTo>
                <a:lnTo>
                  <a:pt x="1819275" y="1724025"/>
                </a:lnTo>
                <a:lnTo>
                  <a:pt x="1809750" y="1714500"/>
                </a:lnTo>
                <a:lnTo>
                  <a:pt x="1809750" y="1562100"/>
                </a:lnTo>
                <a:lnTo>
                  <a:pt x="1800225" y="1552575"/>
                </a:lnTo>
                <a:lnTo>
                  <a:pt x="1800225" y="1514475"/>
                </a:lnTo>
                <a:lnTo>
                  <a:pt x="1790700" y="1504950"/>
                </a:lnTo>
                <a:lnTo>
                  <a:pt x="1790700" y="1495425"/>
                </a:lnTo>
                <a:lnTo>
                  <a:pt x="1781175" y="1485900"/>
                </a:lnTo>
                <a:lnTo>
                  <a:pt x="1762125" y="1485900"/>
                </a:lnTo>
                <a:lnTo>
                  <a:pt x="1752600" y="1476375"/>
                </a:lnTo>
                <a:close/>
              </a:path>
              <a:path w="4267200" h="4267200">
                <a:moveTo>
                  <a:pt x="2600325" y="914400"/>
                </a:moveTo>
                <a:lnTo>
                  <a:pt x="2609850" y="904875"/>
                </a:lnTo>
                <a:lnTo>
                  <a:pt x="2619375" y="904875"/>
                </a:lnTo>
                <a:lnTo>
                  <a:pt x="2647950" y="933450"/>
                </a:lnTo>
                <a:lnTo>
                  <a:pt x="2647950" y="952500"/>
                </a:lnTo>
                <a:lnTo>
                  <a:pt x="2657475" y="962025"/>
                </a:lnTo>
                <a:lnTo>
                  <a:pt x="2657475" y="971550"/>
                </a:lnTo>
                <a:lnTo>
                  <a:pt x="2647950" y="981075"/>
                </a:lnTo>
                <a:lnTo>
                  <a:pt x="2647950" y="1009650"/>
                </a:lnTo>
                <a:lnTo>
                  <a:pt x="2638425" y="1019175"/>
                </a:lnTo>
                <a:lnTo>
                  <a:pt x="2638425" y="1028700"/>
                </a:lnTo>
                <a:lnTo>
                  <a:pt x="2628900" y="1038225"/>
                </a:lnTo>
                <a:lnTo>
                  <a:pt x="2619375" y="1038225"/>
                </a:lnTo>
                <a:lnTo>
                  <a:pt x="2609850" y="1047750"/>
                </a:lnTo>
                <a:lnTo>
                  <a:pt x="2600325" y="1047750"/>
                </a:lnTo>
                <a:lnTo>
                  <a:pt x="2590800" y="1057275"/>
                </a:lnTo>
                <a:lnTo>
                  <a:pt x="2552700" y="1057275"/>
                </a:lnTo>
                <a:lnTo>
                  <a:pt x="2543175" y="1047750"/>
                </a:lnTo>
                <a:lnTo>
                  <a:pt x="2524125" y="1047750"/>
                </a:lnTo>
                <a:lnTo>
                  <a:pt x="2495550" y="1019175"/>
                </a:lnTo>
                <a:lnTo>
                  <a:pt x="2495550" y="1009650"/>
                </a:lnTo>
                <a:lnTo>
                  <a:pt x="2505075" y="1000125"/>
                </a:lnTo>
                <a:lnTo>
                  <a:pt x="2505075" y="990600"/>
                </a:lnTo>
                <a:lnTo>
                  <a:pt x="2581275" y="914400"/>
                </a:lnTo>
                <a:close/>
              </a:path>
              <a:path w="4267200" h="4267200">
                <a:moveTo>
                  <a:pt x="2838450" y="390525"/>
                </a:moveTo>
                <a:lnTo>
                  <a:pt x="2828925" y="400050"/>
                </a:lnTo>
                <a:lnTo>
                  <a:pt x="2790825" y="400050"/>
                </a:lnTo>
                <a:lnTo>
                  <a:pt x="2781300" y="409575"/>
                </a:lnTo>
                <a:lnTo>
                  <a:pt x="2752725" y="409575"/>
                </a:lnTo>
                <a:lnTo>
                  <a:pt x="2743200" y="419100"/>
                </a:lnTo>
                <a:lnTo>
                  <a:pt x="2724150" y="419100"/>
                </a:lnTo>
                <a:lnTo>
                  <a:pt x="2714625" y="428625"/>
                </a:lnTo>
                <a:lnTo>
                  <a:pt x="2705100" y="428625"/>
                </a:lnTo>
                <a:lnTo>
                  <a:pt x="2695575" y="438150"/>
                </a:lnTo>
                <a:lnTo>
                  <a:pt x="2686050" y="438150"/>
                </a:lnTo>
                <a:lnTo>
                  <a:pt x="2676525" y="447675"/>
                </a:lnTo>
                <a:lnTo>
                  <a:pt x="2676525" y="457200"/>
                </a:lnTo>
                <a:lnTo>
                  <a:pt x="2657475" y="476250"/>
                </a:lnTo>
                <a:lnTo>
                  <a:pt x="2657475" y="485775"/>
                </a:lnTo>
                <a:lnTo>
                  <a:pt x="2647950" y="495300"/>
                </a:lnTo>
                <a:lnTo>
                  <a:pt x="2647950" y="504825"/>
                </a:lnTo>
                <a:lnTo>
                  <a:pt x="2638425" y="514350"/>
                </a:lnTo>
                <a:lnTo>
                  <a:pt x="2638425" y="523875"/>
                </a:lnTo>
                <a:lnTo>
                  <a:pt x="2619375" y="542925"/>
                </a:lnTo>
                <a:lnTo>
                  <a:pt x="2552700" y="542925"/>
                </a:lnTo>
                <a:lnTo>
                  <a:pt x="2543175" y="533400"/>
                </a:lnTo>
                <a:lnTo>
                  <a:pt x="2524125" y="533400"/>
                </a:lnTo>
                <a:lnTo>
                  <a:pt x="2514600" y="523875"/>
                </a:lnTo>
                <a:lnTo>
                  <a:pt x="2438400" y="523875"/>
                </a:lnTo>
                <a:lnTo>
                  <a:pt x="2428875" y="533400"/>
                </a:lnTo>
                <a:lnTo>
                  <a:pt x="2409825" y="533400"/>
                </a:lnTo>
                <a:lnTo>
                  <a:pt x="2400300" y="542925"/>
                </a:lnTo>
                <a:lnTo>
                  <a:pt x="2390775" y="542925"/>
                </a:lnTo>
                <a:lnTo>
                  <a:pt x="2381250" y="552450"/>
                </a:lnTo>
                <a:lnTo>
                  <a:pt x="2371725" y="552450"/>
                </a:lnTo>
                <a:lnTo>
                  <a:pt x="2362200" y="561975"/>
                </a:lnTo>
                <a:lnTo>
                  <a:pt x="2352675" y="561975"/>
                </a:lnTo>
                <a:lnTo>
                  <a:pt x="2343150" y="571500"/>
                </a:lnTo>
                <a:lnTo>
                  <a:pt x="2333625" y="571500"/>
                </a:lnTo>
                <a:lnTo>
                  <a:pt x="2324100" y="581025"/>
                </a:lnTo>
                <a:lnTo>
                  <a:pt x="2314575" y="581025"/>
                </a:lnTo>
                <a:lnTo>
                  <a:pt x="2305050" y="590550"/>
                </a:lnTo>
                <a:lnTo>
                  <a:pt x="2276475" y="590550"/>
                </a:lnTo>
                <a:lnTo>
                  <a:pt x="2266950" y="600075"/>
                </a:lnTo>
                <a:lnTo>
                  <a:pt x="2228850" y="600075"/>
                </a:lnTo>
                <a:lnTo>
                  <a:pt x="2219325" y="609600"/>
                </a:lnTo>
                <a:lnTo>
                  <a:pt x="2200275" y="609600"/>
                </a:lnTo>
                <a:lnTo>
                  <a:pt x="2190750" y="619125"/>
                </a:lnTo>
                <a:lnTo>
                  <a:pt x="2171700" y="619125"/>
                </a:lnTo>
                <a:lnTo>
                  <a:pt x="2162175" y="628650"/>
                </a:lnTo>
                <a:lnTo>
                  <a:pt x="2143125" y="628650"/>
                </a:lnTo>
                <a:lnTo>
                  <a:pt x="2133600" y="638175"/>
                </a:lnTo>
                <a:lnTo>
                  <a:pt x="2085975" y="638175"/>
                </a:lnTo>
                <a:lnTo>
                  <a:pt x="2028825" y="581025"/>
                </a:lnTo>
                <a:lnTo>
                  <a:pt x="2028825" y="571500"/>
                </a:lnTo>
                <a:lnTo>
                  <a:pt x="1990725" y="533400"/>
                </a:lnTo>
                <a:lnTo>
                  <a:pt x="1981200" y="533400"/>
                </a:lnTo>
                <a:lnTo>
                  <a:pt x="1971675" y="523875"/>
                </a:lnTo>
                <a:lnTo>
                  <a:pt x="1952625" y="523875"/>
                </a:lnTo>
                <a:lnTo>
                  <a:pt x="1943100" y="514350"/>
                </a:lnTo>
                <a:lnTo>
                  <a:pt x="1885950" y="514350"/>
                </a:lnTo>
                <a:lnTo>
                  <a:pt x="1876425" y="523875"/>
                </a:lnTo>
                <a:lnTo>
                  <a:pt x="1838325" y="523875"/>
                </a:lnTo>
                <a:lnTo>
                  <a:pt x="1828800" y="533400"/>
                </a:lnTo>
                <a:lnTo>
                  <a:pt x="1724025" y="533400"/>
                </a:lnTo>
                <a:lnTo>
                  <a:pt x="1714500" y="523875"/>
                </a:lnTo>
                <a:lnTo>
                  <a:pt x="1676400" y="523875"/>
                </a:lnTo>
                <a:lnTo>
                  <a:pt x="1666875" y="514350"/>
                </a:lnTo>
                <a:lnTo>
                  <a:pt x="1647825" y="514350"/>
                </a:lnTo>
                <a:lnTo>
                  <a:pt x="1638300" y="523875"/>
                </a:lnTo>
                <a:lnTo>
                  <a:pt x="1619250" y="523875"/>
                </a:lnTo>
                <a:lnTo>
                  <a:pt x="1609725" y="533400"/>
                </a:lnTo>
                <a:lnTo>
                  <a:pt x="1600200" y="533400"/>
                </a:lnTo>
                <a:lnTo>
                  <a:pt x="1590675" y="542925"/>
                </a:lnTo>
                <a:lnTo>
                  <a:pt x="1581150" y="542925"/>
                </a:lnTo>
                <a:lnTo>
                  <a:pt x="1571625" y="552450"/>
                </a:lnTo>
                <a:lnTo>
                  <a:pt x="1562100" y="552450"/>
                </a:lnTo>
                <a:lnTo>
                  <a:pt x="1552575" y="561975"/>
                </a:lnTo>
                <a:lnTo>
                  <a:pt x="1524000" y="561975"/>
                </a:lnTo>
                <a:lnTo>
                  <a:pt x="1514475" y="571500"/>
                </a:lnTo>
                <a:lnTo>
                  <a:pt x="1485900" y="571500"/>
                </a:lnTo>
                <a:lnTo>
                  <a:pt x="1476375" y="561975"/>
                </a:lnTo>
                <a:lnTo>
                  <a:pt x="1457325" y="561975"/>
                </a:lnTo>
                <a:lnTo>
                  <a:pt x="1447800" y="552450"/>
                </a:lnTo>
                <a:lnTo>
                  <a:pt x="1400175" y="552450"/>
                </a:lnTo>
                <a:lnTo>
                  <a:pt x="1390650" y="561975"/>
                </a:lnTo>
                <a:lnTo>
                  <a:pt x="1381125" y="561975"/>
                </a:lnTo>
                <a:lnTo>
                  <a:pt x="1343025" y="600075"/>
                </a:lnTo>
                <a:lnTo>
                  <a:pt x="1333500" y="600075"/>
                </a:lnTo>
                <a:lnTo>
                  <a:pt x="1323975" y="609600"/>
                </a:lnTo>
                <a:lnTo>
                  <a:pt x="1314450" y="609600"/>
                </a:lnTo>
                <a:lnTo>
                  <a:pt x="1304925" y="619125"/>
                </a:lnTo>
                <a:lnTo>
                  <a:pt x="1266825" y="619125"/>
                </a:lnTo>
                <a:lnTo>
                  <a:pt x="1257300" y="609600"/>
                </a:lnTo>
                <a:lnTo>
                  <a:pt x="1247775" y="609600"/>
                </a:lnTo>
                <a:lnTo>
                  <a:pt x="1238250" y="600075"/>
                </a:lnTo>
                <a:lnTo>
                  <a:pt x="1228725" y="600075"/>
                </a:lnTo>
                <a:lnTo>
                  <a:pt x="1219200" y="590550"/>
                </a:lnTo>
                <a:lnTo>
                  <a:pt x="1209675" y="590550"/>
                </a:lnTo>
                <a:lnTo>
                  <a:pt x="1190625" y="571500"/>
                </a:lnTo>
                <a:lnTo>
                  <a:pt x="1181100" y="571500"/>
                </a:lnTo>
                <a:lnTo>
                  <a:pt x="1171575" y="561975"/>
                </a:lnTo>
                <a:lnTo>
                  <a:pt x="1152525" y="561975"/>
                </a:lnTo>
                <a:lnTo>
                  <a:pt x="1143000" y="552450"/>
                </a:lnTo>
                <a:lnTo>
                  <a:pt x="1114425" y="552450"/>
                </a:lnTo>
                <a:lnTo>
                  <a:pt x="1104900" y="542925"/>
                </a:lnTo>
                <a:lnTo>
                  <a:pt x="971550" y="542925"/>
                </a:lnTo>
                <a:lnTo>
                  <a:pt x="962025" y="533400"/>
                </a:lnTo>
                <a:lnTo>
                  <a:pt x="857250" y="533400"/>
                </a:lnTo>
                <a:lnTo>
                  <a:pt x="847725" y="542925"/>
                </a:lnTo>
                <a:lnTo>
                  <a:pt x="838200" y="542925"/>
                </a:lnTo>
                <a:lnTo>
                  <a:pt x="828675" y="552450"/>
                </a:lnTo>
                <a:lnTo>
                  <a:pt x="819150" y="552450"/>
                </a:lnTo>
                <a:lnTo>
                  <a:pt x="733425" y="638175"/>
                </a:lnTo>
                <a:lnTo>
                  <a:pt x="723900" y="638175"/>
                </a:lnTo>
                <a:lnTo>
                  <a:pt x="704850" y="657225"/>
                </a:lnTo>
                <a:lnTo>
                  <a:pt x="695325" y="657225"/>
                </a:lnTo>
                <a:lnTo>
                  <a:pt x="676275" y="676275"/>
                </a:lnTo>
                <a:lnTo>
                  <a:pt x="666750" y="676275"/>
                </a:lnTo>
                <a:lnTo>
                  <a:pt x="657225" y="685800"/>
                </a:lnTo>
                <a:lnTo>
                  <a:pt x="657225" y="695325"/>
                </a:lnTo>
                <a:lnTo>
                  <a:pt x="647700" y="704850"/>
                </a:lnTo>
                <a:lnTo>
                  <a:pt x="647700" y="714375"/>
                </a:lnTo>
                <a:lnTo>
                  <a:pt x="638175" y="723900"/>
                </a:lnTo>
                <a:lnTo>
                  <a:pt x="638175" y="771525"/>
                </a:lnTo>
                <a:lnTo>
                  <a:pt x="647700" y="781050"/>
                </a:lnTo>
                <a:lnTo>
                  <a:pt x="647700" y="790575"/>
                </a:lnTo>
                <a:lnTo>
                  <a:pt x="657225" y="800100"/>
                </a:lnTo>
                <a:lnTo>
                  <a:pt x="657225" y="809625"/>
                </a:lnTo>
                <a:lnTo>
                  <a:pt x="695325" y="847725"/>
                </a:lnTo>
                <a:lnTo>
                  <a:pt x="695325" y="857250"/>
                </a:lnTo>
                <a:lnTo>
                  <a:pt x="704850" y="866775"/>
                </a:lnTo>
                <a:lnTo>
                  <a:pt x="704850" y="876300"/>
                </a:lnTo>
                <a:lnTo>
                  <a:pt x="714375" y="885825"/>
                </a:lnTo>
                <a:lnTo>
                  <a:pt x="714375" y="981075"/>
                </a:lnTo>
                <a:lnTo>
                  <a:pt x="723900" y="990600"/>
                </a:lnTo>
                <a:lnTo>
                  <a:pt x="723900" y="1019175"/>
                </a:lnTo>
                <a:lnTo>
                  <a:pt x="733425" y="1028700"/>
                </a:lnTo>
                <a:lnTo>
                  <a:pt x="733425" y="1038225"/>
                </a:lnTo>
                <a:lnTo>
                  <a:pt x="742950" y="1047750"/>
                </a:lnTo>
                <a:lnTo>
                  <a:pt x="742950" y="1066800"/>
                </a:lnTo>
                <a:lnTo>
                  <a:pt x="752475" y="1076325"/>
                </a:lnTo>
                <a:lnTo>
                  <a:pt x="752475" y="1104900"/>
                </a:lnTo>
                <a:lnTo>
                  <a:pt x="762000" y="1114425"/>
                </a:lnTo>
                <a:lnTo>
                  <a:pt x="762000" y="1162050"/>
                </a:lnTo>
                <a:lnTo>
                  <a:pt x="771525" y="1171575"/>
                </a:lnTo>
                <a:lnTo>
                  <a:pt x="771525" y="1209675"/>
                </a:lnTo>
                <a:lnTo>
                  <a:pt x="781050" y="1219200"/>
                </a:lnTo>
                <a:lnTo>
                  <a:pt x="781050" y="1238250"/>
                </a:lnTo>
                <a:lnTo>
                  <a:pt x="790575" y="1247775"/>
                </a:lnTo>
                <a:lnTo>
                  <a:pt x="790575" y="1257300"/>
                </a:lnTo>
                <a:lnTo>
                  <a:pt x="800100" y="1266825"/>
                </a:lnTo>
                <a:lnTo>
                  <a:pt x="800100" y="1276350"/>
                </a:lnTo>
                <a:lnTo>
                  <a:pt x="809625" y="1285875"/>
                </a:lnTo>
                <a:lnTo>
                  <a:pt x="809625" y="1295400"/>
                </a:lnTo>
                <a:lnTo>
                  <a:pt x="828675" y="1314450"/>
                </a:lnTo>
                <a:lnTo>
                  <a:pt x="828675" y="1323975"/>
                </a:lnTo>
                <a:lnTo>
                  <a:pt x="857250" y="1352550"/>
                </a:lnTo>
                <a:lnTo>
                  <a:pt x="857250" y="1362075"/>
                </a:lnTo>
                <a:lnTo>
                  <a:pt x="876300" y="1381125"/>
                </a:lnTo>
                <a:lnTo>
                  <a:pt x="876300" y="1390650"/>
                </a:lnTo>
                <a:lnTo>
                  <a:pt x="885825" y="1400175"/>
                </a:lnTo>
                <a:lnTo>
                  <a:pt x="885825" y="1409700"/>
                </a:lnTo>
                <a:lnTo>
                  <a:pt x="895350" y="1419225"/>
                </a:lnTo>
                <a:lnTo>
                  <a:pt x="895350" y="1428750"/>
                </a:lnTo>
                <a:lnTo>
                  <a:pt x="904875" y="1438275"/>
                </a:lnTo>
                <a:lnTo>
                  <a:pt x="904875" y="1447800"/>
                </a:lnTo>
                <a:lnTo>
                  <a:pt x="914400" y="1457325"/>
                </a:lnTo>
                <a:lnTo>
                  <a:pt x="914400" y="1476375"/>
                </a:lnTo>
                <a:lnTo>
                  <a:pt x="923925" y="1485900"/>
                </a:lnTo>
                <a:lnTo>
                  <a:pt x="923925" y="1504950"/>
                </a:lnTo>
                <a:lnTo>
                  <a:pt x="933450" y="1514475"/>
                </a:lnTo>
                <a:lnTo>
                  <a:pt x="933450" y="1695450"/>
                </a:lnTo>
                <a:lnTo>
                  <a:pt x="942975" y="1704975"/>
                </a:lnTo>
                <a:lnTo>
                  <a:pt x="942975" y="1743075"/>
                </a:lnTo>
                <a:lnTo>
                  <a:pt x="952500" y="1752600"/>
                </a:lnTo>
                <a:lnTo>
                  <a:pt x="952500" y="1790700"/>
                </a:lnTo>
                <a:lnTo>
                  <a:pt x="962025" y="1800225"/>
                </a:lnTo>
                <a:lnTo>
                  <a:pt x="962025" y="1819275"/>
                </a:lnTo>
                <a:lnTo>
                  <a:pt x="971550" y="1828800"/>
                </a:lnTo>
                <a:lnTo>
                  <a:pt x="971550" y="1838325"/>
                </a:lnTo>
                <a:lnTo>
                  <a:pt x="981075" y="1847850"/>
                </a:lnTo>
                <a:lnTo>
                  <a:pt x="981075" y="1857375"/>
                </a:lnTo>
                <a:lnTo>
                  <a:pt x="1019175" y="1895475"/>
                </a:lnTo>
                <a:lnTo>
                  <a:pt x="1057275" y="1895475"/>
                </a:lnTo>
                <a:lnTo>
                  <a:pt x="1066800" y="1885950"/>
                </a:lnTo>
                <a:lnTo>
                  <a:pt x="1076325" y="1885950"/>
                </a:lnTo>
                <a:lnTo>
                  <a:pt x="1085850" y="1876425"/>
                </a:lnTo>
                <a:lnTo>
                  <a:pt x="1095375" y="1876425"/>
                </a:lnTo>
                <a:lnTo>
                  <a:pt x="1114425" y="1857375"/>
                </a:lnTo>
                <a:lnTo>
                  <a:pt x="1152525" y="1857375"/>
                </a:lnTo>
                <a:lnTo>
                  <a:pt x="1190625" y="1895475"/>
                </a:lnTo>
                <a:lnTo>
                  <a:pt x="1190625" y="1933575"/>
                </a:lnTo>
                <a:lnTo>
                  <a:pt x="1162050" y="1962150"/>
                </a:lnTo>
                <a:lnTo>
                  <a:pt x="1152525" y="1962150"/>
                </a:lnTo>
                <a:lnTo>
                  <a:pt x="1143000" y="1971675"/>
                </a:lnTo>
                <a:lnTo>
                  <a:pt x="1133475" y="1971675"/>
                </a:lnTo>
                <a:lnTo>
                  <a:pt x="1123950" y="1981200"/>
                </a:lnTo>
                <a:lnTo>
                  <a:pt x="1104900" y="1981200"/>
                </a:lnTo>
                <a:lnTo>
                  <a:pt x="1095375" y="1990725"/>
                </a:lnTo>
                <a:lnTo>
                  <a:pt x="1085850" y="1990725"/>
                </a:lnTo>
                <a:lnTo>
                  <a:pt x="1066800" y="2009775"/>
                </a:lnTo>
                <a:lnTo>
                  <a:pt x="1066800" y="2019300"/>
                </a:lnTo>
                <a:lnTo>
                  <a:pt x="1057275" y="2028825"/>
                </a:lnTo>
                <a:lnTo>
                  <a:pt x="1057275" y="2066925"/>
                </a:lnTo>
                <a:lnTo>
                  <a:pt x="1066800" y="2076450"/>
                </a:lnTo>
                <a:lnTo>
                  <a:pt x="1066800" y="2085975"/>
                </a:lnTo>
                <a:lnTo>
                  <a:pt x="1076325" y="2095500"/>
                </a:lnTo>
                <a:lnTo>
                  <a:pt x="1076325" y="2105025"/>
                </a:lnTo>
                <a:lnTo>
                  <a:pt x="1095375" y="2124075"/>
                </a:lnTo>
                <a:lnTo>
                  <a:pt x="1104900" y="2124075"/>
                </a:lnTo>
                <a:lnTo>
                  <a:pt x="1114425" y="2133600"/>
                </a:lnTo>
                <a:lnTo>
                  <a:pt x="1123950" y="2133600"/>
                </a:lnTo>
                <a:lnTo>
                  <a:pt x="1133475" y="2143125"/>
                </a:lnTo>
                <a:lnTo>
                  <a:pt x="1143000" y="2133600"/>
                </a:lnTo>
                <a:lnTo>
                  <a:pt x="1162050" y="2133600"/>
                </a:lnTo>
                <a:lnTo>
                  <a:pt x="1238250" y="2057400"/>
                </a:lnTo>
                <a:lnTo>
                  <a:pt x="1238250" y="2047875"/>
                </a:lnTo>
                <a:lnTo>
                  <a:pt x="1257300" y="2028825"/>
                </a:lnTo>
                <a:lnTo>
                  <a:pt x="1257300" y="2019300"/>
                </a:lnTo>
                <a:lnTo>
                  <a:pt x="1285875" y="1990725"/>
                </a:lnTo>
                <a:lnTo>
                  <a:pt x="1285875" y="1981200"/>
                </a:lnTo>
                <a:lnTo>
                  <a:pt x="1304925" y="1962150"/>
                </a:lnTo>
                <a:lnTo>
                  <a:pt x="1304925" y="1952625"/>
                </a:lnTo>
                <a:lnTo>
                  <a:pt x="1314450" y="1943100"/>
                </a:lnTo>
                <a:lnTo>
                  <a:pt x="1314450" y="1924050"/>
                </a:lnTo>
                <a:lnTo>
                  <a:pt x="1323975" y="1914525"/>
                </a:lnTo>
                <a:lnTo>
                  <a:pt x="1323975" y="1895475"/>
                </a:lnTo>
                <a:lnTo>
                  <a:pt x="1333500" y="1885950"/>
                </a:lnTo>
                <a:lnTo>
                  <a:pt x="1333500" y="1866900"/>
                </a:lnTo>
                <a:lnTo>
                  <a:pt x="1343025" y="1857375"/>
                </a:lnTo>
                <a:lnTo>
                  <a:pt x="1343025" y="1847850"/>
                </a:lnTo>
                <a:lnTo>
                  <a:pt x="1352550" y="1838325"/>
                </a:lnTo>
                <a:lnTo>
                  <a:pt x="1352550" y="1828800"/>
                </a:lnTo>
                <a:lnTo>
                  <a:pt x="1362075" y="1819275"/>
                </a:lnTo>
                <a:lnTo>
                  <a:pt x="1362075" y="1809750"/>
                </a:lnTo>
                <a:lnTo>
                  <a:pt x="1371600" y="1800225"/>
                </a:lnTo>
                <a:lnTo>
                  <a:pt x="1371600" y="1752600"/>
                </a:lnTo>
                <a:lnTo>
                  <a:pt x="1362075" y="1743075"/>
                </a:lnTo>
                <a:lnTo>
                  <a:pt x="1362075" y="1704975"/>
                </a:lnTo>
                <a:lnTo>
                  <a:pt x="1352550" y="1695450"/>
                </a:lnTo>
                <a:lnTo>
                  <a:pt x="1352550" y="1666875"/>
                </a:lnTo>
                <a:lnTo>
                  <a:pt x="1343025" y="1657350"/>
                </a:lnTo>
                <a:lnTo>
                  <a:pt x="1343025" y="1647825"/>
                </a:lnTo>
                <a:lnTo>
                  <a:pt x="1323975" y="1628775"/>
                </a:lnTo>
                <a:lnTo>
                  <a:pt x="1314450" y="1628775"/>
                </a:lnTo>
                <a:lnTo>
                  <a:pt x="1304925" y="1619250"/>
                </a:lnTo>
                <a:lnTo>
                  <a:pt x="1295400" y="1619250"/>
                </a:lnTo>
                <a:lnTo>
                  <a:pt x="1285875" y="1609725"/>
                </a:lnTo>
                <a:lnTo>
                  <a:pt x="1171575" y="1609725"/>
                </a:lnTo>
                <a:lnTo>
                  <a:pt x="1162050" y="1600200"/>
                </a:lnTo>
                <a:lnTo>
                  <a:pt x="1133475" y="1600200"/>
                </a:lnTo>
                <a:lnTo>
                  <a:pt x="1123950" y="1590675"/>
                </a:lnTo>
                <a:lnTo>
                  <a:pt x="1114425" y="1590675"/>
                </a:lnTo>
                <a:lnTo>
                  <a:pt x="1076325" y="1552575"/>
                </a:lnTo>
                <a:lnTo>
                  <a:pt x="1076325" y="1543050"/>
                </a:lnTo>
                <a:lnTo>
                  <a:pt x="1066800" y="1533525"/>
                </a:lnTo>
                <a:lnTo>
                  <a:pt x="1066800" y="1495425"/>
                </a:lnTo>
                <a:lnTo>
                  <a:pt x="1076325" y="1485900"/>
                </a:lnTo>
                <a:lnTo>
                  <a:pt x="1076325" y="1476375"/>
                </a:lnTo>
                <a:lnTo>
                  <a:pt x="1085850" y="1466850"/>
                </a:lnTo>
                <a:lnTo>
                  <a:pt x="1085850" y="1457325"/>
                </a:lnTo>
                <a:lnTo>
                  <a:pt x="1095375" y="1447800"/>
                </a:lnTo>
                <a:lnTo>
                  <a:pt x="1095375" y="1428750"/>
                </a:lnTo>
                <a:lnTo>
                  <a:pt x="1104900" y="1419225"/>
                </a:lnTo>
                <a:lnTo>
                  <a:pt x="1104900" y="1409700"/>
                </a:lnTo>
                <a:lnTo>
                  <a:pt x="1114425" y="1400175"/>
                </a:lnTo>
                <a:lnTo>
                  <a:pt x="1114425" y="1295400"/>
                </a:lnTo>
                <a:lnTo>
                  <a:pt x="1104900" y="1285875"/>
                </a:lnTo>
                <a:lnTo>
                  <a:pt x="1104900" y="1257300"/>
                </a:lnTo>
                <a:lnTo>
                  <a:pt x="1095375" y="1247775"/>
                </a:lnTo>
                <a:lnTo>
                  <a:pt x="1095375" y="1228725"/>
                </a:lnTo>
                <a:lnTo>
                  <a:pt x="1085850" y="1219200"/>
                </a:lnTo>
                <a:lnTo>
                  <a:pt x="1085850" y="1209675"/>
                </a:lnTo>
                <a:lnTo>
                  <a:pt x="1076325" y="1200150"/>
                </a:lnTo>
                <a:lnTo>
                  <a:pt x="1076325" y="1190625"/>
                </a:lnTo>
                <a:lnTo>
                  <a:pt x="1066800" y="1181100"/>
                </a:lnTo>
                <a:lnTo>
                  <a:pt x="1066800" y="1171575"/>
                </a:lnTo>
                <a:lnTo>
                  <a:pt x="1047750" y="1152525"/>
                </a:lnTo>
                <a:lnTo>
                  <a:pt x="1047750" y="1143000"/>
                </a:lnTo>
                <a:lnTo>
                  <a:pt x="1038225" y="1133475"/>
                </a:lnTo>
                <a:lnTo>
                  <a:pt x="1038225" y="1123950"/>
                </a:lnTo>
                <a:lnTo>
                  <a:pt x="1028700" y="1114425"/>
                </a:lnTo>
                <a:lnTo>
                  <a:pt x="1028700" y="1095375"/>
                </a:lnTo>
                <a:lnTo>
                  <a:pt x="1019175" y="1085850"/>
                </a:lnTo>
                <a:lnTo>
                  <a:pt x="1019175" y="1028700"/>
                </a:lnTo>
                <a:lnTo>
                  <a:pt x="1009650" y="1019175"/>
                </a:lnTo>
                <a:lnTo>
                  <a:pt x="1009650" y="990600"/>
                </a:lnTo>
                <a:lnTo>
                  <a:pt x="1019175" y="981075"/>
                </a:lnTo>
                <a:lnTo>
                  <a:pt x="1019175" y="952500"/>
                </a:lnTo>
                <a:lnTo>
                  <a:pt x="1028700" y="942975"/>
                </a:lnTo>
                <a:lnTo>
                  <a:pt x="1028700" y="923925"/>
                </a:lnTo>
                <a:lnTo>
                  <a:pt x="1038225" y="914400"/>
                </a:lnTo>
                <a:lnTo>
                  <a:pt x="1038225" y="904875"/>
                </a:lnTo>
                <a:lnTo>
                  <a:pt x="1085850" y="857250"/>
                </a:lnTo>
                <a:lnTo>
                  <a:pt x="1095375" y="857250"/>
                </a:lnTo>
                <a:lnTo>
                  <a:pt x="1104900" y="847725"/>
                </a:lnTo>
                <a:lnTo>
                  <a:pt x="1123950" y="847725"/>
                </a:lnTo>
                <a:lnTo>
                  <a:pt x="1133475" y="838200"/>
                </a:lnTo>
                <a:lnTo>
                  <a:pt x="1162050" y="838200"/>
                </a:lnTo>
                <a:lnTo>
                  <a:pt x="1171575" y="828675"/>
                </a:lnTo>
                <a:lnTo>
                  <a:pt x="1209675" y="828675"/>
                </a:lnTo>
                <a:lnTo>
                  <a:pt x="1219200" y="819150"/>
                </a:lnTo>
                <a:lnTo>
                  <a:pt x="1352550" y="819150"/>
                </a:lnTo>
                <a:lnTo>
                  <a:pt x="1371600" y="838200"/>
                </a:lnTo>
                <a:lnTo>
                  <a:pt x="1371600" y="857250"/>
                </a:lnTo>
                <a:lnTo>
                  <a:pt x="1362075" y="866775"/>
                </a:lnTo>
                <a:lnTo>
                  <a:pt x="1362075" y="876300"/>
                </a:lnTo>
                <a:lnTo>
                  <a:pt x="1343025" y="895350"/>
                </a:lnTo>
                <a:lnTo>
                  <a:pt x="1343025" y="904875"/>
                </a:lnTo>
                <a:lnTo>
                  <a:pt x="1333500" y="914400"/>
                </a:lnTo>
                <a:lnTo>
                  <a:pt x="1333500" y="923925"/>
                </a:lnTo>
                <a:lnTo>
                  <a:pt x="1323975" y="933450"/>
                </a:lnTo>
                <a:lnTo>
                  <a:pt x="1323975" y="942975"/>
                </a:lnTo>
                <a:lnTo>
                  <a:pt x="1314450" y="952500"/>
                </a:lnTo>
                <a:lnTo>
                  <a:pt x="1314450" y="971550"/>
                </a:lnTo>
                <a:lnTo>
                  <a:pt x="1304925" y="981075"/>
                </a:lnTo>
                <a:lnTo>
                  <a:pt x="1304925" y="1009650"/>
                </a:lnTo>
                <a:lnTo>
                  <a:pt x="1295400" y="1019175"/>
                </a:lnTo>
                <a:lnTo>
                  <a:pt x="1295400" y="1038225"/>
                </a:lnTo>
                <a:lnTo>
                  <a:pt x="1285875" y="1047750"/>
                </a:lnTo>
                <a:lnTo>
                  <a:pt x="1285875" y="1057275"/>
                </a:lnTo>
                <a:lnTo>
                  <a:pt x="1266825" y="1076325"/>
                </a:lnTo>
                <a:lnTo>
                  <a:pt x="1266825" y="1085850"/>
                </a:lnTo>
                <a:lnTo>
                  <a:pt x="1228725" y="1123950"/>
                </a:lnTo>
                <a:lnTo>
                  <a:pt x="1228725" y="1133475"/>
                </a:lnTo>
                <a:lnTo>
                  <a:pt x="1219200" y="1143000"/>
                </a:lnTo>
                <a:lnTo>
                  <a:pt x="1219200" y="1152525"/>
                </a:lnTo>
                <a:lnTo>
                  <a:pt x="1209675" y="1162050"/>
                </a:lnTo>
                <a:lnTo>
                  <a:pt x="1209675" y="1171575"/>
                </a:lnTo>
                <a:lnTo>
                  <a:pt x="1200150" y="1181100"/>
                </a:lnTo>
                <a:lnTo>
                  <a:pt x="1200150" y="1219200"/>
                </a:lnTo>
                <a:lnTo>
                  <a:pt x="1190625" y="1228725"/>
                </a:lnTo>
                <a:lnTo>
                  <a:pt x="1190625" y="1247775"/>
                </a:lnTo>
                <a:lnTo>
                  <a:pt x="1200150" y="1257300"/>
                </a:lnTo>
                <a:lnTo>
                  <a:pt x="1200150" y="1276350"/>
                </a:lnTo>
                <a:lnTo>
                  <a:pt x="1209675" y="1285875"/>
                </a:lnTo>
                <a:lnTo>
                  <a:pt x="1219200" y="1285875"/>
                </a:lnTo>
                <a:lnTo>
                  <a:pt x="1228725" y="1295400"/>
                </a:lnTo>
                <a:lnTo>
                  <a:pt x="1266825" y="1295400"/>
                </a:lnTo>
                <a:lnTo>
                  <a:pt x="1276350" y="1285875"/>
                </a:lnTo>
                <a:lnTo>
                  <a:pt x="1285875" y="1285875"/>
                </a:lnTo>
                <a:lnTo>
                  <a:pt x="1314450" y="1257300"/>
                </a:lnTo>
                <a:lnTo>
                  <a:pt x="1314450" y="1247775"/>
                </a:lnTo>
                <a:lnTo>
                  <a:pt x="1352550" y="1209675"/>
                </a:lnTo>
                <a:lnTo>
                  <a:pt x="1390650" y="1209675"/>
                </a:lnTo>
                <a:lnTo>
                  <a:pt x="1428750" y="1247775"/>
                </a:lnTo>
                <a:lnTo>
                  <a:pt x="1428750" y="1257300"/>
                </a:lnTo>
                <a:lnTo>
                  <a:pt x="1438275" y="1266825"/>
                </a:lnTo>
                <a:lnTo>
                  <a:pt x="1438275" y="1276350"/>
                </a:lnTo>
                <a:lnTo>
                  <a:pt x="1447800" y="1285875"/>
                </a:lnTo>
                <a:lnTo>
                  <a:pt x="1447800" y="1295400"/>
                </a:lnTo>
                <a:lnTo>
                  <a:pt x="1457325" y="1304925"/>
                </a:lnTo>
                <a:lnTo>
                  <a:pt x="1457325" y="1314450"/>
                </a:lnTo>
                <a:lnTo>
                  <a:pt x="1466850" y="1323975"/>
                </a:lnTo>
                <a:lnTo>
                  <a:pt x="1466850" y="1333500"/>
                </a:lnTo>
                <a:lnTo>
                  <a:pt x="1485900" y="1352550"/>
                </a:lnTo>
                <a:lnTo>
                  <a:pt x="1485900" y="1362075"/>
                </a:lnTo>
                <a:lnTo>
                  <a:pt x="1495425" y="1371600"/>
                </a:lnTo>
                <a:lnTo>
                  <a:pt x="1504950" y="1371600"/>
                </a:lnTo>
                <a:lnTo>
                  <a:pt x="1524000" y="1390650"/>
                </a:lnTo>
                <a:lnTo>
                  <a:pt x="1562100" y="1390650"/>
                </a:lnTo>
                <a:lnTo>
                  <a:pt x="1571625" y="1381125"/>
                </a:lnTo>
                <a:lnTo>
                  <a:pt x="1581150" y="1381125"/>
                </a:lnTo>
                <a:lnTo>
                  <a:pt x="1590675" y="1371600"/>
                </a:lnTo>
                <a:lnTo>
                  <a:pt x="1600200" y="1371600"/>
                </a:lnTo>
                <a:lnTo>
                  <a:pt x="1619250" y="1352550"/>
                </a:lnTo>
                <a:lnTo>
                  <a:pt x="1628775" y="1352550"/>
                </a:lnTo>
                <a:lnTo>
                  <a:pt x="1638300" y="1343025"/>
                </a:lnTo>
                <a:lnTo>
                  <a:pt x="1685925" y="1343025"/>
                </a:lnTo>
                <a:lnTo>
                  <a:pt x="1695450" y="1352550"/>
                </a:lnTo>
                <a:lnTo>
                  <a:pt x="1704975" y="1352550"/>
                </a:lnTo>
                <a:lnTo>
                  <a:pt x="1714500" y="1362075"/>
                </a:lnTo>
                <a:lnTo>
                  <a:pt x="1724025" y="1362075"/>
                </a:lnTo>
                <a:lnTo>
                  <a:pt x="1733550" y="1371600"/>
                </a:lnTo>
                <a:lnTo>
                  <a:pt x="1743075" y="1371600"/>
                </a:lnTo>
                <a:lnTo>
                  <a:pt x="1752600" y="1381125"/>
                </a:lnTo>
                <a:lnTo>
                  <a:pt x="1828800" y="1381125"/>
                </a:lnTo>
                <a:lnTo>
                  <a:pt x="1838325" y="1371600"/>
                </a:lnTo>
                <a:lnTo>
                  <a:pt x="1847850" y="1371600"/>
                </a:lnTo>
                <a:lnTo>
                  <a:pt x="1857375" y="1362075"/>
                </a:lnTo>
                <a:lnTo>
                  <a:pt x="1866900" y="1362075"/>
                </a:lnTo>
                <a:lnTo>
                  <a:pt x="1876425" y="1352550"/>
                </a:lnTo>
                <a:lnTo>
                  <a:pt x="1876425" y="1343025"/>
                </a:lnTo>
                <a:lnTo>
                  <a:pt x="1885950" y="1333500"/>
                </a:lnTo>
                <a:lnTo>
                  <a:pt x="1885950" y="1323975"/>
                </a:lnTo>
                <a:lnTo>
                  <a:pt x="1895475" y="1314450"/>
                </a:lnTo>
                <a:lnTo>
                  <a:pt x="1895475" y="1295400"/>
                </a:lnTo>
                <a:lnTo>
                  <a:pt x="1905000" y="1285875"/>
                </a:lnTo>
                <a:lnTo>
                  <a:pt x="1905000" y="1247775"/>
                </a:lnTo>
                <a:lnTo>
                  <a:pt x="1914525" y="1238250"/>
                </a:lnTo>
                <a:lnTo>
                  <a:pt x="1914525" y="1200150"/>
                </a:lnTo>
                <a:lnTo>
                  <a:pt x="1924050" y="1190625"/>
                </a:lnTo>
                <a:lnTo>
                  <a:pt x="1924050" y="1171575"/>
                </a:lnTo>
                <a:lnTo>
                  <a:pt x="1933575" y="1162050"/>
                </a:lnTo>
                <a:lnTo>
                  <a:pt x="1933575" y="1152525"/>
                </a:lnTo>
                <a:lnTo>
                  <a:pt x="1971675" y="1114425"/>
                </a:lnTo>
                <a:lnTo>
                  <a:pt x="1990725" y="1114425"/>
                </a:lnTo>
                <a:lnTo>
                  <a:pt x="2000250" y="1104900"/>
                </a:lnTo>
                <a:lnTo>
                  <a:pt x="2009775" y="1104900"/>
                </a:lnTo>
                <a:lnTo>
                  <a:pt x="2028825" y="1085850"/>
                </a:lnTo>
                <a:lnTo>
                  <a:pt x="2028825" y="1076325"/>
                </a:lnTo>
                <a:lnTo>
                  <a:pt x="2038350" y="1066800"/>
                </a:lnTo>
                <a:lnTo>
                  <a:pt x="2038350" y="1047750"/>
                </a:lnTo>
                <a:lnTo>
                  <a:pt x="2047875" y="1038225"/>
                </a:lnTo>
                <a:lnTo>
                  <a:pt x="2047875" y="1019175"/>
                </a:lnTo>
                <a:lnTo>
                  <a:pt x="2057400" y="1009650"/>
                </a:lnTo>
                <a:lnTo>
                  <a:pt x="2057400" y="1000125"/>
                </a:lnTo>
                <a:lnTo>
                  <a:pt x="2095500" y="962025"/>
                </a:lnTo>
                <a:lnTo>
                  <a:pt x="2105025" y="962025"/>
                </a:lnTo>
                <a:lnTo>
                  <a:pt x="2114550" y="952500"/>
                </a:lnTo>
                <a:lnTo>
                  <a:pt x="2133600" y="952500"/>
                </a:lnTo>
                <a:lnTo>
                  <a:pt x="2143125" y="942975"/>
                </a:lnTo>
                <a:lnTo>
                  <a:pt x="2219325" y="942975"/>
                </a:lnTo>
                <a:lnTo>
                  <a:pt x="2228850" y="952500"/>
                </a:lnTo>
                <a:lnTo>
                  <a:pt x="2247900" y="952500"/>
                </a:lnTo>
                <a:lnTo>
                  <a:pt x="2257425" y="962025"/>
                </a:lnTo>
                <a:lnTo>
                  <a:pt x="2286000" y="962025"/>
                </a:lnTo>
                <a:lnTo>
                  <a:pt x="2295525" y="971550"/>
                </a:lnTo>
                <a:lnTo>
                  <a:pt x="2324100" y="971550"/>
                </a:lnTo>
                <a:lnTo>
                  <a:pt x="2333625" y="981075"/>
                </a:lnTo>
                <a:lnTo>
                  <a:pt x="2352675" y="981075"/>
                </a:lnTo>
                <a:lnTo>
                  <a:pt x="2362200" y="990600"/>
                </a:lnTo>
                <a:lnTo>
                  <a:pt x="2371725" y="990600"/>
                </a:lnTo>
                <a:lnTo>
                  <a:pt x="2419350" y="1038225"/>
                </a:lnTo>
                <a:lnTo>
                  <a:pt x="2419350" y="1066800"/>
                </a:lnTo>
                <a:lnTo>
                  <a:pt x="2409825" y="1076325"/>
                </a:lnTo>
                <a:lnTo>
                  <a:pt x="2409825" y="1104900"/>
                </a:lnTo>
                <a:lnTo>
                  <a:pt x="2400300" y="1114425"/>
                </a:lnTo>
                <a:lnTo>
                  <a:pt x="2400300" y="1123950"/>
                </a:lnTo>
                <a:lnTo>
                  <a:pt x="2390775" y="1133475"/>
                </a:lnTo>
                <a:lnTo>
                  <a:pt x="2390775" y="1143000"/>
                </a:lnTo>
                <a:lnTo>
                  <a:pt x="2381250" y="1152525"/>
                </a:lnTo>
                <a:lnTo>
                  <a:pt x="2381250" y="1162050"/>
                </a:lnTo>
                <a:lnTo>
                  <a:pt x="2371725" y="1171575"/>
                </a:lnTo>
                <a:lnTo>
                  <a:pt x="2371725" y="1181100"/>
                </a:lnTo>
                <a:lnTo>
                  <a:pt x="2324100" y="1228725"/>
                </a:lnTo>
                <a:lnTo>
                  <a:pt x="2266950" y="1228725"/>
                </a:lnTo>
                <a:lnTo>
                  <a:pt x="2257425" y="1219200"/>
                </a:lnTo>
                <a:lnTo>
                  <a:pt x="2219325" y="1219200"/>
                </a:lnTo>
                <a:lnTo>
                  <a:pt x="2209800" y="1209675"/>
                </a:lnTo>
                <a:lnTo>
                  <a:pt x="2200275" y="1209675"/>
                </a:lnTo>
                <a:lnTo>
                  <a:pt x="2190750" y="1219200"/>
                </a:lnTo>
                <a:lnTo>
                  <a:pt x="2162175" y="1219200"/>
                </a:lnTo>
                <a:lnTo>
                  <a:pt x="2133600" y="1247775"/>
                </a:lnTo>
                <a:lnTo>
                  <a:pt x="2133600" y="1314450"/>
                </a:lnTo>
                <a:lnTo>
                  <a:pt x="2143125" y="1323975"/>
                </a:lnTo>
                <a:lnTo>
                  <a:pt x="2143125" y="1343025"/>
                </a:lnTo>
                <a:lnTo>
                  <a:pt x="2152650" y="1352550"/>
                </a:lnTo>
                <a:lnTo>
                  <a:pt x="2152650" y="1362075"/>
                </a:lnTo>
                <a:lnTo>
                  <a:pt x="2162175" y="1371600"/>
                </a:lnTo>
                <a:lnTo>
                  <a:pt x="2162175" y="1381125"/>
                </a:lnTo>
                <a:lnTo>
                  <a:pt x="2171700" y="1390650"/>
                </a:lnTo>
                <a:lnTo>
                  <a:pt x="2171700" y="1447800"/>
                </a:lnTo>
                <a:lnTo>
                  <a:pt x="2162175" y="1457325"/>
                </a:lnTo>
                <a:lnTo>
                  <a:pt x="2162175" y="1571625"/>
                </a:lnTo>
                <a:lnTo>
                  <a:pt x="2171700" y="1581150"/>
                </a:lnTo>
                <a:lnTo>
                  <a:pt x="2171700" y="1590675"/>
                </a:lnTo>
                <a:lnTo>
                  <a:pt x="2181225" y="1600200"/>
                </a:lnTo>
                <a:lnTo>
                  <a:pt x="2181225" y="1619250"/>
                </a:lnTo>
                <a:lnTo>
                  <a:pt x="2190750" y="1628775"/>
                </a:lnTo>
                <a:lnTo>
                  <a:pt x="2190750" y="1657350"/>
                </a:lnTo>
                <a:lnTo>
                  <a:pt x="2181225" y="1666875"/>
                </a:lnTo>
                <a:lnTo>
                  <a:pt x="2181225" y="1676400"/>
                </a:lnTo>
                <a:lnTo>
                  <a:pt x="2152650" y="1704975"/>
                </a:lnTo>
                <a:lnTo>
                  <a:pt x="2152650" y="1714500"/>
                </a:lnTo>
                <a:lnTo>
                  <a:pt x="2133600" y="1733550"/>
                </a:lnTo>
                <a:lnTo>
                  <a:pt x="2133600" y="1743075"/>
                </a:lnTo>
                <a:lnTo>
                  <a:pt x="2124075" y="1752600"/>
                </a:lnTo>
                <a:lnTo>
                  <a:pt x="2124075" y="1819275"/>
                </a:lnTo>
                <a:lnTo>
                  <a:pt x="2133600" y="1828800"/>
                </a:lnTo>
                <a:lnTo>
                  <a:pt x="2133600" y="1838325"/>
                </a:lnTo>
                <a:lnTo>
                  <a:pt x="2143125" y="1847850"/>
                </a:lnTo>
                <a:lnTo>
                  <a:pt x="2143125" y="1857375"/>
                </a:lnTo>
                <a:lnTo>
                  <a:pt x="2162175" y="1876425"/>
                </a:lnTo>
                <a:lnTo>
                  <a:pt x="2171700" y="1876425"/>
                </a:lnTo>
                <a:lnTo>
                  <a:pt x="2190750" y="1895475"/>
                </a:lnTo>
                <a:lnTo>
                  <a:pt x="2200275" y="1895475"/>
                </a:lnTo>
                <a:lnTo>
                  <a:pt x="2209800" y="1905000"/>
                </a:lnTo>
                <a:lnTo>
                  <a:pt x="2219325" y="1905000"/>
                </a:lnTo>
                <a:lnTo>
                  <a:pt x="2228850" y="1914525"/>
                </a:lnTo>
                <a:lnTo>
                  <a:pt x="2238375" y="1914525"/>
                </a:lnTo>
                <a:lnTo>
                  <a:pt x="2247900" y="1924050"/>
                </a:lnTo>
                <a:lnTo>
                  <a:pt x="2257425" y="1924050"/>
                </a:lnTo>
                <a:lnTo>
                  <a:pt x="2266950" y="1933575"/>
                </a:lnTo>
                <a:lnTo>
                  <a:pt x="2276475" y="1933575"/>
                </a:lnTo>
                <a:lnTo>
                  <a:pt x="2286000" y="1943100"/>
                </a:lnTo>
                <a:lnTo>
                  <a:pt x="2333625" y="1943100"/>
                </a:lnTo>
                <a:lnTo>
                  <a:pt x="2362200" y="1914525"/>
                </a:lnTo>
                <a:lnTo>
                  <a:pt x="2362200" y="1895475"/>
                </a:lnTo>
                <a:lnTo>
                  <a:pt x="2371725" y="1885950"/>
                </a:lnTo>
                <a:lnTo>
                  <a:pt x="2371725" y="1838325"/>
                </a:lnTo>
                <a:lnTo>
                  <a:pt x="2381250" y="1828800"/>
                </a:lnTo>
                <a:lnTo>
                  <a:pt x="2381250" y="1809750"/>
                </a:lnTo>
                <a:lnTo>
                  <a:pt x="2428875" y="1762125"/>
                </a:lnTo>
                <a:lnTo>
                  <a:pt x="2476500" y="1762125"/>
                </a:lnTo>
                <a:lnTo>
                  <a:pt x="2495550" y="1781175"/>
                </a:lnTo>
                <a:lnTo>
                  <a:pt x="2505075" y="1781175"/>
                </a:lnTo>
                <a:lnTo>
                  <a:pt x="2543175" y="1819275"/>
                </a:lnTo>
                <a:lnTo>
                  <a:pt x="2543175" y="1828800"/>
                </a:lnTo>
                <a:lnTo>
                  <a:pt x="2609850" y="1895475"/>
                </a:lnTo>
                <a:lnTo>
                  <a:pt x="2619375" y="1895475"/>
                </a:lnTo>
                <a:lnTo>
                  <a:pt x="2628900" y="1905000"/>
                </a:lnTo>
                <a:lnTo>
                  <a:pt x="2657475" y="1905000"/>
                </a:lnTo>
                <a:lnTo>
                  <a:pt x="2667000" y="1914525"/>
                </a:lnTo>
                <a:lnTo>
                  <a:pt x="2857500" y="1914525"/>
                </a:lnTo>
                <a:lnTo>
                  <a:pt x="2886075" y="1943100"/>
                </a:lnTo>
                <a:lnTo>
                  <a:pt x="2895600" y="1943100"/>
                </a:lnTo>
                <a:lnTo>
                  <a:pt x="2905125" y="1952625"/>
                </a:lnTo>
                <a:lnTo>
                  <a:pt x="2924175" y="1952625"/>
                </a:lnTo>
                <a:lnTo>
                  <a:pt x="2933700" y="1962150"/>
                </a:lnTo>
                <a:lnTo>
                  <a:pt x="2962275" y="1962150"/>
                </a:lnTo>
                <a:lnTo>
                  <a:pt x="2971800" y="1971675"/>
                </a:lnTo>
                <a:lnTo>
                  <a:pt x="3076575" y="1971675"/>
                </a:lnTo>
                <a:lnTo>
                  <a:pt x="3086100" y="1981200"/>
                </a:lnTo>
                <a:lnTo>
                  <a:pt x="3105150" y="1981200"/>
                </a:lnTo>
                <a:lnTo>
                  <a:pt x="3143250" y="2019300"/>
                </a:lnTo>
                <a:lnTo>
                  <a:pt x="3143250" y="2028825"/>
                </a:lnTo>
                <a:lnTo>
                  <a:pt x="3152775" y="2038350"/>
                </a:lnTo>
                <a:lnTo>
                  <a:pt x="3152775" y="2057400"/>
                </a:lnTo>
                <a:lnTo>
                  <a:pt x="3162300" y="2066925"/>
                </a:lnTo>
                <a:lnTo>
                  <a:pt x="3162300" y="2105025"/>
                </a:lnTo>
                <a:lnTo>
                  <a:pt x="3171825" y="2114550"/>
                </a:lnTo>
                <a:lnTo>
                  <a:pt x="3171825" y="2219325"/>
                </a:lnTo>
                <a:lnTo>
                  <a:pt x="3133725" y="2257425"/>
                </a:lnTo>
                <a:lnTo>
                  <a:pt x="3124200" y="2257425"/>
                </a:lnTo>
                <a:lnTo>
                  <a:pt x="3114675" y="2266950"/>
                </a:lnTo>
                <a:lnTo>
                  <a:pt x="3105150" y="2266950"/>
                </a:lnTo>
                <a:lnTo>
                  <a:pt x="3095625" y="2276475"/>
                </a:lnTo>
                <a:lnTo>
                  <a:pt x="3076575" y="2276475"/>
                </a:lnTo>
                <a:lnTo>
                  <a:pt x="3048000" y="2305050"/>
                </a:lnTo>
                <a:lnTo>
                  <a:pt x="3038475" y="2305050"/>
                </a:lnTo>
                <a:lnTo>
                  <a:pt x="3009900" y="2333625"/>
                </a:lnTo>
                <a:lnTo>
                  <a:pt x="3000375" y="2333625"/>
                </a:lnTo>
                <a:lnTo>
                  <a:pt x="2990850" y="2343150"/>
                </a:lnTo>
                <a:lnTo>
                  <a:pt x="2971800" y="2343150"/>
                </a:lnTo>
                <a:lnTo>
                  <a:pt x="2962275" y="2333625"/>
                </a:lnTo>
                <a:lnTo>
                  <a:pt x="2933700" y="2333625"/>
                </a:lnTo>
                <a:lnTo>
                  <a:pt x="2924175" y="2324100"/>
                </a:lnTo>
                <a:lnTo>
                  <a:pt x="2876550" y="2324100"/>
                </a:lnTo>
                <a:lnTo>
                  <a:pt x="2867025" y="2314575"/>
                </a:lnTo>
                <a:lnTo>
                  <a:pt x="2828925" y="2314575"/>
                </a:lnTo>
                <a:lnTo>
                  <a:pt x="2819400" y="2324100"/>
                </a:lnTo>
                <a:lnTo>
                  <a:pt x="2743200" y="2324100"/>
                </a:lnTo>
                <a:lnTo>
                  <a:pt x="2733675" y="2333625"/>
                </a:lnTo>
                <a:lnTo>
                  <a:pt x="2714625" y="2333625"/>
                </a:lnTo>
                <a:lnTo>
                  <a:pt x="2705100" y="2343150"/>
                </a:lnTo>
                <a:lnTo>
                  <a:pt x="2695575" y="2343150"/>
                </a:lnTo>
                <a:lnTo>
                  <a:pt x="2686050" y="2352675"/>
                </a:lnTo>
                <a:lnTo>
                  <a:pt x="2676525" y="2352675"/>
                </a:lnTo>
                <a:lnTo>
                  <a:pt x="2628900" y="2400300"/>
                </a:lnTo>
                <a:lnTo>
                  <a:pt x="2628900" y="2409825"/>
                </a:lnTo>
                <a:lnTo>
                  <a:pt x="2619375" y="2419350"/>
                </a:lnTo>
                <a:lnTo>
                  <a:pt x="2619375" y="2428875"/>
                </a:lnTo>
                <a:lnTo>
                  <a:pt x="2609850" y="2438400"/>
                </a:lnTo>
                <a:lnTo>
                  <a:pt x="2609850" y="2514600"/>
                </a:lnTo>
                <a:lnTo>
                  <a:pt x="2619375" y="2524125"/>
                </a:lnTo>
                <a:lnTo>
                  <a:pt x="2619375" y="2533650"/>
                </a:lnTo>
                <a:lnTo>
                  <a:pt x="2628900" y="2543175"/>
                </a:lnTo>
                <a:lnTo>
                  <a:pt x="2628900" y="2552700"/>
                </a:lnTo>
                <a:lnTo>
                  <a:pt x="2686050" y="2609850"/>
                </a:lnTo>
                <a:lnTo>
                  <a:pt x="2695575" y="2609850"/>
                </a:lnTo>
                <a:lnTo>
                  <a:pt x="2733675" y="2647950"/>
                </a:lnTo>
                <a:lnTo>
                  <a:pt x="2733675" y="2657475"/>
                </a:lnTo>
                <a:lnTo>
                  <a:pt x="2743200" y="2667000"/>
                </a:lnTo>
                <a:lnTo>
                  <a:pt x="2743200" y="2705100"/>
                </a:lnTo>
                <a:lnTo>
                  <a:pt x="2752725" y="2714625"/>
                </a:lnTo>
                <a:lnTo>
                  <a:pt x="2752725" y="2743200"/>
                </a:lnTo>
                <a:lnTo>
                  <a:pt x="2762250" y="2752725"/>
                </a:lnTo>
                <a:lnTo>
                  <a:pt x="2762250" y="2771775"/>
                </a:lnTo>
                <a:lnTo>
                  <a:pt x="2771775" y="2781300"/>
                </a:lnTo>
                <a:lnTo>
                  <a:pt x="2771775" y="2790825"/>
                </a:lnTo>
                <a:lnTo>
                  <a:pt x="2838450" y="2857500"/>
                </a:lnTo>
                <a:lnTo>
                  <a:pt x="2847975" y="2857500"/>
                </a:lnTo>
                <a:lnTo>
                  <a:pt x="2876550" y="2886075"/>
                </a:lnTo>
                <a:lnTo>
                  <a:pt x="2876550" y="2895600"/>
                </a:lnTo>
                <a:lnTo>
                  <a:pt x="2886075" y="2905125"/>
                </a:lnTo>
                <a:lnTo>
                  <a:pt x="2886075" y="2924175"/>
                </a:lnTo>
                <a:lnTo>
                  <a:pt x="2895600" y="2933700"/>
                </a:lnTo>
                <a:lnTo>
                  <a:pt x="2895600" y="2990850"/>
                </a:lnTo>
                <a:lnTo>
                  <a:pt x="2905125" y="3000375"/>
                </a:lnTo>
                <a:lnTo>
                  <a:pt x="2905125" y="3019425"/>
                </a:lnTo>
                <a:lnTo>
                  <a:pt x="2924175" y="3038475"/>
                </a:lnTo>
                <a:lnTo>
                  <a:pt x="2924175" y="3048000"/>
                </a:lnTo>
                <a:lnTo>
                  <a:pt x="2933700" y="3057525"/>
                </a:lnTo>
                <a:lnTo>
                  <a:pt x="2933700" y="3067050"/>
                </a:lnTo>
                <a:lnTo>
                  <a:pt x="2952750" y="3086100"/>
                </a:lnTo>
                <a:lnTo>
                  <a:pt x="2952750" y="3124200"/>
                </a:lnTo>
                <a:lnTo>
                  <a:pt x="2943225" y="3133725"/>
                </a:lnTo>
                <a:lnTo>
                  <a:pt x="2933700" y="3133725"/>
                </a:lnTo>
                <a:lnTo>
                  <a:pt x="2924175" y="3143250"/>
                </a:lnTo>
                <a:lnTo>
                  <a:pt x="2886075" y="3143250"/>
                </a:lnTo>
                <a:lnTo>
                  <a:pt x="2876550" y="3133725"/>
                </a:lnTo>
                <a:lnTo>
                  <a:pt x="2867025" y="3133725"/>
                </a:lnTo>
                <a:lnTo>
                  <a:pt x="2857500" y="3124200"/>
                </a:lnTo>
                <a:lnTo>
                  <a:pt x="2857500" y="3114675"/>
                </a:lnTo>
                <a:lnTo>
                  <a:pt x="2847975" y="3105150"/>
                </a:lnTo>
                <a:lnTo>
                  <a:pt x="2847975" y="3095625"/>
                </a:lnTo>
                <a:lnTo>
                  <a:pt x="2838450" y="3086100"/>
                </a:lnTo>
                <a:lnTo>
                  <a:pt x="2838450" y="3076575"/>
                </a:lnTo>
                <a:lnTo>
                  <a:pt x="2828925" y="3067050"/>
                </a:lnTo>
                <a:lnTo>
                  <a:pt x="2828925" y="3057525"/>
                </a:lnTo>
                <a:lnTo>
                  <a:pt x="2819400" y="3048000"/>
                </a:lnTo>
                <a:lnTo>
                  <a:pt x="2819400" y="3038475"/>
                </a:lnTo>
                <a:lnTo>
                  <a:pt x="2809875" y="3028950"/>
                </a:lnTo>
                <a:lnTo>
                  <a:pt x="2800350" y="3028950"/>
                </a:lnTo>
                <a:lnTo>
                  <a:pt x="2790825" y="3019425"/>
                </a:lnTo>
                <a:lnTo>
                  <a:pt x="2781300" y="3019425"/>
                </a:lnTo>
                <a:lnTo>
                  <a:pt x="2771775" y="3009900"/>
                </a:lnTo>
                <a:lnTo>
                  <a:pt x="2752725" y="3009900"/>
                </a:lnTo>
                <a:lnTo>
                  <a:pt x="2743200" y="3000375"/>
                </a:lnTo>
                <a:lnTo>
                  <a:pt x="2705100" y="3000375"/>
                </a:lnTo>
                <a:lnTo>
                  <a:pt x="2695575" y="2990850"/>
                </a:lnTo>
                <a:lnTo>
                  <a:pt x="2571750" y="2990850"/>
                </a:lnTo>
                <a:lnTo>
                  <a:pt x="2562225" y="3000375"/>
                </a:lnTo>
                <a:lnTo>
                  <a:pt x="2543175" y="3000375"/>
                </a:lnTo>
                <a:lnTo>
                  <a:pt x="2533650" y="3009900"/>
                </a:lnTo>
                <a:lnTo>
                  <a:pt x="2514600" y="3009900"/>
                </a:lnTo>
                <a:lnTo>
                  <a:pt x="2505075" y="3019425"/>
                </a:lnTo>
                <a:lnTo>
                  <a:pt x="2476500" y="3019425"/>
                </a:lnTo>
                <a:lnTo>
                  <a:pt x="2466975" y="3028950"/>
                </a:lnTo>
                <a:lnTo>
                  <a:pt x="2343150" y="3028950"/>
                </a:lnTo>
                <a:lnTo>
                  <a:pt x="2333625" y="3038475"/>
                </a:lnTo>
                <a:lnTo>
                  <a:pt x="2286000" y="3038475"/>
                </a:lnTo>
                <a:lnTo>
                  <a:pt x="2276475" y="3048000"/>
                </a:lnTo>
                <a:lnTo>
                  <a:pt x="2247900" y="3048000"/>
                </a:lnTo>
                <a:lnTo>
                  <a:pt x="2238375" y="3057525"/>
                </a:lnTo>
                <a:lnTo>
                  <a:pt x="2209800" y="3057525"/>
                </a:lnTo>
                <a:lnTo>
                  <a:pt x="2200275" y="3067050"/>
                </a:lnTo>
                <a:lnTo>
                  <a:pt x="2124075" y="3067050"/>
                </a:lnTo>
                <a:lnTo>
                  <a:pt x="2105025" y="3048000"/>
                </a:lnTo>
                <a:lnTo>
                  <a:pt x="2105025" y="3028950"/>
                </a:lnTo>
                <a:lnTo>
                  <a:pt x="2095500" y="3019425"/>
                </a:lnTo>
                <a:lnTo>
                  <a:pt x="2095500" y="2971800"/>
                </a:lnTo>
                <a:lnTo>
                  <a:pt x="2085975" y="2962275"/>
                </a:lnTo>
                <a:lnTo>
                  <a:pt x="2085975" y="2943225"/>
                </a:lnTo>
                <a:lnTo>
                  <a:pt x="2066925" y="2924175"/>
                </a:lnTo>
                <a:lnTo>
                  <a:pt x="2047875" y="2924175"/>
                </a:lnTo>
                <a:lnTo>
                  <a:pt x="2019300" y="2952750"/>
                </a:lnTo>
                <a:lnTo>
                  <a:pt x="2019300" y="2971800"/>
                </a:lnTo>
                <a:lnTo>
                  <a:pt x="2009775" y="2981325"/>
                </a:lnTo>
                <a:lnTo>
                  <a:pt x="2009775" y="3019425"/>
                </a:lnTo>
                <a:lnTo>
                  <a:pt x="2019300" y="3028950"/>
                </a:lnTo>
                <a:lnTo>
                  <a:pt x="2019300" y="3038475"/>
                </a:lnTo>
                <a:lnTo>
                  <a:pt x="2028825" y="3048000"/>
                </a:lnTo>
                <a:lnTo>
                  <a:pt x="2038350" y="3048000"/>
                </a:lnTo>
                <a:lnTo>
                  <a:pt x="2047875" y="3057525"/>
                </a:lnTo>
                <a:lnTo>
                  <a:pt x="2057400" y="3057525"/>
                </a:lnTo>
                <a:lnTo>
                  <a:pt x="2085975" y="3086100"/>
                </a:lnTo>
                <a:lnTo>
                  <a:pt x="2085975" y="3095625"/>
                </a:lnTo>
                <a:lnTo>
                  <a:pt x="2047875" y="3133725"/>
                </a:lnTo>
                <a:lnTo>
                  <a:pt x="2038350" y="3133725"/>
                </a:lnTo>
                <a:lnTo>
                  <a:pt x="2028825" y="3143250"/>
                </a:lnTo>
                <a:lnTo>
                  <a:pt x="2019300" y="3143250"/>
                </a:lnTo>
                <a:lnTo>
                  <a:pt x="2000250" y="3162300"/>
                </a:lnTo>
                <a:lnTo>
                  <a:pt x="1990725" y="3162300"/>
                </a:lnTo>
                <a:lnTo>
                  <a:pt x="1990725" y="3171825"/>
                </a:lnTo>
                <a:lnTo>
                  <a:pt x="1981200" y="3181350"/>
                </a:lnTo>
                <a:lnTo>
                  <a:pt x="1981200" y="3190875"/>
                </a:lnTo>
                <a:lnTo>
                  <a:pt x="1971675" y="3200400"/>
                </a:lnTo>
                <a:lnTo>
                  <a:pt x="1971675" y="3238500"/>
                </a:lnTo>
                <a:lnTo>
                  <a:pt x="1962150" y="3248025"/>
                </a:lnTo>
                <a:lnTo>
                  <a:pt x="1962150" y="3333750"/>
                </a:lnTo>
                <a:lnTo>
                  <a:pt x="1971675" y="3343275"/>
                </a:lnTo>
                <a:lnTo>
                  <a:pt x="1971675" y="3362325"/>
                </a:lnTo>
                <a:lnTo>
                  <a:pt x="1981200" y="3371850"/>
                </a:lnTo>
                <a:lnTo>
                  <a:pt x="1990725" y="3371850"/>
                </a:lnTo>
                <a:lnTo>
                  <a:pt x="2000250" y="3381375"/>
                </a:lnTo>
                <a:lnTo>
                  <a:pt x="2019300" y="3381375"/>
                </a:lnTo>
                <a:lnTo>
                  <a:pt x="2057400" y="3419475"/>
                </a:lnTo>
                <a:lnTo>
                  <a:pt x="2057400" y="3476625"/>
                </a:lnTo>
                <a:lnTo>
                  <a:pt x="2047875" y="3486150"/>
                </a:lnTo>
                <a:lnTo>
                  <a:pt x="2047875" y="3495675"/>
                </a:lnTo>
                <a:lnTo>
                  <a:pt x="2038350" y="3505200"/>
                </a:lnTo>
                <a:lnTo>
                  <a:pt x="2038350" y="3533775"/>
                </a:lnTo>
                <a:lnTo>
                  <a:pt x="2047875" y="3543300"/>
                </a:lnTo>
                <a:lnTo>
                  <a:pt x="2047875" y="3552825"/>
                </a:lnTo>
                <a:lnTo>
                  <a:pt x="2057400" y="3562350"/>
                </a:lnTo>
                <a:lnTo>
                  <a:pt x="2057400" y="3571875"/>
                </a:lnTo>
                <a:lnTo>
                  <a:pt x="2085975" y="3600450"/>
                </a:lnTo>
                <a:lnTo>
                  <a:pt x="2085975" y="3609975"/>
                </a:lnTo>
                <a:lnTo>
                  <a:pt x="2105025" y="3629025"/>
                </a:lnTo>
                <a:lnTo>
                  <a:pt x="2105025" y="3657600"/>
                </a:lnTo>
                <a:lnTo>
                  <a:pt x="2114550" y="3667125"/>
                </a:lnTo>
                <a:lnTo>
                  <a:pt x="2105025" y="3676650"/>
                </a:lnTo>
                <a:lnTo>
                  <a:pt x="2105025" y="3705225"/>
                </a:lnTo>
                <a:lnTo>
                  <a:pt x="2095500" y="3714750"/>
                </a:lnTo>
                <a:lnTo>
                  <a:pt x="2095500" y="3724275"/>
                </a:lnTo>
                <a:lnTo>
                  <a:pt x="2085975" y="3733800"/>
                </a:lnTo>
                <a:lnTo>
                  <a:pt x="2085975" y="3743325"/>
                </a:lnTo>
                <a:lnTo>
                  <a:pt x="2057400" y="3771900"/>
                </a:lnTo>
                <a:lnTo>
                  <a:pt x="2038350" y="3771900"/>
                </a:lnTo>
                <a:lnTo>
                  <a:pt x="2028825" y="3762375"/>
                </a:lnTo>
                <a:lnTo>
                  <a:pt x="2019300" y="3762375"/>
                </a:lnTo>
                <a:lnTo>
                  <a:pt x="2000250" y="3743325"/>
                </a:lnTo>
                <a:lnTo>
                  <a:pt x="1990725" y="3743325"/>
                </a:lnTo>
                <a:lnTo>
                  <a:pt x="1981200" y="3733800"/>
                </a:lnTo>
                <a:lnTo>
                  <a:pt x="1971675" y="3733800"/>
                </a:lnTo>
                <a:lnTo>
                  <a:pt x="1933575" y="3695700"/>
                </a:lnTo>
                <a:lnTo>
                  <a:pt x="1933575" y="3686175"/>
                </a:lnTo>
                <a:lnTo>
                  <a:pt x="1924050" y="3676650"/>
                </a:lnTo>
                <a:lnTo>
                  <a:pt x="1924050" y="3667125"/>
                </a:lnTo>
                <a:lnTo>
                  <a:pt x="1914525" y="3657600"/>
                </a:lnTo>
                <a:lnTo>
                  <a:pt x="1914525" y="3629025"/>
                </a:lnTo>
                <a:lnTo>
                  <a:pt x="1905000" y="3619500"/>
                </a:lnTo>
                <a:lnTo>
                  <a:pt x="1905000" y="3419475"/>
                </a:lnTo>
                <a:lnTo>
                  <a:pt x="1895475" y="3409950"/>
                </a:lnTo>
                <a:lnTo>
                  <a:pt x="1857375" y="3409950"/>
                </a:lnTo>
                <a:lnTo>
                  <a:pt x="1847850" y="3400425"/>
                </a:lnTo>
                <a:lnTo>
                  <a:pt x="1771650" y="3400425"/>
                </a:lnTo>
                <a:lnTo>
                  <a:pt x="1762125" y="3390900"/>
                </a:lnTo>
                <a:lnTo>
                  <a:pt x="1724025" y="3390900"/>
                </a:lnTo>
                <a:lnTo>
                  <a:pt x="1714500" y="3381375"/>
                </a:lnTo>
                <a:lnTo>
                  <a:pt x="1685925" y="3381375"/>
                </a:lnTo>
                <a:lnTo>
                  <a:pt x="1676400" y="3371850"/>
                </a:lnTo>
                <a:lnTo>
                  <a:pt x="1657350" y="3371850"/>
                </a:lnTo>
                <a:lnTo>
                  <a:pt x="1647825" y="3362325"/>
                </a:lnTo>
                <a:lnTo>
                  <a:pt x="1628775" y="3362325"/>
                </a:lnTo>
                <a:lnTo>
                  <a:pt x="1619250" y="3352800"/>
                </a:lnTo>
                <a:lnTo>
                  <a:pt x="1609725" y="3352800"/>
                </a:lnTo>
                <a:lnTo>
                  <a:pt x="1600200" y="3343275"/>
                </a:lnTo>
                <a:lnTo>
                  <a:pt x="1590675" y="3343275"/>
                </a:lnTo>
                <a:lnTo>
                  <a:pt x="1581150" y="3333750"/>
                </a:lnTo>
                <a:lnTo>
                  <a:pt x="1562100" y="3333750"/>
                </a:lnTo>
                <a:lnTo>
                  <a:pt x="1552575" y="3324225"/>
                </a:lnTo>
                <a:lnTo>
                  <a:pt x="1533525" y="3324225"/>
                </a:lnTo>
                <a:lnTo>
                  <a:pt x="1524000" y="3314700"/>
                </a:lnTo>
                <a:lnTo>
                  <a:pt x="1485900" y="3314700"/>
                </a:lnTo>
                <a:lnTo>
                  <a:pt x="1476375" y="3305175"/>
                </a:lnTo>
                <a:lnTo>
                  <a:pt x="1419225" y="3305175"/>
                </a:lnTo>
                <a:lnTo>
                  <a:pt x="1409700" y="3295650"/>
                </a:lnTo>
                <a:lnTo>
                  <a:pt x="1381125" y="3295650"/>
                </a:lnTo>
                <a:lnTo>
                  <a:pt x="1371600" y="3286125"/>
                </a:lnTo>
                <a:lnTo>
                  <a:pt x="1362075" y="3286125"/>
                </a:lnTo>
                <a:lnTo>
                  <a:pt x="1352550" y="3276600"/>
                </a:lnTo>
                <a:lnTo>
                  <a:pt x="1343025" y="3276600"/>
                </a:lnTo>
                <a:lnTo>
                  <a:pt x="1323975" y="3257550"/>
                </a:lnTo>
                <a:lnTo>
                  <a:pt x="1314450" y="3257550"/>
                </a:lnTo>
                <a:lnTo>
                  <a:pt x="1304925" y="3248025"/>
                </a:lnTo>
                <a:lnTo>
                  <a:pt x="1295400" y="3248025"/>
                </a:lnTo>
                <a:lnTo>
                  <a:pt x="1285875" y="3238500"/>
                </a:lnTo>
                <a:lnTo>
                  <a:pt x="1266825" y="3238500"/>
                </a:lnTo>
                <a:lnTo>
                  <a:pt x="1257300" y="3248025"/>
                </a:lnTo>
                <a:lnTo>
                  <a:pt x="1247775" y="3248025"/>
                </a:lnTo>
                <a:lnTo>
                  <a:pt x="1228725" y="3267075"/>
                </a:lnTo>
                <a:lnTo>
                  <a:pt x="1228725" y="3276600"/>
                </a:lnTo>
                <a:lnTo>
                  <a:pt x="1219200" y="3286125"/>
                </a:lnTo>
                <a:lnTo>
                  <a:pt x="1219200" y="3295650"/>
                </a:lnTo>
                <a:lnTo>
                  <a:pt x="1200150" y="3314700"/>
                </a:lnTo>
                <a:lnTo>
                  <a:pt x="1200150" y="3324225"/>
                </a:lnTo>
                <a:lnTo>
                  <a:pt x="1190625" y="3333750"/>
                </a:lnTo>
                <a:lnTo>
                  <a:pt x="1190625" y="3343275"/>
                </a:lnTo>
                <a:lnTo>
                  <a:pt x="1181100" y="3352800"/>
                </a:lnTo>
                <a:lnTo>
                  <a:pt x="1181100" y="3362325"/>
                </a:lnTo>
                <a:lnTo>
                  <a:pt x="1171575" y="3371850"/>
                </a:lnTo>
                <a:lnTo>
                  <a:pt x="1171575" y="3381375"/>
                </a:lnTo>
                <a:lnTo>
                  <a:pt x="1162050" y="3390900"/>
                </a:lnTo>
                <a:lnTo>
                  <a:pt x="1162050" y="3400425"/>
                </a:lnTo>
                <a:lnTo>
                  <a:pt x="1152525" y="3409950"/>
                </a:lnTo>
                <a:lnTo>
                  <a:pt x="1152525" y="3429000"/>
                </a:lnTo>
                <a:lnTo>
                  <a:pt x="1143000" y="3438525"/>
                </a:lnTo>
                <a:lnTo>
                  <a:pt x="1143000" y="3457575"/>
                </a:lnTo>
                <a:lnTo>
                  <a:pt x="1133475" y="3467100"/>
                </a:lnTo>
                <a:lnTo>
                  <a:pt x="1133475" y="3514725"/>
                </a:lnTo>
                <a:lnTo>
                  <a:pt x="1123950" y="3524250"/>
                </a:lnTo>
                <a:lnTo>
                  <a:pt x="1133475" y="3533775"/>
                </a:lnTo>
                <a:lnTo>
                  <a:pt x="1133475" y="3581400"/>
                </a:lnTo>
                <a:lnTo>
                  <a:pt x="1143000" y="3590925"/>
                </a:lnTo>
                <a:lnTo>
                  <a:pt x="1143000" y="3609975"/>
                </a:lnTo>
                <a:lnTo>
                  <a:pt x="1152525" y="3619500"/>
                </a:lnTo>
                <a:lnTo>
                  <a:pt x="1152525" y="3638550"/>
                </a:lnTo>
                <a:lnTo>
                  <a:pt x="1162050" y="3648075"/>
                </a:lnTo>
                <a:lnTo>
                  <a:pt x="1162050" y="3667125"/>
                </a:lnTo>
                <a:lnTo>
                  <a:pt x="1171575" y="3676650"/>
                </a:lnTo>
                <a:lnTo>
                  <a:pt x="1171575" y="3695700"/>
                </a:lnTo>
                <a:lnTo>
                  <a:pt x="1181100" y="3705225"/>
                </a:lnTo>
                <a:lnTo>
                  <a:pt x="1181100" y="3733800"/>
                </a:lnTo>
                <a:lnTo>
                  <a:pt x="1190625" y="3743325"/>
                </a:lnTo>
                <a:lnTo>
                  <a:pt x="1190625" y="3762375"/>
                </a:lnTo>
                <a:lnTo>
                  <a:pt x="1200150" y="3771900"/>
                </a:lnTo>
                <a:lnTo>
                  <a:pt x="1200150" y="3781425"/>
                </a:lnTo>
                <a:lnTo>
                  <a:pt x="1209675" y="3790950"/>
                </a:lnTo>
                <a:lnTo>
                  <a:pt x="1209675" y="3800475"/>
                </a:lnTo>
                <a:lnTo>
                  <a:pt x="1295400" y="3886200"/>
                </a:lnTo>
                <a:lnTo>
                  <a:pt x="1295400" y="3905250"/>
                </a:lnTo>
                <a:lnTo>
                  <a:pt x="1304925" y="3914775"/>
                </a:lnTo>
                <a:lnTo>
                  <a:pt x="1304925" y="3933825"/>
                </a:lnTo>
                <a:lnTo>
                  <a:pt x="1314450" y="3943350"/>
                </a:lnTo>
                <a:lnTo>
                  <a:pt x="1314450" y="3971925"/>
                </a:lnTo>
                <a:lnTo>
                  <a:pt x="1323975" y="3981450"/>
                </a:lnTo>
                <a:lnTo>
                  <a:pt x="1323975" y="3990975"/>
                </a:lnTo>
                <a:lnTo>
                  <a:pt x="1333500" y="4000500"/>
                </a:lnTo>
                <a:lnTo>
                  <a:pt x="1333500" y="4010025"/>
                </a:lnTo>
                <a:lnTo>
                  <a:pt x="1371600" y="4048125"/>
                </a:lnTo>
                <a:lnTo>
                  <a:pt x="1371600" y="4057650"/>
                </a:lnTo>
                <a:lnTo>
                  <a:pt x="1400175" y="4086225"/>
                </a:lnTo>
                <a:lnTo>
                  <a:pt x="1400175" y="4095750"/>
                </a:lnTo>
                <a:lnTo>
                  <a:pt x="1466850" y="4162425"/>
                </a:lnTo>
                <a:lnTo>
                  <a:pt x="1476375" y="4162425"/>
                </a:lnTo>
                <a:lnTo>
                  <a:pt x="1485900" y="4171950"/>
                </a:lnTo>
                <a:lnTo>
                  <a:pt x="1514475" y="4171950"/>
                </a:lnTo>
                <a:lnTo>
                  <a:pt x="1524000" y="4181475"/>
                </a:lnTo>
                <a:lnTo>
                  <a:pt x="1590675" y="4181475"/>
                </a:lnTo>
                <a:lnTo>
                  <a:pt x="1600200" y="4171950"/>
                </a:lnTo>
                <a:lnTo>
                  <a:pt x="1685925" y="4171950"/>
                </a:lnTo>
                <a:lnTo>
                  <a:pt x="1695450" y="4181475"/>
                </a:lnTo>
                <a:lnTo>
                  <a:pt x="1704975" y="4181475"/>
                </a:lnTo>
                <a:lnTo>
                  <a:pt x="1733550" y="4210050"/>
                </a:lnTo>
                <a:lnTo>
                  <a:pt x="1733550" y="4248150"/>
                </a:lnTo>
                <a:lnTo>
                  <a:pt x="1743075" y="4257675"/>
                </a:lnTo>
                <a:lnTo>
                  <a:pt x="1838325" y="4257675"/>
                </a:lnTo>
                <a:lnTo>
                  <a:pt x="1838325" y="4248150"/>
                </a:lnTo>
                <a:lnTo>
                  <a:pt x="1828800" y="4238625"/>
                </a:lnTo>
                <a:lnTo>
                  <a:pt x="1828800" y="4181475"/>
                </a:lnTo>
                <a:lnTo>
                  <a:pt x="1819275" y="4171950"/>
                </a:lnTo>
                <a:lnTo>
                  <a:pt x="1819275" y="4162425"/>
                </a:lnTo>
                <a:lnTo>
                  <a:pt x="1809750" y="4152900"/>
                </a:lnTo>
                <a:lnTo>
                  <a:pt x="1809750" y="4143375"/>
                </a:lnTo>
                <a:lnTo>
                  <a:pt x="1800225" y="4133850"/>
                </a:lnTo>
                <a:lnTo>
                  <a:pt x="1800225" y="4114800"/>
                </a:lnTo>
                <a:lnTo>
                  <a:pt x="1790700" y="4105275"/>
                </a:lnTo>
                <a:lnTo>
                  <a:pt x="1790700" y="4038600"/>
                </a:lnTo>
                <a:lnTo>
                  <a:pt x="1800225" y="4029075"/>
                </a:lnTo>
                <a:lnTo>
                  <a:pt x="1800225" y="4019550"/>
                </a:lnTo>
                <a:lnTo>
                  <a:pt x="1857375" y="3962400"/>
                </a:lnTo>
                <a:lnTo>
                  <a:pt x="1866900" y="3962400"/>
                </a:lnTo>
                <a:lnTo>
                  <a:pt x="1914525" y="3914775"/>
                </a:lnTo>
                <a:lnTo>
                  <a:pt x="1924050" y="3914775"/>
                </a:lnTo>
                <a:lnTo>
                  <a:pt x="1952625" y="3886200"/>
                </a:lnTo>
                <a:lnTo>
                  <a:pt x="1962150" y="3886200"/>
                </a:lnTo>
                <a:lnTo>
                  <a:pt x="1981200" y="3867150"/>
                </a:lnTo>
                <a:lnTo>
                  <a:pt x="1990725" y="3867150"/>
                </a:lnTo>
                <a:lnTo>
                  <a:pt x="2028825" y="3829050"/>
                </a:lnTo>
                <a:lnTo>
                  <a:pt x="2038350" y="3829050"/>
                </a:lnTo>
                <a:lnTo>
                  <a:pt x="2047875" y="3819525"/>
                </a:lnTo>
                <a:lnTo>
                  <a:pt x="2076450" y="3819525"/>
                </a:lnTo>
                <a:lnTo>
                  <a:pt x="2085975" y="3829050"/>
                </a:lnTo>
                <a:lnTo>
                  <a:pt x="2095500" y="3829050"/>
                </a:lnTo>
                <a:lnTo>
                  <a:pt x="2114550" y="3848100"/>
                </a:lnTo>
                <a:lnTo>
                  <a:pt x="2124075" y="3848100"/>
                </a:lnTo>
                <a:lnTo>
                  <a:pt x="2133600" y="3857625"/>
                </a:lnTo>
                <a:lnTo>
                  <a:pt x="2219325" y="3857625"/>
                </a:lnTo>
                <a:lnTo>
                  <a:pt x="2228850" y="3848100"/>
                </a:lnTo>
                <a:lnTo>
                  <a:pt x="2238375" y="3848100"/>
                </a:lnTo>
                <a:lnTo>
                  <a:pt x="2247900" y="3838575"/>
                </a:lnTo>
                <a:lnTo>
                  <a:pt x="2257425" y="3838575"/>
                </a:lnTo>
                <a:lnTo>
                  <a:pt x="2276475" y="3819525"/>
                </a:lnTo>
                <a:lnTo>
                  <a:pt x="2286000" y="3819525"/>
                </a:lnTo>
                <a:lnTo>
                  <a:pt x="2295525" y="3810000"/>
                </a:lnTo>
                <a:lnTo>
                  <a:pt x="2305050" y="3810000"/>
                </a:lnTo>
                <a:lnTo>
                  <a:pt x="2314575" y="3800475"/>
                </a:lnTo>
                <a:lnTo>
                  <a:pt x="2333625" y="3800475"/>
                </a:lnTo>
                <a:lnTo>
                  <a:pt x="2343150" y="3790950"/>
                </a:lnTo>
                <a:lnTo>
                  <a:pt x="2381250" y="3790950"/>
                </a:lnTo>
                <a:lnTo>
                  <a:pt x="2390775" y="3800475"/>
                </a:lnTo>
                <a:lnTo>
                  <a:pt x="2457450" y="3800475"/>
                </a:lnTo>
                <a:lnTo>
                  <a:pt x="2466975" y="3790950"/>
                </a:lnTo>
                <a:lnTo>
                  <a:pt x="2495550" y="3790950"/>
                </a:lnTo>
                <a:lnTo>
                  <a:pt x="2505075" y="3781425"/>
                </a:lnTo>
                <a:lnTo>
                  <a:pt x="2524125" y="3781425"/>
                </a:lnTo>
                <a:lnTo>
                  <a:pt x="2543175" y="3762375"/>
                </a:lnTo>
                <a:lnTo>
                  <a:pt x="2552700" y="3762375"/>
                </a:lnTo>
                <a:lnTo>
                  <a:pt x="2562225" y="3752850"/>
                </a:lnTo>
                <a:lnTo>
                  <a:pt x="2571750" y="3752850"/>
                </a:lnTo>
                <a:lnTo>
                  <a:pt x="2581275" y="3743325"/>
                </a:lnTo>
                <a:lnTo>
                  <a:pt x="2590800" y="3743325"/>
                </a:lnTo>
                <a:lnTo>
                  <a:pt x="2600325" y="3733800"/>
                </a:lnTo>
                <a:lnTo>
                  <a:pt x="2609850" y="3733800"/>
                </a:lnTo>
                <a:lnTo>
                  <a:pt x="2619375" y="3724275"/>
                </a:lnTo>
                <a:lnTo>
                  <a:pt x="2628900" y="3724275"/>
                </a:lnTo>
                <a:lnTo>
                  <a:pt x="2638425" y="3714750"/>
                </a:lnTo>
                <a:lnTo>
                  <a:pt x="2667000" y="3714750"/>
                </a:lnTo>
                <a:lnTo>
                  <a:pt x="2676525" y="3705225"/>
                </a:lnTo>
                <a:lnTo>
                  <a:pt x="2724150" y="3705225"/>
                </a:lnTo>
                <a:lnTo>
                  <a:pt x="2733675" y="3695700"/>
                </a:lnTo>
                <a:lnTo>
                  <a:pt x="2752725" y="3695700"/>
                </a:lnTo>
                <a:lnTo>
                  <a:pt x="2762250" y="3705225"/>
                </a:lnTo>
                <a:lnTo>
                  <a:pt x="2838450" y="3705225"/>
                </a:lnTo>
                <a:lnTo>
                  <a:pt x="2847975" y="3714750"/>
                </a:lnTo>
                <a:lnTo>
                  <a:pt x="2933700" y="3714750"/>
                </a:lnTo>
                <a:lnTo>
                  <a:pt x="2943225" y="3705225"/>
                </a:lnTo>
                <a:lnTo>
                  <a:pt x="2952750" y="3705225"/>
                </a:lnTo>
                <a:lnTo>
                  <a:pt x="2962275" y="3695700"/>
                </a:lnTo>
                <a:lnTo>
                  <a:pt x="2971800" y="3695700"/>
                </a:lnTo>
                <a:lnTo>
                  <a:pt x="3009900" y="3657600"/>
                </a:lnTo>
                <a:lnTo>
                  <a:pt x="3095625" y="3657600"/>
                </a:lnTo>
                <a:lnTo>
                  <a:pt x="3105150" y="3648075"/>
                </a:lnTo>
                <a:lnTo>
                  <a:pt x="3114675" y="3648075"/>
                </a:lnTo>
                <a:lnTo>
                  <a:pt x="3133725" y="3629025"/>
                </a:lnTo>
                <a:lnTo>
                  <a:pt x="3143250" y="3629025"/>
                </a:lnTo>
                <a:lnTo>
                  <a:pt x="3181350" y="3590925"/>
                </a:lnTo>
                <a:lnTo>
                  <a:pt x="3190875" y="3590925"/>
                </a:lnTo>
                <a:lnTo>
                  <a:pt x="3200400" y="3581400"/>
                </a:lnTo>
                <a:lnTo>
                  <a:pt x="3219450" y="3581400"/>
                </a:lnTo>
                <a:lnTo>
                  <a:pt x="3228975" y="3571875"/>
                </a:lnTo>
                <a:lnTo>
                  <a:pt x="3257550" y="3571875"/>
                </a:lnTo>
                <a:lnTo>
                  <a:pt x="3267075" y="3562350"/>
                </a:lnTo>
                <a:lnTo>
                  <a:pt x="3371850" y="3562350"/>
                </a:lnTo>
                <a:lnTo>
                  <a:pt x="3381375" y="3552825"/>
                </a:lnTo>
                <a:lnTo>
                  <a:pt x="3429000" y="3552825"/>
                </a:lnTo>
                <a:lnTo>
                  <a:pt x="3438525" y="3543300"/>
                </a:lnTo>
                <a:lnTo>
                  <a:pt x="3457575" y="3543300"/>
                </a:lnTo>
                <a:lnTo>
                  <a:pt x="3467100" y="3533775"/>
                </a:lnTo>
                <a:lnTo>
                  <a:pt x="3476625" y="3533775"/>
                </a:lnTo>
                <a:lnTo>
                  <a:pt x="3505200" y="3505200"/>
                </a:lnTo>
                <a:lnTo>
                  <a:pt x="3514725" y="3505200"/>
                </a:lnTo>
                <a:lnTo>
                  <a:pt x="3571875" y="3448050"/>
                </a:lnTo>
                <a:lnTo>
                  <a:pt x="3581400" y="3448050"/>
                </a:lnTo>
                <a:lnTo>
                  <a:pt x="3590925" y="3438525"/>
                </a:lnTo>
                <a:lnTo>
                  <a:pt x="3600450" y="3438525"/>
                </a:lnTo>
                <a:lnTo>
                  <a:pt x="3609975" y="3429000"/>
                </a:lnTo>
                <a:lnTo>
                  <a:pt x="3619500" y="3429000"/>
                </a:lnTo>
                <a:lnTo>
                  <a:pt x="3629025" y="3419475"/>
                </a:lnTo>
                <a:lnTo>
                  <a:pt x="3629025" y="3400425"/>
                </a:lnTo>
                <a:lnTo>
                  <a:pt x="3638550" y="3390900"/>
                </a:lnTo>
                <a:lnTo>
                  <a:pt x="3638550" y="3381375"/>
                </a:lnTo>
                <a:lnTo>
                  <a:pt x="3629025" y="3371850"/>
                </a:lnTo>
                <a:lnTo>
                  <a:pt x="3629025" y="3333750"/>
                </a:lnTo>
                <a:lnTo>
                  <a:pt x="3619500" y="3324225"/>
                </a:lnTo>
                <a:lnTo>
                  <a:pt x="3619500" y="3295650"/>
                </a:lnTo>
                <a:lnTo>
                  <a:pt x="3609975" y="3286125"/>
                </a:lnTo>
                <a:lnTo>
                  <a:pt x="3609975" y="3257550"/>
                </a:lnTo>
                <a:lnTo>
                  <a:pt x="3600450" y="3248025"/>
                </a:lnTo>
                <a:lnTo>
                  <a:pt x="3600450" y="3228975"/>
                </a:lnTo>
                <a:lnTo>
                  <a:pt x="3590925" y="3219450"/>
                </a:lnTo>
                <a:lnTo>
                  <a:pt x="3590925" y="3190875"/>
                </a:lnTo>
                <a:lnTo>
                  <a:pt x="3581400" y="3181350"/>
                </a:lnTo>
                <a:lnTo>
                  <a:pt x="3581400" y="3028950"/>
                </a:lnTo>
                <a:lnTo>
                  <a:pt x="3571875" y="3019425"/>
                </a:lnTo>
                <a:lnTo>
                  <a:pt x="3571875" y="2981325"/>
                </a:lnTo>
                <a:lnTo>
                  <a:pt x="3552825" y="2962275"/>
                </a:lnTo>
                <a:lnTo>
                  <a:pt x="3552825" y="2952750"/>
                </a:lnTo>
                <a:lnTo>
                  <a:pt x="3543300" y="2952750"/>
                </a:lnTo>
                <a:lnTo>
                  <a:pt x="3533775" y="2943225"/>
                </a:lnTo>
                <a:lnTo>
                  <a:pt x="3524250" y="2943225"/>
                </a:lnTo>
                <a:lnTo>
                  <a:pt x="3514725" y="2933700"/>
                </a:lnTo>
                <a:lnTo>
                  <a:pt x="3476625" y="2933700"/>
                </a:lnTo>
                <a:lnTo>
                  <a:pt x="3467100" y="2924175"/>
                </a:lnTo>
                <a:lnTo>
                  <a:pt x="3457575" y="2924175"/>
                </a:lnTo>
                <a:lnTo>
                  <a:pt x="3429000" y="2895600"/>
                </a:lnTo>
                <a:lnTo>
                  <a:pt x="3429000" y="2876550"/>
                </a:lnTo>
                <a:lnTo>
                  <a:pt x="3419475" y="2867025"/>
                </a:lnTo>
                <a:lnTo>
                  <a:pt x="3419475" y="2828925"/>
                </a:lnTo>
                <a:lnTo>
                  <a:pt x="3429000" y="2819400"/>
                </a:lnTo>
                <a:lnTo>
                  <a:pt x="3429000" y="2781300"/>
                </a:lnTo>
                <a:lnTo>
                  <a:pt x="3438525" y="2771775"/>
                </a:lnTo>
                <a:lnTo>
                  <a:pt x="3438525" y="2752725"/>
                </a:lnTo>
                <a:lnTo>
                  <a:pt x="3457575" y="2733675"/>
                </a:lnTo>
                <a:lnTo>
                  <a:pt x="3457575" y="2724150"/>
                </a:lnTo>
                <a:lnTo>
                  <a:pt x="3486150" y="2695575"/>
                </a:lnTo>
                <a:lnTo>
                  <a:pt x="3495675" y="2695575"/>
                </a:lnTo>
                <a:lnTo>
                  <a:pt x="3514725" y="2676525"/>
                </a:lnTo>
                <a:lnTo>
                  <a:pt x="3524250" y="2676525"/>
                </a:lnTo>
                <a:lnTo>
                  <a:pt x="3533775" y="2667000"/>
                </a:lnTo>
                <a:lnTo>
                  <a:pt x="3543300" y="2667000"/>
                </a:lnTo>
                <a:lnTo>
                  <a:pt x="3552825" y="2657475"/>
                </a:lnTo>
                <a:lnTo>
                  <a:pt x="3562350" y="2657475"/>
                </a:lnTo>
                <a:lnTo>
                  <a:pt x="3571875" y="2647950"/>
                </a:lnTo>
                <a:lnTo>
                  <a:pt x="3581400" y="2647950"/>
                </a:lnTo>
                <a:lnTo>
                  <a:pt x="3609975" y="2619375"/>
                </a:lnTo>
                <a:lnTo>
                  <a:pt x="3609975" y="2609850"/>
                </a:lnTo>
                <a:lnTo>
                  <a:pt x="3619500" y="2600325"/>
                </a:lnTo>
                <a:lnTo>
                  <a:pt x="3619500" y="2590800"/>
                </a:lnTo>
                <a:lnTo>
                  <a:pt x="3609975" y="2581275"/>
                </a:lnTo>
                <a:lnTo>
                  <a:pt x="3609975" y="2571750"/>
                </a:lnTo>
                <a:lnTo>
                  <a:pt x="3600450" y="2562225"/>
                </a:lnTo>
                <a:lnTo>
                  <a:pt x="3600450" y="2552700"/>
                </a:lnTo>
                <a:lnTo>
                  <a:pt x="3524250" y="2476500"/>
                </a:lnTo>
                <a:lnTo>
                  <a:pt x="3514725" y="2476500"/>
                </a:lnTo>
                <a:lnTo>
                  <a:pt x="3467100" y="2428875"/>
                </a:lnTo>
                <a:lnTo>
                  <a:pt x="3467100" y="2409825"/>
                </a:lnTo>
                <a:lnTo>
                  <a:pt x="3457575" y="2400300"/>
                </a:lnTo>
                <a:lnTo>
                  <a:pt x="3457575" y="2238375"/>
                </a:lnTo>
                <a:lnTo>
                  <a:pt x="3448050" y="2228850"/>
                </a:lnTo>
                <a:lnTo>
                  <a:pt x="3448050" y="2209800"/>
                </a:lnTo>
                <a:lnTo>
                  <a:pt x="3438525" y="2200275"/>
                </a:lnTo>
                <a:lnTo>
                  <a:pt x="3438525" y="2190750"/>
                </a:lnTo>
                <a:lnTo>
                  <a:pt x="3409950" y="2162175"/>
                </a:lnTo>
                <a:lnTo>
                  <a:pt x="3409950" y="2152650"/>
                </a:lnTo>
                <a:lnTo>
                  <a:pt x="3400425" y="2143125"/>
                </a:lnTo>
                <a:lnTo>
                  <a:pt x="3400425" y="2124075"/>
                </a:lnTo>
                <a:lnTo>
                  <a:pt x="3390900" y="2114550"/>
                </a:lnTo>
                <a:lnTo>
                  <a:pt x="3390900" y="2095500"/>
                </a:lnTo>
                <a:lnTo>
                  <a:pt x="3381375" y="2085975"/>
                </a:lnTo>
                <a:lnTo>
                  <a:pt x="3381375" y="1933575"/>
                </a:lnTo>
                <a:lnTo>
                  <a:pt x="3390900" y="1924050"/>
                </a:lnTo>
                <a:lnTo>
                  <a:pt x="3390900" y="1914525"/>
                </a:lnTo>
                <a:lnTo>
                  <a:pt x="3409950" y="1895475"/>
                </a:lnTo>
                <a:lnTo>
                  <a:pt x="3409950" y="1885950"/>
                </a:lnTo>
                <a:lnTo>
                  <a:pt x="3438525" y="1857375"/>
                </a:lnTo>
                <a:lnTo>
                  <a:pt x="3438525" y="1847850"/>
                </a:lnTo>
                <a:lnTo>
                  <a:pt x="3448050" y="1838325"/>
                </a:lnTo>
                <a:lnTo>
                  <a:pt x="3448050" y="1809750"/>
                </a:lnTo>
                <a:lnTo>
                  <a:pt x="3457575" y="1800225"/>
                </a:lnTo>
                <a:lnTo>
                  <a:pt x="3457575" y="1781175"/>
                </a:lnTo>
                <a:lnTo>
                  <a:pt x="3448050" y="1771650"/>
                </a:lnTo>
                <a:lnTo>
                  <a:pt x="3448050" y="1752600"/>
                </a:lnTo>
                <a:lnTo>
                  <a:pt x="3438525" y="1743075"/>
                </a:lnTo>
                <a:lnTo>
                  <a:pt x="3438525" y="1733550"/>
                </a:lnTo>
                <a:lnTo>
                  <a:pt x="3409950" y="1704975"/>
                </a:lnTo>
                <a:lnTo>
                  <a:pt x="3400425" y="1704975"/>
                </a:lnTo>
                <a:lnTo>
                  <a:pt x="3352800" y="1657350"/>
                </a:lnTo>
                <a:lnTo>
                  <a:pt x="3352800" y="1647825"/>
                </a:lnTo>
                <a:lnTo>
                  <a:pt x="3343275" y="1638300"/>
                </a:lnTo>
                <a:lnTo>
                  <a:pt x="3343275" y="1533525"/>
                </a:lnTo>
                <a:lnTo>
                  <a:pt x="3333750" y="1524000"/>
                </a:lnTo>
                <a:lnTo>
                  <a:pt x="3333750" y="1504950"/>
                </a:lnTo>
                <a:lnTo>
                  <a:pt x="3314700" y="1485900"/>
                </a:lnTo>
                <a:lnTo>
                  <a:pt x="3314700" y="1476375"/>
                </a:lnTo>
                <a:lnTo>
                  <a:pt x="3295650" y="1457325"/>
                </a:lnTo>
                <a:lnTo>
                  <a:pt x="3286125" y="1457325"/>
                </a:lnTo>
                <a:lnTo>
                  <a:pt x="3267075" y="1438275"/>
                </a:lnTo>
                <a:lnTo>
                  <a:pt x="3257550" y="1438275"/>
                </a:lnTo>
                <a:lnTo>
                  <a:pt x="3248025" y="1428750"/>
                </a:lnTo>
                <a:lnTo>
                  <a:pt x="3181350" y="1428750"/>
                </a:lnTo>
                <a:lnTo>
                  <a:pt x="3171825" y="1438275"/>
                </a:lnTo>
                <a:lnTo>
                  <a:pt x="3152775" y="1438275"/>
                </a:lnTo>
                <a:lnTo>
                  <a:pt x="3143250" y="1428750"/>
                </a:lnTo>
                <a:lnTo>
                  <a:pt x="3133725" y="1428750"/>
                </a:lnTo>
                <a:lnTo>
                  <a:pt x="3105150" y="1400175"/>
                </a:lnTo>
                <a:lnTo>
                  <a:pt x="3105150" y="1390650"/>
                </a:lnTo>
                <a:lnTo>
                  <a:pt x="3124200" y="1371600"/>
                </a:lnTo>
                <a:lnTo>
                  <a:pt x="3133725" y="1371600"/>
                </a:lnTo>
                <a:lnTo>
                  <a:pt x="3143250" y="1362075"/>
                </a:lnTo>
                <a:lnTo>
                  <a:pt x="3152775" y="1371600"/>
                </a:lnTo>
                <a:lnTo>
                  <a:pt x="3181350" y="1371600"/>
                </a:lnTo>
                <a:lnTo>
                  <a:pt x="3190875" y="1381125"/>
                </a:lnTo>
                <a:lnTo>
                  <a:pt x="3238500" y="1381125"/>
                </a:lnTo>
                <a:lnTo>
                  <a:pt x="3248025" y="1371600"/>
                </a:lnTo>
                <a:lnTo>
                  <a:pt x="3257550" y="1371600"/>
                </a:lnTo>
                <a:lnTo>
                  <a:pt x="3276600" y="1352550"/>
                </a:lnTo>
                <a:lnTo>
                  <a:pt x="3286125" y="1352550"/>
                </a:lnTo>
                <a:lnTo>
                  <a:pt x="3295650" y="1343025"/>
                </a:lnTo>
                <a:lnTo>
                  <a:pt x="3295650" y="1333500"/>
                </a:lnTo>
                <a:lnTo>
                  <a:pt x="3314700" y="1314450"/>
                </a:lnTo>
                <a:lnTo>
                  <a:pt x="3314700" y="1304925"/>
                </a:lnTo>
                <a:lnTo>
                  <a:pt x="3324225" y="1295400"/>
                </a:lnTo>
                <a:lnTo>
                  <a:pt x="3324225" y="1228725"/>
                </a:lnTo>
                <a:lnTo>
                  <a:pt x="3314700" y="1219200"/>
                </a:lnTo>
                <a:lnTo>
                  <a:pt x="3314700" y="1200150"/>
                </a:lnTo>
                <a:lnTo>
                  <a:pt x="3305175" y="1190625"/>
                </a:lnTo>
                <a:lnTo>
                  <a:pt x="3305175" y="1181100"/>
                </a:lnTo>
                <a:lnTo>
                  <a:pt x="3276600" y="1152525"/>
                </a:lnTo>
                <a:lnTo>
                  <a:pt x="3276600" y="1143000"/>
                </a:lnTo>
                <a:lnTo>
                  <a:pt x="3267075" y="1143000"/>
                </a:lnTo>
                <a:lnTo>
                  <a:pt x="3228975" y="1104900"/>
                </a:lnTo>
                <a:lnTo>
                  <a:pt x="3219450" y="1104900"/>
                </a:lnTo>
                <a:lnTo>
                  <a:pt x="3209925" y="1095375"/>
                </a:lnTo>
                <a:lnTo>
                  <a:pt x="3209925" y="1085850"/>
                </a:lnTo>
                <a:lnTo>
                  <a:pt x="3190875" y="1066800"/>
                </a:lnTo>
                <a:lnTo>
                  <a:pt x="3190875" y="1047750"/>
                </a:lnTo>
                <a:lnTo>
                  <a:pt x="3181350" y="1038225"/>
                </a:lnTo>
                <a:lnTo>
                  <a:pt x="3181350" y="981075"/>
                </a:lnTo>
                <a:lnTo>
                  <a:pt x="3190875" y="971550"/>
                </a:lnTo>
                <a:lnTo>
                  <a:pt x="3190875" y="952500"/>
                </a:lnTo>
                <a:lnTo>
                  <a:pt x="3200400" y="942975"/>
                </a:lnTo>
                <a:lnTo>
                  <a:pt x="3200400" y="933450"/>
                </a:lnTo>
                <a:lnTo>
                  <a:pt x="3209925" y="923925"/>
                </a:lnTo>
                <a:lnTo>
                  <a:pt x="3209925" y="914400"/>
                </a:lnTo>
                <a:lnTo>
                  <a:pt x="3248025" y="876300"/>
                </a:lnTo>
                <a:lnTo>
                  <a:pt x="3248025" y="866775"/>
                </a:lnTo>
                <a:lnTo>
                  <a:pt x="3257550" y="857250"/>
                </a:lnTo>
                <a:lnTo>
                  <a:pt x="3257550" y="847725"/>
                </a:lnTo>
                <a:lnTo>
                  <a:pt x="3267075" y="838200"/>
                </a:lnTo>
                <a:lnTo>
                  <a:pt x="3267075" y="771525"/>
                </a:lnTo>
                <a:lnTo>
                  <a:pt x="3257550" y="762000"/>
                </a:lnTo>
                <a:lnTo>
                  <a:pt x="3257550" y="742950"/>
                </a:lnTo>
                <a:lnTo>
                  <a:pt x="3248025" y="733425"/>
                </a:lnTo>
                <a:lnTo>
                  <a:pt x="3248025" y="723900"/>
                </a:lnTo>
                <a:lnTo>
                  <a:pt x="3238500" y="714375"/>
                </a:lnTo>
                <a:lnTo>
                  <a:pt x="3238500" y="704850"/>
                </a:lnTo>
                <a:lnTo>
                  <a:pt x="3228975" y="695325"/>
                </a:lnTo>
                <a:lnTo>
                  <a:pt x="3228975" y="685800"/>
                </a:lnTo>
                <a:lnTo>
                  <a:pt x="3209925" y="666750"/>
                </a:lnTo>
                <a:lnTo>
                  <a:pt x="3209925" y="647700"/>
                </a:lnTo>
                <a:lnTo>
                  <a:pt x="3200400" y="638175"/>
                </a:lnTo>
                <a:lnTo>
                  <a:pt x="3200400" y="628650"/>
                </a:lnTo>
                <a:lnTo>
                  <a:pt x="3190875" y="619125"/>
                </a:lnTo>
                <a:lnTo>
                  <a:pt x="3190875" y="609600"/>
                </a:lnTo>
                <a:lnTo>
                  <a:pt x="3162300" y="581025"/>
                </a:lnTo>
                <a:lnTo>
                  <a:pt x="3162300" y="571500"/>
                </a:lnTo>
                <a:lnTo>
                  <a:pt x="3152775" y="571500"/>
                </a:lnTo>
                <a:lnTo>
                  <a:pt x="3124200" y="542925"/>
                </a:lnTo>
                <a:lnTo>
                  <a:pt x="3114675" y="542925"/>
                </a:lnTo>
                <a:lnTo>
                  <a:pt x="3105150" y="533400"/>
                </a:lnTo>
                <a:lnTo>
                  <a:pt x="3095625" y="533400"/>
                </a:lnTo>
                <a:lnTo>
                  <a:pt x="3048000" y="485775"/>
                </a:lnTo>
                <a:lnTo>
                  <a:pt x="3048000" y="476250"/>
                </a:lnTo>
                <a:lnTo>
                  <a:pt x="3009900" y="438150"/>
                </a:lnTo>
                <a:lnTo>
                  <a:pt x="3000375" y="438150"/>
                </a:lnTo>
                <a:lnTo>
                  <a:pt x="2990850" y="428625"/>
                </a:lnTo>
                <a:lnTo>
                  <a:pt x="2981325" y="428625"/>
                </a:lnTo>
                <a:lnTo>
                  <a:pt x="2971800" y="419100"/>
                </a:lnTo>
                <a:lnTo>
                  <a:pt x="2962275" y="419100"/>
                </a:lnTo>
                <a:lnTo>
                  <a:pt x="2952750" y="409575"/>
                </a:lnTo>
                <a:lnTo>
                  <a:pt x="2933700" y="409575"/>
                </a:lnTo>
                <a:lnTo>
                  <a:pt x="2924175" y="400050"/>
                </a:lnTo>
                <a:lnTo>
                  <a:pt x="2886075" y="400050"/>
                </a:lnTo>
                <a:lnTo>
                  <a:pt x="2876550" y="390525"/>
                </a:lnTo>
                <a:close/>
              </a:path>
              <a:path w="4267200" h="4267200">
                <a:moveTo>
                  <a:pt x="4210050" y="152400"/>
                </a:moveTo>
                <a:lnTo>
                  <a:pt x="4200525" y="161925"/>
                </a:lnTo>
                <a:lnTo>
                  <a:pt x="4181475" y="161925"/>
                </a:lnTo>
                <a:lnTo>
                  <a:pt x="4171950" y="171450"/>
                </a:lnTo>
                <a:lnTo>
                  <a:pt x="4162425" y="171450"/>
                </a:lnTo>
                <a:lnTo>
                  <a:pt x="4152900" y="180975"/>
                </a:lnTo>
                <a:lnTo>
                  <a:pt x="4143375" y="180975"/>
                </a:lnTo>
                <a:lnTo>
                  <a:pt x="4114800" y="209550"/>
                </a:lnTo>
                <a:lnTo>
                  <a:pt x="4114800" y="228600"/>
                </a:lnTo>
                <a:lnTo>
                  <a:pt x="4105275" y="238125"/>
                </a:lnTo>
                <a:lnTo>
                  <a:pt x="4105275" y="314325"/>
                </a:lnTo>
                <a:lnTo>
                  <a:pt x="4114800" y="323850"/>
                </a:lnTo>
                <a:lnTo>
                  <a:pt x="4114800" y="466725"/>
                </a:lnTo>
                <a:lnTo>
                  <a:pt x="4105275" y="476250"/>
                </a:lnTo>
                <a:lnTo>
                  <a:pt x="4105275" y="866775"/>
                </a:lnTo>
                <a:lnTo>
                  <a:pt x="4095750" y="876300"/>
                </a:lnTo>
                <a:lnTo>
                  <a:pt x="4095750" y="885825"/>
                </a:lnTo>
                <a:lnTo>
                  <a:pt x="4076700" y="904875"/>
                </a:lnTo>
                <a:lnTo>
                  <a:pt x="4076700" y="914400"/>
                </a:lnTo>
                <a:lnTo>
                  <a:pt x="4048125" y="942975"/>
                </a:lnTo>
                <a:lnTo>
                  <a:pt x="4048125" y="952500"/>
                </a:lnTo>
                <a:lnTo>
                  <a:pt x="4029075" y="971550"/>
                </a:lnTo>
                <a:lnTo>
                  <a:pt x="4029075" y="981075"/>
                </a:lnTo>
                <a:lnTo>
                  <a:pt x="4019550" y="990600"/>
                </a:lnTo>
                <a:lnTo>
                  <a:pt x="4019550" y="1009650"/>
                </a:lnTo>
                <a:lnTo>
                  <a:pt x="4010025" y="1019175"/>
                </a:lnTo>
                <a:lnTo>
                  <a:pt x="4010025" y="1038225"/>
                </a:lnTo>
                <a:lnTo>
                  <a:pt x="4000500" y="1047750"/>
                </a:lnTo>
                <a:lnTo>
                  <a:pt x="4000500" y="1076325"/>
                </a:lnTo>
                <a:lnTo>
                  <a:pt x="3990975" y="1085850"/>
                </a:lnTo>
                <a:lnTo>
                  <a:pt x="3990975" y="1228725"/>
                </a:lnTo>
                <a:lnTo>
                  <a:pt x="4000500" y="1238250"/>
                </a:lnTo>
                <a:lnTo>
                  <a:pt x="4000500" y="1257300"/>
                </a:lnTo>
                <a:lnTo>
                  <a:pt x="3990975" y="1266825"/>
                </a:lnTo>
                <a:lnTo>
                  <a:pt x="3990975" y="1314450"/>
                </a:lnTo>
                <a:lnTo>
                  <a:pt x="3981450" y="1323975"/>
                </a:lnTo>
                <a:lnTo>
                  <a:pt x="3981450" y="1362075"/>
                </a:lnTo>
                <a:lnTo>
                  <a:pt x="3971925" y="1371600"/>
                </a:lnTo>
                <a:lnTo>
                  <a:pt x="3971925" y="1447800"/>
                </a:lnTo>
                <a:lnTo>
                  <a:pt x="3981450" y="1457325"/>
                </a:lnTo>
                <a:lnTo>
                  <a:pt x="3981450" y="1514475"/>
                </a:lnTo>
                <a:lnTo>
                  <a:pt x="3990975" y="1524000"/>
                </a:lnTo>
                <a:lnTo>
                  <a:pt x="3990975" y="1571625"/>
                </a:lnTo>
                <a:lnTo>
                  <a:pt x="4000500" y="1581150"/>
                </a:lnTo>
                <a:lnTo>
                  <a:pt x="4000500" y="1609725"/>
                </a:lnTo>
                <a:lnTo>
                  <a:pt x="4010025" y="1619250"/>
                </a:lnTo>
                <a:lnTo>
                  <a:pt x="4010025" y="1638300"/>
                </a:lnTo>
                <a:lnTo>
                  <a:pt x="4019550" y="1647825"/>
                </a:lnTo>
                <a:lnTo>
                  <a:pt x="4019550" y="1666875"/>
                </a:lnTo>
                <a:lnTo>
                  <a:pt x="4029075" y="1676400"/>
                </a:lnTo>
                <a:lnTo>
                  <a:pt x="4029075" y="1695450"/>
                </a:lnTo>
                <a:lnTo>
                  <a:pt x="4038600" y="1704975"/>
                </a:lnTo>
                <a:lnTo>
                  <a:pt x="4038600" y="1724025"/>
                </a:lnTo>
                <a:lnTo>
                  <a:pt x="4048125" y="1733550"/>
                </a:lnTo>
                <a:lnTo>
                  <a:pt x="4048125" y="1752600"/>
                </a:lnTo>
                <a:lnTo>
                  <a:pt x="4057650" y="1762125"/>
                </a:lnTo>
                <a:lnTo>
                  <a:pt x="4057650" y="1809750"/>
                </a:lnTo>
                <a:lnTo>
                  <a:pt x="4067175" y="1819275"/>
                </a:lnTo>
                <a:lnTo>
                  <a:pt x="4067175" y="1866900"/>
                </a:lnTo>
                <a:lnTo>
                  <a:pt x="4076700" y="1876425"/>
                </a:lnTo>
                <a:lnTo>
                  <a:pt x="4076700" y="1895475"/>
                </a:lnTo>
                <a:lnTo>
                  <a:pt x="4086225" y="1905000"/>
                </a:lnTo>
                <a:lnTo>
                  <a:pt x="4086225" y="1914525"/>
                </a:lnTo>
                <a:lnTo>
                  <a:pt x="4114800" y="1943100"/>
                </a:lnTo>
                <a:lnTo>
                  <a:pt x="4124325" y="1943100"/>
                </a:lnTo>
                <a:lnTo>
                  <a:pt x="4143375" y="1962150"/>
                </a:lnTo>
                <a:lnTo>
                  <a:pt x="4162425" y="1962150"/>
                </a:lnTo>
                <a:lnTo>
                  <a:pt x="4171950" y="1971675"/>
                </a:lnTo>
                <a:lnTo>
                  <a:pt x="4181475" y="1971675"/>
                </a:lnTo>
                <a:lnTo>
                  <a:pt x="4191000" y="1981200"/>
                </a:lnTo>
                <a:lnTo>
                  <a:pt x="4238625" y="1981200"/>
                </a:lnTo>
                <a:lnTo>
                  <a:pt x="4248150" y="1990725"/>
                </a:lnTo>
                <a:lnTo>
                  <a:pt x="4257675" y="1990725"/>
                </a:lnTo>
                <a:lnTo>
                  <a:pt x="4257675" y="152400"/>
                </a:lnTo>
                <a:close/>
              </a:path>
              <a:path w="4267200" h="4267200">
                <a:moveTo>
                  <a:pt x="190500" y="133350"/>
                </a:moveTo>
                <a:lnTo>
                  <a:pt x="180975" y="142875"/>
                </a:lnTo>
                <a:lnTo>
                  <a:pt x="161925" y="142875"/>
                </a:lnTo>
                <a:lnTo>
                  <a:pt x="142875" y="161925"/>
                </a:lnTo>
                <a:lnTo>
                  <a:pt x="142875" y="171450"/>
                </a:lnTo>
                <a:lnTo>
                  <a:pt x="133350" y="180975"/>
                </a:lnTo>
                <a:lnTo>
                  <a:pt x="133350" y="219075"/>
                </a:lnTo>
                <a:lnTo>
                  <a:pt x="142875" y="228600"/>
                </a:lnTo>
                <a:lnTo>
                  <a:pt x="142875" y="238125"/>
                </a:lnTo>
                <a:lnTo>
                  <a:pt x="152400" y="247650"/>
                </a:lnTo>
                <a:lnTo>
                  <a:pt x="161925" y="247650"/>
                </a:lnTo>
                <a:lnTo>
                  <a:pt x="171450" y="257175"/>
                </a:lnTo>
                <a:lnTo>
                  <a:pt x="228600" y="257175"/>
                </a:lnTo>
                <a:lnTo>
                  <a:pt x="257175" y="228600"/>
                </a:lnTo>
                <a:lnTo>
                  <a:pt x="257175" y="171450"/>
                </a:lnTo>
                <a:lnTo>
                  <a:pt x="247650" y="161925"/>
                </a:lnTo>
                <a:lnTo>
                  <a:pt x="247650" y="152400"/>
                </a:lnTo>
                <a:lnTo>
                  <a:pt x="238125" y="152400"/>
                </a:lnTo>
                <a:lnTo>
                  <a:pt x="228600" y="142875"/>
                </a:lnTo>
                <a:lnTo>
                  <a:pt x="219075" y="142875"/>
                </a:lnTo>
                <a:lnTo>
                  <a:pt x="209550" y="1333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FF382E"/>
            </a:solidFill>
          </a:ln>
        </p:spPr>
      </p:sp>
      <p:sp>
        <p:nvSpPr>
          <p:cNvPr id="120" name="contour-frame">
            <a:extLst xmlns:a="http://schemas.openxmlformats.org/drawingml/2006/main">
              <a:ext uri="{FF2B5EF4-FFF2-40B4-BE49-F238E27FC236}">
                <a16:creationId xmlns:a16="http://schemas.microsoft.com/office/drawing/2014/main" id="{F6B1DD0A-941B-4D2C-B2CB-89D6E784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552950"/>
            <a:ext cx="1238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4A5AE"/>
            </a:solidFill>
            <a:prstDash val="solid"/>
          </a:ln>
        </p:spPr>
      </p:sp>
      <p:sp>
        <p:nvSpPr>
          <p:cNvPr id="121" name="map-label">
            <a:extLst xmlns:a="http://schemas.openxmlformats.org/drawingml/2006/main">
              <a:ext uri="{FF2B5EF4-FFF2-40B4-BE49-F238E27FC236}">
                <a16:creationId xmlns:a16="http://schemas.microsoft.com/office/drawing/2014/main" id="{5642FD0B-A143-4036-9E54-FE0082E1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838825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>
                <a:solidFill>
                  <a:srgbClr val="1E2E38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1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A</a:t>
            </a:r>
            <a:r>
              <a:rPr sz="2250" b="0" i="1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t</a:t>
            </a:r>
          </a:p>
        </p:txBody>
      </p:sp>
      <p:sp>
        <p:nvSpPr>
          <p:cNvPr id="122" name="display-label">
            <a:extLst xmlns:a="http://schemas.openxmlformats.org/drawingml/2006/main">
              <a:ext uri="{FF2B5EF4-FFF2-40B4-BE49-F238E27FC236}">
                <a16:creationId xmlns:a16="http://schemas.microsoft.com/office/drawing/2014/main" id="{B3D200B0-3948-419D-A267-FACB3881B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5838825"/>
            <a:ext cx="128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Contour</a:t>
            </a:r>
          </a:p>
        </p:txBody>
      </p:sp>
      <p:sp>
        <p:nvSpPr>
          <p:cNvPr id="123" name="image-score">
            <a:extLst xmlns:a="http://schemas.openxmlformats.org/drawingml/2006/main">
              <a:ext uri="{FF2B5EF4-FFF2-40B4-BE49-F238E27FC236}">
                <a16:creationId xmlns:a16="http://schemas.microsoft.com/office/drawing/2014/main" id="{67FA6EFC-E6BD-48CD-B7C7-02D168F5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6286500"/>
            <a:ext cx="289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>
                <a:solidFill>
                  <a:srgbClr val="1E2E38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s</a:t>
            </a:r>
            <a:r>
              <a:rPr sz="2250" b="0" i="0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img,</a:t>
            </a:r>
            <a:r>
              <a:rPr sz="2250" b="0" i="1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t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= max</a:t>
            </a:r>
            <a:r>
              <a:rPr sz="2250" b="0" i="1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u</a:t>
            </a:r>
            <a:r>
              <a:rPr sz="2250" b="1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A</a:t>
            </a:r>
            <a:r>
              <a:rPr sz="2250" b="0" i="1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t,u</a:t>
            </a:r>
          </a:p>
        </p:txBody>
      </p:sp>
      <p:sp>
        <p:nvSpPr>
          <p:cNvPr id="124" name="display-only">
            <a:extLst xmlns:a="http://schemas.openxmlformats.org/drawingml/2006/main">
              <a:ext uri="{FF2B5EF4-FFF2-40B4-BE49-F238E27FC236}">
                <a16:creationId xmlns:a16="http://schemas.microsoft.com/office/drawing/2014/main" id="{58DE0BEC-990C-499D-8397-62150319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5113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1E2E38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Contour uses 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τ</a:t>
            </a:r>
            <a:r>
              <a:rPr sz="2250" b="0" i="0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vis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for display only</a:t>
            </a:r>
          </a:p>
        </p:txBody>
      </p:sp>
      <p:sp>
        <p:nvSpPr>
          <p:cNvPr id="125" name="section-c">
            <a:extLst xmlns:a="http://schemas.openxmlformats.org/drawingml/2006/main">
              <a:ext uri="{FF2B5EF4-FFF2-40B4-BE49-F238E27FC236}">
                <a16:creationId xmlns:a16="http://schemas.microsoft.com/office/drawing/2014/main" id="{77B69DE0-5180-4C98-BB9F-D0021FA6F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7258050"/>
            <a:ext cx="1123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(c) Representation effects and matching interactions</a:t>
            </a:r>
          </a:p>
        </p:txBody>
      </p:sp>
      <p:sp>
        <p:nvSpPr>
          <p:cNvPr id="126" name="control-label-0">
            <a:extLst xmlns:a="http://schemas.openxmlformats.org/drawingml/2006/main">
              <a:ext uri="{FF2B5EF4-FFF2-40B4-BE49-F238E27FC236}">
                <a16:creationId xmlns:a16="http://schemas.microsoft.com/office/drawing/2014/main" id="{7FA0866C-8E28-4330-A35D-1E8170BE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7677150"/>
            <a:ext cx="287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Dual-encoder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baseline</a:t>
            </a:r>
          </a:p>
        </p:txBody>
      </p:sp>
      <p:sp>
        <p:nvSpPr>
          <p:cNvPr id="127" name="control-weights-0">
            <a:extLst xmlns:a="http://schemas.openxmlformats.org/drawingml/2006/main">
              <a:ext uri="{FF2B5EF4-FFF2-40B4-BE49-F238E27FC236}">
                <a16:creationId xmlns:a16="http://schemas.microsoft.com/office/drawing/2014/main" id="{0F8D62B2-6138-4944-BD15-9F9862E6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82677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Original encoder pair</a:t>
            </a:r>
          </a:p>
        </p:txBody>
      </p:sp>
      <p:sp>
        <p:nvSpPr>
          <p:cNvPr id="128" name="control-label-1">
            <a:extLst xmlns:a="http://schemas.openxmlformats.org/drawingml/2006/main">
              <a:ext uri="{FF2B5EF4-FFF2-40B4-BE49-F238E27FC236}">
                <a16:creationId xmlns:a16="http://schemas.microsoft.com/office/drawing/2014/main" id="{E650E094-6599-4C02-A07B-076A5F0A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7677150"/>
            <a:ext cx="287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Duplicate-branch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control</a:t>
            </a:r>
          </a:p>
        </p:txBody>
      </p:sp>
      <p:sp>
        <p:nvSpPr>
          <p:cNvPr id="129" name="control-weights-1">
            <a:extLst xmlns:a="http://schemas.openxmlformats.org/drawingml/2006/main">
              <a:ext uri="{FF2B5EF4-FFF2-40B4-BE49-F238E27FC236}">
                <a16:creationId xmlns:a16="http://schemas.microsoft.com/office/drawing/2014/main" id="{538D7AE7-41B2-43FF-8D9B-3DF8329FA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2677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Copy existing features</a:t>
            </a:r>
          </a:p>
        </p:txBody>
      </p:sp>
      <p:sp>
        <p:nvSpPr>
          <p:cNvPr id="130" name="control-label-2">
            <a:extLst xmlns:a="http://schemas.openxmlformats.org/drawingml/2006/main">
              <a:ext uri="{FF2B5EF4-FFF2-40B4-BE49-F238E27FC236}">
                <a16:creationId xmlns:a16="http://schemas.microsoft.com/office/drawing/2014/main" id="{418D9C33-9617-4BFE-9EF2-A6A32A71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7677150"/>
            <a:ext cx="287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Equal-weight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replacement</a:t>
            </a:r>
          </a:p>
        </p:txBody>
      </p:sp>
      <p:sp>
        <p:nvSpPr>
          <p:cNvPr id="131" name="control-weights-2">
            <a:extLst xmlns:a="http://schemas.openxmlformats.org/drawingml/2006/main">
              <a:ext uri="{FF2B5EF4-FFF2-40B4-BE49-F238E27FC236}">
                <a16:creationId xmlns:a16="http://schemas.microsoft.com/office/drawing/2014/main" id="{3F7E44D4-15D4-464D-91A9-985A7EB2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82677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Replace the duplicate</a:t>
            </a:r>
          </a:p>
        </p:txBody>
      </p:sp>
      <p:sp>
        <p:nvSpPr>
          <p:cNvPr id="132" name="control-label-3">
            <a:extLst xmlns:a="http://schemas.openxmlformats.org/drawingml/2006/main">
              <a:ext uri="{FF2B5EF4-FFF2-40B4-BE49-F238E27FC236}">
                <a16:creationId xmlns:a16="http://schemas.microsoft.com/office/drawing/2014/main" id="{BFDBD167-DCF2-456A-BC9D-1D99902E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7677150"/>
            <a:ext cx="287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Balanced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replacement</a:t>
            </a:r>
          </a:p>
        </p:txBody>
      </p:sp>
      <p:sp>
        <p:nvSpPr>
          <p:cNvPr id="133" name="control-weights-3">
            <a:extLst xmlns:a="http://schemas.openxmlformats.org/drawingml/2006/main">
              <a:ext uri="{FF2B5EF4-FFF2-40B4-BE49-F238E27FC236}">
                <a16:creationId xmlns:a16="http://schemas.microsoft.com/office/drawing/2014/main" id="{69630CE9-AFBE-41B5-B2C6-A12ACB0A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82677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Preserve group weights</a:t>
            </a:r>
          </a:p>
        </p:txBody>
      </p:sp>
      <p:sp>
        <p:nvSpPr>
          <p:cNvPr id="134" name="tri-effect">
            <a:extLst xmlns:a="http://schemas.openxmlformats.org/drawingml/2006/main">
              <a:ext uri="{FF2B5EF4-FFF2-40B4-BE49-F238E27FC236}">
                <a16:creationId xmlns:a16="http://schemas.microsoft.com/office/drawing/2014/main" id="{7970C9E9-7F0A-4683-A185-E8A3F33ED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677275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>
                <a:solidFill>
                  <a:srgbClr val="1E2E38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E</a:t>
            </a:r>
            <a:r>
              <a:rPr sz="2250" b="0" i="0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Equal</a:t>
            </a:r>
            <a:r>
              <a:rPr sz="2250" b="0" i="0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,</a:t>
            </a:r>
            <a:r>
              <a:rPr sz="2250" b="0" i="1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t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= 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P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(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Equal</a:t>
            </a:r>
            <a:r>
              <a:rPr sz="2250" b="0" i="1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t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)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− 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P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(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Duplicate</a:t>
            </a:r>
            <a:r>
              <a:rPr sz="2250" b="0" i="1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t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)</a:t>
            </a:r>
          </a:p>
        </p:txBody>
      </p:sp>
      <p:sp>
        <p:nvSpPr>
          <p:cNvPr id="135" name="bal-effect">
            <a:extLst xmlns:a="http://schemas.openxmlformats.org/drawingml/2006/main">
              <a:ext uri="{FF2B5EF4-FFF2-40B4-BE49-F238E27FC236}">
                <a16:creationId xmlns:a16="http://schemas.microsoft.com/office/drawing/2014/main" id="{178E86DB-A593-4465-AE91-C2782B8C1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8677275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>
                <a:solidFill>
                  <a:srgbClr val="1E2E38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E</a:t>
            </a:r>
            <a:r>
              <a:rPr sz="2250" b="0" i="0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Balanced</a:t>
            </a:r>
            <a:r>
              <a:rPr sz="2250" b="0" i="0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,</a:t>
            </a:r>
            <a:r>
              <a:rPr sz="2250" b="0" i="1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t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= 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P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(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Balanced</a:t>
            </a:r>
            <a:r>
              <a:rPr sz="2250" b="0" i="1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t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)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− 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P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(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Baseline</a:t>
            </a:r>
            <a:r>
              <a:rPr sz="2250" b="0" i="1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t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)</a:t>
            </a:r>
          </a:p>
        </p:txBody>
      </p:sp>
      <p:sp>
        <p:nvSpPr>
          <p:cNvPr id="136" name="tri-interaction">
            <a:extLst xmlns:a="http://schemas.openxmlformats.org/drawingml/2006/main">
              <a:ext uri="{FF2B5EF4-FFF2-40B4-BE49-F238E27FC236}">
                <a16:creationId xmlns:a16="http://schemas.microsoft.com/office/drawing/2014/main" id="{ECB36DE9-D17E-48EB-B74B-73B76D47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920115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>
                <a:solidFill>
                  <a:srgbClr val="1E2E38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2250" b="0" i="0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Equal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= 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E</a:t>
            </a:r>
            <a:r>
              <a:rPr sz="2250" b="0" i="0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Equal</a:t>
            </a:r>
            <a:r>
              <a:rPr sz="2250" b="0" i="0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,</a:t>
            </a:r>
            <a:r>
              <a:rPr sz="2250" b="0" i="0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L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− 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E</a:t>
            </a:r>
            <a:r>
              <a:rPr sz="2250" b="0" i="0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Equal</a:t>
            </a:r>
            <a:r>
              <a:rPr sz="2250" b="0" i="0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,</a:t>
            </a:r>
            <a:r>
              <a:rPr sz="2250" b="0" i="0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J</a:t>
            </a:r>
          </a:p>
        </p:txBody>
      </p:sp>
      <p:sp>
        <p:nvSpPr>
          <p:cNvPr id="137" name="bal-interaction">
            <a:extLst xmlns:a="http://schemas.openxmlformats.org/drawingml/2006/main">
              <a:ext uri="{FF2B5EF4-FFF2-40B4-BE49-F238E27FC236}">
                <a16:creationId xmlns:a16="http://schemas.microsoft.com/office/drawing/2014/main" id="{3A5D6382-74ED-442B-BA86-6E9BC5F0E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920115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>
                <a:solidFill>
                  <a:srgbClr val="1E2E38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2250" b="0" i="0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Balanced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= 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E</a:t>
            </a:r>
            <a:r>
              <a:rPr sz="2250" b="0" i="0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Balanced</a:t>
            </a:r>
            <a:r>
              <a:rPr sz="2250" b="0" i="0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,</a:t>
            </a:r>
            <a:r>
              <a:rPr sz="2250" b="0" i="0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L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− 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E</a:t>
            </a:r>
            <a:r>
              <a:rPr sz="2250" b="0" i="0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Balanced</a:t>
            </a:r>
            <a:r>
              <a:rPr sz="2250" b="0" i="0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,</a:t>
            </a:r>
            <a:r>
              <a:rPr sz="2250" b="0" i="0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J</a:t>
            </a:r>
          </a:p>
        </p:txBody>
      </p:sp>
      <p:sp>
        <p:nvSpPr>
          <p:cNvPr id="138" name="matched-condition-note">
            <a:extLst xmlns:a="http://schemas.openxmlformats.org/drawingml/2006/main">
              <a:ext uri="{FF2B5EF4-FFF2-40B4-BE49-F238E27FC236}">
                <a16:creationId xmlns:a16="http://schemas.microsoft.com/office/drawing/2014/main" id="{F2DBF32F-06CB-412B-98D8-990D5F8B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667875"/>
            <a:ext cx="1162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Identical supports and query images within every paired comparison</a:t>
            </a:r>
          </a:p>
        </p:txBody>
      </p:sp>
    </p:spTree>
    <p:extLst>
      <p:ext uri="{BB962C8B-B14F-4D97-AF65-F5344CB8AC3E}">
        <p14:creationId xmlns:p14="http://schemas.microsoft.com/office/powerpoint/2010/main" val="16012466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2026-09-25T16:32:39.1270000Z</dcterms:created>
  <dcterms:modified xsi:type="dcterms:W3CDTF">2026-09-25T16:32:39.1270000Z</dcterms:modified>
</coreProperties>
</file>