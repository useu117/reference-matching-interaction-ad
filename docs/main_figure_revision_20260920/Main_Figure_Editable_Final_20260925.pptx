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e20fa147a04cbb" /><Relationship Type="http://schemas.openxmlformats.org/officeDocument/2006/relationships/extended-properties" Target="/docProps/app.xml" Id="Rfa1dcfa8eca04813" /><Relationship Type="http://schemas.openxmlformats.org/officeDocument/2006/relationships/officeDocument" Target="/ppt/presentation.xml" Id="R0087246b96ab47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17e14eb6314967"/>
  </p:sldMasterIdLst>
  <p:notesMasterIdLst>
    <p:notesMasterId xmlns:r="http://schemas.openxmlformats.org/officeDocument/2006/relationships" r:id="Rbce48c6baf97412e"/>
  </p:notesMasterIdLst>
  <p:sldIdLst>
    <p:sldId xmlns:r="http://schemas.openxmlformats.org/officeDocument/2006/relationships" id="256" r:id="Rdb5128414abc47cc"/>
  </p:sldIdLst>
  <p:sldSz cx="12192000" cy="10096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537a3425104c67" /><Relationship Type="http://schemas.openxmlformats.org/officeDocument/2006/relationships/slideMaster" Target="/ppt/slideMasters/slideMaster1.xml" Id="Rd617e14eb6314967" /><Relationship Type="http://schemas.openxmlformats.org/officeDocument/2006/relationships/notesMaster" Target="/ppt/notesMasters/notesMaster1.xml" Id="Rbce48c6baf97412e" /><Relationship Type="http://schemas.openxmlformats.org/officeDocument/2006/relationships/presProps" Target="/ppt/presProps.xml" Id="Rb879b232f85d4c8b" /><Relationship Type="http://schemas.openxmlformats.org/officeDocument/2006/relationships/tableStyles" Target="/ppt/tableStyles.xml" Id="R98bdae0d52fd41ed" /><Relationship Type="http://schemas.openxmlformats.org/officeDocument/2006/relationships/slide" Target="/ppt/slides/slide1.xml" Id="Rdb5128414abc47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8a7d2debf147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15d4e732ef461c" /><Relationship Type="http://schemas.openxmlformats.org/officeDocument/2006/relationships/notesMaster" Target="/ppt/notesMasters/notesMaster1.xml" Id="Rd41dd052694b40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Scientific sources: scripts/manuscript_build_20260914 and docs/manuscript_polished_20260919. Real image assets: D:\STUDY\My_github\reference-matching-interaction-ad\scripts\figures_reference_matching_20260914\assets. MPDD metal_plate/test/scratches/026.png, A1 joint matching, seed 0 K=1. Score map follows stored resize and Gaussian sigma=4 processing. Red contour uses archived 256-bin Otsu polygons without loading a test mask. Three support thumbnails illustrate the general K-image input; they do not claim the output example used all three. A1, DUP, TRI, and BAL denote Dual-encoder baseline, Duplicate-branch control, Equal-weight replacement, and Balanced replacement. The frozen encoder names are DINOv2-B/14, AnomalyCLIP visual, and the replacement options DINOv2-S/14 or WideResNet50-2. p is query-patch index, b branch index, r normal-bank candidate. Native model outputs are the continuous anomaly map and its spatial maximum. Contour is display only. The replacement slot is a fixed construction, never a runtime switch. All diagrams and labels are editable native shapes, with real images embedded.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a5c71c5822469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05838ea1db4e6e" /><Relationship Type="http://schemas.openxmlformats.org/officeDocument/2006/relationships/slideLayout" Target="/ppt/slideLayouts/slideLayout1.xml" Id="R0d20abd1326d44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20abd1326d44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77996c3204884" /><Relationship Type="http://schemas.openxmlformats.org/officeDocument/2006/relationships/image" Target="/ppt/media/image.png" Id="Rc3597c27cd2746c1" /><Relationship Type="http://schemas.openxmlformats.org/officeDocument/2006/relationships/image" Target="/ppt/media/image2.png" Id="R34cf2e6e66bf408f" /><Relationship Type="http://schemas.openxmlformats.org/officeDocument/2006/relationships/image" Target="/ppt/media/image3.png" Id="Re33e58cc86b14ed1" /><Relationship Type="http://schemas.openxmlformats.org/officeDocument/2006/relationships/image" Target="/ppt/media/image4.png" Id="Rb9dfd7f127eb45a7" /><Relationship Type="http://schemas.openxmlformats.org/officeDocument/2006/relationships/image" Target="/ppt/media/image5.png" Id="R7b021c6e70d94ac2" /><Relationship Type="http://schemas.openxmlformats.org/officeDocument/2006/relationships/image" Target="/ppt/media/image6.png" Id="Rc27444f024f84aff" /><Relationship Type="http://schemas.openxmlformats.org/officeDocument/2006/relationships/notesSlide" Target="/ppt/notesSlides/notesSlide1.xml" Id="R580d6223f33d441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memory-band">
            <a:extLst xmlns:a="http://schemas.openxmlformats.org/drawingml/2006/main">
              <a:ext uri="{FF2B5EF4-FFF2-40B4-BE49-F238E27FC236}">
                <a16:creationId xmlns:a16="http://schemas.microsoft.com/office/drawing/2014/main" id="{EA7CFDBC-EB53-4BD9-A743-097CB458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76200"/>
            <a:ext cx="119634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9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query-band">
            <a:extLst xmlns:a="http://schemas.openxmlformats.org/drawingml/2006/main">
              <a:ext uri="{FF2B5EF4-FFF2-40B4-BE49-F238E27FC236}">
                <a16:creationId xmlns:a16="http://schemas.microsoft.com/office/drawing/2014/main" id="{6FA39FEC-9C46-424A-8A25-4811ACDF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3314700"/>
            <a:ext cx="119634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ntrol-band">
            <a:extLst xmlns:a="http://schemas.openxmlformats.org/drawingml/2006/main">
              <a:ext uri="{FF2B5EF4-FFF2-40B4-BE49-F238E27FC236}">
                <a16:creationId xmlns:a16="http://schemas.microsoft.com/office/drawing/2014/main" id="{038A3FE1-681D-4CE5-B7CE-BBF8FA26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7162800"/>
            <a:ext cx="119634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ection-a">
            <a:extLst xmlns:a="http://schemas.openxmlformats.org/drawingml/2006/main">
              <a:ext uri="{FF2B5EF4-FFF2-40B4-BE49-F238E27FC236}">
                <a16:creationId xmlns:a16="http://schemas.microsoft.com/office/drawing/2014/main" id="{CAD9B1DA-9821-4225-96D1-1F3337EA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171450"/>
            <a:ext cx="1123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0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(a) Construct the normal reference bank</a:t>
            </a:r>
          </a:p>
        </p:txBody>
      </p:sp>
      <p:pic>
        <p:nvPicPr>
          <p:cNvPr id="1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597c27cd2746c1"/>
          <a:stretch xmlns:a="http://schemas.openxmlformats.org/drawingml/2006/main"/>
        </p:blipFill>
        <p:spPr>
          <a:xfrm xmlns:a="http://schemas.openxmlformats.org/drawingml/2006/main">
            <a:off x="257175" y="857250"/>
            <a:ext cx="952500" cy="952500"/>
          </a:xfrm>
          <a:prstGeom xmlns:a="http://schemas.openxmlformats.org/drawingml/2006/main" prst="rect">
            <a:avLst/>
          </a:prstGeom>
        </p:spPr>
      </p:pic>
      <p:sp>
        <p:nvSpPr>
          <p:cNvPr id="6" name="support-border-0">
            <a:extLst xmlns:a="http://schemas.openxmlformats.org/drawingml/2006/main">
              <a:ext uri="{FF2B5EF4-FFF2-40B4-BE49-F238E27FC236}">
                <a16:creationId xmlns:a16="http://schemas.microsoft.com/office/drawing/2014/main" id="{F4C6511D-CC68-4803-AF29-94A4D1492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857250"/>
            <a:ext cx="95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94A5AE"/>
            </a:solidFill>
            <a:prstDash val="solid"/>
          </a:ln>
        </p:spPr>
      </p:sp>
      <p:pic>
        <p:nvPicPr>
          <p:cNvPr id="1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cf2e6e66bf408f"/>
          <a:stretch xmlns:a="http://schemas.openxmlformats.org/drawingml/2006/main"/>
        </p:blipFill>
        <p:spPr>
          <a:xfrm xmlns:a="http://schemas.openxmlformats.org/drawingml/2006/main">
            <a:off x="609600" y="1085850"/>
            <a:ext cx="952500" cy="952500"/>
          </a:xfrm>
          <a:prstGeom xmlns:a="http://schemas.openxmlformats.org/drawingml/2006/main" prst="rect">
            <a:avLst/>
          </a:prstGeom>
        </p:spPr>
      </p:pic>
      <p:sp>
        <p:nvSpPr>
          <p:cNvPr id="8" name="support-border-1">
            <a:extLst xmlns:a="http://schemas.openxmlformats.org/drawingml/2006/main">
              <a:ext uri="{FF2B5EF4-FFF2-40B4-BE49-F238E27FC236}">
                <a16:creationId xmlns:a16="http://schemas.microsoft.com/office/drawing/2014/main" id="{3C0DFE9F-DFF3-451F-A3A3-9FF061820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95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94A5AE"/>
            </a:solidFill>
            <a:prstDash val="solid"/>
          </a:ln>
        </p:spPr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3e58cc86b14ed1"/>
          <a:stretch xmlns:a="http://schemas.openxmlformats.org/drawingml/2006/main"/>
        </p:blipFill>
        <p:spPr>
          <a:xfrm xmlns:a="http://schemas.openxmlformats.org/drawingml/2006/main">
            <a:off x="962025" y="1314450"/>
            <a:ext cx="952500" cy="952500"/>
          </a:xfrm>
          <a:prstGeom xmlns:a="http://schemas.openxmlformats.org/drawingml/2006/main" prst="rect">
            <a:avLst/>
          </a:prstGeom>
        </p:spPr>
      </p:pic>
      <p:sp>
        <p:nvSpPr>
          <p:cNvPr id="10" name="support-border-2">
            <a:extLst xmlns:a="http://schemas.openxmlformats.org/drawingml/2006/main">
              <a:ext uri="{FF2B5EF4-FFF2-40B4-BE49-F238E27FC236}">
                <a16:creationId xmlns:a16="http://schemas.microsoft.com/office/drawing/2014/main" id="{DE8229F4-DD55-4D34-B388-5C6E3D3E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1314450"/>
            <a:ext cx="95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94A5AE"/>
            </a:solidFill>
            <a:prstDash val="solid"/>
          </a:ln>
        </p:spPr>
      </p:sp>
      <p:sp>
        <p:nvSpPr>
          <p:cNvPr id="11" name="support-set">
            <a:extLst xmlns:a="http://schemas.openxmlformats.org/drawingml/2006/main">
              <a:ext uri="{FF2B5EF4-FFF2-40B4-BE49-F238E27FC236}">
                <a16:creationId xmlns:a16="http://schemas.microsoft.com/office/drawing/2014/main" id="{1B0252CC-9E4D-42B7-B191-FE727A43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2333625"/>
            <a:ext cx="685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E2E38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1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50" b="0" i="1" baseline="30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c</a:t>
            </a:r>
          </a:p>
        </p:txBody>
      </p:sp>
      <p:sp>
        <p:nvSpPr>
          <p:cNvPr id="12" name="support-description">
            <a:extLst xmlns:a="http://schemas.openxmlformats.org/drawingml/2006/main">
              <a:ext uri="{FF2B5EF4-FFF2-40B4-BE49-F238E27FC236}">
                <a16:creationId xmlns:a16="http://schemas.microsoft.com/office/drawing/2014/main" id="{438C24B8-EA67-46AF-BAFB-41D1DBFA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38375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1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 normal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support images</a:t>
            </a:r>
          </a:p>
        </p:txBody>
      </p:sp>
      <p:sp>
        <p:nvSpPr>
          <p:cNvPr id="13" name="frozen-box">
            <a:extLst xmlns:a="http://schemas.openxmlformats.org/drawingml/2006/main">
              <a:ext uri="{FF2B5EF4-FFF2-40B4-BE49-F238E27FC236}">
                <a16:creationId xmlns:a16="http://schemas.microsoft.com/office/drawing/2014/main" id="{E830C5B8-4ABA-44BB-BB70-002D9898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762000"/>
            <a:ext cx="2724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94A5AE"/>
            </a:solidFill>
            <a:prstDash val="solid"/>
          </a:ln>
        </p:spPr>
      </p:sp>
      <p:sp>
        <p:nvSpPr>
          <p:cNvPr id="14" name="frozen-title">
            <a:extLst xmlns:a="http://schemas.openxmlformats.org/drawingml/2006/main">
              <a:ext uri="{FF2B5EF4-FFF2-40B4-BE49-F238E27FC236}">
                <a16:creationId xmlns:a16="http://schemas.microsoft.com/office/drawing/2014/main" id="{E8A594BC-57A9-4C07-BF15-0F287287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790575"/>
            <a:ext cx="2609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Frozen encoders</a:t>
            </a:r>
          </a:p>
        </p:txBody>
      </p:sp>
      <p:sp>
        <p:nvSpPr>
          <p:cNvPr id="15" name="branch-0">
            <a:extLst xmlns:a="http://schemas.openxmlformats.org/drawingml/2006/main">
              <a:ext uri="{FF2B5EF4-FFF2-40B4-BE49-F238E27FC236}">
                <a16:creationId xmlns:a16="http://schemas.microsoft.com/office/drawing/2014/main" id="{FCC0E9A6-1AD5-4D96-BB1C-986B0B10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209675"/>
            <a:ext cx="2590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F7"/>
          </a:solidFill>
          <a:ln xmlns:a="http://schemas.openxmlformats.org/drawingml/2006/main" w="14288">
            <a:solidFill>
              <a:srgbClr val="2E6F9E"/>
            </a:solidFill>
            <a:prstDash val="solid"/>
          </a:ln>
        </p:spPr>
      </p:sp>
      <p:sp>
        <p:nvSpPr>
          <p:cNvPr id="16" name="branch-label-0">
            <a:extLst xmlns:a="http://schemas.openxmlformats.org/drawingml/2006/main">
              <a:ext uri="{FF2B5EF4-FFF2-40B4-BE49-F238E27FC236}">
                <a16:creationId xmlns:a16="http://schemas.microsoft.com/office/drawing/2014/main" id="{6FF6D918-B94E-400D-8EB5-73EECC48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190625"/>
            <a:ext cx="2590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2E6F9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2E6F9E"/>
                </a:solidFill>
                <a:latin typeface="Times New Roman"/>
                <a:ea typeface="Times New Roman"/>
                <a:cs typeface="Times New Roman"/>
              </a:rPr>
              <a:t>DINOv2-B/14</a:t>
            </a:r>
          </a:p>
        </p:txBody>
      </p:sp>
      <p:sp>
        <p:nvSpPr>
          <p:cNvPr id="17" name="branch-1">
            <a:extLst xmlns:a="http://schemas.openxmlformats.org/drawingml/2006/main">
              <a:ext uri="{FF2B5EF4-FFF2-40B4-BE49-F238E27FC236}">
                <a16:creationId xmlns:a16="http://schemas.microsoft.com/office/drawing/2014/main" id="{94603AE1-E28F-4F61-AEB2-1BEB017D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543050"/>
            <a:ext cx="2590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CF"/>
          </a:solidFill>
          <a:ln xmlns:a="http://schemas.openxmlformats.org/drawingml/2006/main" w="14288">
            <a:solidFill>
              <a:srgbClr val="B27C20"/>
            </a:solidFill>
            <a:prstDash val="solid"/>
          </a:ln>
        </p:spPr>
      </p:sp>
      <p:sp>
        <p:nvSpPr>
          <p:cNvPr id="18" name="branch-label-1">
            <a:extLst xmlns:a="http://schemas.openxmlformats.org/drawingml/2006/main">
              <a:ext uri="{FF2B5EF4-FFF2-40B4-BE49-F238E27FC236}">
                <a16:creationId xmlns:a16="http://schemas.microsoft.com/office/drawing/2014/main" id="{C56503B5-7056-4A22-97C0-CA1A8AFD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524000"/>
            <a:ext cx="2590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B27C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B27C20"/>
                </a:solidFill>
                <a:latin typeface="Times New Roman"/>
                <a:ea typeface="Times New Roman"/>
                <a:cs typeface="Times New Roman"/>
              </a:rPr>
              <a:t>AnomalyCLIP visual</a:t>
            </a:r>
          </a:p>
        </p:txBody>
      </p:sp>
      <p:sp>
        <p:nvSpPr>
          <p:cNvPr id="19" name="branch-2">
            <a:extLst xmlns:a="http://schemas.openxmlformats.org/drawingml/2006/main">
              <a:ext uri="{FF2B5EF4-FFF2-40B4-BE49-F238E27FC236}">
                <a16:creationId xmlns:a16="http://schemas.microsoft.com/office/drawing/2014/main" id="{6C317382-0EBF-48C8-90CC-EDB2F09F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876425"/>
            <a:ext cx="2590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F0E8"/>
          </a:solidFill>
          <a:ln xmlns:a="http://schemas.openxmlformats.org/drawingml/2006/main" w="14288">
            <a:solidFill>
              <a:srgbClr val="3F7C5E"/>
            </a:solidFill>
            <a:prstDash val="solid"/>
          </a:ln>
        </p:spPr>
      </p:sp>
      <p:sp>
        <p:nvSpPr>
          <p:cNvPr id="20" name="branch-label-2">
            <a:extLst xmlns:a="http://schemas.openxmlformats.org/drawingml/2006/main">
              <a:ext uri="{FF2B5EF4-FFF2-40B4-BE49-F238E27FC236}">
                <a16:creationId xmlns:a16="http://schemas.microsoft.com/office/drawing/2014/main" id="{26D7A35E-9B84-4AC1-B573-F49FFEB8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857375"/>
            <a:ext cx="259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3F7C5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3F7C5E"/>
                </a:solidFill>
                <a:latin typeface="Times New Roman"/>
                <a:ea typeface="Times New Roman"/>
                <a:cs typeface="Times New Roman"/>
              </a:rPr>
              <a:t>DINOv2-S/14 or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3F7C5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3F7C5E"/>
                </a:solidFill>
                <a:latin typeface="Times New Roman"/>
                <a:ea typeface="Times New Roman"/>
                <a:cs typeface="Times New Roman"/>
              </a:rPr>
              <a:t>WideResNet50-2</a:t>
            </a:r>
          </a:p>
        </p:txBody>
      </p:sp>
      <p:sp>
        <p:nvSpPr>
          <p:cNvPr id="21" name="frozen-note">
            <a:extLst xmlns:a="http://schemas.openxmlformats.org/drawingml/2006/main">
              <a:ext uri="{FF2B5EF4-FFF2-40B4-BE49-F238E27FC236}">
                <a16:creationId xmlns:a16="http://schemas.microsoft.com/office/drawing/2014/main" id="{457E3AC8-EA5E-461D-A8CD-8D37C4B2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505075"/>
            <a:ext cx="2647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Replacement options</a:t>
            </a:r>
          </a:p>
        </p:txBody>
      </p:sp>
      <p:sp>
        <p:nvSpPr>
          <p:cNvPr id="22" name="anchor-0">
            <a:extLst xmlns:a="http://schemas.openxmlformats.org/drawingml/2006/main">
              <a:ext uri="{FF2B5EF4-FFF2-40B4-BE49-F238E27FC236}">
                <a16:creationId xmlns:a16="http://schemas.microsoft.com/office/drawing/2014/main" id="{A44D842F-50DC-4253-8863-70DC3CB3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5013" y="158591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anchor-1">
            <a:extLst xmlns:a="http://schemas.openxmlformats.org/drawingml/2006/main">
              <a:ext uri="{FF2B5EF4-FFF2-40B4-BE49-F238E27FC236}">
                <a16:creationId xmlns:a16="http://schemas.microsoft.com/office/drawing/2014/main" id="{4A680AB2-9175-405B-A2FF-9481F3CB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0788" y="158591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62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014538" y="1590676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E2E38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5" name="anchor-2">
            <a:extLst xmlns:a="http://schemas.openxmlformats.org/drawingml/2006/main">
              <a:ext uri="{FF2B5EF4-FFF2-40B4-BE49-F238E27FC236}">
                <a16:creationId xmlns:a16="http://schemas.microsoft.com/office/drawing/2014/main" id="{C79887E0-EB54-402C-84AB-2EA1DBE2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4038" y="158591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anchor-3">
            <a:extLst xmlns:a="http://schemas.openxmlformats.org/drawingml/2006/main">
              <a:ext uri="{FF2B5EF4-FFF2-40B4-BE49-F238E27FC236}">
                <a16:creationId xmlns:a16="http://schemas.microsoft.com/office/drawing/2014/main" id="{21F3B3F2-4E56-42B7-BC5E-17740103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938" y="158591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65" name=""/>
          <p:cNvCxnSpPr>
            <a:stCxn xmlns:a="http://schemas.openxmlformats.org/drawingml/2006/main" id="25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5643563" y="1590676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E2E38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8" name="alignment-box">
            <a:extLst xmlns:a="http://schemas.openxmlformats.org/drawingml/2006/main">
              <a:ext uri="{FF2B5EF4-FFF2-40B4-BE49-F238E27FC236}">
                <a16:creationId xmlns:a16="http://schemas.microsoft.com/office/drawing/2014/main" id="{5E0FB66F-6D99-4CBF-8ED4-9AF096B0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762000"/>
            <a:ext cx="21240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F3"/>
          </a:solidFill>
          <a:ln xmlns:a="http://schemas.openxmlformats.org/drawingml/2006/main" w="19050">
            <a:solidFill>
              <a:srgbClr val="4C7C86"/>
            </a:solidFill>
            <a:prstDash val="solid"/>
          </a:ln>
        </p:spPr>
      </p:sp>
      <p:sp>
        <p:nvSpPr>
          <p:cNvPr id="29" name="alignment-title">
            <a:extLst xmlns:a="http://schemas.openxmlformats.org/drawingml/2006/main">
              <a:ext uri="{FF2B5EF4-FFF2-40B4-BE49-F238E27FC236}">
                <a16:creationId xmlns:a16="http://schemas.microsoft.com/office/drawing/2014/main" id="{DE8944B0-A3E7-4A4B-9277-0C2F4276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809625"/>
            <a:ext cx="1905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Align grids</a:t>
            </a:r>
          </a:p>
        </p:txBody>
      </p:sp>
      <p:sp>
        <p:nvSpPr>
          <p:cNvPr id="30" name="feature-grid-0-0">
            <a:extLst xmlns:a="http://schemas.openxmlformats.org/drawingml/2006/main">
              <a:ext uri="{FF2B5EF4-FFF2-40B4-BE49-F238E27FC236}">
                <a16:creationId xmlns:a16="http://schemas.microsoft.com/office/drawing/2014/main" id="{032B3C95-8100-4A36-AAC7-ADE37668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295400"/>
            <a:ext cx="2190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7EA"/>
          </a:solidFill>
          <a:ln xmlns:a="http://schemas.openxmlformats.org/drawingml/2006/main" w="9525">
            <a:solidFill>
              <a:srgbClr val="4C7C86"/>
            </a:solidFill>
            <a:prstDash val="solid"/>
          </a:ln>
        </p:spPr>
      </p:sp>
      <p:sp>
        <p:nvSpPr>
          <p:cNvPr id="31" name="feature-grid-0-1">
            <a:extLst xmlns:a="http://schemas.openxmlformats.org/drawingml/2006/main">
              <a:ext uri="{FF2B5EF4-FFF2-40B4-BE49-F238E27FC236}">
                <a16:creationId xmlns:a16="http://schemas.microsoft.com/office/drawing/2014/main" id="{BE40A231-A492-443F-A016-966A60CC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295400"/>
            <a:ext cx="2190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7EA"/>
          </a:solidFill>
          <a:ln xmlns:a="http://schemas.openxmlformats.org/drawingml/2006/main" w="9525">
            <a:solidFill>
              <a:srgbClr val="4C7C86"/>
            </a:solidFill>
            <a:prstDash val="solid"/>
          </a:ln>
        </p:spPr>
      </p:sp>
      <p:sp>
        <p:nvSpPr>
          <p:cNvPr id="32" name="feature-grid-0-2">
            <a:extLst xmlns:a="http://schemas.openxmlformats.org/drawingml/2006/main">
              <a:ext uri="{FF2B5EF4-FFF2-40B4-BE49-F238E27FC236}">
                <a16:creationId xmlns:a16="http://schemas.microsoft.com/office/drawing/2014/main" id="{DE452F7F-9254-49C0-8C56-DE055DEC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1295400"/>
            <a:ext cx="2190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7EA"/>
          </a:solidFill>
          <a:ln xmlns:a="http://schemas.openxmlformats.org/drawingml/2006/main" w="9525">
            <a:solidFill>
              <a:srgbClr val="4C7C86"/>
            </a:solidFill>
            <a:prstDash val="solid"/>
          </a:ln>
        </p:spPr>
      </p:sp>
      <p:sp>
        <p:nvSpPr>
          <p:cNvPr id="33" name="feature-grid-1-0">
            <a:extLst xmlns:a="http://schemas.openxmlformats.org/drawingml/2006/main">
              <a:ext uri="{FF2B5EF4-FFF2-40B4-BE49-F238E27FC236}">
                <a16:creationId xmlns:a16="http://schemas.microsoft.com/office/drawing/2014/main" id="{0EAC9203-2247-4DBB-B310-65E80A45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533525"/>
            <a:ext cx="2190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7EA"/>
          </a:solidFill>
          <a:ln xmlns:a="http://schemas.openxmlformats.org/drawingml/2006/main" w="9525">
            <a:solidFill>
              <a:srgbClr val="4C7C86"/>
            </a:solidFill>
            <a:prstDash val="solid"/>
          </a:ln>
        </p:spPr>
      </p:sp>
      <p:sp>
        <p:nvSpPr>
          <p:cNvPr id="34" name="feature-grid-1-1">
            <a:extLst xmlns:a="http://schemas.openxmlformats.org/drawingml/2006/main">
              <a:ext uri="{FF2B5EF4-FFF2-40B4-BE49-F238E27FC236}">
                <a16:creationId xmlns:a16="http://schemas.microsoft.com/office/drawing/2014/main" id="{061BCEEE-AD4A-4A37-8714-82E11F5F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533525"/>
            <a:ext cx="2190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7EA"/>
          </a:solidFill>
          <a:ln xmlns:a="http://schemas.openxmlformats.org/drawingml/2006/main" w="9525">
            <a:solidFill>
              <a:srgbClr val="4C7C86"/>
            </a:solidFill>
            <a:prstDash val="solid"/>
          </a:ln>
        </p:spPr>
      </p:sp>
      <p:sp>
        <p:nvSpPr>
          <p:cNvPr id="35" name="feature-grid-1-2">
            <a:extLst xmlns:a="http://schemas.openxmlformats.org/drawingml/2006/main">
              <a:ext uri="{FF2B5EF4-FFF2-40B4-BE49-F238E27FC236}">
                <a16:creationId xmlns:a16="http://schemas.microsoft.com/office/drawing/2014/main" id="{825B063D-7728-4B89-81D4-B5BE27F7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1533525"/>
            <a:ext cx="2190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7EA"/>
          </a:solidFill>
          <a:ln xmlns:a="http://schemas.openxmlformats.org/drawingml/2006/main" w="9525">
            <a:solidFill>
              <a:srgbClr val="4C7C86"/>
            </a:solidFill>
            <a:prstDash val="solid"/>
          </a:ln>
        </p:spPr>
      </p:sp>
      <p:sp>
        <p:nvSpPr>
          <p:cNvPr id="36" name="feature-grid-2-0">
            <a:extLst xmlns:a="http://schemas.openxmlformats.org/drawingml/2006/main">
              <a:ext uri="{FF2B5EF4-FFF2-40B4-BE49-F238E27FC236}">
                <a16:creationId xmlns:a16="http://schemas.microsoft.com/office/drawing/2014/main" id="{EF66CC18-C6BB-4972-9201-DD93F316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771650"/>
            <a:ext cx="2190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7EA"/>
          </a:solidFill>
          <a:ln xmlns:a="http://schemas.openxmlformats.org/drawingml/2006/main" w="9525">
            <a:solidFill>
              <a:srgbClr val="4C7C86"/>
            </a:solidFill>
            <a:prstDash val="solid"/>
          </a:ln>
        </p:spPr>
      </p:sp>
      <p:sp>
        <p:nvSpPr>
          <p:cNvPr id="37" name="feature-grid-2-1">
            <a:extLst xmlns:a="http://schemas.openxmlformats.org/drawingml/2006/main">
              <a:ext uri="{FF2B5EF4-FFF2-40B4-BE49-F238E27FC236}">
                <a16:creationId xmlns:a16="http://schemas.microsoft.com/office/drawing/2014/main" id="{EFEB1B1E-ED57-4E3B-85BB-CE1EAB9A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71650"/>
            <a:ext cx="2190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7EA"/>
          </a:solidFill>
          <a:ln xmlns:a="http://schemas.openxmlformats.org/drawingml/2006/main" w="9525">
            <a:solidFill>
              <a:srgbClr val="4C7C86"/>
            </a:solidFill>
            <a:prstDash val="solid"/>
          </a:ln>
        </p:spPr>
      </p:sp>
      <p:sp>
        <p:nvSpPr>
          <p:cNvPr id="38" name="feature-grid-2-2">
            <a:extLst xmlns:a="http://schemas.openxmlformats.org/drawingml/2006/main">
              <a:ext uri="{FF2B5EF4-FFF2-40B4-BE49-F238E27FC236}">
                <a16:creationId xmlns:a16="http://schemas.microsoft.com/office/drawing/2014/main" id="{BFF3212E-D979-47E0-B814-3717CA45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1771650"/>
            <a:ext cx="2190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7EA"/>
          </a:solidFill>
          <a:ln xmlns:a="http://schemas.openxmlformats.org/drawingml/2006/main" w="9525">
            <a:solidFill>
              <a:srgbClr val="4C7C86"/>
            </a:solidFill>
            <a:prstDash val="solid"/>
          </a:ln>
        </p:spPr>
      </p:sp>
      <p:sp>
        <p:nvSpPr>
          <p:cNvPr id="39" name="unit-norm">
            <a:extLst xmlns:a="http://schemas.openxmlformats.org/drawingml/2006/main">
              <a:ext uri="{FF2B5EF4-FFF2-40B4-BE49-F238E27FC236}">
                <a16:creationId xmlns:a16="http://schemas.microsoft.com/office/drawing/2014/main" id="{3BE778F9-EF7C-4DA4-820E-D28EFD01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409700"/>
            <a:ext cx="104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E2E38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ℓ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unit</a:t>
            </a:r>
          </a:p>
        </p:txBody>
      </p:sp>
      <p:sp>
        <p:nvSpPr>
          <p:cNvPr id="40" name="aligned-note">
            <a:extLst xmlns:a="http://schemas.openxmlformats.org/drawingml/2006/main">
              <a:ext uri="{FF2B5EF4-FFF2-40B4-BE49-F238E27FC236}">
                <a16:creationId xmlns:a16="http://schemas.microsoft.com/office/drawing/2014/main" id="{F13F5F91-F554-4382-A943-18A003FA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505075"/>
            <a:ext cx="2400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Unit descriptors</a:t>
            </a:r>
          </a:p>
        </p:txBody>
      </p:sp>
      <p:sp>
        <p:nvSpPr>
          <p:cNvPr id="41" name="anchor-4">
            <a:extLst xmlns:a="http://schemas.openxmlformats.org/drawingml/2006/main">
              <a:ext uri="{FF2B5EF4-FFF2-40B4-BE49-F238E27FC236}">
                <a16:creationId xmlns:a16="http://schemas.microsoft.com/office/drawing/2014/main" id="{0E451D02-52C2-40AA-B6A0-D74EF497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4363" y="158591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anchor-5">
            <a:extLst xmlns:a="http://schemas.openxmlformats.org/drawingml/2006/main">
              <a:ext uri="{FF2B5EF4-FFF2-40B4-BE49-F238E27FC236}">
                <a16:creationId xmlns:a16="http://schemas.microsoft.com/office/drawing/2014/main" id="{58186DF2-E943-4537-91F8-23595F78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9638" y="158591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81" name="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8243888" y="1590676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E2E38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44" name="bank-box">
            <a:extLst xmlns:a="http://schemas.openxmlformats.org/drawingml/2006/main">
              <a:ext uri="{FF2B5EF4-FFF2-40B4-BE49-F238E27FC236}">
                <a16:creationId xmlns:a16="http://schemas.microsoft.com/office/drawing/2014/main" id="{DA3C5380-B4B8-4469-8190-4B4CA9668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762000"/>
            <a:ext cx="3333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19050">
            <a:solidFill>
              <a:srgbClr val="5C7386"/>
            </a:solidFill>
            <a:prstDash val="solid"/>
          </a:ln>
        </p:spPr>
      </p:sp>
      <p:sp>
        <p:nvSpPr>
          <p:cNvPr id="45" name="bank-title">
            <a:extLst xmlns:a="http://schemas.openxmlformats.org/drawingml/2006/main">
              <a:ext uri="{FF2B5EF4-FFF2-40B4-BE49-F238E27FC236}">
                <a16:creationId xmlns:a16="http://schemas.microsoft.com/office/drawing/2014/main" id="{672B821A-7B34-4275-8412-59CB1819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800100"/>
            <a:ext cx="31623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Fixed reference bank</a:t>
            </a:r>
          </a:p>
        </p:txBody>
      </p:sp>
      <p:sp>
        <p:nvSpPr>
          <p:cNvPr id="46" name="bank-0-0">
            <a:extLst xmlns:a="http://schemas.openxmlformats.org/drawingml/2006/main">
              <a:ext uri="{FF2B5EF4-FFF2-40B4-BE49-F238E27FC236}">
                <a16:creationId xmlns:a16="http://schemas.microsoft.com/office/drawing/2014/main" id="{EF4E5B0D-BC47-41D9-885F-BE1F9891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32397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47" name="bank-0-1">
            <a:extLst xmlns:a="http://schemas.openxmlformats.org/drawingml/2006/main">
              <a:ext uri="{FF2B5EF4-FFF2-40B4-BE49-F238E27FC236}">
                <a16:creationId xmlns:a16="http://schemas.microsoft.com/office/drawing/2014/main" id="{E036071A-752C-403F-BB0C-2001A682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32397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48" name="bank-0-2">
            <a:extLst xmlns:a="http://schemas.openxmlformats.org/drawingml/2006/main">
              <a:ext uri="{FF2B5EF4-FFF2-40B4-BE49-F238E27FC236}">
                <a16:creationId xmlns:a16="http://schemas.microsoft.com/office/drawing/2014/main" id="{B19B8946-B0ED-43D2-B17D-4C77488E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32397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49" name="bank-0-3">
            <a:extLst xmlns:a="http://schemas.openxmlformats.org/drawingml/2006/main">
              <a:ext uri="{FF2B5EF4-FFF2-40B4-BE49-F238E27FC236}">
                <a16:creationId xmlns:a16="http://schemas.microsoft.com/office/drawing/2014/main" id="{3854C60E-3269-42CE-BA5A-EAED2EC2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2397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50" name="bank-0-4">
            <a:extLst xmlns:a="http://schemas.openxmlformats.org/drawingml/2006/main">
              <a:ext uri="{FF2B5EF4-FFF2-40B4-BE49-F238E27FC236}">
                <a16:creationId xmlns:a16="http://schemas.microsoft.com/office/drawing/2014/main" id="{82E1FF43-B916-45F8-9D62-80FFE681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32397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51" name="bank-0-5">
            <a:extLst xmlns:a="http://schemas.openxmlformats.org/drawingml/2006/main">
              <a:ext uri="{FF2B5EF4-FFF2-40B4-BE49-F238E27FC236}">
                <a16:creationId xmlns:a16="http://schemas.microsoft.com/office/drawing/2014/main" id="{F9969385-C699-41AD-B61C-CCCC590D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32397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52" name="bank-0-6">
            <a:extLst xmlns:a="http://schemas.openxmlformats.org/drawingml/2006/main">
              <a:ext uri="{FF2B5EF4-FFF2-40B4-BE49-F238E27FC236}">
                <a16:creationId xmlns:a16="http://schemas.microsoft.com/office/drawing/2014/main" id="{C82E01D7-8FD1-4836-AF30-2A10CDF6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132397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53" name="bank-0-7">
            <a:extLst xmlns:a="http://schemas.openxmlformats.org/drawingml/2006/main">
              <a:ext uri="{FF2B5EF4-FFF2-40B4-BE49-F238E27FC236}">
                <a16:creationId xmlns:a16="http://schemas.microsoft.com/office/drawing/2014/main" id="{C8C2C29C-B7A7-4890-AEFA-CE7A0DC0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132397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54" name="bank-1-0">
            <a:extLst xmlns:a="http://schemas.openxmlformats.org/drawingml/2006/main">
              <a:ext uri="{FF2B5EF4-FFF2-40B4-BE49-F238E27FC236}">
                <a16:creationId xmlns:a16="http://schemas.microsoft.com/office/drawing/2014/main" id="{C042AE2C-D7A9-480C-81CE-43811B24C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581150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55" name="bank-1-1">
            <a:extLst xmlns:a="http://schemas.openxmlformats.org/drawingml/2006/main">
              <a:ext uri="{FF2B5EF4-FFF2-40B4-BE49-F238E27FC236}">
                <a16:creationId xmlns:a16="http://schemas.microsoft.com/office/drawing/2014/main" id="{A75CB5E1-0E09-42CC-8286-25D0874B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581150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56" name="bank-1-2">
            <a:extLst xmlns:a="http://schemas.openxmlformats.org/drawingml/2006/main">
              <a:ext uri="{FF2B5EF4-FFF2-40B4-BE49-F238E27FC236}">
                <a16:creationId xmlns:a16="http://schemas.microsoft.com/office/drawing/2014/main" id="{FFFD28DF-B481-4767-84B3-260F428D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581150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57" name="bank-1-3">
            <a:extLst xmlns:a="http://schemas.openxmlformats.org/drawingml/2006/main">
              <a:ext uri="{FF2B5EF4-FFF2-40B4-BE49-F238E27FC236}">
                <a16:creationId xmlns:a16="http://schemas.microsoft.com/office/drawing/2014/main" id="{8916750D-CDC1-42F1-8902-F2D9A67A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581150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58" name="bank-1-4">
            <a:extLst xmlns:a="http://schemas.openxmlformats.org/drawingml/2006/main">
              <a:ext uri="{FF2B5EF4-FFF2-40B4-BE49-F238E27FC236}">
                <a16:creationId xmlns:a16="http://schemas.microsoft.com/office/drawing/2014/main" id="{C8C4094D-333F-4E20-86F2-F796A1D3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581150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59" name="bank-1-5">
            <a:extLst xmlns:a="http://schemas.openxmlformats.org/drawingml/2006/main">
              <a:ext uri="{FF2B5EF4-FFF2-40B4-BE49-F238E27FC236}">
                <a16:creationId xmlns:a16="http://schemas.microsoft.com/office/drawing/2014/main" id="{ECFC20E3-C1E4-48C9-8D4A-8E08C7A7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581150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60" name="bank-1-6">
            <a:extLst xmlns:a="http://schemas.openxmlformats.org/drawingml/2006/main">
              <a:ext uri="{FF2B5EF4-FFF2-40B4-BE49-F238E27FC236}">
                <a16:creationId xmlns:a16="http://schemas.microsoft.com/office/drawing/2014/main" id="{FC64F053-4A28-4DDB-9D75-A9E8103D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1581150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61" name="bank-1-7">
            <a:extLst xmlns:a="http://schemas.openxmlformats.org/drawingml/2006/main">
              <a:ext uri="{FF2B5EF4-FFF2-40B4-BE49-F238E27FC236}">
                <a16:creationId xmlns:a16="http://schemas.microsoft.com/office/drawing/2014/main" id="{031405AE-5AA0-423A-A656-65FE6073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1581150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62" name="bank-2-0">
            <a:extLst xmlns:a="http://schemas.openxmlformats.org/drawingml/2006/main">
              <a:ext uri="{FF2B5EF4-FFF2-40B4-BE49-F238E27FC236}">
                <a16:creationId xmlns:a16="http://schemas.microsoft.com/office/drawing/2014/main" id="{2A68403A-2377-4743-BCBA-B20D26CC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83832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63" name="bank-2-1">
            <a:extLst xmlns:a="http://schemas.openxmlformats.org/drawingml/2006/main">
              <a:ext uri="{FF2B5EF4-FFF2-40B4-BE49-F238E27FC236}">
                <a16:creationId xmlns:a16="http://schemas.microsoft.com/office/drawing/2014/main" id="{59771C49-9259-4BCC-91D0-76F3FB20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83832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64" name="bank-2-2">
            <a:extLst xmlns:a="http://schemas.openxmlformats.org/drawingml/2006/main">
              <a:ext uri="{FF2B5EF4-FFF2-40B4-BE49-F238E27FC236}">
                <a16:creationId xmlns:a16="http://schemas.microsoft.com/office/drawing/2014/main" id="{3C4E2EDC-2F46-4C71-B077-30FFA30A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83832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65" name="bank-2-3">
            <a:extLst xmlns:a="http://schemas.openxmlformats.org/drawingml/2006/main">
              <a:ext uri="{FF2B5EF4-FFF2-40B4-BE49-F238E27FC236}">
                <a16:creationId xmlns:a16="http://schemas.microsoft.com/office/drawing/2014/main" id="{3E85D94B-27A8-4ACA-A405-2C0BF5B7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83832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66" name="bank-2-4">
            <a:extLst xmlns:a="http://schemas.openxmlformats.org/drawingml/2006/main">
              <a:ext uri="{FF2B5EF4-FFF2-40B4-BE49-F238E27FC236}">
                <a16:creationId xmlns:a16="http://schemas.microsoft.com/office/drawing/2014/main" id="{FE6EC504-BA03-4EF8-BF04-6816BD84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83832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67" name="bank-2-5">
            <a:extLst xmlns:a="http://schemas.openxmlformats.org/drawingml/2006/main">
              <a:ext uri="{FF2B5EF4-FFF2-40B4-BE49-F238E27FC236}">
                <a16:creationId xmlns:a16="http://schemas.microsoft.com/office/drawing/2014/main" id="{569C3325-DB0B-45B9-855A-C70DC9D0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83832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68" name="bank-2-6">
            <a:extLst xmlns:a="http://schemas.openxmlformats.org/drawingml/2006/main">
              <a:ext uri="{FF2B5EF4-FFF2-40B4-BE49-F238E27FC236}">
                <a16:creationId xmlns:a16="http://schemas.microsoft.com/office/drawing/2014/main" id="{1E037571-7EB6-479E-90F7-F420ECBFF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183832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69" name="bank-2-7">
            <a:extLst xmlns:a="http://schemas.openxmlformats.org/drawingml/2006/main">
              <a:ext uri="{FF2B5EF4-FFF2-40B4-BE49-F238E27FC236}">
                <a16:creationId xmlns:a16="http://schemas.microsoft.com/office/drawing/2014/main" id="{91C64F6E-2A30-4DF3-B26C-CF4B627B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1838325"/>
            <a:ext cx="3524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2"/>
          </a:solidFill>
          <a:ln xmlns:a="http://schemas.openxmlformats.org/drawingml/2006/main" w="9525">
            <a:solidFill>
              <a:srgbClr val="5C7386"/>
            </a:solidFill>
            <a:prstDash val="solid"/>
          </a:ln>
        </p:spPr>
      </p:sp>
      <p:sp>
        <p:nvSpPr>
          <p:cNvPr id="70" name="bank-accent">
            <a:extLst xmlns:a="http://schemas.openxmlformats.org/drawingml/2006/main">
              <a:ext uri="{FF2B5EF4-FFF2-40B4-BE49-F238E27FC236}">
                <a16:creationId xmlns:a16="http://schemas.microsoft.com/office/drawing/2014/main" id="{AA9E15B9-9309-44D0-82A5-BDCC82FC4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62100"/>
            <a:ext cx="2981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2E6F9E"/>
            </a:solidFill>
            <a:prstDash val="solid"/>
          </a:ln>
        </p:spPr>
      </p:sp>
      <p:sp>
        <p:nvSpPr>
          <p:cNvPr id="71" name="candidate-set">
            <a:extLst xmlns:a="http://schemas.openxmlformats.org/drawingml/2006/main">
              <a:ext uri="{FF2B5EF4-FFF2-40B4-BE49-F238E27FC236}">
                <a16:creationId xmlns:a16="http://schemas.microsoft.com/office/drawing/2014/main" id="{103D1E49-B06D-4AE1-8753-FB9B94B7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505075"/>
            <a:ext cx="13620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2E6F9E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1">
                <a:solidFill>
                  <a:srgbClr val="2E6F9E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250" b="0" i="0">
                <a:solidFill>
                  <a:srgbClr val="2E6F9E"/>
                </a:solidFill>
                <a:latin typeface="Cambria Math"/>
                <a:ea typeface="Cambria Math"/>
                <a:cs typeface="Cambria Math"/>
              </a:rPr>
              <a:t> ∈ ℛ</a:t>
            </a:r>
            <a:r>
              <a:rPr sz="2250" b="0" i="1" baseline="-25000">
                <a:solidFill>
                  <a:srgbClr val="2E6F9E"/>
                </a:solidFill>
                <a:latin typeface="Cambria Math"/>
                <a:ea typeface="Cambria Math"/>
                <a:cs typeface="Cambria Math"/>
              </a:rPr>
              <a:t>c</a:t>
            </a:r>
          </a:p>
        </p:txBody>
      </p:sp>
      <p:sp>
        <p:nvSpPr>
          <p:cNvPr id="72" name="bank-note">
            <a:extLst xmlns:a="http://schemas.openxmlformats.org/drawingml/2006/main">
              <a:ext uri="{FF2B5EF4-FFF2-40B4-BE49-F238E27FC236}">
                <a16:creationId xmlns:a16="http://schemas.microsoft.com/office/drawing/2014/main" id="{97A9983F-25C1-4C25-ACF5-C102541B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505075"/>
            <a:ext cx="1752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All patches</a:t>
            </a:r>
          </a:p>
        </p:txBody>
      </p:sp>
      <p:sp>
        <p:nvSpPr>
          <p:cNvPr id="73" name="anchor-6">
            <a:extLst xmlns:a="http://schemas.openxmlformats.org/drawingml/2006/main">
              <a:ext uri="{FF2B5EF4-FFF2-40B4-BE49-F238E27FC236}">
                <a16:creationId xmlns:a16="http://schemas.microsoft.com/office/drawing/2014/main" id="{EA35ABC2-ECCF-414A-948D-68956753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6213" y="2852738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4" name="anchor-7">
            <a:extLst xmlns:a="http://schemas.openxmlformats.org/drawingml/2006/main">
              <a:ext uri="{FF2B5EF4-FFF2-40B4-BE49-F238E27FC236}">
                <a16:creationId xmlns:a16="http://schemas.microsoft.com/office/drawing/2014/main" id="{ED41E342-6779-4657-8374-D3948365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6213" y="309086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13" name=""/>
          <p:cNvCxnSpPr>
            <a:stCxn xmlns:a="http://schemas.openxmlformats.org/drawingml/2006/main" id="73" idx="2"/>
            <a:endCxn xmlns:a="http://schemas.openxmlformats.org/drawingml/2006/main" id="74" idx="0"/>
          </p:cNvCxnSpPr>
          <p:nvPr/>
        </p:nvCxnSpPr>
        <p:spPr>
          <a:xfrm xmlns:a="http://schemas.openxmlformats.org/drawingml/2006/main">
            <a:off x="11610976" y="2862263"/>
            <a:ext cx="0" cy="22860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5C7386"/>
            </a:solidFill>
            <a:prstDash val="dash"/>
            <a:headEnd type="none" w="med" len="med"/>
            <a:tailEnd type="none" w="med" len="med"/>
          </a:ln>
        </p:spPr>
      </p:cxnSp>
      <p:sp>
        <p:nvSpPr>
          <p:cNvPr id="76" name="anchor-8">
            <a:extLst xmlns:a="http://schemas.openxmlformats.org/drawingml/2006/main">
              <a:ext uri="{FF2B5EF4-FFF2-40B4-BE49-F238E27FC236}">
                <a16:creationId xmlns:a16="http://schemas.microsoft.com/office/drawing/2014/main" id="{4109B7C3-31FF-487B-9DAC-53F2511C7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6213" y="309086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7" name="anchor-9">
            <a:extLst xmlns:a="http://schemas.openxmlformats.org/drawingml/2006/main">
              <a:ext uri="{FF2B5EF4-FFF2-40B4-BE49-F238E27FC236}">
                <a16:creationId xmlns:a16="http://schemas.microsoft.com/office/drawing/2014/main" id="{091F7D70-568A-4313-8317-635F9FBA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338" y="309086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16" name=""/>
          <p:cNvCxnSpPr>
            <a:stCxn xmlns:a="http://schemas.openxmlformats.org/drawingml/2006/main" id="76" idx="1"/>
            <a:endCxn xmlns:a="http://schemas.openxmlformats.org/drawingml/2006/main" id="77" idx="3"/>
          </p:cNvCxnSpPr>
          <p:nvPr/>
        </p:nvCxnSpPr>
        <p:spPr>
          <a:xfrm xmlns:a="http://schemas.openxmlformats.org/drawingml/2006/main" flipH="1">
            <a:off x="8043863" y="3095626"/>
            <a:ext cx="356235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5C7386"/>
            </a:solidFill>
            <a:prstDash val="dash"/>
            <a:headEnd type="none" w="med" len="med"/>
            <a:tailEnd type="none" w="med" len="med"/>
          </a:ln>
        </p:spPr>
      </p:cxnSp>
      <p:sp>
        <p:nvSpPr>
          <p:cNvPr id="79" name="anchor-10">
            <a:extLst xmlns:a="http://schemas.openxmlformats.org/drawingml/2006/main">
              <a:ext uri="{FF2B5EF4-FFF2-40B4-BE49-F238E27FC236}">
                <a16:creationId xmlns:a16="http://schemas.microsoft.com/office/drawing/2014/main" id="{26382462-C98B-4870-8BF9-4F4B835F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338" y="309086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0" name="anchor-11">
            <a:extLst xmlns:a="http://schemas.openxmlformats.org/drawingml/2006/main">
              <a:ext uri="{FF2B5EF4-FFF2-40B4-BE49-F238E27FC236}">
                <a16:creationId xmlns:a16="http://schemas.microsoft.com/office/drawing/2014/main" id="{38504AFC-4403-48C3-866A-E8319514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338" y="3938588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19" name=""/>
          <p:cNvCxnSpPr>
            <a:stCxn xmlns:a="http://schemas.openxmlformats.org/drawingml/2006/main" id="79" idx="2"/>
            <a:endCxn xmlns:a="http://schemas.openxmlformats.org/drawingml/2006/main" id="80" idx="0"/>
          </p:cNvCxnSpPr>
          <p:nvPr/>
        </p:nvCxnSpPr>
        <p:spPr>
          <a:xfrm xmlns:a="http://schemas.openxmlformats.org/drawingml/2006/main">
            <a:off x="8039101" y="3100388"/>
            <a:ext cx="0" cy="83820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5C7386"/>
            </a:solidFill>
            <a:prstDash val="dash"/>
            <a:headEnd type="none" w="med" len="med"/>
            <a:tailEnd type="triangle" w="med" len="med"/>
          </a:ln>
        </p:spPr>
      </p:cxnSp>
      <p:sp>
        <p:nvSpPr>
          <p:cNvPr id="82" name="read-only">
            <a:extLst xmlns:a="http://schemas.openxmlformats.org/drawingml/2006/main">
              <a:ext uri="{FF2B5EF4-FFF2-40B4-BE49-F238E27FC236}">
                <a16:creationId xmlns:a16="http://schemas.microsoft.com/office/drawing/2014/main" id="{44E5DBF9-7E61-4DF0-AA6D-EA161608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8289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>
                <a:solidFill>
                  <a:srgbClr val="5C73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5C7386"/>
                </a:solidFill>
                <a:latin typeface="Times New Roman"/>
                <a:ea typeface="Times New Roman"/>
                <a:cs typeface="Times New Roman"/>
              </a:rPr>
              <a:t>Read only</a:t>
            </a:r>
          </a:p>
        </p:txBody>
      </p:sp>
      <p:sp>
        <p:nvSpPr>
          <p:cNvPr id="83" name="section-b">
            <a:extLst xmlns:a="http://schemas.openxmlformats.org/drawingml/2006/main">
              <a:ext uri="{FF2B5EF4-FFF2-40B4-BE49-F238E27FC236}">
                <a16:creationId xmlns:a16="http://schemas.microsoft.com/office/drawing/2014/main" id="{CDA86B7A-5758-45FA-9262-58F7AAE9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3409950"/>
            <a:ext cx="1123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0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(b) Score the query using the fixed bank</a:t>
            </a:r>
          </a:p>
        </p:txBody>
      </p:sp>
      <p:pic>
        <p:nvPicPr>
          <p:cNvPr id="2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dfd7f127eb45a7"/>
          <a:stretch xmlns:a="http://schemas.openxmlformats.org/drawingml/2006/main"/>
        </p:blipFill>
        <p:spPr>
          <a:xfrm xmlns:a="http://schemas.openxmlformats.org/drawingml/2006/main">
            <a:off x="266700" y="4124325"/>
            <a:ext cx="1428750" cy="1428750"/>
          </a:xfrm>
          <a:prstGeom xmlns:a="http://schemas.openxmlformats.org/drawingml/2006/main" prst="rect">
            <a:avLst/>
          </a:prstGeom>
        </p:spPr>
      </p:pic>
      <p:sp>
        <p:nvSpPr>
          <p:cNvPr id="85" name="query-frame">
            <a:extLst xmlns:a="http://schemas.openxmlformats.org/drawingml/2006/main">
              <a:ext uri="{FF2B5EF4-FFF2-40B4-BE49-F238E27FC236}">
                <a16:creationId xmlns:a16="http://schemas.microsoft.com/office/drawing/2014/main" id="{8AC57754-46F0-466E-94A8-BF791569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4124325"/>
            <a:ext cx="1428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94A5AE"/>
            </a:solidFill>
            <a:prstDash val="solid"/>
          </a:ln>
        </p:spPr>
      </p:sp>
      <p:sp>
        <p:nvSpPr>
          <p:cNvPr id="86" name="query-input">
            <a:extLst xmlns:a="http://schemas.openxmlformats.org/drawingml/2006/main">
              <a:ext uri="{FF2B5EF4-FFF2-40B4-BE49-F238E27FC236}">
                <a16:creationId xmlns:a16="http://schemas.microsoft.com/office/drawing/2014/main" id="{E1F48D77-B932-4EA1-98FE-F1875055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5657850"/>
            <a:ext cx="1504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E2E38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Query </a:t>
            </a:r>
            <a:r>
              <a:rPr sz="2250" b="1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x</a:t>
            </a:r>
          </a:p>
        </p:txBody>
      </p:sp>
      <p:sp>
        <p:nvSpPr>
          <p:cNvPr id="87" name="anchor-12">
            <a:extLst xmlns:a="http://schemas.openxmlformats.org/drawingml/2006/main">
              <a:ext uri="{FF2B5EF4-FFF2-40B4-BE49-F238E27FC236}">
                <a16:creationId xmlns:a16="http://schemas.microsoft.com/office/drawing/2014/main" id="{83CAF04E-2D3A-4864-9AAF-193D4385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313" y="484346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8" name="anchor-13">
            <a:extLst xmlns:a="http://schemas.openxmlformats.org/drawingml/2006/main">
              <a:ext uri="{FF2B5EF4-FFF2-40B4-BE49-F238E27FC236}">
                <a16:creationId xmlns:a16="http://schemas.microsoft.com/office/drawing/2014/main" id="{542DA637-3082-4001-9607-84991216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4063" y="484346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27" name=""/>
          <p:cNvCxnSpPr>
            <a:stCxn xmlns:a="http://schemas.openxmlformats.org/drawingml/2006/main" id="87" idx="3"/>
            <a:endCxn xmlns:a="http://schemas.openxmlformats.org/drawingml/2006/main" id="88" idx="1"/>
          </p:cNvCxnSpPr>
          <p:nvPr/>
        </p:nvCxnSpPr>
        <p:spPr>
          <a:xfrm xmlns:a="http://schemas.openxmlformats.org/drawingml/2006/main">
            <a:off x="1747838" y="4848226"/>
            <a:ext cx="27622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E2E38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90" name="query-encoder-path">
            <a:extLst xmlns:a="http://schemas.openxmlformats.org/drawingml/2006/main">
              <a:ext uri="{FF2B5EF4-FFF2-40B4-BE49-F238E27FC236}">
                <a16:creationId xmlns:a16="http://schemas.microsoft.com/office/drawing/2014/main" id="{E7ECF79F-A2E6-4B4E-8536-FB470ADC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171950"/>
            <a:ext cx="1885950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94A5AE"/>
            </a:solidFill>
            <a:prstDash val="solid"/>
          </a:ln>
        </p:spPr>
      </p:sp>
      <p:sp>
        <p:nvSpPr>
          <p:cNvPr id="91" name="query-path-title">
            <a:extLst xmlns:a="http://schemas.openxmlformats.org/drawingml/2006/main">
              <a:ext uri="{FF2B5EF4-FFF2-40B4-BE49-F238E27FC236}">
                <a16:creationId xmlns:a16="http://schemas.microsoft.com/office/drawing/2014/main" id="{82B40163-5E1B-4619-B56C-00188622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238625"/>
            <a:ext cx="17716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Same frozen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feature path</a:t>
            </a:r>
          </a:p>
        </p:txBody>
      </p:sp>
      <p:sp>
        <p:nvSpPr>
          <p:cNvPr id="92" name="query-path-steps">
            <a:extLst xmlns:a="http://schemas.openxmlformats.org/drawingml/2006/main">
              <a:ext uri="{FF2B5EF4-FFF2-40B4-BE49-F238E27FC236}">
                <a16:creationId xmlns:a16="http://schemas.microsoft.com/office/drawing/2014/main" id="{753F26D2-DB52-4DFD-BAEF-0D51F2D7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529263"/>
            <a:ext cx="205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Align + normalize</a:t>
            </a:r>
          </a:p>
        </p:txBody>
      </p:sp>
      <p:sp>
        <p:nvSpPr>
          <p:cNvPr id="93" name="query-grid-0-0">
            <a:extLst xmlns:a="http://schemas.openxmlformats.org/drawingml/2006/main">
              <a:ext uri="{FF2B5EF4-FFF2-40B4-BE49-F238E27FC236}">
                <a16:creationId xmlns:a16="http://schemas.microsoft.com/office/drawing/2014/main" id="{F3FCE6FF-4499-4ABF-87D4-E5141F87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105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F3"/>
          </a:solidFill>
          <a:ln xmlns:a="http://schemas.openxmlformats.org/drawingml/2006/main" w="9525">
            <a:solidFill>
              <a:srgbClr val="4C7C86"/>
            </a:solidFill>
            <a:prstDash val="solid"/>
          </a:ln>
        </p:spPr>
      </p:sp>
      <p:sp>
        <p:nvSpPr>
          <p:cNvPr id="94" name="query-grid-0-1">
            <a:extLst xmlns:a="http://schemas.openxmlformats.org/drawingml/2006/main">
              <a:ext uri="{FF2B5EF4-FFF2-40B4-BE49-F238E27FC236}">
                <a16:creationId xmlns:a16="http://schemas.microsoft.com/office/drawing/2014/main" id="{1B90CC90-4CA2-453F-8720-8F1F30B0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105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F3"/>
          </a:solidFill>
          <a:ln xmlns:a="http://schemas.openxmlformats.org/drawingml/2006/main" w="9525">
            <a:solidFill>
              <a:srgbClr val="4C7C86"/>
            </a:solidFill>
            <a:prstDash val="solid"/>
          </a:ln>
        </p:spPr>
      </p:sp>
      <p:sp>
        <p:nvSpPr>
          <p:cNvPr id="95" name="query-grid-0-2">
            <a:extLst xmlns:a="http://schemas.openxmlformats.org/drawingml/2006/main">
              <a:ext uri="{FF2B5EF4-FFF2-40B4-BE49-F238E27FC236}">
                <a16:creationId xmlns:a16="http://schemas.microsoft.com/office/drawing/2014/main" id="{C82B9CF2-DC2F-4C77-856F-39D61F02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5105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F3"/>
          </a:solidFill>
          <a:ln xmlns:a="http://schemas.openxmlformats.org/drawingml/2006/main" w="9525">
            <a:solidFill>
              <a:srgbClr val="4C7C86"/>
            </a:solidFill>
            <a:prstDash val="solid"/>
          </a:ln>
        </p:spPr>
      </p:sp>
      <p:sp>
        <p:nvSpPr>
          <p:cNvPr id="96" name="query-grid-0-3">
            <a:extLst xmlns:a="http://schemas.openxmlformats.org/drawingml/2006/main">
              <a:ext uri="{FF2B5EF4-FFF2-40B4-BE49-F238E27FC236}">
                <a16:creationId xmlns:a16="http://schemas.microsoft.com/office/drawing/2014/main" id="{EA3B311D-A3D7-459A-9884-5E926CB9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105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F3"/>
          </a:solidFill>
          <a:ln xmlns:a="http://schemas.openxmlformats.org/drawingml/2006/main" w="9525">
            <a:solidFill>
              <a:srgbClr val="4C7C86"/>
            </a:solidFill>
            <a:prstDash val="solid"/>
          </a:ln>
        </p:spPr>
      </p:sp>
      <p:sp>
        <p:nvSpPr>
          <p:cNvPr id="97" name="anchor-14">
            <a:extLst xmlns:a="http://schemas.openxmlformats.org/drawingml/2006/main">
              <a:ext uri="{FF2B5EF4-FFF2-40B4-BE49-F238E27FC236}">
                <a16:creationId xmlns:a16="http://schemas.microsoft.com/office/drawing/2014/main" id="{0DA1863D-1E12-444E-B458-110A23B1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313" y="484346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8" name="anchor-15">
            <a:extLst xmlns:a="http://schemas.openxmlformats.org/drawingml/2006/main">
              <a:ext uri="{FF2B5EF4-FFF2-40B4-BE49-F238E27FC236}">
                <a16:creationId xmlns:a16="http://schemas.microsoft.com/office/drawing/2014/main" id="{9D353D2A-DF80-40EE-980E-FA4A93E3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538" y="484346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37" name=""/>
          <p:cNvCxnSpPr>
            <a:stCxn xmlns:a="http://schemas.openxmlformats.org/drawingml/2006/main" id="97" idx="3"/>
            <a:endCxn xmlns:a="http://schemas.openxmlformats.org/drawingml/2006/main" id="98" idx="1"/>
          </p:cNvCxnSpPr>
          <p:nvPr/>
        </p:nvCxnSpPr>
        <p:spPr>
          <a:xfrm xmlns:a="http://schemas.openxmlformats.org/drawingml/2006/main">
            <a:off x="4033838" y="4848226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E2E38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00" name="matching-box">
            <a:extLst xmlns:a="http://schemas.openxmlformats.org/drawingml/2006/main">
              <a:ext uri="{FF2B5EF4-FFF2-40B4-BE49-F238E27FC236}">
                <a16:creationId xmlns:a16="http://schemas.microsoft.com/office/drawing/2014/main" id="{015DB8D8-35A6-45C8-80AC-914183E9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010025"/>
            <a:ext cx="40957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6F6"/>
          </a:solidFill>
          <a:ln xmlns:a="http://schemas.openxmlformats.org/drawingml/2006/main" w="19050">
            <a:solidFill>
              <a:srgbClr val="6E4E9E"/>
            </a:solidFill>
            <a:prstDash val="solid"/>
          </a:ln>
        </p:spPr>
      </p:sp>
      <p:sp>
        <p:nvSpPr>
          <p:cNvPr id="101" name="matching-title">
            <a:extLst xmlns:a="http://schemas.openxmlformats.org/drawingml/2006/main">
              <a:ext uri="{FF2B5EF4-FFF2-40B4-BE49-F238E27FC236}">
                <a16:creationId xmlns:a16="http://schemas.microsoft.com/office/drawing/2014/main" id="{6A4F8EA3-F8D4-4051-B09C-B399465C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048125"/>
            <a:ext cx="3943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Reference matching</a:t>
            </a:r>
          </a:p>
        </p:txBody>
      </p:sp>
      <p:sp>
        <p:nvSpPr>
          <p:cNvPr id="102" name="j-background">
            <a:extLst xmlns:a="http://schemas.openxmlformats.org/drawingml/2006/main">
              <a:ext uri="{FF2B5EF4-FFF2-40B4-BE49-F238E27FC236}">
                <a16:creationId xmlns:a16="http://schemas.microsoft.com/office/drawing/2014/main" id="{DDC88EFD-FCF9-4D3E-842C-3C807401B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05325"/>
            <a:ext cx="388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F1"/>
          </a:solidFill>
          <a:ln xmlns:a="http://schemas.openxmlformats.org/drawingml/2006/main" w="11430">
            <a:solidFill>
              <a:srgbClr val="6E4E9E"/>
            </a:solidFill>
            <a:prstDash val="solid"/>
          </a:ln>
        </p:spPr>
      </p:sp>
      <p:sp>
        <p:nvSpPr>
          <p:cNvPr id="103" name="joint-equation">
            <a:extLst xmlns:a="http://schemas.openxmlformats.org/drawingml/2006/main">
              <a:ext uri="{FF2B5EF4-FFF2-40B4-BE49-F238E27FC236}">
                <a16:creationId xmlns:a16="http://schemas.microsoft.com/office/drawing/2014/main" id="{66804B5A-29C7-49D0-9004-2CB9344F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476750"/>
            <a:ext cx="381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E2E38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J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(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p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) = min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∑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w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d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(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p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,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)</a:t>
            </a:r>
          </a:p>
        </p:txBody>
      </p:sp>
      <p:sp>
        <p:nvSpPr>
          <p:cNvPr id="104" name="l-background">
            <a:extLst xmlns:a="http://schemas.openxmlformats.org/drawingml/2006/main">
              <a:ext uri="{FF2B5EF4-FFF2-40B4-BE49-F238E27FC236}">
                <a16:creationId xmlns:a16="http://schemas.microsoft.com/office/drawing/2014/main" id="{08E148B0-B103-43D2-9224-64B421478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038725"/>
            <a:ext cx="3886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E1"/>
          </a:solidFill>
          <a:ln xmlns:a="http://schemas.openxmlformats.org/drawingml/2006/main" w="11430">
            <a:solidFill>
              <a:srgbClr val="B23A2C"/>
            </a:solidFill>
            <a:prstDash val="solid"/>
          </a:ln>
        </p:spPr>
      </p:sp>
      <p:sp>
        <p:nvSpPr>
          <p:cNvPr id="105" name="independent-equation">
            <a:extLst xmlns:a="http://schemas.openxmlformats.org/drawingml/2006/main">
              <a:ext uri="{FF2B5EF4-FFF2-40B4-BE49-F238E27FC236}">
                <a16:creationId xmlns:a16="http://schemas.microsoft.com/office/drawing/2014/main" id="{029AA725-F47B-4AEF-829F-09EF9044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00625"/>
            <a:ext cx="381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E2E38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(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p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) = ∑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w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min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d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(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p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,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)</a:t>
            </a:r>
          </a:p>
        </p:txBody>
      </p:sp>
      <p:sp>
        <p:nvSpPr>
          <p:cNvPr id="106" name="resize-smooth">
            <a:extLst xmlns:a="http://schemas.openxmlformats.org/drawingml/2006/main">
              <a:ext uri="{FF2B5EF4-FFF2-40B4-BE49-F238E27FC236}">
                <a16:creationId xmlns:a16="http://schemas.microsoft.com/office/drawing/2014/main" id="{C6A2B8F5-CF57-4874-A726-971A836F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686425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E2E38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Resize 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H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× 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W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  Gaussian 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σ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= 4</a:t>
            </a:r>
          </a:p>
        </p:txBody>
      </p:sp>
      <p:sp>
        <p:nvSpPr>
          <p:cNvPr id="107" name="anchor-16">
            <a:extLst xmlns:a="http://schemas.openxmlformats.org/drawingml/2006/main">
              <a:ext uri="{FF2B5EF4-FFF2-40B4-BE49-F238E27FC236}">
                <a16:creationId xmlns:a16="http://schemas.microsoft.com/office/drawing/2014/main" id="{EF7A7828-79EE-4F60-AE36-85C83A0ED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5088" y="551021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8" name="anchor-17">
            <a:extLst xmlns:a="http://schemas.openxmlformats.org/drawingml/2006/main">
              <a:ext uri="{FF2B5EF4-FFF2-40B4-BE49-F238E27FC236}">
                <a16:creationId xmlns:a16="http://schemas.microsoft.com/office/drawing/2014/main" id="{3F26ACB0-8C64-464E-8421-B17EE04A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5088" y="5662613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47" name=""/>
          <p:cNvCxnSpPr>
            <a:stCxn xmlns:a="http://schemas.openxmlformats.org/drawingml/2006/main" id="107" idx="2"/>
            <a:endCxn xmlns:a="http://schemas.openxmlformats.org/drawingml/2006/main" id="108" idx="0"/>
          </p:cNvCxnSpPr>
          <p:nvPr/>
        </p:nvCxnSpPr>
        <p:spPr>
          <a:xfrm xmlns:a="http://schemas.openxmlformats.org/drawingml/2006/main">
            <a:off x="6419851" y="5519738"/>
            <a:ext cx="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1E2E38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10" name="anchor-18">
            <a:extLst xmlns:a="http://schemas.openxmlformats.org/drawingml/2006/main">
              <a:ext uri="{FF2B5EF4-FFF2-40B4-BE49-F238E27FC236}">
                <a16:creationId xmlns:a16="http://schemas.microsoft.com/office/drawing/2014/main" id="{22D2B4F8-983A-41EA-95E1-FA2C0AE9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0113" y="5900738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1" name="anchor-19">
            <a:extLst xmlns:a="http://schemas.openxmlformats.org/drawingml/2006/main">
              <a:ext uri="{FF2B5EF4-FFF2-40B4-BE49-F238E27FC236}">
                <a16:creationId xmlns:a16="http://schemas.microsoft.com/office/drawing/2014/main" id="{096619AE-99BE-4FFB-A8C2-4AEB649E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5900738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50" name=""/>
          <p:cNvCxnSpPr>
            <a:stCxn xmlns:a="http://schemas.openxmlformats.org/drawingml/2006/main" id="110" idx="3"/>
            <a:endCxn xmlns:a="http://schemas.openxmlformats.org/drawingml/2006/main" id="111" idx="1"/>
          </p:cNvCxnSpPr>
          <p:nvPr/>
        </p:nvCxnSpPr>
        <p:spPr>
          <a:xfrm xmlns:a="http://schemas.openxmlformats.org/drawingml/2006/main">
            <a:off x="8529638" y="5905501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E2E38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13" name="matching-explanation">
            <a:extLst xmlns:a="http://schemas.openxmlformats.org/drawingml/2006/main">
              <a:ext uri="{FF2B5EF4-FFF2-40B4-BE49-F238E27FC236}">
                <a16:creationId xmlns:a16="http://schemas.microsoft.com/office/drawing/2014/main" id="{5041AEC5-EFEA-42DB-B69D-69CDED8B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6315075"/>
            <a:ext cx="4191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J  one shared row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L  one row per branch</a:t>
            </a:r>
          </a:p>
        </p:txBody>
      </p:sp>
      <p:sp>
        <p:nvSpPr>
          <p:cNvPr id="114" name="outputs-box">
            <a:extLst xmlns:a="http://schemas.openxmlformats.org/drawingml/2006/main">
              <a:ext uri="{FF2B5EF4-FFF2-40B4-BE49-F238E27FC236}">
                <a16:creationId xmlns:a16="http://schemas.microsoft.com/office/drawing/2014/main" id="{503ED287-5123-4EA0-B220-552A7116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000500"/>
            <a:ext cx="30099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94A5AE"/>
            </a:solidFill>
            <a:prstDash val="solid"/>
          </a:ln>
        </p:spPr>
      </p:sp>
      <p:sp>
        <p:nvSpPr>
          <p:cNvPr id="115" name="output-heading">
            <a:extLst xmlns:a="http://schemas.openxmlformats.org/drawingml/2006/main">
              <a:ext uri="{FF2B5EF4-FFF2-40B4-BE49-F238E27FC236}">
                <a16:creationId xmlns:a16="http://schemas.microsoft.com/office/drawing/2014/main" id="{AC2AC99A-5EEE-4DA8-AD17-ECA601FC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019550"/>
            <a:ext cx="2924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Output and display</a:t>
            </a:r>
          </a:p>
        </p:txBody>
      </p:sp>
      <p:pic>
        <p:nvPicPr>
          <p:cNvPr id="2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021c6e70d94ac2"/>
          <a:stretch xmlns:a="http://schemas.openxmlformats.org/drawingml/2006/main"/>
        </p:blipFill>
        <p:spPr>
          <a:xfrm xmlns:a="http://schemas.openxmlformats.org/drawingml/2006/main">
            <a:off x="9048750" y="4552950"/>
            <a:ext cx="1238250" cy="1238250"/>
          </a:xfrm>
          <a:prstGeom xmlns:a="http://schemas.openxmlformats.org/drawingml/2006/main" prst="rect">
            <a:avLst/>
          </a:prstGeom>
        </p:spPr>
      </p:pic>
      <p:sp>
        <p:nvSpPr>
          <p:cNvPr id="117" name="map-frame">
            <a:extLst xmlns:a="http://schemas.openxmlformats.org/drawingml/2006/main">
              <a:ext uri="{FF2B5EF4-FFF2-40B4-BE49-F238E27FC236}">
                <a16:creationId xmlns:a16="http://schemas.microsoft.com/office/drawing/2014/main" id="{5E20C743-90EB-43F6-9553-ADD9668B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552950"/>
            <a:ext cx="1238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94A5AE"/>
            </a:solidFill>
            <a:prstDash val="solid"/>
          </a:ln>
        </p:spPr>
      </p:sp>
      <p:pic>
        <p:nvPicPr>
          <p:cNvPr id="2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444f024f84af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53700" y="4552950"/>
            <a:ext cx="1238250" cy="1238250"/>
          </a:xfrm>
          <a:prstGeom xmlns:a="http://schemas.openxmlformats.org/drawingml/2006/main" prst="rect">
            <a:avLst/>
          </a:prstGeom>
        </p:spPr>
      </p:pic>
      <p:sp>
        <p:nvSpPr>
          <p:cNvPr id="119" name="threshold-display-contour">
            <a:extLst xmlns:a="http://schemas.openxmlformats.org/drawingml/2006/main">
              <a:ext uri="{FF2B5EF4-FFF2-40B4-BE49-F238E27FC236}">
                <a16:creationId xmlns:a16="http://schemas.microsoft.com/office/drawing/2014/main" id="{CD619E44-B138-4CE8-9072-F9E90D5D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552950"/>
            <a:ext cx="1238250" cy="1238250"/>
          </a:xfrm>
          <a:custGeom xmlns:a="http://schemas.openxmlformats.org/drawingml/2006/main">
            <a:pathLst>
              <a:path w="4267200" h="4267200">
                <a:moveTo>
                  <a:pt x="2733675" y="3457575"/>
                </a:moveTo>
                <a:lnTo>
                  <a:pt x="2743200" y="3448050"/>
                </a:lnTo>
                <a:lnTo>
                  <a:pt x="2752725" y="3448050"/>
                </a:lnTo>
                <a:lnTo>
                  <a:pt x="2771775" y="3467100"/>
                </a:lnTo>
                <a:lnTo>
                  <a:pt x="2771775" y="3476625"/>
                </a:lnTo>
                <a:lnTo>
                  <a:pt x="2781300" y="3486150"/>
                </a:lnTo>
                <a:lnTo>
                  <a:pt x="2781300" y="3514725"/>
                </a:lnTo>
                <a:lnTo>
                  <a:pt x="2762250" y="3533775"/>
                </a:lnTo>
                <a:lnTo>
                  <a:pt x="2743200" y="3533775"/>
                </a:lnTo>
                <a:lnTo>
                  <a:pt x="2733675" y="3524250"/>
                </a:lnTo>
                <a:close/>
              </a:path>
              <a:path w="4267200" h="4267200">
                <a:moveTo>
                  <a:pt x="2447925" y="2581275"/>
                </a:moveTo>
                <a:lnTo>
                  <a:pt x="2428875" y="2600325"/>
                </a:lnTo>
                <a:lnTo>
                  <a:pt x="2428875" y="2609850"/>
                </a:lnTo>
                <a:lnTo>
                  <a:pt x="2447925" y="2628900"/>
                </a:lnTo>
                <a:lnTo>
                  <a:pt x="2486025" y="2628900"/>
                </a:lnTo>
                <a:lnTo>
                  <a:pt x="2495550" y="2619375"/>
                </a:lnTo>
                <a:lnTo>
                  <a:pt x="2495550" y="2590800"/>
                </a:lnTo>
                <a:lnTo>
                  <a:pt x="2486025" y="2590800"/>
                </a:lnTo>
                <a:lnTo>
                  <a:pt x="2476500" y="2581275"/>
                </a:lnTo>
                <a:close/>
              </a:path>
              <a:path w="4267200" h="4267200">
                <a:moveTo>
                  <a:pt x="1114425" y="2228850"/>
                </a:moveTo>
                <a:lnTo>
                  <a:pt x="1104900" y="2238375"/>
                </a:lnTo>
                <a:lnTo>
                  <a:pt x="1095375" y="2238375"/>
                </a:lnTo>
                <a:lnTo>
                  <a:pt x="1076325" y="2257425"/>
                </a:lnTo>
                <a:lnTo>
                  <a:pt x="1076325" y="2266950"/>
                </a:lnTo>
                <a:lnTo>
                  <a:pt x="1057275" y="2286000"/>
                </a:lnTo>
                <a:lnTo>
                  <a:pt x="1057275" y="2305050"/>
                </a:lnTo>
                <a:lnTo>
                  <a:pt x="1047750" y="2314575"/>
                </a:lnTo>
                <a:lnTo>
                  <a:pt x="1047750" y="2352675"/>
                </a:lnTo>
                <a:lnTo>
                  <a:pt x="1057275" y="2362200"/>
                </a:lnTo>
                <a:lnTo>
                  <a:pt x="1057275" y="2390775"/>
                </a:lnTo>
                <a:lnTo>
                  <a:pt x="1066800" y="2400300"/>
                </a:lnTo>
                <a:lnTo>
                  <a:pt x="1066800" y="2428875"/>
                </a:lnTo>
                <a:lnTo>
                  <a:pt x="1076325" y="2438400"/>
                </a:lnTo>
                <a:lnTo>
                  <a:pt x="1076325" y="2476500"/>
                </a:lnTo>
                <a:lnTo>
                  <a:pt x="1066800" y="2486025"/>
                </a:lnTo>
                <a:lnTo>
                  <a:pt x="1066800" y="2514600"/>
                </a:lnTo>
                <a:lnTo>
                  <a:pt x="1057275" y="2524125"/>
                </a:lnTo>
                <a:lnTo>
                  <a:pt x="1057275" y="2543175"/>
                </a:lnTo>
                <a:lnTo>
                  <a:pt x="1047750" y="2552700"/>
                </a:lnTo>
                <a:lnTo>
                  <a:pt x="1047750" y="2638425"/>
                </a:lnTo>
                <a:lnTo>
                  <a:pt x="1057275" y="2647950"/>
                </a:lnTo>
                <a:lnTo>
                  <a:pt x="1057275" y="2676525"/>
                </a:lnTo>
                <a:lnTo>
                  <a:pt x="1066800" y="2686050"/>
                </a:lnTo>
                <a:lnTo>
                  <a:pt x="1066800" y="2714625"/>
                </a:lnTo>
                <a:lnTo>
                  <a:pt x="1076325" y="2724150"/>
                </a:lnTo>
                <a:lnTo>
                  <a:pt x="1076325" y="3019425"/>
                </a:lnTo>
                <a:lnTo>
                  <a:pt x="1085850" y="3028950"/>
                </a:lnTo>
                <a:lnTo>
                  <a:pt x="1085850" y="3057525"/>
                </a:lnTo>
                <a:lnTo>
                  <a:pt x="1095375" y="3067050"/>
                </a:lnTo>
                <a:lnTo>
                  <a:pt x="1095375" y="3095625"/>
                </a:lnTo>
                <a:lnTo>
                  <a:pt x="1104900" y="3105150"/>
                </a:lnTo>
                <a:lnTo>
                  <a:pt x="1104900" y="3114675"/>
                </a:lnTo>
                <a:lnTo>
                  <a:pt x="1114425" y="3124200"/>
                </a:lnTo>
                <a:lnTo>
                  <a:pt x="1114425" y="3133725"/>
                </a:lnTo>
                <a:lnTo>
                  <a:pt x="1123950" y="3143250"/>
                </a:lnTo>
                <a:lnTo>
                  <a:pt x="1133475" y="3143250"/>
                </a:lnTo>
                <a:lnTo>
                  <a:pt x="1143000" y="3152775"/>
                </a:lnTo>
                <a:lnTo>
                  <a:pt x="1181100" y="3152775"/>
                </a:lnTo>
                <a:lnTo>
                  <a:pt x="1200150" y="3133725"/>
                </a:lnTo>
                <a:lnTo>
                  <a:pt x="1200150" y="3086100"/>
                </a:lnTo>
                <a:lnTo>
                  <a:pt x="1209675" y="3076575"/>
                </a:lnTo>
                <a:lnTo>
                  <a:pt x="1209675" y="2971800"/>
                </a:lnTo>
                <a:lnTo>
                  <a:pt x="1219200" y="2962275"/>
                </a:lnTo>
                <a:lnTo>
                  <a:pt x="1219200" y="2924175"/>
                </a:lnTo>
                <a:lnTo>
                  <a:pt x="1228725" y="2914650"/>
                </a:lnTo>
                <a:lnTo>
                  <a:pt x="1228725" y="2905125"/>
                </a:lnTo>
                <a:lnTo>
                  <a:pt x="1266825" y="2867025"/>
                </a:lnTo>
                <a:lnTo>
                  <a:pt x="1314450" y="2867025"/>
                </a:lnTo>
                <a:lnTo>
                  <a:pt x="1323975" y="2876550"/>
                </a:lnTo>
                <a:lnTo>
                  <a:pt x="1333500" y="2876550"/>
                </a:lnTo>
                <a:lnTo>
                  <a:pt x="1352550" y="2895600"/>
                </a:lnTo>
                <a:lnTo>
                  <a:pt x="1352550" y="2943225"/>
                </a:lnTo>
                <a:lnTo>
                  <a:pt x="1343025" y="2952750"/>
                </a:lnTo>
                <a:lnTo>
                  <a:pt x="1343025" y="2981325"/>
                </a:lnTo>
                <a:lnTo>
                  <a:pt x="1333500" y="2990850"/>
                </a:lnTo>
                <a:lnTo>
                  <a:pt x="1333500" y="3124200"/>
                </a:lnTo>
                <a:lnTo>
                  <a:pt x="1343025" y="3133725"/>
                </a:lnTo>
                <a:lnTo>
                  <a:pt x="1343025" y="3152775"/>
                </a:lnTo>
                <a:lnTo>
                  <a:pt x="1352550" y="3162300"/>
                </a:lnTo>
                <a:lnTo>
                  <a:pt x="1362075" y="3162300"/>
                </a:lnTo>
                <a:lnTo>
                  <a:pt x="1371600" y="3171825"/>
                </a:lnTo>
                <a:lnTo>
                  <a:pt x="1495425" y="3171825"/>
                </a:lnTo>
                <a:lnTo>
                  <a:pt x="1504950" y="3162300"/>
                </a:lnTo>
                <a:lnTo>
                  <a:pt x="1514475" y="3162300"/>
                </a:lnTo>
                <a:lnTo>
                  <a:pt x="1562100" y="3114675"/>
                </a:lnTo>
                <a:lnTo>
                  <a:pt x="1562100" y="3105150"/>
                </a:lnTo>
                <a:lnTo>
                  <a:pt x="1571625" y="3095625"/>
                </a:lnTo>
                <a:lnTo>
                  <a:pt x="1571625" y="3086100"/>
                </a:lnTo>
                <a:lnTo>
                  <a:pt x="1581150" y="3076575"/>
                </a:lnTo>
                <a:lnTo>
                  <a:pt x="1581150" y="3067050"/>
                </a:lnTo>
                <a:lnTo>
                  <a:pt x="1647825" y="3000375"/>
                </a:lnTo>
                <a:lnTo>
                  <a:pt x="1657350" y="3000375"/>
                </a:lnTo>
                <a:lnTo>
                  <a:pt x="1666875" y="2990850"/>
                </a:lnTo>
                <a:lnTo>
                  <a:pt x="1666875" y="2981325"/>
                </a:lnTo>
                <a:lnTo>
                  <a:pt x="1704975" y="2943225"/>
                </a:lnTo>
                <a:lnTo>
                  <a:pt x="1704975" y="2933700"/>
                </a:lnTo>
                <a:lnTo>
                  <a:pt x="1781175" y="2857500"/>
                </a:lnTo>
                <a:lnTo>
                  <a:pt x="1790700" y="2857500"/>
                </a:lnTo>
                <a:lnTo>
                  <a:pt x="1800225" y="2847975"/>
                </a:lnTo>
                <a:lnTo>
                  <a:pt x="1809750" y="2847975"/>
                </a:lnTo>
                <a:lnTo>
                  <a:pt x="1819275" y="2838450"/>
                </a:lnTo>
                <a:lnTo>
                  <a:pt x="1828800" y="2838450"/>
                </a:lnTo>
                <a:lnTo>
                  <a:pt x="1838325" y="2828925"/>
                </a:lnTo>
                <a:lnTo>
                  <a:pt x="1847850" y="2828925"/>
                </a:lnTo>
                <a:lnTo>
                  <a:pt x="1905000" y="2771775"/>
                </a:lnTo>
                <a:lnTo>
                  <a:pt x="1905000" y="2762250"/>
                </a:lnTo>
                <a:lnTo>
                  <a:pt x="1914525" y="2752725"/>
                </a:lnTo>
                <a:lnTo>
                  <a:pt x="1914525" y="2733675"/>
                </a:lnTo>
                <a:lnTo>
                  <a:pt x="1924050" y="2724150"/>
                </a:lnTo>
                <a:lnTo>
                  <a:pt x="1924050" y="2705100"/>
                </a:lnTo>
                <a:lnTo>
                  <a:pt x="1933575" y="2695575"/>
                </a:lnTo>
                <a:lnTo>
                  <a:pt x="1933575" y="2686050"/>
                </a:lnTo>
                <a:lnTo>
                  <a:pt x="1971675" y="2647950"/>
                </a:lnTo>
                <a:lnTo>
                  <a:pt x="2038350" y="2647950"/>
                </a:lnTo>
                <a:lnTo>
                  <a:pt x="2047875" y="2638425"/>
                </a:lnTo>
                <a:lnTo>
                  <a:pt x="2066925" y="2638425"/>
                </a:lnTo>
                <a:lnTo>
                  <a:pt x="2076450" y="2628900"/>
                </a:lnTo>
                <a:lnTo>
                  <a:pt x="2076450" y="2600325"/>
                </a:lnTo>
                <a:lnTo>
                  <a:pt x="2057400" y="2581275"/>
                </a:lnTo>
                <a:lnTo>
                  <a:pt x="2047875" y="2581275"/>
                </a:lnTo>
                <a:lnTo>
                  <a:pt x="2038350" y="2571750"/>
                </a:lnTo>
                <a:lnTo>
                  <a:pt x="1924050" y="2571750"/>
                </a:lnTo>
                <a:lnTo>
                  <a:pt x="1914525" y="2562225"/>
                </a:lnTo>
                <a:lnTo>
                  <a:pt x="1905000" y="2562225"/>
                </a:lnTo>
                <a:lnTo>
                  <a:pt x="1876425" y="2533650"/>
                </a:lnTo>
                <a:lnTo>
                  <a:pt x="1876425" y="2476500"/>
                </a:lnTo>
                <a:lnTo>
                  <a:pt x="1866900" y="2466975"/>
                </a:lnTo>
                <a:lnTo>
                  <a:pt x="1866900" y="2428875"/>
                </a:lnTo>
                <a:lnTo>
                  <a:pt x="1857375" y="2419350"/>
                </a:lnTo>
                <a:lnTo>
                  <a:pt x="1857375" y="2409825"/>
                </a:lnTo>
                <a:lnTo>
                  <a:pt x="1838325" y="2390775"/>
                </a:lnTo>
                <a:lnTo>
                  <a:pt x="1819275" y="2390775"/>
                </a:lnTo>
                <a:lnTo>
                  <a:pt x="1809750" y="2381250"/>
                </a:lnTo>
                <a:lnTo>
                  <a:pt x="1781175" y="2381250"/>
                </a:lnTo>
                <a:lnTo>
                  <a:pt x="1771650" y="2390775"/>
                </a:lnTo>
                <a:lnTo>
                  <a:pt x="1762125" y="2390775"/>
                </a:lnTo>
                <a:lnTo>
                  <a:pt x="1752600" y="2400300"/>
                </a:lnTo>
                <a:lnTo>
                  <a:pt x="1743075" y="2400300"/>
                </a:lnTo>
                <a:lnTo>
                  <a:pt x="1685925" y="2457450"/>
                </a:lnTo>
                <a:lnTo>
                  <a:pt x="1676400" y="2457450"/>
                </a:lnTo>
                <a:lnTo>
                  <a:pt x="1666875" y="2466975"/>
                </a:lnTo>
                <a:lnTo>
                  <a:pt x="1638300" y="2466975"/>
                </a:lnTo>
                <a:lnTo>
                  <a:pt x="1628775" y="2457450"/>
                </a:lnTo>
                <a:lnTo>
                  <a:pt x="1609725" y="2457450"/>
                </a:lnTo>
                <a:lnTo>
                  <a:pt x="1600200" y="2447925"/>
                </a:lnTo>
                <a:lnTo>
                  <a:pt x="1590675" y="2447925"/>
                </a:lnTo>
                <a:lnTo>
                  <a:pt x="1552575" y="2409825"/>
                </a:lnTo>
                <a:lnTo>
                  <a:pt x="1552575" y="2400300"/>
                </a:lnTo>
                <a:lnTo>
                  <a:pt x="1543050" y="2390775"/>
                </a:lnTo>
                <a:lnTo>
                  <a:pt x="1543050" y="2371725"/>
                </a:lnTo>
                <a:lnTo>
                  <a:pt x="1524000" y="2352675"/>
                </a:lnTo>
                <a:lnTo>
                  <a:pt x="1514475" y="2352675"/>
                </a:lnTo>
                <a:lnTo>
                  <a:pt x="1504950" y="2362200"/>
                </a:lnTo>
                <a:lnTo>
                  <a:pt x="1495425" y="2362200"/>
                </a:lnTo>
                <a:lnTo>
                  <a:pt x="1485900" y="2371725"/>
                </a:lnTo>
                <a:lnTo>
                  <a:pt x="1466850" y="2371725"/>
                </a:lnTo>
                <a:lnTo>
                  <a:pt x="1457325" y="2381250"/>
                </a:lnTo>
                <a:lnTo>
                  <a:pt x="1438275" y="2381250"/>
                </a:lnTo>
                <a:lnTo>
                  <a:pt x="1428750" y="2390775"/>
                </a:lnTo>
                <a:lnTo>
                  <a:pt x="1323975" y="2390775"/>
                </a:lnTo>
                <a:lnTo>
                  <a:pt x="1314450" y="2381250"/>
                </a:lnTo>
                <a:lnTo>
                  <a:pt x="1304925" y="2381250"/>
                </a:lnTo>
                <a:lnTo>
                  <a:pt x="1295400" y="2371725"/>
                </a:lnTo>
                <a:lnTo>
                  <a:pt x="1285875" y="2371725"/>
                </a:lnTo>
                <a:lnTo>
                  <a:pt x="1257300" y="2343150"/>
                </a:lnTo>
                <a:lnTo>
                  <a:pt x="1257300" y="2333625"/>
                </a:lnTo>
                <a:lnTo>
                  <a:pt x="1238250" y="2314575"/>
                </a:lnTo>
                <a:lnTo>
                  <a:pt x="1238250" y="2305050"/>
                </a:lnTo>
                <a:lnTo>
                  <a:pt x="1171575" y="2238375"/>
                </a:lnTo>
                <a:lnTo>
                  <a:pt x="1162050" y="2238375"/>
                </a:lnTo>
                <a:lnTo>
                  <a:pt x="1152525" y="2228850"/>
                </a:lnTo>
                <a:close/>
              </a:path>
              <a:path w="4267200" h="4267200">
                <a:moveTo>
                  <a:pt x="2619375" y="2133600"/>
                </a:moveTo>
                <a:lnTo>
                  <a:pt x="2609850" y="2143125"/>
                </a:lnTo>
                <a:lnTo>
                  <a:pt x="2600325" y="2143125"/>
                </a:lnTo>
                <a:lnTo>
                  <a:pt x="2581275" y="2162175"/>
                </a:lnTo>
                <a:lnTo>
                  <a:pt x="2581275" y="2209800"/>
                </a:lnTo>
                <a:lnTo>
                  <a:pt x="2590800" y="2219325"/>
                </a:lnTo>
                <a:lnTo>
                  <a:pt x="2600325" y="2219325"/>
                </a:lnTo>
                <a:lnTo>
                  <a:pt x="2609850" y="2228850"/>
                </a:lnTo>
                <a:lnTo>
                  <a:pt x="2619375" y="2219325"/>
                </a:lnTo>
                <a:lnTo>
                  <a:pt x="2628900" y="2219325"/>
                </a:lnTo>
                <a:lnTo>
                  <a:pt x="2628900" y="2209800"/>
                </a:lnTo>
                <a:lnTo>
                  <a:pt x="2638425" y="2200275"/>
                </a:lnTo>
                <a:lnTo>
                  <a:pt x="2638425" y="2152650"/>
                </a:lnTo>
                <a:close/>
              </a:path>
              <a:path w="4267200" h="4267200">
                <a:moveTo>
                  <a:pt x="4219575" y="2095500"/>
                </a:moveTo>
                <a:lnTo>
                  <a:pt x="4210050" y="2105025"/>
                </a:lnTo>
                <a:lnTo>
                  <a:pt x="4191000" y="2105025"/>
                </a:lnTo>
                <a:lnTo>
                  <a:pt x="4181475" y="2114550"/>
                </a:lnTo>
                <a:lnTo>
                  <a:pt x="4171950" y="2114550"/>
                </a:lnTo>
                <a:lnTo>
                  <a:pt x="4152900" y="2133600"/>
                </a:lnTo>
                <a:lnTo>
                  <a:pt x="4152900" y="2143125"/>
                </a:lnTo>
                <a:lnTo>
                  <a:pt x="4133850" y="2162175"/>
                </a:lnTo>
                <a:lnTo>
                  <a:pt x="4133850" y="2181225"/>
                </a:lnTo>
                <a:lnTo>
                  <a:pt x="4124325" y="2190750"/>
                </a:lnTo>
                <a:lnTo>
                  <a:pt x="4124325" y="2228850"/>
                </a:lnTo>
                <a:lnTo>
                  <a:pt x="4114800" y="2238375"/>
                </a:lnTo>
                <a:lnTo>
                  <a:pt x="4114800" y="2352675"/>
                </a:lnTo>
                <a:lnTo>
                  <a:pt x="4124325" y="2362200"/>
                </a:lnTo>
                <a:lnTo>
                  <a:pt x="4124325" y="2438400"/>
                </a:lnTo>
                <a:lnTo>
                  <a:pt x="4133850" y="2447925"/>
                </a:lnTo>
                <a:lnTo>
                  <a:pt x="4133850" y="2505075"/>
                </a:lnTo>
                <a:lnTo>
                  <a:pt x="4143375" y="2514600"/>
                </a:lnTo>
                <a:lnTo>
                  <a:pt x="4143375" y="2552700"/>
                </a:lnTo>
                <a:lnTo>
                  <a:pt x="4152900" y="2562225"/>
                </a:lnTo>
                <a:lnTo>
                  <a:pt x="4152900" y="2590800"/>
                </a:lnTo>
                <a:lnTo>
                  <a:pt x="4162425" y="2600325"/>
                </a:lnTo>
                <a:lnTo>
                  <a:pt x="4162425" y="2609850"/>
                </a:lnTo>
                <a:lnTo>
                  <a:pt x="4171950" y="2619375"/>
                </a:lnTo>
                <a:lnTo>
                  <a:pt x="4171950" y="2628900"/>
                </a:lnTo>
                <a:lnTo>
                  <a:pt x="4181475" y="2638425"/>
                </a:lnTo>
                <a:lnTo>
                  <a:pt x="4191000" y="2638425"/>
                </a:lnTo>
                <a:lnTo>
                  <a:pt x="4200525" y="2647950"/>
                </a:lnTo>
                <a:lnTo>
                  <a:pt x="4257675" y="2647950"/>
                </a:lnTo>
                <a:lnTo>
                  <a:pt x="4257675" y="2095500"/>
                </a:lnTo>
                <a:close/>
              </a:path>
              <a:path w="4267200" h="4267200">
                <a:moveTo>
                  <a:pt x="1743075" y="1476375"/>
                </a:moveTo>
                <a:lnTo>
                  <a:pt x="1733550" y="1485900"/>
                </a:lnTo>
                <a:lnTo>
                  <a:pt x="1685925" y="1485900"/>
                </a:lnTo>
                <a:lnTo>
                  <a:pt x="1676400" y="1495425"/>
                </a:lnTo>
                <a:lnTo>
                  <a:pt x="1666875" y="1495425"/>
                </a:lnTo>
                <a:lnTo>
                  <a:pt x="1657350" y="1504950"/>
                </a:lnTo>
                <a:lnTo>
                  <a:pt x="1647825" y="1504950"/>
                </a:lnTo>
                <a:lnTo>
                  <a:pt x="1628775" y="1524000"/>
                </a:lnTo>
                <a:lnTo>
                  <a:pt x="1628775" y="1533525"/>
                </a:lnTo>
                <a:lnTo>
                  <a:pt x="1619250" y="1543050"/>
                </a:lnTo>
                <a:lnTo>
                  <a:pt x="1619250" y="1552575"/>
                </a:lnTo>
                <a:lnTo>
                  <a:pt x="1581150" y="1590675"/>
                </a:lnTo>
                <a:lnTo>
                  <a:pt x="1571625" y="1590675"/>
                </a:lnTo>
                <a:lnTo>
                  <a:pt x="1562100" y="1600200"/>
                </a:lnTo>
                <a:lnTo>
                  <a:pt x="1552575" y="1600200"/>
                </a:lnTo>
                <a:lnTo>
                  <a:pt x="1543050" y="1609725"/>
                </a:lnTo>
                <a:lnTo>
                  <a:pt x="1533525" y="1609725"/>
                </a:lnTo>
                <a:lnTo>
                  <a:pt x="1524000" y="1619250"/>
                </a:lnTo>
                <a:lnTo>
                  <a:pt x="1514475" y="1619250"/>
                </a:lnTo>
                <a:lnTo>
                  <a:pt x="1476375" y="1657350"/>
                </a:lnTo>
                <a:lnTo>
                  <a:pt x="1476375" y="1676400"/>
                </a:lnTo>
                <a:lnTo>
                  <a:pt x="1466850" y="1685925"/>
                </a:lnTo>
                <a:lnTo>
                  <a:pt x="1466850" y="1762125"/>
                </a:lnTo>
                <a:lnTo>
                  <a:pt x="1476375" y="1771650"/>
                </a:lnTo>
                <a:lnTo>
                  <a:pt x="1514475" y="1771650"/>
                </a:lnTo>
                <a:lnTo>
                  <a:pt x="1524000" y="1762125"/>
                </a:lnTo>
                <a:lnTo>
                  <a:pt x="1533525" y="1762125"/>
                </a:lnTo>
                <a:lnTo>
                  <a:pt x="1590675" y="1704975"/>
                </a:lnTo>
                <a:lnTo>
                  <a:pt x="1600200" y="1704975"/>
                </a:lnTo>
                <a:lnTo>
                  <a:pt x="1619250" y="1685925"/>
                </a:lnTo>
                <a:lnTo>
                  <a:pt x="1628775" y="1685925"/>
                </a:lnTo>
                <a:lnTo>
                  <a:pt x="1638300" y="1676400"/>
                </a:lnTo>
                <a:lnTo>
                  <a:pt x="1685925" y="1676400"/>
                </a:lnTo>
                <a:lnTo>
                  <a:pt x="1695450" y="1685925"/>
                </a:lnTo>
                <a:lnTo>
                  <a:pt x="1704975" y="1685925"/>
                </a:lnTo>
                <a:lnTo>
                  <a:pt x="1743075" y="1724025"/>
                </a:lnTo>
                <a:lnTo>
                  <a:pt x="1743075" y="1733550"/>
                </a:lnTo>
                <a:lnTo>
                  <a:pt x="1762125" y="1752600"/>
                </a:lnTo>
                <a:lnTo>
                  <a:pt x="1762125" y="1762125"/>
                </a:lnTo>
                <a:lnTo>
                  <a:pt x="1771650" y="1771650"/>
                </a:lnTo>
                <a:lnTo>
                  <a:pt x="1781175" y="1771650"/>
                </a:lnTo>
                <a:lnTo>
                  <a:pt x="1790700" y="1781175"/>
                </a:lnTo>
                <a:lnTo>
                  <a:pt x="1800225" y="1781175"/>
                </a:lnTo>
                <a:lnTo>
                  <a:pt x="1819275" y="1762125"/>
                </a:lnTo>
                <a:lnTo>
                  <a:pt x="1819275" y="1724025"/>
                </a:lnTo>
                <a:lnTo>
                  <a:pt x="1809750" y="1714500"/>
                </a:lnTo>
                <a:lnTo>
                  <a:pt x="1809750" y="1562100"/>
                </a:lnTo>
                <a:lnTo>
                  <a:pt x="1800225" y="1552575"/>
                </a:lnTo>
                <a:lnTo>
                  <a:pt x="1800225" y="1514475"/>
                </a:lnTo>
                <a:lnTo>
                  <a:pt x="1790700" y="1504950"/>
                </a:lnTo>
                <a:lnTo>
                  <a:pt x="1790700" y="1495425"/>
                </a:lnTo>
                <a:lnTo>
                  <a:pt x="1781175" y="1485900"/>
                </a:lnTo>
                <a:lnTo>
                  <a:pt x="1762125" y="1485900"/>
                </a:lnTo>
                <a:lnTo>
                  <a:pt x="1752600" y="1476375"/>
                </a:lnTo>
                <a:close/>
              </a:path>
              <a:path w="4267200" h="4267200">
                <a:moveTo>
                  <a:pt x="2600325" y="914400"/>
                </a:moveTo>
                <a:lnTo>
                  <a:pt x="2609850" y="904875"/>
                </a:lnTo>
                <a:lnTo>
                  <a:pt x="2619375" y="904875"/>
                </a:lnTo>
                <a:lnTo>
                  <a:pt x="2647950" y="933450"/>
                </a:lnTo>
                <a:lnTo>
                  <a:pt x="2647950" y="952500"/>
                </a:lnTo>
                <a:lnTo>
                  <a:pt x="2657475" y="962025"/>
                </a:lnTo>
                <a:lnTo>
                  <a:pt x="2657475" y="971550"/>
                </a:lnTo>
                <a:lnTo>
                  <a:pt x="2647950" y="981075"/>
                </a:lnTo>
                <a:lnTo>
                  <a:pt x="2647950" y="1009650"/>
                </a:lnTo>
                <a:lnTo>
                  <a:pt x="2638425" y="1019175"/>
                </a:lnTo>
                <a:lnTo>
                  <a:pt x="2638425" y="1028700"/>
                </a:lnTo>
                <a:lnTo>
                  <a:pt x="2628900" y="1038225"/>
                </a:lnTo>
                <a:lnTo>
                  <a:pt x="2619375" y="1038225"/>
                </a:lnTo>
                <a:lnTo>
                  <a:pt x="2609850" y="1047750"/>
                </a:lnTo>
                <a:lnTo>
                  <a:pt x="2600325" y="1047750"/>
                </a:lnTo>
                <a:lnTo>
                  <a:pt x="2590800" y="1057275"/>
                </a:lnTo>
                <a:lnTo>
                  <a:pt x="2552700" y="1057275"/>
                </a:lnTo>
                <a:lnTo>
                  <a:pt x="2543175" y="1047750"/>
                </a:lnTo>
                <a:lnTo>
                  <a:pt x="2524125" y="1047750"/>
                </a:lnTo>
                <a:lnTo>
                  <a:pt x="2495550" y="1019175"/>
                </a:lnTo>
                <a:lnTo>
                  <a:pt x="2495550" y="1009650"/>
                </a:lnTo>
                <a:lnTo>
                  <a:pt x="2505075" y="1000125"/>
                </a:lnTo>
                <a:lnTo>
                  <a:pt x="2505075" y="990600"/>
                </a:lnTo>
                <a:lnTo>
                  <a:pt x="2581275" y="914400"/>
                </a:lnTo>
                <a:close/>
              </a:path>
              <a:path w="4267200" h="4267200">
                <a:moveTo>
                  <a:pt x="2838450" y="390525"/>
                </a:moveTo>
                <a:lnTo>
                  <a:pt x="2828925" y="400050"/>
                </a:lnTo>
                <a:lnTo>
                  <a:pt x="2790825" y="400050"/>
                </a:lnTo>
                <a:lnTo>
                  <a:pt x="2781300" y="409575"/>
                </a:lnTo>
                <a:lnTo>
                  <a:pt x="2752725" y="409575"/>
                </a:lnTo>
                <a:lnTo>
                  <a:pt x="2743200" y="419100"/>
                </a:lnTo>
                <a:lnTo>
                  <a:pt x="2724150" y="419100"/>
                </a:lnTo>
                <a:lnTo>
                  <a:pt x="2714625" y="428625"/>
                </a:lnTo>
                <a:lnTo>
                  <a:pt x="2705100" y="428625"/>
                </a:lnTo>
                <a:lnTo>
                  <a:pt x="2695575" y="438150"/>
                </a:lnTo>
                <a:lnTo>
                  <a:pt x="2686050" y="438150"/>
                </a:lnTo>
                <a:lnTo>
                  <a:pt x="2676525" y="447675"/>
                </a:lnTo>
                <a:lnTo>
                  <a:pt x="2676525" y="457200"/>
                </a:lnTo>
                <a:lnTo>
                  <a:pt x="2657475" y="476250"/>
                </a:lnTo>
                <a:lnTo>
                  <a:pt x="2657475" y="485775"/>
                </a:lnTo>
                <a:lnTo>
                  <a:pt x="2647950" y="495300"/>
                </a:lnTo>
                <a:lnTo>
                  <a:pt x="2647950" y="504825"/>
                </a:lnTo>
                <a:lnTo>
                  <a:pt x="2638425" y="514350"/>
                </a:lnTo>
                <a:lnTo>
                  <a:pt x="2638425" y="523875"/>
                </a:lnTo>
                <a:lnTo>
                  <a:pt x="2619375" y="542925"/>
                </a:lnTo>
                <a:lnTo>
                  <a:pt x="2552700" y="542925"/>
                </a:lnTo>
                <a:lnTo>
                  <a:pt x="2543175" y="533400"/>
                </a:lnTo>
                <a:lnTo>
                  <a:pt x="2524125" y="533400"/>
                </a:lnTo>
                <a:lnTo>
                  <a:pt x="2514600" y="523875"/>
                </a:lnTo>
                <a:lnTo>
                  <a:pt x="2438400" y="523875"/>
                </a:lnTo>
                <a:lnTo>
                  <a:pt x="2428875" y="533400"/>
                </a:lnTo>
                <a:lnTo>
                  <a:pt x="2409825" y="533400"/>
                </a:lnTo>
                <a:lnTo>
                  <a:pt x="2400300" y="542925"/>
                </a:lnTo>
                <a:lnTo>
                  <a:pt x="2390775" y="542925"/>
                </a:lnTo>
                <a:lnTo>
                  <a:pt x="2381250" y="552450"/>
                </a:lnTo>
                <a:lnTo>
                  <a:pt x="2371725" y="552450"/>
                </a:lnTo>
                <a:lnTo>
                  <a:pt x="2362200" y="561975"/>
                </a:lnTo>
                <a:lnTo>
                  <a:pt x="2352675" y="561975"/>
                </a:lnTo>
                <a:lnTo>
                  <a:pt x="2343150" y="571500"/>
                </a:lnTo>
                <a:lnTo>
                  <a:pt x="2333625" y="571500"/>
                </a:lnTo>
                <a:lnTo>
                  <a:pt x="2324100" y="581025"/>
                </a:lnTo>
                <a:lnTo>
                  <a:pt x="2314575" y="581025"/>
                </a:lnTo>
                <a:lnTo>
                  <a:pt x="2305050" y="590550"/>
                </a:lnTo>
                <a:lnTo>
                  <a:pt x="2276475" y="590550"/>
                </a:lnTo>
                <a:lnTo>
                  <a:pt x="2266950" y="600075"/>
                </a:lnTo>
                <a:lnTo>
                  <a:pt x="2228850" y="600075"/>
                </a:lnTo>
                <a:lnTo>
                  <a:pt x="2219325" y="609600"/>
                </a:lnTo>
                <a:lnTo>
                  <a:pt x="2200275" y="609600"/>
                </a:lnTo>
                <a:lnTo>
                  <a:pt x="2190750" y="619125"/>
                </a:lnTo>
                <a:lnTo>
                  <a:pt x="2171700" y="619125"/>
                </a:lnTo>
                <a:lnTo>
                  <a:pt x="2162175" y="628650"/>
                </a:lnTo>
                <a:lnTo>
                  <a:pt x="2143125" y="628650"/>
                </a:lnTo>
                <a:lnTo>
                  <a:pt x="2133600" y="638175"/>
                </a:lnTo>
                <a:lnTo>
                  <a:pt x="2085975" y="638175"/>
                </a:lnTo>
                <a:lnTo>
                  <a:pt x="2028825" y="581025"/>
                </a:lnTo>
                <a:lnTo>
                  <a:pt x="2028825" y="571500"/>
                </a:lnTo>
                <a:lnTo>
                  <a:pt x="1990725" y="533400"/>
                </a:lnTo>
                <a:lnTo>
                  <a:pt x="1981200" y="533400"/>
                </a:lnTo>
                <a:lnTo>
                  <a:pt x="1971675" y="523875"/>
                </a:lnTo>
                <a:lnTo>
                  <a:pt x="1952625" y="523875"/>
                </a:lnTo>
                <a:lnTo>
                  <a:pt x="1943100" y="514350"/>
                </a:lnTo>
                <a:lnTo>
                  <a:pt x="1885950" y="514350"/>
                </a:lnTo>
                <a:lnTo>
                  <a:pt x="1876425" y="523875"/>
                </a:lnTo>
                <a:lnTo>
                  <a:pt x="1838325" y="523875"/>
                </a:lnTo>
                <a:lnTo>
                  <a:pt x="1828800" y="533400"/>
                </a:lnTo>
                <a:lnTo>
                  <a:pt x="1724025" y="533400"/>
                </a:lnTo>
                <a:lnTo>
                  <a:pt x="1714500" y="523875"/>
                </a:lnTo>
                <a:lnTo>
                  <a:pt x="1676400" y="523875"/>
                </a:lnTo>
                <a:lnTo>
                  <a:pt x="1666875" y="514350"/>
                </a:lnTo>
                <a:lnTo>
                  <a:pt x="1647825" y="514350"/>
                </a:lnTo>
                <a:lnTo>
                  <a:pt x="1638300" y="523875"/>
                </a:lnTo>
                <a:lnTo>
                  <a:pt x="1619250" y="523875"/>
                </a:lnTo>
                <a:lnTo>
                  <a:pt x="1609725" y="533400"/>
                </a:lnTo>
                <a:lnTo>
                  <a:pt x="1600200" y="533400"/>
                </a:lnTo>
                <a:lnTo>
                  <a:pt x="1590675" y="542925"/>
                </a:lnTo>
                <a:lnTo>
                  <a:pt x="1581150" y="542925"/>
                </a:lnTo>
                <a:lnTo>
                  <a:pt x="1571625" y="552450"/>
                </a:lnTo>
                <a:lnTo>
                  <a:pt x="1562100" y="552450"/>
                </a:lnTo>
                <a:lnTo>
                  <a:pt x="1552575" y="561975"/>
                </a:lnTo>
                <a:lnTo>
                  <a:pt x="1524000" y="561975"/>
                </a:lnTo>
                <a:lnTo>
                  <a:pt x="1514475" y="571500"/>
                </a:lnTo>
                <a:lnTo>
                  <a:pt x="1485900" y="571500"/>
                </a:lnTo>
                <a:lnTo>
                  <a:pt x="1476375" y="561975"/>
                </a:lnTo>
                <a:lnTo>
                  <a:pt x="1457325" y="561975"/>
                </a:lnTo>
                <a:lnTo>
                  <a:pt x="1447800" y="552450"/>
                </a:lnTo>
                <a:lnTo>
                  <a:pt x="1400175" y="552450"/>
                </a:lnTo>
                <a:lnTo>
                  <a:pt x="1390650" y="561975"/>
                </a:lnTo>
                <a:lnTo>
                  <a:pt x="1381125" y="561975"/>
                </a:lnTo>
                <a:lnTo>
                  <a:pt x="1343025" y="600075"/>
                </a:lnTo>
                <a:lnTo>
                  <a:pt x="1333500" y="600075"/>
                </a:lnTo>
                <a:lnTo>
                  <a:pt x="1323975" y="609600"/>
                </a:lnTo>
                <a:lnTo>
                  <a:pt x="1314450" y="609600"/>
                </a:lnTo>
                <a:lnTo>
                  <a:pt x="1304925" y="619125"/>
                </a:lnTo>
                <a:lnTo>
                  <a:pt x="1266825" y="619125"/>
                </a:lnTo>
                <a:lnTo>
                  <a:pt x="1257300" y="609600"/>
                </a:lnTo>
                <a:lnTo>
                  <a:pt x="1247775" y="609600"/>
                </a:lnTo>
                <a:lnTo>
                  <a:pt x="1238250" y="600075"/>
                </a:lnTo>
                <a:lnTo>
                  <a:pt x="1228725" y="600075"/>
                </a:lnTo>
                <a:lnTo>
                  <a:pt x="1219200" y="590550"/>
                </a:lnTo>
                <a:lnTo>
                  <a:pt x="1209675" y="590550"/>
                </a:lnTo>
                <a:lnTo>
                  <a:pt x="1190625" y="571500"/>
                </a:lnTo>
                <a:lnTo>
                  <a:pt x="1181100" y="571500"/>
                </a:lnTo>
                <a:lnTo>
                  <a:pt x="1171575" y="561975"/>
                </a:lnTo>
                <a:lnTo>
                  <a:pt x="1152525" y="561975"/>
                </a:lnTo>
                <a:lnTo>
                  <a:pt x="1143000" y="552450"/>
                </a:lnTo>
                <a:lnTo>
                  <a:pt x="1114425" y="552450"/>
                </a:lnTo>
                <a:lnTo>
                  <a:pt x="1104900" y="542925"/>
                </a:lnTo>
                <a:lnTo>
                  <a:pt x="971550" y="542925"/>
                </a:lnTo>
                <a:lnTo>
                  <a:pt x="962025" y="533400"/>
                </a:lnTo>
                <a:lnTo>
                  <a:pt x="857250" y="533400"/>
                </a:lnTo>
                <a:lnTo>
                  <a:pt x="847725" y="542925"/>
                </a:lnTo>
                <a:lnTo>
                  <a:pt x="838200" y="542925"/>
                </a:lnTo>
                <a:lnTo>
                  <a:pt x="828675" y="552450"/>
                </a:lnTo>
                <a:lnTo>
                  <a:pt x="819150" y="552450"/>
                </a:lnTo>
                <a:lnTo>
                  <a:pt x="733425" y="638175"/>
                </a:lnTo>
                <a:lnTo>
                  <a:pt x="723900" y="638175"/>
                </a:lnTo>
                <a:lnTo>
                  <a:pt x="704850" y="657225"/>
                </a:lnTo>
                <a:lnTo>
                  <a:pt x="695325" y="657225"/>
                </a:lnTo>
                <a:lnTo>
                  <a:pt x="676275" y="676275"/>
                </a:lnTo>
                <a:lnTo>
                  <a:pt x="666750" y="676275"/>
                </a:lnTo>
                <a:lnTo>
                  <a:pt x="657225" y="685800"/>
                </a:lnTo>
                <a:lnTo>
                  <a:pt x="657225" y="695325"/>
                </a:lnTo>
                <a:lnTo>
                  <a:pt x="647700" y="704850"/>
                </a:lnTo>
                <a:lnTo>
                  <a:pt x="647700" y="714375"/>
                </a:lnTo>
                <a:lnTo>
                  <a:pt x="638175" y="723900"/>
                </a:lnTo>
                <a:lnTo>
                  <a:pt x="638175" y="771525"/>
                </a:lnTo>
                <a:lnTo>
                  <a:pt x="647700" y="781050"/>
                </a:lnTo>
                <a:lnTo>
                  <a:pt x="647700" y="790575"/>
                </a:lnTo>
                <a:lnTo>
                  <a:pt x="657225" y="800100"/>
                </a:lnTo>
                <a:lnTo>
                  <a:pt x="657225" y="809625"/>
                </a:lnTo>
                <a:lnTo>
                  <a:pt x="695325" y="847725"/>
                </a:lnTo>
                <a:lnTo>
                  <a:pt x="695325" y="857250"/>
                </a:lnTo>
                <a:lnTo>
                  <a:pt x="704850" y="866775"/>
                </a:lnTo>
                <a:lnTo>
                  <a:pt x="704850" y="876300"/>
                </a:lnTo>
                <a:lnTo>
                  <a:pt x="714375" y="885825"/>
                </a:lnTo>
                <a:lnTo>
                  <a:pt x="714375" y="981075"/>
                </a:lnTo>
                <a:lnTo>
                  <a:pt x="723900" y="990600"/>
                </a:lnTo>
                <a:lnTo>
                  <a:pt x="723900" y="1019175"/>
                </a:lnTo>
                <a:lnTo>
                  <a:pt x="733425" y="1028700"/>
                </a:lnTo>
                <a:lnTo>
                  <a:pt x="733425" y="1038225"/>
                </a:lnTo>
                <a:lnTo>
                  <a:pt x="742950" y="1047750"/>
                </a:lnTo>
                <a:lnTo>
                  <a:pt x="742950" y="1066800"/>
                </a:lnTo>
                <a:lnTo>
                  <a:pt x="752475" y="1076325"/>
                </a:lnTo>
                <a:lnTo>
                  <a:pt x="752475" y="1104900"/>
                </a:lnTo>
                <a:lnTo>
                  <a:pt x="762000" y="1114425"/>
                </a:lnTo>
                <a:lnTo>
                  <a:pt x="762000" y="1162050"/>
                </a:lnTo>
                <a:lnTo>
                  <a:pt x="771525" y="1171575"/>
                </a:lnTo>
                <a:lnTo>
                  <a:pt x="771525" y="1209675"/>
                </a:lnTo>
                <a:lnTo>
                  <a:pt x="781050" y="1219200"/>
                </a:lnTo>
                <a:lnTo>
                  <a:pt x="781050" y="1238250"/>
                </a:lnTo>
                <a:lnTo>
                  <a:pt x="790575" y="1247775"/>
                </a:lnTo>
                <a:lnTo>
                  <a:pt x="790575" y="1257300"/>
                </a:lnTo>
                <a:lnTo>
                  <a:pt x="800100" y="1266825"/>
                </a:lnTo>
                <a:lnTo>
                  <a:pt x="800100" y="1276350"/>
                </a:lnTo>
                <a:lnTo>
                  <a:pt x="809625" y="1285875"/>
                </a:lnTo>
                <a:lnTo>
                  <a:pt x="809625" y="1295400"/>
                </a:lnTo>
                <a:lnTo>
                  <a:pt x="828675" y="1314450"/>
                </a:lnTo>
                <a:lnTo>
                  <a:pt x="828675" y="1323975"/>
                </a:lnTo>
                <a:lnTo>
                  <a:pt x="857250" y="1352550"/>
                </a:lnTo>
                <a:lnTo>
                  <a:pt x="857250" y="1362075"/>
                </a:lnTo>
                <a:lnTo>
                  <a:pt x="876300" y="1381125"/>
                </a:lnTo>
                <a:lnTo>
                  <a:pt x="876300" y="1390650"/>
                </a:lnTo>
                <a:lnTo>
                  <a:pt x="885825" y="1400175"/>
                </a:lnTo>
                <a:lnTo>
                  <a:pt x="885825" y="1409700"/>
                </a:lnTo>
                <a:lnTo>
                  <a:pt x="895350" y="1419225"/>
                </a:lnTo>
                <a:lnTo>
                  <a:pt x="895350" y="1428750"/>
                </a:lnTo>
                <a:lnTo>
                  <a:pt x="904875" y="1438275"/>
                </a:lnTo>
                <a:lnTo>
                  <a:pt x="904875" y="1447800"/>
                </a:lnTo>
                <a:lnTo>
                  <a:pt x="914400" y="1457325"/>
                </a:lnTo>
                <a:lnTo>
                  <a:pt x="914400" y="1476375"/>
                </a:lnTo>
                <a:lnTo>
                  <a:pt x="923925" y="1485900"/>
                </a:lnTo>
                <a:lnTo>
                  <a:pt x="923925" y="1504950"/>
                </a:lnTo>
                <a:lnTo>
                  <a:pt x="933450" y="1514475"/>
                </a:lnTo>
                <a:lnTo>
                  <a:pt x="933450" y="1695450"/>
                </a:lnTo>
                <a:lnTo>
                  <a:pt x="942975" y="1704975"/>
                </a:lnTo>
                <a:lnTo>
                  <a:pt x="942975" y="1743075"/>
                </a:lnTo>
                <a:lnTo>
                  <a:pt x="952500" y="1752600"/>
                </a:lnTo>
                <a:lnTo>
                  <a:pt x="952500" y="1790700"/>
                </a:lnTo>
                <a:lnTo>
                  <a:pt x="962025" y="1800225"/>
                </a:lnTo>
                <a:lnTo>
                  <a:pt x="962025" y="1819275"/>
                </a:lnTo>
                <a:lnTo>
                  <a:pt x="971550" y="1828800"/>
                </a:lnTo>
                <a:lnTo>
                  <a:pt x="971550" y="1838325"/>
                </a:lnTo>
                <a:lnTo>
                  <a:pt x="981075" y="1847850"/>
                </a:lnTo>
                <a:lnTo>
                  <a:pt x="981075" y="1857375"/>
                </a:lnTo>
                <a:lnTo>
                  <a:pt x="1019175" y="1895475"/>
                </a:lnTo>
                <a:lnTo>
                  <a:pt x="1057275" y="1895475"/>
                </a:lnTo>
                <a:lnTo>
                  <a:pt x="1066800" y="1885950"/>
                </a:lnTo>
                <a:lnTo>
                  <a:pt x="1076325" y="1885950"/>
                </a:lnTo>
                <a:lnTo>
                  <a:pt x="1085850" y="1876425"/>
                </a:lnTo>
                <a:lnTo>
                  <a:pt x="1095375" y="1876425"/>
                </a:lnTo>
                <a:lnTo>
                  <a:pt x="1114425" y="1857375"/>
                </a:lnTo>
                <a:lnTo>
                  <a:pt x="1152525" y="1857375"/>
                </a:lnTo>
                <a:lnTo>
                  <a:pt x="1190625" y="1895475"/>
                </a:lnTo>
                <a:lnTo>
                  <a:pt x="1190625" y="1933575"/>
                </a:lnTo>
                <a:lnTo>
                  <a:pt x="1162050" y="1962150"/>
                </a:lnTo>
                <a:lnTo>
                  <a:pt x="1152525" y="1962150"/>
                </a:lnTo>
                <a:lnTo>
                  <a:pt x="1143000" y="1971675"/>
                </a:lnTo>
                <a:lnTo>
                  <a:pt x="1133475" y="1971675"/>
                </a:lnTo>
                <a:lnTo>
                  <a:pt x="1123950" y="1981200"/>
                </a:lnTo>
                <a:lnTo>
                  <a:pt x="1104900" y="1981200"/>
                </a:lnTo>
                <a:lnTo>
                  <a:pt x="1095375" y="1990725"/>
                </a:lnTo>
                <a:lnTo>
                  <a:pt x="1085850" y="1990725"/>
                </a:lnTo>
                <a:lnTo>
                  <a:pt x="1066800" y="2009775"/>
                </a:lnTo>
                <a:lnTo>
                  <a:pt x="1066800" y="2019300"/>
                </a:lnTo>
                <a:lnTo>
                  <a:pt x="1057275" y="2028825"/>
                </a:lnTo>
                <a:lnTo>
                  <a:pt x="1057275" y="2066925"/>
                </a:lnTo>
                <a:lnTo>
                  <a:pt x="1066800" y="2076450"/>
                </a:lnTo>
                <a:lnTo>
                  <a:pt x="1066800" y="2085975"/>
                </a:lnTo>
                <a:lnTo>
                  <a:pt x="1076325" y="2095500"/>
                </a:lnTo>
                <a:lnTo>
                  <a:pt x="1076325" y="2105025"/>
                </a:lnTo>
                <a:lnTo>
                  <a:pt x="1095375" y="2124075"/>
                </a:lnTo>
                <a:lnTo>
                  <a:pt x="1104900" y="2124075"/>
                </a:lnTo>
                <a:lnTo>
                  <a:pt x="1114425" y="2133600"/>
                </a:lnTo>
                <a:lnTo>
                  <a:pt x="1123950" y="2133600"/>
                </a:lnTo>
                <a:lnTo>
                  <a:pt x="1133475" y="2143125"/>
                </a:lnTo>
                <a:lnTo>
                  <a:pt x="1143000" y="2133600"/>
                </a:lnTo>
                <a:lnTo>
                  <a:pt x="1162050" y="2133600"/>
                </a:lnTo>
                <a:lnTo>
                  <a:pt x="1238250" y="2057400"/>
                </a:lnTo>
                <a:lnTo>
                  <a:pt x="1238250" y="2047875"/>
                </a:lnTo>
                <a:lnTo>
                  <a:pt x="1257300" y="2028825"/>
                </a:lnTo>
                <a:lnTo>
                  <a:pt x="1257300" y="2019300"/>
                </a:lnTo>
                <a:lnTo>
                  <a:pt x="1285875" y="1990725"/>
                </a:lnTo>
                <a:lnTo>
                  <a:pt x="1285875" y="1981200"/>
                </a:lnTo>
                <a:lnTo>
                  <a:pt x="1304925" y="1962150"/>
                </a:lnTo>
                <a:lnTo>
                  <a:pt x="1304925" y="1952625"/>
                </a:lnTo>
                <a:lnTo>
                  <a:pt x="1314450" y="1943100"/>
                </a:lnTo>
                <a:lnTo>
                  <a:pt x="1314450" y="1924050"/>
                </a:lnTo>
                <a:lnTo>
                  <a:pt x="1323975" y="1914525"/>
                </a:lnTo>
                <a:lnTo>
                  <a:pt x="1323975" y="1895475"/>
                </a:lnTo>
                <a:lnTo>
                  <a:pt x="1333500" y="1885950"/>
                </a:lnTo>
                <a:lnTo>
                  <a:pt x="1333500" y="1866900"/>
                </a:lnTo>
                <a:lnTo>
                  <a:pt x="1343025" y="1857375"/>
                </a:lnTo>
                <a:lnTo>
                  <a:pt x="1343025" y="1847850"/>
                </a:lnTo>
                <a:lnTo>
                  <a:pt x="1352550" y="1838325"/>
                </a:lnTo>
                <a:lnTo>
                  <a:pt x="1352550" y="1828800"/>
                </a:lnTo>
                <a:lnTo>
                  <a:pt x="1362075" y="1819275"/>
                </a:lnTo>
                <a:lnTo>
                  <a:pt x="1362075" y="1809750"/>
                </a:lnTo>
                <a:lnTo>
                  <a:pt x="1371600" y="1800225"/>
                </a:lnTo>
                <a:lnTo>
                  <a:pt x="1371600" y="1752600"/>
                </a:lnTo>
                <a:lnTo>
                  <a:pt x="1362075" y="1743075"/>
                </a:lnTo>
                <a:lnTo>
                  <a:pt x="1362075" y="1704975"/>
                </a:lnTo>
                <a:lnTo>
                  <a:pt x="1352550" y="1695450"/>
                </a:lnTo>
                <a:lnTo>
                  <a:pt x="1352550" y="1666875"/>
                </a:lnTo>
                <a:lnTo>
                  <a:pt x="1343025" y="1657350"/>
                </a:lnTo>
                <a:lnTo>
                  <a:pt x="1343025" y="1647825"/>
                </a:lnTo>
                <a:lnTo>
                  <a:pt x="1323975" y="1628775"/>
                </a:lnTo>
                <a:lnTo>
                  <a:pt x="1314450" y="1628775"/>
                </a:lnTo>
                <a:lnTo>
                  <a:pt x="1304925" y="1619250"/>
                </a:lnTo>
                <a:lnTo>
                  <a:pt x="1295400" y="1619250"/>
                </a:lnTo>
                <a:lnTo>
                  <a:pt x="1285875" y="1609725"/>
                </a:lnTo>
                <a:lnTo>
                  <a:pt x="1171575" y="1609725"/>
                </a:lnTo>
                <a:lnTo>
                  <a:pt x="1162050" y="1600200"/>
                </a:lnTo>
                <a:lnTo>
                  <a:pt x="1133475" y="1600200"/>
                </a:lnTo>
                <a:lnTo>
                  <a:pt x="1123950" y="1590675"/>
                </a:lnTo>
                <a:lnTo>
                  <a:pt x="1114425" y="1590675"/>
                </a:lnTo>
                <a:lnTo>
                  <a:pt x="1076325" y="1552575"/>
                </a:lnTo>
                <a:lnTo>
                  <a:pt x="1076325" y="1543050"/>
                </a:lnTo>
                <a:lnTo>
                  <a:pt x="1066800" y="1533525"/>
                </a:lnTo>
                <a:lnTo>
                  <a:pt x="1066800" y="1495425"/>
                </a:lnTo>
                <a:lnTo>
                  <a:pt x="1076325" y="1485900"/>
                </a:lnTo>
                <a:lnTo>
                  <a:pt x="1076325" y="1476375"/>
                </a:lnTo>
                <a:lnTo>
                  <a:pt x="1085850" y="1466850"/>
                </a:lnTo>
                <a:lnTo>
                  <a:pt x="1085850" y="1457325"/>
                </a:lnTo>
                <a:lnTo>
                  <a:pt x="1095375" y="1447800"/>
                </a:lnTo>
                <a:lnTo>
                  <a:pt x="1095375" y="1428750"/>
                </a:lnTo>
                <a:lnTo>
                  <a:pt x="1104900" y="1419225"/>
                </a:lnTo>
                <a:lnTo>
                  <a:pt x="1104900" y="1409700"/>
                </a:lnTo>
                <a:lnTo>
                  <a:pt x="1114425" y="1400175"/>
                </a:lnTo>
                <a:lnTo>
                  <a:pt x="1114425" y="1295400"/>
                </a:lnTo>
                <a:lnTo>
                  <a:pt x="1104900" y="1285875"/>
                </a:lnTo>
                <a:lnTo>
                  <a:pt x="1104900" y="1257300"/>
                </a:lnTo>
                <a:lnTo>
                  <a:pt x="1095375" y="1247775"/>
                </a:lnTo>
                <a:lnTo>
                  <a:pt x="1095375" y="1228725"/>
                </a:lnTo>
                <a:lnTo>
                  <a:pt x="1085850" y="1219200"/>
                </a:lnTo>
                <a:lnTo>
                  <a:pt x="1085850" y="1209675"/>
                </a:lnTo>
                <a:lnTo>
                  <a:pt x="1076325" y="1200150"/>
                </a:lnTo>
                <a:lnTo>
                  <a:pt x="1076325" y="1190625"/>
                </a:lnTo>
                <a:lnTo>
                  <a:pt x="1066800" y="1181100"/>
                </a:lnTo>
                <a:lnTo>
                  <a:pt x="1066800" y="1171575"/>
                </a:lnTo>
                <a:lnTo>
                  <a:pt x="1047750" y="1152525"/>
                </a:lnTo>
                <a:lnTo>
                  <a:pt x="1047750" y="1143000"/>
                </a:lnTo>
                <a:lnTo>
                  <a:pt x="1038225" y="1133475"/>
                </a:lnTo>
                <a:lnTo>
                  <a:pt x="1038225" y="1123950"/>
                </a:lnTo>
                <a:lnTo>
                  <a:pt x="1028700" y="1114425"/>
                </a:lnTo>
                <a:lnTo>
                  <a:pt x="1028700" y="1095375"/>
                </a:lnTo>
                <a:lnTo>
                  <a:pt x="1019175" y="1085850"/>
                </a:lnTo>
                <a:lnTo>
                  <a:pt x="1019175" y="1028700"/>
                </a:lnTo>
                <a:lnTo>
                  <a:pt x="1009650" y="1019175"/>
                </a:lnTo>
                <a:lnTo>
                  <a:pt x="1009650" y="990600"/>
                </a:lnTo>
                <a:lnTo>
                  <a:pt x="1019175" y="981075"/>
                </a:lnTo>
                <a:lnTo>
                  <a:pt x="1019175" y="952500"/>
                </a:lnTo>
                <a:lnTo>
                  <a:pt x="1028700" y="942975"/>
                </a:lnTo>
                <a:lnTo>
                  <a:pt x="1028700" y="923925"/>
                </a:lnTo>
                <a:lnTo>
                  <a:pt x="1038225" y="914400"/>
                </a:lnTo>
                <a:lnTo>
                  <a:pt x="1038225" y="904875"/>
                </a:lnTo>
                <a:lnTo>
                  <a:pt x="1085850" y="857250"/>
                </a:lnTo>
                <a:lnTo>
                  <a:pt x="1095375" y="857250"/>
                </a:lnTo>
                <a:lnTo>
                  <a:pt x="1104900" y="847725"/>
                </a:lnTo>
                <a:lnTo>
                  <a:pt x="1123950" y="847725"/>
                </a:lnTo>
                <a:lnTo>
                  <a:pt x="1133475" y="838200"/>
                </a:lnTo>
                <a:lnTo>
                  <a:pt x="1162050" y="838200"/>
                </a:lnTo>
                <a:lnTo>
                  <a:pt x="1171575" y="828675"/>
                </a:lnTo>
                <a:lnTo>
                  <a:pt x="1209675" y="828675"/>
                </a:lnTo>
                <a:lnTo>
                  <a:pt x="1219200" y="819150"/>
                </a:lnTo>
                <a:lnTo>
                  <a:pt x="1352550" y="819150"/>
                </a:lnTo>
                <a:lnTo>
                  <a:pt x="1371600" y="838200"/>
                </a:lnTo>
                <a:lnTo>
                  <a:pt x="1371600" y="857250"/>
                </a:lnTo>
                <a:lnTo>
                  <a:pt x="1362075" y="866775"/>
                </a:lnTo>
                <a:lnTo>
                  <a:pt x="1362075" y="876300"/>
                </a:lnTo>
                <a:lnTo>
                  <a:pt x="1343025" y="895350"/>
                </a:lnTo>
                <a:lnTo>
                  <a:pt x="1343025" y="904875"/>
                </a:lnTo>
                <a:lnTo>
                  <a:pt x="1333500" y="914400"/>
                </a:lnTo>
                <a:lnTo>
                  <a:pt x="1333500" y="923925"/>
                </a:lnTo>
                <a:lnTo>
                  <a:pt x="1323975" y="933450"/>
                </a:lnTo>
                <a:lnTo>
                  <a:pt x="1323975" y="942975"/>
                </a:lnTo>
                <a:lnTo>
                  <a:pt x="1314450" y="952500"/>
                </a:lnTo>
                <a:lnTo>
                  <a:pt x="1314450" y="971550"/>
                </a:lnTo>
                <a:lnTo>
                  <a:pt x="1304925" y="981075"/>
                </a:lnTo>
                <a:lnTo>
                  <a:pt x="1304925" y="1009650"/>
                </a:lnTo>
                <a:lnTo>
                  <a:pt x="1295400" y="1019175"/>
                </a:lnTo>
                <a:lnTo>
                  <a:pt x="1295400" y="1038225"/>
                </a:lnTo>
                <a:lnTo>
                  <a:pt x="1285875" y="1047750"/>
                </a:lnTo>
                <a:lnTo>
                  <a:pt x="1285875" y="1057275"/>
                </a:lnTo>
                <a:lnTo>
                  <a:pt x="1266825" y="1076325"/>
                </a:lnTo>
                <a:lnTo>
                  <a:pt x="1266825" y="1085850"/>
                </a:lnTo>
                <a:lnTo>
                  <a:pt x="1228725" y="1123950"/>
                </a:lnTo>
                <a:lnTo>
                  <a:pt x="1228725" y="1133475"/>
                </a:lnTo>
                <a:lnTo>
                  <a:pt x="1219200" y="1143000"/>
                </a:lnTo>
                <a:lnTo>
                  <a:pt x="1219200" y="1152525"/>
                </a:lnTo>
                <a:lnTo>
                  <a:pt x="1209675" y="1162050"/>
                </a:lnTo>
                <a:lnTo>
                  <a:pt x="1209675" y="1171575"/>
                </a:lnTo>
                <a:lnTo>
                  <a:pt x="1200150" y="1181100"/>
                </a:lnTo>
                <a:lnTo>
                  <a:pt x="1200150" y="1219200"/>
                </a:lnTo>
                <a:lnTo>
                  <a:pt x="1190625" y="1228725"/>
                </a:lnTo>
                <a:lnTo>
                  <a:pt x="1190625" y="1247775"/>
                </a:lnTo>
                <a:lnTo>
                  <a:pt x="1200150" y="1257300"/>
                </a:lnTo>
                <a:lnTo>
                  <a:pt x="1200150" y="1276350"/>
                </a:lnTo>
                <a:lnTo>
                  <a:pt x="1209675" y="1285875"/>
                </a:lnTo>
                <a:lnTo>
                  <a:pt x="1219200" y="1285875"/>
                </a:lnTo>
                <a:lnTo>
                  <a:pt x="1228725" y="1295400"/>
                </a:lnTo>
                <a:lnTo>
                  <a:pt x="1266825" y="1295400"/>
                </a:lnTo>
                <a:lnTo>
                  <a:pt x="1276350" y="1285875"/>
                </a:lnTo>
                <a:lnTo>
                  <a:pt x="1285875" y="1285875"/>
                </a:lnTo>
                <a:lnTo>
                  <a:pt x="1314450" y="1257300"/>
                </a:lnTo>
                <a:lnTo>
                  <a:pt x="1314450" y="1247775"/>
                </a:lnTo>
                <a:lnTo>
                  <a:pt x="1352550" y="1209675"/>
                </a:lnTo>
                <a:lnTo>
                  <a:pt x="1390650" y="1209675"/>
                </a:lnTo>
                <a:lnTo>
                  <a:pt x="1428750" y="1247775"/>
                </a:lnTo>
                <a:lnTo>
                  <a:pt x="1428750" y="1257300"/>
                </a:lnTo>
                <a:lnTo>
                  <a:pt x="1438275" y="1266825"/>
                </a:lnTo>
                <a:lnTo>
                  <a:pt x="1438275" y="1276350"/>
                </a:lnTo>
                <a:lnTo>
                  <a:pt x="1447800" y="1285875"/>
                </a:lnTo>
                <a:lnTo>
                  <a:pt x="1447800" y="1295400"/>
                </a:lnTo>
                <a:lnTo>
                  <a:pt x="1457325" y="1304925"/>
                </a:lnTo>
                <a:lnTo>
                  <a:pt x="1457325" y="1314450"/>
                </a:lnTo>
                <a:lnTo>
                  <a:pt x="1466850" y="1323975"/>
                </a:lnTo>
                <a:lnTo>
                  <a:pt x="1466850" y="1333500"/>
                </a:lnTo>
                <a:lnTo>
                  <a:pt x="1485900" y="1352550"/>
                </a:lnTo>
                <a:lnTo>
                  <a:pt x="1485900" y="1362075"/>
                </a:lnTo>
                <a:lnTo>
                  <a:pt x="1495425" y="1371600"/>
                </a:lnTo>
                <a:lnTo>
                  <a:pt x="1504950" y="1371600"/>
                </a:lnTo>
                <a:lnTo>
                  <a:pt x="1524000" y="1390650"/>
                </a:lnTo>
                <a:lnTo>
                  <a:pt x="1562100" y="1390650"/>
                </a:lnTo>
                <a:lnTo>
                  <a:pt x="1571625" y="1381125"/>
                </a:lnTo>
                <a:lnTo>
                  <a:pt x="1581150" y="1381125"/>
                </a:lnTo>
                <a:lnTo>
                  <a:pt x="1590675" y="1371600"/>
                </a:lnTo>
                <a:lnTo>
                  <a:pt x="1600200" y="1371600"/>
                </a:lnTo>
                <a:lnTo>
                  <a:pt x="1619250" y="1352550"/>
                </a:lnTo>
                <a:lnTo>
                  <a:pt x="1628775" y="1352550"/>
                </a:lnTo>
                <a:lnTo>
                  <a:pt x="1638300" y="1343025"/>
                </a:lnTo>
                <a:lnTo>
                  <a:pt x="1685925" y="1343025"/>
                </a:lnTo>
                <a:lnTo>
                  <a:pt x="1695450" y="1352550"/>
                </a:lnTo>
                <a:lnTo>
                  <a:pt x="1704975" y="1352550"/>
                </a:lnTo>
                <a:lnTo>
                  <a:pt x="1714500" y="1362075"/>
                </a:lnTo>
                <a:lnTo>
                  <a:pt x="1724025" y="1362075"/>
                </a:lnTo>
                <a:lnTo>
                  <a:pt x="1733550" y="1371600"/>
                </a:lnTo>
                <a:lnTo>
                  <a:pt x="1743075" y="1371600"/>
                </a:lnTo>
                <a:lnTo>
                  <a:pt x="1752600" y="1381125"/>
                </a:lnTo>
                <a:lnTo>
                  <a:pt x="1828800" y="1381125"/>
                </a:lnTo>
                <a:lnTo>
                  <a:pt x="1838325" y="1371600"/>
                </a:lnTo>
                <a:lnTo>
                  <a:pt x="1847850" y="1371600"/>
                </a:lnTo>
                <a:lnTo>
                  <a:pt x="1857375" y="1362075"/>
                </a:lnTo>
                <a:lnTo>
                  <a:pt x="1866900" y="1362075"/>
                </a:lnTo>
                <a:lnTo>
                  <a:pt x="1876425" y="1352550"/>
                </a:lnTo>
                <a:lnTo>
                  <a:pt x="1876425" y="1343025"/>
                </a:lnTo>
                <a:lnTo>
                  <a:pt x="1885950" y="1333500"/>
                </a:lnTo>
                <a:lnTo>
                  <a:pt x="1885950" y="1323975"/>
                </a:lnTo>
                <a:lnTo>
                  <a:pt x="1895475" y="1314450"/>
                </a:lnTo>
                <a:lnTo>
                  <a:pt x="1895475" y="1295400"/>
                </a:lnTo>
                <a:lnTo>
                  <a:pt x="1905000" y="1285875"/>
                </a:lnTo>
                <a:lnTo>
                  <a:pt x="1905000" y="1247775"/>
                </a:lnTo>
                <a:lnTo>
                  <a:pt x="1914525" y="1238250"/>
                </a:lnTo>
                <a:lnTo>
                  <a:pt x="1914525" y="1200150"/>
                </a:lnTo>
                <a:lnTo>
                  <a:pt x="1924050" y="1190625"/>
                </a:lnTo>
                <a:lnTo>
                  <a:pt x="1924050" y="1171575"/>
                </a:lnTo>
                <a:lnTo>
                  <a:pt x="1933575" y="1162050"/>
                </a:lnTo>
                <a:lnTo>
                  <a:pt x="1933575" y="1152525"/>
                </a:lnTo>
                <a:lnTo>
                  <a:pt x="1971675" y="1114425"/>
                </a:lnTo>
                <a:lnTo>
                  <a:pt x="1990725" y="1114425"/>
                </a:lnTo>
                <a:lnTo>
                  <a:pt x="2000250" y="1104900"/>
                </a:lnTo>
                <a:lnTo>
                  <a:pt x="2009775" y="1104900"/>
                </a:lnTo>
                <a:lnTo>
                  <a:pt x="2028825" y="1085850"/>
                </a:lnTo>
                <a:lnTo>
                  <a:pt x="2028825" y="1076325"/>
                </a:lnTo>
                <a:lnTo>
                  <a:pt x="2038350" y="1066800"/>
                </a:lnTo>
                <a:lnTo>
                  <a:pt x="2038350" y="1047750"/>
                </a:lnTo>
                <a:lnTo>
                  <a:pt x="2047875" y="1038225"/>
                </a:lnTo>
                <a:lnTo>
                  <a:pt x="2047875" y="1019175"/>
                </a:lnTo>
                <a:lnTo>
                  <a:pt x="2057400" y="1009650"/>
                </a:lnTo>
                <a:lnTo>
                  <a:pt x="2057400" y="1000125"/>
                </a:lnTo>
                <a:lnTo>
                  <a:pt x="2095500" y="962025"/>
                </a:lnTo>
                <a:lnTo>
                  <a:pt x="2105025" y="962025"/>
                </a:lnTo>
                <a:lnTo>
                  <a:pt x="2114550" y="952500"/>
                </a:lnTo>
                <a:lnTo>
                  <a:pt x="2133600" y="952500"/>
                </a:lnTo>
                <a:lnTo>
                  <a:pt x="2143125" y="942975"/>
                </a:lnTo>
                <a:lnTo>
                  <a:pt x="2219325" y="942975"/>
                </a:lnTo>
                <a:lnTo>
                  <a:pt x="2228850" y="952500"/>
                </a:lnTo>
                <a:lnTo>
                  <a:pt x="2247900" y="952500"/>
                </a:lnTo>
                <a:lnTo>
                  <a:pt x="2257425" y="962025"/>
                </a:lnTo>
                <a:lnTo>
                  <a:pt x="2286000" y="962025"/>
                </a:lnTo>
                <a:lnTo>
                  <a:pt x="2295525" y="971550"/>
                </a:lnTo>
                <a:lnTo>
                  <a:pt x="2324100" y="971550"/>
                </a:lnTo>
                <a:lnTo>
                  <a:pt x="2333625" y="981075"/>
                </a:lnTo>
                <a:lnTo>
                  <a:pt x="2352675" y="981075"/>
                </a:lnTo>
                <a:lnTo>
                  <a:pt x="2362200" y="990600"/>
                </a:lnTo>
                <a:lnTo>
                  <a:pt x="2371725" y="990600"/>
                </a:lnTo>
                <a:lnTo>
                  <a:pt x="2419350" y="1038225"/>
                </a:lnTo>
                <a:lnTo>
                  <a:pt x="2419350" y="1066800"/>
                </a:lnTo>
                <a:lnTo>
                  <a:pt x="2409825" y="1076325"/>
                </a:lnTo>
                <a:lnTo>
                  <a:pt x="2409825" y="1104900"/>
                </a:lnTo>
                <a:lnTo>
                  <a:pt x="2400300" y="1114425"/>
                </a:lnTo>
                <a:lnTo>
                  <a:pt x="2400300" y="1123950"/>
                </a:lnTo>
                <a:lnTo>
                  <a:pt x="2390775" y="1133475"/>
                </a:lnTo>
                <a:lnTo>
                  <a:pt x="2390775" y="1143000"/>
                </a:lnTo>
                <a:lnTo>
                  <a:pt x="2381250" y="1152525"/>
                </a:lnTo>
                <a:lnTo>
                  <a:pt x="2381250" y="1162050"/>
                </a:lnTo>
                <a:lnTo>
                  <a:pt x="2371725" y="1171575"/>
                </a:lnTo>
                <a:lnTo>
                  <a:pt x="2371725" y="1181100"/>
                </a:lnTo>
                <a:lnTo>
                  <a:pt x="2324100" y="1228725"/>
                </a:lnTo>
                <a:lnTo>
                  <a:pt x="2266950" y="1228725"/>
                </a:lnTo>
                <a:lnTo>
                  <a:pt x="2257425" y="1219200"/>
                </a:lnTo>
                <a:lnTo>
                  <a:pt x="2219325" y="1219200"/>
                </a:lnTo>
                <a:lnTo>
                  <a:pt x="2209800" y="1209675"/>
                </a:lnTo>
                <a:lnTo>
                  <a:pt x="2200275" y="1209675"/>
                </a:lnTo>
                <a:lnTo>
                  <a:pt x="2190750" y="1219200"/>
                </a:lnTo>
                <a:lnTo>
                  <a:pt x="2162175" y="1219200"/>
                </a:lnTo>
                <a:lnTo>
                  <a:pt x="2133600" y="1247775"/>
                </a:lnTo>
                <a:lnTo>
                  <a:pt x="2133600" y="1314450"/>
                </a:lnTo>
                <a:lnTo>
                  <a:pt x="2143125" y="1323975"/>
                </a:lnTo>
                <a:lnTo>
                  <a:pt x="2143125" y="1343025"/>
                </a:lnTo>
                <a:lnTo>
                  <a:pt x="2152650" y="1352550"/>
                </a:lnTo>
                <a:lnTo>
                  <a:pt x="2152650" y="1362075"/>
                </a:lnTo>
                <a:lnTo>
                  <a:pt x="2162175" y="1371600"/>
                </a:lnTo>
                <a:lnTo>
                  <a:pt x="2162175" y="1381125"/>
                </a:lnTo>
                <a:lnTo>
                  <a:pt x="2171700" y="1390650"/>
                </a:lnTo>
                <a:lnTo>
                  <a:pt x="2171700" y="1447800"/>
                </a:lnTo>
                <a:lnTo>
                  <a:pt x="2162175" y="1457325"/>
                </a:lnTo>
                <a:lnTo>
                  <a:pt x="2162175" y="1571625"/>
                </a:lnTo>
                <a:lnTo>
                  <a:pt x="2171700" y="1581150"/>
                </a:lnTo>
                <a:lnTo>
                  <a:pt x="2171700" y="1590675"/>
                </a:lnTo>
                <a:lnTo>
                  <a:pt x="2181225" y="1600200"/>
                </a:lnTo>
                <a:lnTo>
                  <a:pt x="2181225" y="1619250"/>
                </a:lnTo>
                <a:lnTo>
                  <a:pt x="2190750" y="1628775"/>
                </a:lnTo>
                <a:lnTo>
                  <a:pt x="2190750" y="1657350"/>
                </a:lnTo>
                <a:lnTo>
                  <a:pt x="2181225" y="1666875"/>
                </a:lnTo>
                <a:lnTo>
                  <a:pt x="2181225" y="1676400"/>
                </a:lnTo>
                <a:lnTo>
                  <a:pt x="2152650" y="1704975"/>
                </a:lnTo>
                <a:lnTo>
                  <a:pt x="2152650" y="1714500"/>
                </a:lnTo>
                <a:lnTo>
                  <a:pt x="2133600" y="1733550"/>
                </a:lnTo>
                <a:lnTo>
                  <a:pt x="2133600" y="1743075"/>
                </a:lnTo>
                <a:lnTo>
                  <a:pt x="2124075" y="1752600"/>
                </a:lnTo>
                <a:lnTo>
                  <a:pt x="2124075" y="1819275"/>
                </a:lnTo>
                <a:lnTo>
                  <a:pt x="2133600" y="1828800"/>
                </a:lnTo>
                <a:lnTo>
                  <a:pt x="2133600" y="1838325"/>
                </a:lnTo>
                <a:lnTo>
                  <a:pt x="2143125" y="1847850"/>
                </a:lnTo>
                <a:lnTo>
                  <a:pt x="2143125" y="1857375"/>
                </a:lnTo>
                <a:lnTo>
                  <a:pt x="2162175" y="1876425"/>
                </a:lnTo>
                <a:lnTo>
                  <a:pt x="2171700" y="1876425"/>
                </a:lnTo>
                <a:lnTo>
                  <a:pt x="2190750" y="1895475"/>
                </a:lnTo>
                <a:lnTo>
                  <a:pt x="2200275" y="1895475"/>
                </a:lnTo>
                <a:lnTo>
                  <a:pt x="2209800" y="1905000"/>
                </a:lnTo>
                <a:lnTo>
                  <a:pt x="2219325" y="1905000"/>
                </a:lnTo>
                <a:lnTo>
                  <a:pt x="2228850" y="1914525"/>
                </a:lnTo>
                <a:lnTo>
                  <a:pt x="2238375" y="1914525"/>
                </a:lnTo>
                <a:lnTo>
                  <a:pt x="2247900" y="1924050"/>
                </a:lnTo>
                <a:lnTo>
                  <a:pt x="2257425" y="1924050"/>
                </a:lnTo>
                <a:lnTo>
                  <a:pt x="2266950" y="1933575"/>
                </a:lnTo>
                <a:lnTo>
                  <a:pt x="2276475" y="1933575"/>
                </a:lnTo>
                <a:lnTo>
                  <a:pt x="2286000" y="1943100"/>
                </a:lnTo>
                <a:lnTo>
                  <a:pt x="2333625" y="1943100"/>
                </a:lnTo>
                <a:lnTo>
                  <a:pt x="2362200" y="1914525"/>
                </a:lnTo>
                <a:lnTo>
                  <a:pt x="2362200" y="1895475"/>
                </a:lnTo>
                <a:lnTo>
                  <a:pt x="2371725" y="1885950"/>
                </a:lnTo>
                <a:lnTo>
                  <a:pt x="2371725" y="1838325"/>
                </a:lnTo>
                <a:lnTo>
                  <a:pt x="2381250" y="1828800"/>
                </a:lnTo>
                <a:lnTo>
                  <a:pt x="2381250" y="1809750"/>
                </a:lnTo>
                <a:lnTo>
                  <a:pt x="2428875" y="1762125"/>
                </a:lnTo>
                <a:lnTo>
                  <a:pt x="2476500" y="1762125"/>
                </a:lnTo>
                <a:lnTo>
                  <a:pt x="2495550" y="1781175"/>
                </a:lnTo>
                <a:lnTo>
                  <a:pt x="2505075" y="1781175"/>
                </a:lnTo>
                <a:lnTo>
                  <a:pt x="2543175" y="1819275"/>
                </a:lnTo>
                <a:lnTo>
                  <a:pt x="2543175" y="1828800"/>
                </a:lnTo>
                <a:lnTo>
                  <a:pt x="2609850" y="1895475"/>
                </a:lnTo>
                <a:lnTo>
                  <a:pt x="2619375" y="1895475"/>
                </a:lnTo>
                <a:lnTo>
                  <a:pt x="2628900" y="1905000"/>
                </a:lnTo>
                <a:lnTo>
                  <a:pt x="2657475" y="1905000"/>
                </a:lnTo>
                <a:lnTo>
                  <a:pt x="2667000" y="1914525"/>
                </a:lnTo>
                <a:lnTo>
                  <a:pt x="2857500" y="1914525"/>
                </a:lnTo>
                <a:lnTo>
                  <a:pt x="2886075" y="1943100"/>
                </a:lnTo>
                <a:lnTo>
                  <a:pt x="2895600" y="1943100"/>
                </a:lnTo>
                <a:lnTo>
                  <a:pt x="2905125" y="1952625"/>
                </a:lnTo>
                <a:lnTo>
                  <a:pt x="2924175" y="1952625"/>
                </a:lnTo>
                <a:lnTo>
                  <a:pt x="2933700" y="1962150"/>
                </a:lnTo>
                <a:lnTo>
                  <a:pt x="2962275" y="1962150"/>
                </a:lnTo>
                <a:lnTo>
                  <a:pt x="2971800" y="1971675"/>
                </a:lnTo>
                <a:lnTo>
                  <a:pt x="3076575" y="1971675"/>
                </a:lnTo>
                <a:lnTo>
                  <a:pt x="3086100" y="1981200"/>
                </a:lnTo>
                <a:lnTo>
                  <a:pt x="3105150" y="1981200"/>
                </a:lnTo>
                <a:lnTo>
                  <a:pt x="3143250" y="2019300"/>
                </a:lnTo>
                <a:lnTo>
                  <a:pt x="3143250" y="2028825"/>
                </a:lnTo>
                <a:lnTo>
                  <a:pt x="3152775" y="2038350"/>
                </a:lnTo>
                <a:lnTo>
                  <a:pt x="3152775" y="2057400"/>
                </a:lnTo>
                <a:lnTo>
                  <a:pt x="3162300" y="2066925"/>
                </a:lnTo>
                <a:lnTo>
                  <a:pt x="3162300" y="2105025"/>
                </a:lnTo>
                <a:lnTo>
                  <a:pt x="3171825" y="2114550"/>
                </a:lnTo>
                <a:lnTo>
                  <a:pt x="3171825" y="2219325"/>
                </a:lnTo>
                <a:lnTo>
                  <a:pt x="3133725" y="2257425"/>
                </a:lnTo>
                <a:lnTo>
                  <a:pt x="3124200" y="2257425"/>
                </a:lnTo>
                <a:lnTo>
                  <a:pt x="3114675" y="2266950"/>
                </a:lnTo>
                <a:lnTo>
                  <a:pt x="3105150" y="2266950"/>
                </a:lnTo>
                <a:lnTo>
                  <a:pt x="3095625" y="2276475"/>
                </a:lnTo>
                <a:lnTo>
                  <a:pt x="3076575" y="2276475"/>
                </a:lnTo>
                <a:lnTo>
                  <a:pt x="3048000" y="2305050"/>
                </a:lnTo>
                <a:lnTo>
                  <a:pt x="3038475" y="2305050"/>
                </a:lnTo>
                <a:lnTo>
                  <a:pt x="3009900" y="2333625"/>
                </a:lnTo>
                <a:lnTo>
                  <a:pt x="3000375" y="2333625"/>
                </a:lnTo>
                <a:lnTo>
                  <a:pt x="2990850" y="2343150"/>
                </a:lnTo>
                <a:lnTo>
                  <a:pt x="2971800" y="2343150"/>
                </a:lnTo>
                <a:lnTo>
                  <a:pt x="2962275" y="2333625"/>
                </a:lnTo>
                <a:lnTo>
                  <a:pt x="2933700" y="2333625"/>
                </a:lnTo>
                <a:lnTo>
                  <a:pt x="2924175" y="2324100"/>
                </a:lnTo>
                <a:lnTo>
                  <a:pt x="2876550" y="2324100"/>
                </a:lnTo>
                <a:lnTo>
                  <a:pt x="2867025" y="2314575"/>
                </a:lnTo>
                <a:lnTo>
                  <a:pt x="2828925" y="2314575"/>
                </a:lnTo>
                <a:lnTo>
                  <a:pt x="2819400" y="2324100"/>
                </a:lnTo>
                <a:lnTo>
                  <a:pt x="2743200" y="2324100"/>
                </a:lnTo>
                <a:lnTo>
                  <a:pt x="2733675" y="2333625"/>
                </a:lnTo>
                <a:lnTo>
                  <a:pt x="2714625" y="2333625"/>
                </a:lnTo>
                <a:lnTo>
                  <a:pt x="2705100" y="2343150"/>
                </a:lnTo>
                <a:lnTo>
                  <a:pt x="2695575" y="2343150"/>
                </a:lnTo>
                <a:lnTo>
                  <a:pt x="2686050" y="2352675"/>
                </a:lnTo>
                <a:lnTo>
                  <a:pt x="2676525" y="2352675"/>
                </a:lnTo>
                <a:lnTo>
                  <a:pt x="2628900" y="2400300"/>
                </a:lnTo>
                <a:lnTo>
                  <a:pt x="2628900" y="2409825"/>
                </a:lnTo>
                <a:lnTo>
                  <a:pt x="2619375" y="2419350"/>
                </a:lnTo>
                <a:lnTo>
                  <a:pt x="2619375" y="2428875"/>
                </a:lnTo>
                <a:lnTo>
                  <a:pt x="2609850" y="2438400"/>
                </a:lnTo>
                <a:lnTo>
                  <a:pt x="2609850" y="2514600"/>
                </a:lnTo>
                <a:lnTo>
                  <a:pt x="2619375" y="2524125"/>
                </a:lnTo>
                <a:lnTo>
                  <a:pt x="2619375" y="2533650"/>
                </a:lnTo>
                <a:lnTo>
                  <a:pt x="2628900" y="2543175"/>
                </a:lnTo>
                <a:lnTo>
                  <a:pt x="2628900" y="2552700"/>
                </a:lnTo>
                <a:lnTo>
                  <a:pt x="2686050" y="2609850"/>
                </a:lnTo>
                <a:lnTo>
                  <a:pt x="2695575" y="2609850"/>
                </a:lnTo>
                <a:lnTo>
                  <a:pt x="2733675" y="2647950"/>
                </a:lnTo>
                <a:lnTo>
                  <a:pt x="2733675" y="2657475"/>
                </a:lnTo>
                <a:lnTo>
                  <a:pt x="2743200" y="2667000"/>
                </a:lnTo>
                <a:lnTo>
                  <a:pt x="2743200" y="2705100"/>
                </a:lnTo>
                <a:lnTo>
                  <a:pt x="2752725" y="2714625"/>
                </a:lnTo>
                <a:lnTo>
                  <a:pt x="2752725" y="2743200"/>
                </a:lnTo>
                <a:lnTo>
                  <a:pt x="2762250" y="2752725"/>
                </a:lnTo>
                <a:lnTo>
                  <a:pt x="2762250" y="2771775"/>
                </a:lnTo>
                <a:lnTo>
                  <a:pt x="2771775" y="2781300"/>
                </a:lnTo>
                <a:lnTo>
                  <a:pt x="2771775" y="2790825"/>
                </a:lnTo>
                <a:lnTo>
                  <a:pt x="2838450" y="2857500"/>
                </a:lnTo>
                <a:lnTo>
                  <a:pt x="2847975" y="2857500"/>
                </a:lnTo>
                <a:lnTo>
                  <a:pt x="2876550" y="2886075"/>
                </a:lnTo>
                <a:lnTo>
                  <a:pt x="2876550" y="2895600"/>
                </a:lnTo>
                <a:lnTo>
                  <a:pt x="2886075" y="2905125"/>
                </a:lnTo>
                <a:lnTo>
                  <a:pt x="2886075" y="2924175"/>
                </a:lnTo>
                <a:lnTo>
                  <a:pt x="2895600" y="2933700"/>
                </a:lnTo>
                <a:lnTo>
                  <a:pt x="2895600" y="2990850"/>
                </a:lnTo>
                <a:lnTo>
                  <a:pt x="2905125" y="3000375"/>
                </a:lnTo>
                <a:lnTo>
                  <a:pt x="2905125" y="3019425"/>
                </a:lnTo>
                <a:lnTo>
                  <a:pt x="2924175" y="3038475"/>
                </a:lnTo>
                <a:lnTo>
                  <a:pt x="2924175" y="3048000"/>
                </a:lnTo>
                <a:lnTo>
                  <a:pt x="2933700" y="3057525"/>
                </a:lnTo>
                <a:lnTo>
                  <a:pt x="2933700" y="3067050"/>
                </a:lnTo>
                <a:lnTo>
                  <a:pt x="2952750" y="3086100"/>
                </a:lnTo>
                <a:lnTo>
                  <a:pt x="2952750" y="3124200"/>
                </a:lnTo>
                <a:lnTo>
                  <a:pt x="2943225" y="3133725"/>
                </a:lnTo>
                <a:lnTo>
                  <a:pt x="2933700" y="3133725"/>
                </a:lnTo>
                <a:lnTo>
                  <a:pt x="2924175" y="3143250"/>
                </a:lnTo>
                <a:lnTo>
                  <a:pt x="2886075" y="3143250"/>
                </a:lnTo>
                <a:lnTo>
                  <a:pt x="2876550" y="3133725"/>
                </a:lnTo>
                <a:lnTo>
                  <a:pt x="2867025" y="3133725"/>
                </a:lnTo>
                <a:lnTo>
                  <a:pt x="2857500" y="3124200"/>
                </a:lnTo>
                <a:lnTo>
                  <a:pt x="2857500" y="3114675"/>
                </a:lnTo>
                <a:lnTo>
                  <a:pt x="2847975" y="3105150"/>
                </a:lnTo>
                <a:lnTo>
                  <a:pt x="2847975" y="3095625"/>
                </a:lnTo>
                <a:lnTo>
                  <a:pt x="2838450" y="3086100"/>
                </a:lnTo>
                <a:lnTo>
                  <a:pt x="2838450" y="3076575"/>
                </a:lnTo>
                <a:lnTo>
                  <a:pt x="2828925" y="3067050"/>
                </a:lnTo>
                <a:lnTo>
                  <a:pt x="2828925" y="3057525"/>
                </a:lnTo>
                <a:lnTo>
                  <a:pt x="2819400" y="3048000"/>
                </a:lnTo>
                <a:lnTo>
                  <a:pt x="2819400" y="3038475"/>
                </a:lnTo>
                <a:lnTo>
                  <a:pt x="2809875" y="3028950"/>
                </a:lnTo>
                <a:lnTo>
                  <a:pt x="2800350" y="3028950"/>
                </a:lnTo>
                <a:lnTo>
                  <a:pt x="2790825" y="3019425"/>
                </a:lnTo>
                <a:lnTo>
                  <a:pt x="2781300" y="3019425"/>
                </a:lnTo>
                <a:lnTo>
                  <a:pt x="2771775" y="3009900"/>
                </a:lnTo>
                <a:lnTo>
                  <a:pt x="2752725" y="3009900"/>
                </a:lnTo>
                <a:lnTo>
                  <a:pt x="2743200" y="3000375"/>
                </a:lnTo>
                <a:lnTo>
                  <a:pt x="2705100" y="3000375"/>
                </a:lnTo>
                <a:lnTo>
                  <a:pt x="2695575" y="2990850"/>
                </a:lnTo>
                <a:lnTo>
                  <a:pt x="2571750" y="2990850"/>
                </a:lnTo>
                <a:lnTo>
                  <a:pt x="2562225" y="3000375"/>
                </a:lnTo>
                <a:lnTo>
                  <a:pt x="2543175" y="3000375"/>
                </a:lnTo>
                <a:lnTo>
                  <a:pt x="2533650" y="3009900"/>
                </a:lnTo>
                <a:lnTo>
                  <a:pt x="2514600" y="3009900"/>
                </a:lnTo>
                <a:lnTo>
                  <a:pt x="2505075" y="3019425"/>
                </a:lnTo>
                <a:lnTo>
                  <a:pt x="2476500" y="3019425"/>
                </a:lnTo>
                <a:lnTo>
                  <a:pt x="2466975" y="3028950"/>
                </a:lnTo>
                <a:lnTo>
                  <a:pt x="2343150" y="3028950"/>
                </a:lnTo>
                <a:lnTo>
                  <a:pt x="2333625" y="3038475"/>
                </a:lnTo>
                <a:lnTo>
                  <a:pt x="2286000" y="3038475"/>
                </a:lnTo>
                <a:lnTo>
                  <a:pt x="2276475" y="3048000"/>
                </a:lnTo>
                <a:lnTo>
                  <a:pt x="2247900" y="3048000"/>
                </a:lnTo>
                <a:lnTo>
                  <a:pt x="2238375" y="3057525"/>
                </a:lnTo>
                <a:lnTo>
                  <a:pt x="2209800" y="3057525"/>
                </a:lnTo>
                <a:lnTo>
                  <a:pt x="2200275" y="3067050"/>
                </a:lnTo>
                <a:lnTo>
                  <a:pt x="2124075" y="3067050"/>
                </a:lnTo>
                <a:lnTo>
                  <a:pt x="2105025" y="3048000"/>
                </a:lnTo>
                <a:lnTo>
                  <a:pt x="2105025" y="3028950"/>
                </a:lnTo>
                <a:lnTo>
                  <a:pt x="2095500" y="3019425"/>
                </a:lnTo>
                <a:lnTo>
                  <a:pt x="2095500" y="2971800"/>
                </a:lnTo>
                <a:lnTo>
                  <a:pt x="2085975" y="2962275"/>
                </a:lnTo>
                <a:lnTo>
                  <a:pt x="2085975" y="2943225"/>
                </a:lnTo>
                <a:lnTo>
                  <a:pt x="2066925" y="2924175"/>
                </a:lnTo>
                <a:lnTo>
                  <a:pt x="2047875" y="2924175"/>
                </a:lnTo>
                <a:lnTo>
                  <a:pt x="2019300" y="2952750"/>
                </a:lnTo>
                <a:lnTo>
                  <a:pt x="2019300" y="2971800"/>
                </a:lnTo>
                <a:lnTo>
                  <a:pt x="2009775" y="2981325"/>
                </a:lnTo>
                <a:lnTo>
                  <a:pt x="2009775" y="3019425"/>
                </a:lnTo>
                <a:lnTo>
                  <a:pt x="2019300" y="3028950"/>
                </a:lnTo>
                <a:lnTo>
                  <a:pt x="2019300" y="3038475"/>
                </a:lnTo>
                <a:lnTo>
                  <a:pt x="2028825" y="3048000"/>
                </a:lnTo>
                <a:lnTo>
                  <a:pt x="2038350" y="3048000"/>
                </a:lnTo>
                <a:lnTo>
                  <a:pt x="2047875" y="3057525"/>
                </a:lnTo>
                <a:lnTo>
                  <a:pt x="2057400" y="3057525"/>
                </a:lnTo>
                <a:lnTo>
                  <a:pt x="2085975" y="3086100"/>
                </a:lnTo>
                <a:lnTo>
                  <a:pt x="2085975" y="3095625"/>
                </a:lnTo>
                <a:lnTo>
                  <a:pt x="2047875" y="3133725"/>
                </a:lnTo>
                <a:lnTo>
                  <a:pt x="2038350" y="3133725"/>
                </a:lnTo>
                <a:lnTo>
                  <a:pt x="2028825" y="3143250"/>
                </a:lnTo>
                <a:lnTo>
                  <a:pt x="2019300" y="3143250"/>
                </a:lnTo>
                <a:lnTo>
                  <a:pt x="2000250" y="3162300"/>
                </a:lnTo>
                <a:lnTo>
                  <a:pt x="1990725" y="3162300"/>
                </a:lnTo>
                <a:lnTo>
                  <a:pt x="1990725" y="3171825"/>
                </a:lnTo>
                <a:lnTo>
                  <a:pt x="1981200" y="3181350"/>
                </a:lnTo>
                <a:lnTo>
                  <a:pt x="1981200" y="3190875"/>
                </a:lnTo>
                <a:lnTo>
                  <a:pt x="1971675" y="3200400"/>
                </a:lnTo>
                <a:lnTo>
                  <a:pt x="1971675" y="3238500"/>
                </a:lnTo>
                <a:lnTo>
                  <a:pt x="1962150" y="3248025"/>
                </a:lnTo>
                <a:lnTo>
                  <a:pt x="1962150" y="3333750"/>
                </a:lnTo>
                <a:lnTo>
                  <a:pt x="1971675" y="3343275"/>
                </a:lnTo>
                <a:lnTo>
                  <a:pt x="1971675" y="3362325"/>
                </a:lnTo>
                <a:lnTo>
                  <a:pt x="1981200" y="3371850"/>
                </a:lnTo>
                <a:lnTo>
                  <a:pt x="1990725" y="3371850"/>
                </a:lnTo>
                <a:lnTo>
                  <a:pt x="2000250" y="3381375"/>
                </a:lnTo>
                <a:lnTo>
                  <a:pt x="2019300" y="3381375"/>
                </a:lnTo>
                <a:lnTo>
                  <a:pt x="2057400" y="3419475"/>
                </a:lnTo>
                <a:lnTo>
                  <a:pt x="2057400" y="3476625"/>
                </a:lnTo>
                <a:lnTo>
                  <a:pt x="2047875" y="3486150"/>
                </a:lnTo>
                <a:lnTo>
                  <a:pt x="2047875" y="3495675"/>
                </a:lnTo>
                <a:lnTo>
                  <a:pt x="2038350" y="3505200"/>
                </a:lnTo>
                <a:lnTo>
                  <a:pt x="2038350" y="3533775"/>
                </a:lnTo>
                <a:lnTo>
                  <a:pt x="2047875" y="3543300"/>
                </a:lnTo>
                <a:lnTo>
                  <a:pt x="2047875" y="3552825"/>
                </a:lnTo>
                <a:lnTo>
                  <a:pt x="2057400" y="3562350"/>
                </a:lnTo>
                <a:lnTo>
                  <a:pt x="2057400" y="3571875"/>
                </a:lnTo>
                <a:lnTo>
                  <a:pt x="2085975" y="3600450"/>
                </a:lnTo>
                <a:lnTo>
                  <a:pt x="2085975" y="3609975"/>
                </a:lnTo>
                <a:lnTo>
                  <a:pt x="2105025" y="3629025"/>
                </a:lnTo>
                <a:lnTo>
                  <a:pt x="2105025" y="3657600"/>
                </a:lnTo>
                <a:lnTo>
                  <a:pt x="2114550" y="3667125"/>
                </a:lnTo>
                <a:lnTo>
                  <a:pt x="2105025" y="3676650"/>
                </a:lnTo>
                <a:lnTo>
                  <a:pt x="2105025" y="3705225"/>
                </a:lnTo>
                <a:lnTo>
                  <a:pt x="2095500" y="3714750"/>
                </a:lnTo>
                <a:lnTo>
                  <a:pt x="2095500" y="3724275"/>
                </a:lnTo>
                <a:lnTo>
                  <a:pt x="2085975" y="3733800"/>
                </a:lnTo>
                <a:lnTo>
                  <a:pt x="2085975" y="3743325"/>
                </a:lnTo>
                <a:lnTo>
                  <a:pt x="2057400" y="3771900"/>
                </a:lnTo>
                <a:lnTo>
                  <a:pt x="2038350" y="3771900"/>
                </a:lnTo>
                <a:lnTo>
                  <a:pt x="2028825" y="3762375"/>
                </a:lnTo>
                <a:lnTo>
                  <a:pt x="2019300" y="3762375"/>
                </a:lnTo>
                <a:lnTo>
                  <a:pt x="2000250" y="3743325"/>
                </a:lnTo>
                <a:lnTo>
                  <a:pt x="1990725" y="3743325"/>
                </a:lnTo>
                <a:lnTo>
                  <a:pt x="1981200" y="3733800"/>
                </a:lnTo>
                <a:lnTo>
                  <a:pt x="1971675" y="3733800"/>
                </a:lnTo>
                <a:lnTo>
                  <a:pt x="1933575" y="3695700"/>
                </a:lnTo>
                <a:lnTo>
                  <a:pt x="1933575" y="3686175"/>
                </a:lnTo>
                <a:lnTo>
                  <a:pt x="1924050" y="3676650"/>
                </a:lnTo>
                <a:lnTo>
                  <a:pt x="1924050" y="3667125"/>
                </a:lnTo>
                <a:lnTo>
                  <a:pt x="1914525" y="3657600"/>
                </a:lnTo>
                <a:lnTo>
                  <a:pt x="1914525" y="3629025"/>
                </a:lnTo>
                <a:lnTo>
                  <a:pt x="1905000" y="3619500"/>
                </a:lnTo>
                <a:lnTo>
                  <a:pt x="1905000" y="3419475"/>
                </a:lnTo>
                <a:lnTo>
                  <a:pt x="1895475" y="3409950"/>
                </a:lnTo>
                <a:lnTo>
                  <a:pt x="1857375" y="3409950"/>
                </a:lnTo>
                <a:lnTo>
                  <a:pt x="1847850" y="3400425"/>
                </a:lnTo>
                <a:lnTo>
                  <a:pt x="1771650" y="3400425"/>
                </a:lnTo>
                <a:lnTo>
                  <a:pt x="1762125" y="3390900"/>
                </a:lnTo>
                <a:lnTo>
                  <a:pt x="1724025" y="3390900"/>
                </a:lnTo>
                <a:lnTo>
                  <a:pt x="1714500" y="3381375"/>
                </a:lnTo>
                <a:lnTo>
                  <a:pt x="1685925" y="3381375"/>
                </a:lnTo>
                <a:lnTo>
                  <a:pt x="1676400" y="3371850"/>
                </a:lnTo>
                <a:lnTo>
                  <a:pt x="1657350" y="3371850"/>
                </a:lnTo>
                <a:lnTo>
                  <a:pt x="1647825" y="3362325"/>
                </a:lnTo>
                <a:lnTo>
                  <a:pt x="1628775" y="3362325"/>
                </a:lnTo>
                <a:lnTo>
                  <a:pt x="1619250" y="3352800"/>
                </a:lnTo>
                <a:lnTo>
                  <a:pt x="1609725" y="3352800"/>
                </a:lnTo>
                <a:lnTo>
                  <a:pt x="1600200" y="3343275"/>
                </a:lnTo>
                <a:lnTo>
                  <a:pt x="1590675" y="3343275"/>
                </a:lnTo>
                <a:lnTo>
                  <a:pt x="1581150" y="3333750"/>
                </a:lnTo>
                <a:lnTo>
                  <a:pt x="1562100" y="3333750"/>
                </a:lnTo>
                <a:lnTo>
                  <a:pt x="1552575" y="3324225"/>
                </a:lnTo>
                <a:lnTo>
                  <a:pt x="1533525" y="3324225"/>
                </a:lnTo>
                <a:lnTo>
                  <a:pt x="1524000" y="3314700"/>
                </a:lnTo>
                <a:lnTo>
                  <a:pt x="1485900" y="3314700"/>
                </a:lnTo>
                <a:lnTo>
                  <a:pt x="1476375" y="3305175"/>
                </a:lnTo>
                <a:lnTo>
                  <a:pt x="1419225" y="3305175"/>
                </a:lnTo>
                <a:lnTo>
                  <a:pt x="1409700" y="3295650"/>
                </a:lnTo>
                <a:lnTo>
                  <a:pt x="1381125" y="3295650"/>
                </a:lnTo>
                <a:lnTo>
                  <a:pt x="1371600" y="3286125"/>
                </a:lnTo>
                <a:lnTo>
                  <a:pt x="1362075" y="3286125"/>
                </a:lnTo>
                <a:lnTo>
                  <a:pt x="1352550" y="3276600"/>
                </a:lnTo>
                <a:lnTo>
                  <a:pt x="1343025" y="3276600"/>
                </a:lnTo>
                <a:lnTo>
                  <a:pt x="1323975" y="3257550"/>
                </a:lnTo>
                <a:lnTo>
                  <a:pt x="1314450" y="3257550"/>
                </a:lnTo>
                <a:lnTo>
                  <a:pt x="1304925" y="3248025"/>
                </a:lnTo>
                <a:lnTo>
                  <a:pt x="1295400" y="3248025"/>
                </a:lnTo>
                <a:lnTo>
                  <a:pt x="1285875" y="3238500"/>
                </a:lnTo>
                <a:lnTo>
                  <a:pt x="1266825" y="3238500"/>
                </a:lnTo>
                <a:lnTo>
                  <a:pt x="1257300" y="3248025"/>
                </a:lnTo>
                <a:lnTo>
                  <a:pt x="1247775" y="3248025"/>
                </a:lnTo>
                <a:lnTo>
                  <a:pt x="1228725" y="3267075"/>
                </a:lnTo>
                <a:lnTo>
                  <a:pt x="1228725" y="3276600"/>
                </a:lnTo>
                <a:lnTo>
                  <a:pt x="1219200" y="3286125"/>
                </a:lnTo>
                <a:lnTo>
                  <a:pt x="1219200" y="3295650"/>
                </a:lnTo>
                <a:lnTo>
                  <a:pt x="1200150" y="3314700"/>
                </a:lnTo>
                <a:lnTo>
                  <a:pt x="1200150" y="3324225"/>
                </a:lnTo>
                <a:lnTo>
                  <a:pt x="1190625" y="3333750"/>
                </a:lnTo>
                <a:lnTo>
                  <a:pt x="1190625" y="3343275"/>
                </a:lnTo>
                <a:lnTo>
                  <a:pt x="1181100" y="3352800"/>
                </a:lnTo>
                <a:lnTo>
                  <a:pt x="1181100" y="3362325"/>
                </a:lnTo>
                <a:lnTo>
                  <a:pt x="1171575" y="3371850"/>
                </a:lnTo>
                <a:lnTo>
                  <a:pt x="1171575" y="3381375"/>
                </a:lnTo>
                <a:lnTo>
                  <a:pt x="1162050" y="3390900"/>
                </a:lnTo>
                <a:lnTo>
                  <a:pt x="1162050" y="3400425"/>
                </a:lnTo>
                <a:lnTo>
                  <a:pt x="1152525" y="3409950"/>
                </a:lnTo>
                <a:lnTo>
                  <a:pt x="1152525" y="3429000"/>
                </a:lnTo>
                <a:lnTo>
                  <a:pt x="1143000" y="3438525"/>
                </a:lnTo>
                <a:lnTo>
                  <a:pt x="1143000" y="3457575"/>
                </a:lnTo>
                <a:lnTo>
                  <a:pt x="1133475" y="3467100"/>
                </a:lnTo>
                <a:lnTo>
                  <a:pt x="1133475" y="3514725"/>
                </a:lnTo>
                <a:lnTo>
                  <a:pt x="1123950" y="3524250"/>
                </a:lnTo>
                <a:lnTo>
                  <a:pt x="1133475" y="3533775"/>
                </a:lnTo>
                <a:lnTo>
                  <a:pt x="1133475" y="3581400"/>
                </a:lnTo>
                <a:lnTo>
                  <a:pt x="1143000" y="3590925"/>
                </a:lnTo>
                <a:lnTo>
                  <a:pt x="1143000" y="3609975"/>
                </a:lnTo>
                <a:lnTo>
                  <a:pt x="1152525" y="3619500"/>
                </a:lnTo>
                <a:lnTo>
                  <a:pt x="1152525" y="3638550"/>
                </a:lnTo>
                <a:lnTo>
                  <a:pt x="1162050" y="3648075"/>
                </a:lnTo>
                <a:lnTo>
                  <a:pt x="1162050" y="3667125"/>
                </a:lnTo>
                <a:lnTo>
                  <a:pt x="1171575" y="3676650"/>
                </a:lnTo>
                <a:lnTo>
                  <a:pt x="1171575" y="3695700"/>
                </a:lnTo>
                <a:lnTo>
                  <a:pt x="1181100" y="3705225"/>
                </a:lnTo>
                <a:lnTo>
                  <a:pt x="1181100" y="3733800"/>
                </a:lnTo>
                <a:lnTo>
                  <a:pt x="1190625" y="3743325"/>
                </a:lnTo>
                <a:lnTo>
                  <a:pt x="1190625" y="3762375"/>
                </a:lnTo>
                <a:lnTo>
                  <a:pt x="1200150" y="3771900"/>
                </a:lnTo>
                <a:lnTo>
                  <a:pt x="1200150" y="3781425"/>
                </a:lnTo>
                <a:lnTo>
                  <a:pt x="1209675" y="3790950"/>
                </a:lnTo>
                <a:lnTo>
                  <a:pt x="1209675" y="3800475"/>
                </a:lnTo>
                <a:lnTo>
                  <a:pt x="1295400" y="3886200"/>
                </a:lnTo>
                <a:lnTo>
                  <a:pt x="1295400" y="3905250"/>
                </a:lnTo>
                <a:lnTo>
                  <a:pt x="1304925" y="3914775"/>
                </a:lnTo>
                <a:lnTo>
                  <a:pt x="1304925" y="3933825"/>
                </a:lnTo>
                <a:lnTo>
                  <a:pt x="1314450" y="3943350"/>
                </a:lnTo>
                <a:lnTo>
                  <a:pt x="1314450" y="3971925"/>
                </a:lnTo>
                <a:lnTo>
                  <a:pt x="1323975" y="3981450"/>
                </a:lnTo>
                <a:lnTo>
                  <a:pt x="1323975" y="3990975"/>
                </a:lnTo>
                <a:lnTo>
                  <a:pt x="1333500" y="4000500"/>
                </a:lnTo>
                <a:lnTo>
                  <a:pt x="1333500" y="4010025"/>
                </a:lnTo>
                <a:lnTo>
                  <a:pt x="1371600" y="4048125"/>
                </a:lnTo>
                <a:lnTo>
                  <a:pt x="1371600" y="4057650"/>
                </a:lnTo>
                <a:lnTo>
                  <a:pt x="1400175" y="4086225"/>
                </a:lnTo>
                <a:lnTo>
                  <a:pt x="1400175" y="4095750"/>
                </a:lnTo>
                <a:lnTo>
                  <a:pt x="1466850" y="4162425"/>
                </a:lnTo>
                <a:lnTo>
                  <a:pt x="1476375" y="4162425"/>
                </a:lnTo>
                <a:lnTo>
                  <a:pt x="1485900" y="4171950"/>
                </a:lnTo>
                <a:lnTo>
                  <a:pt x="1514475" y="4171950"/>
                </a:lnTo>
                <a:lnTo>
                  <a:pt x="1524000" y="4181475"/>
                </a:lnTo>
                <a:lnTo>
                  <a:pt x="1590675" y="4181475"/>
                </a:lnTo>
                <a:lnTo>
                  <a:pt x="1600200" y="4171950"/>
                </a:lnTo>
                <a:lnTo>
                  <a:pt x="1685925" y="4171950"/>
                </a:lnTo>
                <a:lnTo>
                  <a:pt x="1695450" y="4181475"/>
                </a:lnTo>
                <a:lnTo>
                  <a:pt x="1704975" y="4181475"/>
                </a:lnTo>
                <a:lnTo>
                  <a:pt x="1733550" y="4210050"/>
                </a:lnTo>
                <a:lnTo>
                  <a:pt x="1733550" y="4248150"/>
                </a:lnTo>
                <a:lnTo>
                  <a:pt x="1743075" y="4257675"/>
                </a:lnTo>
                <a:lnTo>
                  <a:pt x="1838325" y="4257675"/>
                </a:lnTo>
                <a:lnTo>
                  <a:pt x="1838325" y="4248150"/>
                </a:lnTo>
                <a:lnTo>
                  <a:pt x="1828800" y="4238625"/>
                </a:lnTo>
                <a:lnTo>
                  <a:pt x="1828800" y="4181475"/>
                </a:lnTo>
                <a:lnTo>
                  <a:pt x="1819275" y="4171950"/>
                </a:lnTo>
                <a:lnTo>
                  <a:pt x="1819275" y="4162425"/>
                </a:lnTo>
                <a:lnTo>
                  <a:pt x="1809750" y="4152900"/>
                </a:lnTo>
                <a:lnTo>
                  <a:pt x="1809750" y="4143375"/>
                </a:lnTo>
                <a:lnTo>
                  <a:pt x="1800225" y="4133850"/>
                </a:lnTo>
                <a:lnTo>
                  <a:pt x="1800225" y="4114800"/>
                </a:lnTo>
                <a:lnTo>
                  <a:pt x="1790700" y="4105275"/>
                </a:lnTo>
                <a:lnTo>
                  <a:pt x="1790700" y="4038600"/>
                </a:lnTo>
                <a:lnTo>
                  <a:pt x="1800225" y="4029075"/>
                </a:lnTo>
                <a:lnTo>
                  <a:pt x="1800225" y="4019550"/>
                </a:lnTo>
                <a:lnTo>
                  <a:pt x="1857375" y="3962400"/>
                </a:lnTo>
                <a:lnTo>
                  <a:pt x="1866900" y="3962400"/>
                </a:lnTo>
                <a:lnTo>
                  <a:pt x="1914525" y="3914775"/>
                </a:lnTo>
                <a:lnTo>
                  <a:pt x="1924050" y="3914775"/>
                </a:lnTo>
                <a:lnTo>
                  <a:pt x="1952625" y="3886200"/>
                </a:lnTo>
                <a:lnTo>
                  <a:pt x="1962150" y="3886200"/>
                </a:lnTo>
                <a:lnTo>
                  <a:pt x="1981200" y="3867150"/>
                </a:lnTo>
                <a:lnTo>
                  <a:pt x="1990725" y="3867150"/>
                </a:lnTo>
                <a:lnTo>
                  <a:pt x="2028825" y="3829050"/>
                </a:lnTo>
                <a:lnTo>
                  <a:pt x="2038350" y="3829050"/>
                </a:lnTo>
                <a:lnTo>
                  <a:pt x="2047875" y="3819525"/>
                </a:lnTo>
                <a:lnTo>
                  <a:pt x="2076450" y="3819525"/>
                </a:lnTo>
                <a:lnTo>
                  <a:pt x="2085975" y="3829050"/>
                </a:lnTo>
                <a:lnTo>
                  <a:pt x="2095500" y="3829050"/>
                </a:lnTo>
                <a:lnTo>
                  <a:pt x="2114550" y="3848100"/>
                </a:lnTo>
                <a:lnTo>
                  <a:pt x="2124075" y="3848100"/>
                </a:lnTo>
                <a:lnTo>
                  <a:pt x="2133600" y="3857625"/>
                </a:lnTo>
                <a:lnTo>
                  <a:pt x="2219325" y="3857625"/>
                </a:lnTo>
                <a:lnTo>
                  <a:pt x="2228850" y="3848100"/>
                </a:lnTo>
                <a:lnTo>
                  <a:pt x="2238375" y="3848100"/>
                </a:lnTo>
                <a:lnTo>
                  <a:pt x="2247900" y="3838575"/>
                </a:lnTo>
                <a:lnTo>
                  <a:pt x="2257425" y="3838575"/>
                </a:lnTo>
                <a:lnTo>
                  <a:pt x="2276475" y="3819525"/>
                </a:lnTo>
                <a:lnTo>
                  <a:pt x="2286000" y="3819525"/>
                </a:lnTo>
                <a:lnTo>
                  <a:pt x="2295525" y="3810000"/>
                </a:lnTo>
                <a:lnTo>
                  <a:pt x="2305050" y="3810000"/>
                </a:lnTo>
                <a:lnTo>
                  <a:pt x="2314575" y="3800475"/>
                </a:lnTo>
                <a:lnTo>
                  <a:pt x="2333625" y="3800475"/>
                </a:lnTo>
                <a:lnTo>
                  <a:pt x="2343150" y="3790950"/>
                </a:lnTo>
                <a:lnTo>
                  <a:pt x="2381250" y="3790950"/>
                </a:lnTo>
                <a:lnTo>
                  <a:pt x="2390775" y="3800475"/>
                </a:lnTo>
                <a:lnTo>
                  <a:pt x="2457450" y="3800475"/>
                </a:lnTo>
                <a:lnTo>
                  <a:pt x="2466975" y="3790950"/>
                </a:lnTo>
                <a:lnTo>
                  <a:pt x="2495550" y="3790950"/>
                </a:lnTo>
                <a:lnTo>
                  <a:pt x="2505075" y="3781425"/>
                </a:lnTo>
                <a:lnTo>
                  <a:pt x="2524125" y="3781425"/>
                </a:lnTo>
                <a:lnTo>
                  <a:pt x="2543175" y="3762375"/>
                </a:lnTo>
                <a:lnTo>
                  <a:pt x="2552700" y="3762375"/>
                </a:lnTo>
                <a:lnTo>
                  <a:pt x="2562225" y="3752850"/>
                </a:lnTo>
                <a:lnTo>
                  <a:pt x="2571750" y="3752850"/>
                </a:lnTo>
                <a:lnTo>
                  <a:pt x="2581275" y="3743325"/>
                </a:lnTo>
                <a:lnTo>
                  <a:pt x="2590800" y="3743325"/>
                </a:lnTo>
                <a:lnTo>
                  <a:pt x="2600325" y="3733800"/>
                </a:lnTo>
                <a:lnTo>
                  <a:pt x="2609850" y="3733800"/>
                </a:lnTo>
                <a:lnTo>
                  <a:pt x="2619375" y="3724275"/>
                </a:lnTo>
                <a:lnTo>
                  <a:pt x="2628900" y="3724275"/>
                </a:lnTo>
                <a:lnTo>
                  <a:pt x="2638425" y="3714750"/>
                </a:lnTo>
                <a:lnTo>
                  <a:pt x="2667000" y="3714750"/>
                </a:lnTo>
                <a:lnTo>
                  <a:pt x="2676525" y="3705225"/>
                </a:lnTo>
                <a:lnTo>
                  <a:pt x="2724150" y="3705225"/>
                </a:lnTo>
                <a:lnTo>
                  <a:pt x="2733675" y="3695700"/>
                </a:lnTo>
                <a:lnTo>
                  <a:pt x="2752725" y="3695700"/>
                </a:lnTo>
                <a:lnTo>
                  <a:pt x="2762250" y="3705225"/>
                </a:lnTo>
                <a:lnTo>
                  <a:pt x="2838450" y="3705225"/>
                </a:lnTo>
                <a:lnTo>
                  <a:pt x="2847975" y="3714750"/>
                </a:lnTo>
                <a:lnTo>
                  <a:pt x="2933700" y="3714750"/>
                </a:lnTo>
                <a:lnTo>
                  <a:pt x="2943225" y="3705225"/>
                </a:lnTo>
                <a:lnTo>
                  <a:pt x="2952750" y="3705225"/>
                </a:lnTo>
                <a:lnTo>
                  <a:pt x="2962275" y="3695700"/>
                </a:lnTo>
                <a:lnTo>
                  <a:pt x="2971800" y="3695700"/>
                </a:lnTo>
                <a:lnTo>
                  <a:pt x="3009900" y="3657600"/>
                </a:lnTo>
                <a:lnTo>
                  <a:pt x="3095625" y="3657600"/>
                </a:lnTo>
                <a:lnTo>
                  <a:pt x="3105150" y="3648075"/>
                </a:lnTo>
                <a:lnTo>
                  <a:pt x="3114675" y="3648075"/>
                </a:lnTo>
                <a:lnTo>
                  <a:pt x="3133725" y="3629025"/>
                </a:lnTo>
                <a:lnTo>
                  <a:pt x="3143250" y="3629025"/>
                </a:lnTo>
                <a:lnTo>
                  <a:pt x="3181350" y="3590925"/>
                </a:lnTo>
                <a:lnTo>
                  <a:pt x="3190875" y="3590925"/>
                </a:lnTo>
                <a:lnTo>
                  <a:pt x="3200400" y="3581400"/>
                </a:lnTo>
                <a:lnTo>
                  <a:pt x="3219450" y="3581400"/>
                </a:lnTo>
                <a:lnTo>
                  <a:pt x="3228975" y="3571875"/>
                </a:lnTo>
                <a:lnTo>
                  <a:pt x="3257550" y="3571875"/>
                </a:lnTo>
                <a:lnTo>
                  <a:pt x="3267075" y="3562350"/>
                </a:lnTo>
                <a:lnTo>
                  <a:pt x="3371850" y="3562350"/>
                </a:lnTo>
                <a:lnTo>
                  <a:pt x="3381375" y="3552825"/>
                </a:lnTo>
                <a:lnTo>
                  <a:pt x="3429000" y="3552825"/>
                </a:lnTo>
                <a:lnTo>
                  <a:pt x="3438525" y="3543300"/>
                </a:lnTo>
                <a:lnTo>
                  <a:pt x="3457575" y="3543300"/>
                </a:lnTo>
                <a:lnTo>
                  <a:pt x="3467100" y="3533775"/>
                </a:lnTo>
                <a:lnTo>
                  <a:pt x="3476625" y="3533775"/>
                </a:lnTo>
                <a:lnTo>
                  <a:pt x="3505200" y="3505200"/>
                </a:lnTo>
                <a:lnTo>
                  <a:pt x="3514725" y="3505200"/>
                </a:lnTo>
                <a:lnTo>
                  <a:pt x="3571875" y="3448050"/>
                </a:lnTo>
                <a:lnTo>
                  <a:pt x="3581400" y="3448050"/>
                </a:lnTo>
                <a:lnTo>
                  <a:pt x="3590925" y="3438525"/>
                </a:lnTo>
                <a:lnTo>
                  <a:pt x="3600450" y="3438525"/>
                </a:lnTo>
                <a:lnTo>
                  <a:pt x="3609975" y="3429000"/>
                </a:lnTo>
                <a:lnTo>
                  <a:pt x="3619500" y="3429000"/>
                </a:lnTo>
                <a:lnTo>
                  <a:pt x="3629025" y="3419475"/>
                </a:lnTo>
                <a:lnTo>
                  <a:pt x="3629025" y="3400425"/>
                </a:lnTo>
                <a:lnTo>
                  <a:pt x="3638550" y="3390900"/>
                </a:lnTo>
                <a:lnTo>
                  <a:pt x="3638550" y="3381375"/>
                </a:lnTo>
                <a:lnTo>
                  <a:pt x="3629025" y="3371850"/>
                </a:lnTo>
                <a:lnTo>
                  <a:pt x="3629025" y="3333750"/>
                </a:lnTo>
                <a:lnTo>
                  <a:pt x="3619500" y="3324225"/>
                </a:lnTo>
                <a:lnTo>
                  <a:pt x="3619500" y="3295650"/>
                </a:lnTo>
                <a:lnTo>
                  <a:pt x="3609975" y="3286125"/>
                </a:lnTo>
                <a:lnTo>
                  <a:pt x="3609975" y="3257550"/>
                </a:lnTo>
                <a:lnTo>
                  <a:pt x="3600450" y="3248025"/>
                </a:lnTo>
                <a:lnTo>
                  <a:pt x="3600450" y="3228975"/>
                </a:lnTo>
                <a:lnTo>
                  <a:pt x="3590925" y="3219450"/>
                </a:lnTo>
                <a:lnTo>
                  <a:pt x="3590925" y="3190875"/>
                </a:lnTo>
                <a:lnTo>
                  <a:pt x="3581400" y="3181350"/>
                </a:lnTo>
                <a:lnTo>
                  <a:pt x="3581400" y="3028950"/>
                </a:lnTo>
                <a:lnTo>
                  <a:pt x="3571875" y="3019425"/>
                </a:lnTo>
                <a:lnTo>
                  <a:pt x="3571875" y="2981325"/>
                </a:lnTo>
                <a:lnTo>
                  <a:pt x="3552825" y="2962275"/>
                </a:lnTo>
                <a:lnTo>
                  <a:pt x="3552825" y="2952750"/>
                </a:lnTo>
                <a:lnTo>
                  <a:pt x="3543300" y="2952750"/>
                </a:lnTo>
                <a:lnTo>
                  <a:pt x="3533775" y="2943225"/>
                </a:lnTo>
                <a:lnTo>
                  <a:pt x="3524250" y="2943225"/>
                </a:lnTo>
                <a:lnTo>
                  <a:pt x="3514725" y="2933700"/>
                </a:lnTo>
                <a:lnTo>
                  <a:pt x="3476625" y="2933700"/>
                </a:lnTo>
                <a:lnTo>
                  <a:pt x="3467100" y="2924175"/>
                </a:lnTo>
                <a:lnTo>
                  <a:pt x="3457575" y="2924175"/>
                </a:lnTo>
                <a:lnTo>
                  <a:pt x="3429000" y="2895600"/>
                </a:lnTo>
                <a:lnTo>
                  <a:pt x="3429000" y="2876550"/>
                </a:lnTo>
                <a:lnTo>
                  <a:pt x="3419475" y="2867025"/>
                </a:lnTo>
                <a:lnTo>
                  <a:pt x="3419475" y="2828925"/>
                </a:lnTo>
                <a:lnTo>
                  <a:pt x="3429000" y="2819400"/>
                </a:lnTo>
                <a:lnTo>
                  <a:pt x="3429000" y="2781300"/>
                </a:lnTo>
                <a:lnTo>
                  <a:pt x="3438525" y="2771775"/>
                </a:lnTo>
                <a:lnTo>
                  <a:pt x="3438525" y="2752725"/>
                </a:lnTo>
                <a:lnTo>
                  <a:pt x="3457575" y="2733675"/>
                </a:lnTo>
                <a:lnTo>
                  <a:pt x="3457575" y="2724150"/>
                </a:lnTo>
                <a:lnTo>
                  <a:pt x="3486150" y="2695575"/>
                </a:lnTo>
                <a:lnTo>
                  <a:pt x="3495675" y="2695575"/>
                </a:lnTo>
                <a:lnTo>
                  <a:pt x="3514725" y="2676525"/>
                </a:lnTo>
                <a:lnTo>
                  <a:pt x="3524250" y="2676525"/>
                </a:lnTo>
                <a:lnTo>
                  <a:pt x="3533775" y="2667000"/>
                </a:lnTo>
                <a:lnTo>
                  <a:pt x="3543300" y="2667000"/>
                </a:lnTo>
                <a:lnTo>
                  <a:pt x="3552825" y="2657475"/>
                </a:lnTo>
                <a:lnTo>
                  <a:pt x="3562350" y="2657475"/>
                </a:lnTo>
                <a:lnTo>
                  <a:pt x="3571875" y="2647950"/>
                </a:lnTo>
                <a:lnTo>
                  <a:pt x="3581400" y="2647950"/>
                </a:lnTo>
                <a:lnTo>
                  <a:pt x="3609975" y="2619375"/>
                </a:lnTo>
                <a:lnTo>
                  <a:pt x="3609975" y="2609850"/>
                </a:lnTo>
                <a:lnTo>
                  <a:pt x="3619500" y="2600325"/>
                </a:lnTo>
                <a:lnTo>
                  <a:pt x="3619500" y="2590800"/>
                </a:lnTo>
                <a:lnTo>
                  <a:pt x="3609975" y="2581275"/>
                </a:lnTo>
                <a:lnTo>
                  <a:pt x="3609975" y="2571750"/>
                </a:lnTo>
                <a:lnTo>
                  <a:pt x="3600450" y="2562225"/>
                </a:lnTo>
                <a:lnTo>
                  <a:pt x="3600450" y="2552700"/>
                </a:lnTo>
                <a:lnTo>
                  <a:pt x="3524250" y="2476500"/>
                </a:lnTo>
                <a:lnTo>
                  <a:pt x="3514725" y="2476500"/>
                </a:lnTo>
                <a:lnTo>
                  <a:pt x="3467100" y="2428875"/>
                </a:lnTo>
                <a:lnTo>
                  <a:pt x="3467100" y="2409825"/>
                </a:lnTo>
                <a:lnTo>
                  <a:pt x="3457575" y="2400300"/>
                </a:lnTo>
                <a:lnTo>
                  <a:pt x="3457575" y="2238375"/>
                </a:lnTo>
                <a:lnTo>
                  <a:pt x="3448050" y="2228850"/>
                </a:lnTo>
                <a:lnTo>
                  <a:pt x="3448050" y="2209800"/>
                </a:lnTo>
                <a:lnTo>
                  <a:pt x="3438525" y="2200275"/>
                </a:lnTo>
                <a:lnTo>
                  <a:pt x="3438525" y="2190750"/>
                </a:lnTo>
                <a:lnTo>
                  <a:pt x="3409950" y="2162175"/>
                </a:lnTo>
                <a:lnTo>
                  <a:pt x="3409950" y="2152650"/>
                </a:lnTo>
                <a:lnTo>
                  <a:pt x="3400425" y="2143125"/>
                </a:lnTo>
                <a:lnTo>
                  <a:pt x="3400425" y="2124075"/>
                </a:lnTo>
                <a:lnTo>
                  <a:pt x="3390900" y="2114550"/>
                </a:lnTo>
                <a:lnTo>
                  <a:pt x="3390900" y="2095500"/>
                </a:lnTo>
                <a:lnTo>
                  <a:pt x="3381375" y="2085975"/>
                </a:lnTo>
                <a:lnTo>
                  <a:pt x="3381375" y="1933575"/>
                </a:lnTo>
                <a:lnTo>
                  <a:pt x="3390900" y="1924050"/>
                </a:lnTo>
                <a:lnTo>
                  <a:pt x="3390900" y="1914525"/>
                </a:lnTo>
                <a:lnTo>
                  <a:pt x="3409950" y="1895475"/>
                </a:lnTo>
                <a:lnTo>
                  <a:pt x="3409950" y="1885950"/>
                </a:lnTo>
                <a:lnTo>
                  <a:pt x="3438525" y="1857375"/>
                </a:lnTo>
                <a:lnTo>
                  <a:pt x="3438525" y="1847850"/>
                </a:lnTo>
                <a:lnTo>
                  <a:pt x="3448050" y="1838325"/>
                </a:lnTo>
                <a:lnTo>
                  <a:pt x="3448050" y="1809750"/>
                </a:lnTo>
                <a:lnTo>
                  <a:pt x="3457575" y="1800225"/>
                </a:lnTo>
                <a:lnTo>
                  <a:pt x="3457575" y="1781175"/>
                </a:lnTo>
                <a:lnTo>
                  <a:pt x="3448050" y="1771650"/>
                </a:lnTo>
                <a:lnTo>
                  <a:pt x="3448050" y="1752600"/>
                </a:lnTo>
                <a:lnTo>
                  <a:pt x="3438525" y="1743075"/>
                </a:lnTo>
                <a:lnTo>
                  <a:pt x="3438525" y="1733550"/>
                </a:lnTo>
                <a:lnTo>
                  <a:pt x="3409950" y="1704975"/>
                </a:lnTo>
                <a:lnTo>
                  <a:pt x="3400425" y="1704975"/>
                </a:lnTo>
                <a:lnTo>
                  <a:pt x="3352800" y="1657350"/>
                </a:lnTo>
                <a:lnTo>
                  <a:pt x="3352800" y="1647825"/>
                </a:lnTo>
                <a:lnTo>
                  <a:pt x="3343275" y="1638300"/>
                </a:lnTo>
                <a:lnTo>
                  <a:pt x="3343275" y="1533525"/>
                </a:lnTo>
                <a:lnTo>
                  <a:pt x="3333750" y="1524000"/>
                </a:lnTo>
                <a:lnTo>
                  <a:pt x="3333750" y="1504950"/>
                </a:lnTo>
                <a:lnTo>
                  <a:pt x="3314700" y="1485900"/>
                </a:lnTo>
                <a:lnTo>
                  <a:pt x="3314700" y="1476375"/>
                </a:lnTo>
                <a:lnTo>
                  <a:pt x="3295650" y="1457325"/>
                </a:lnTo>
                <a:lnTo>
                  <a:pt x="3286125" y="1457325"/>
                </a:lnTo>
                <a:lnTo>
                  <a:pt x="3267075" y="1438275"/>
                </a:lnTo>
                <a:lnTo>
                  <a:pt x="3257550" y="1438275"/>
                </a:lnTo>
                <a:lnTo>
                  <a:pt x="3248025" y="1428750"/>
                </a:lnTo>
                <a:lnTo>
                  <a:pt x="3181350" y="1428750"/>
                </a:lnTo>
                <a:lnTo>
                  <a:pt x="3171825" y="1438275"/>
                </a:lnTo>
                <a:lnTo>
                  <a:pt x="3152775" y="1438275"/>
                </a:lnTo>
                <a:lnTo>
                  <a:pt x="3143250" y="1428750"/>
                </a:lnTo>
                <a:lnTo>
                  <a:pt x="3133725" y="1428750"/>
                </a:lnTo>
                <a:lnTo>
                  <a:pt x="3105150" y="1400175"/>
                </a:lnTo>
                <a:lnTo>
                  <a:pt x="3105150" y="1390650"/>
                </a:lnTo>
                <a:lnTo>
                  <a:pt x="3124200" y="1371600"/>
                </a:lnTo>
                <a:lnTo>
                  <a:pt x="3133725" y="1371600"/>
                </a:lnTo>
                <a:lnTo>
                  <a:pt x="3143250" y="1362075"/>
                </a:lnTo>
                <a:lnTo>
                  <a:pt x="3152775" y="1371600"/>
                </a:lnTo>
                <a:lnTo>
                  <a:pt x="3181350" y="1371600"/>
                </a:lnTo>
                <a:lnTo>
                  <a:pt x="3190875" y="1381125"/>
                </a:lnTo>
                <a:lnTo>
                  <a:pt x="3238500" y="1381125"/>
                </a:lnTo>
                <a:lnTo>
                  <a:pt x="3248025" y="1371600"/>
                </a:lnTo>
                <a:lnTo>
                  <a:pt x="3257550" y="1371600"/>
                </a:lnTo>
                <a:lnTo>
                  <a:pt x="3276600" y="1352550"/>
                </a:lnTo>
                <a:lnTo>
                  <a:pt x="3286125" y="1352550"/>
                </a:lnTo>
                <a:lnTo>
                  <a:pt x="3295650" y="1343025"/>
                </a:lnTo>
                <a:lnTo>
                  <a:pt x="3295650" y="1333500"/>
                </a:lnTo>
                <a:lnTo>
                  <a:pt x="3314700" y="1314450"/>
                </a:lnTo>
                <a:lnTo>
                  <a:pt x="3314700" y="1304925"/>
                </a:lnTo>
                <a:lnTo>
                  <a:pt x="3324225" y="1295400"/>
                </a:lnTo>
                <a:lnTo>
                  <a:pt x="3324225" y="1228725"/>
                </a:lnTo>
                <a:lnTo>
                  <a:pt x="3314700" y="1219200"/>
                </a:lnTo>
                <a:lnTo>
                  <a:pt x="3314700" y="1200150"/>
                </a:lnTo>
                <a:lnTo>
                  <a:pt x="3305175" y="1190625"/>
                </a:lnTo>
                <a:lnTo>
                  <a:pt x="3305175" y="1181100"/>
                </a:lnTo>
                <a:lnTo>
                  <a:pt x="3276600" y="1152525"/>
                </a:lnTo>
                <a:lnTo>
                  <a:pt x="3276600" y="1143000"/>
                </a:lnTo>
                <a:lnTo>
                  <a:pt x="3267075" y="1143000"/>
                </a:lnTo>
                <a:lnTo>
                  <a:pt x="3228975" y="1104900"/>
                </a:lnTo>
                <a:lnTo>
                  <a:pt x="3219450" y="1104900"/>
                </a:lnTo>
                <a:lnTo>
                  <a:pt x="3209925" y="1095375"/>
                </a:lnTo>
                <a:lnTo>
                  <a:pt x="3209925" y="1085850"/>
                </a:lnTo>
                <a:lnTo>
                  <a:pt x="3190875" y="1066800"/>
                </a:lnTo>
                <a:lnTo>
                  <a:pt x="3190875" y="1047750"/>
                </a:lnTo>
                <a:lnTo>
                  <a:pt x="3181350" y="1038225"/>
                </a:lnTo>
                <a:lnTo>
                  <a:pt x="3181350" y="981075"/>
                </a:lnTo>
                <a:lnTo>
                  <a:pt x="3190875" y="971550"/>
                </a:lnTo>
                <a:lnTo>
                  <a:pt x="3190875" y="952500"/>
                </a:lnTo>
                <a:lnTo>
                  <a:pt x="3200400" y="942975"/>
                </a:lnTo>
                <a:lnTo>
                  <a:pt x="3200400" y="933450"/>
                </a:lnTo>
                <a:lnTo>
                  <a:pt x="3209925" y="923925"/>
                </a:lnTo>
                <a:lnTo>
                  <a:pt x="3209925" y="914400"/>
                </a:lnTo>
                <a:lnTo>
                  <a:pt x="3248025" y="876300"/>
                </a:lnTo>
                <a:lnTo>
                  <a:pt x="3248025" y="866775"/>
                </a:lnTo>
                <a:lnTo>
                  <a:pt x="3257550" y="857250"/>
                </a:lnTo>
                <a:lnTo>
                  <a:pt x="3257550" y="847725"/>
                </a:lnTo>
                <a:lnTo>
                  <a:pt x="3267075" y="838200"/>
                </a:lnTo>
                <a:lnTo>
                  <a:pt x="3267075" y="771525"/>
                </a:lnTo>
                <a:lnTo>
                  <a:pt x="3257550" y="762000"/>
                </a:lnTo>
                <a:lnTo>
                  <a:pt x="3257550" y="742950"/>
                </a:lnTo>
                <a:lnTo>
                  <a:pt x="3248025" y="733425"/>
                </a:lnTo>
                <a:lnTo>
                  <a:pt x="3248025" y="723900"/>
                </a:lnTo>
                <a:lnTo>
                  <a:pt x="3238500" y="714375"/>
                </a:lnTo>
                <a:lnTo>
                  <a:pt x="3238500" y="704850"/>
                </a:lnTo>
                <a:lnTo>
                  <a:pt x="3228975" y="695325"/>
                </a:lnTo>
                <a:lnTo>
                  <a:pt x="3228975" y="685800"/>
                </a:lnTo>
                <a:lnTo>
                  <a:pt x="3209925" y="666750"/>
                </a:lnTo>
                <a:lnTo>
                  <a:pt x="3209925" y="647700"/>
                </a:lnTo>
                <a:lnTo>
                  <a:pt x="3200400" y="638175"/>
                </a:lnTo>
                <a:lnTo>
                  <a:pt x="3200400" y="628650"/>
                </a:lnTo>
                <a:lnTo>
                  <a:pt x="3190875" y="619125"/>
                </a:lnTo>
                <a:lnTo>
                  <a:pt x="3190875" y="609600"/>
                </a:lnTo>
                <a:lnTo>
                  <a:pt x="3162300" y="581025"/>
                </a:lnTo>
                <a:lnTo>
                  <a:pt x="3162300" y="571500"/>
                </a:lnTo>
                <a:lnTo>
                  <a:pt x="3152775" y="571500"/>
                </a:lnTo>
                <a:lnTo>
                  <a:pt x="3124200" y="542925"/>
                </a:lnTo>
                <a:lnTo>
                  <a:pt x="3114675" y="542925"/>
                </a:lnTo>
                <a:lnTo>
                  <a:pt x="3105150" y="533400"/>
                </a:lnTo>
                <a:lnTo>
                  <a:pt x="3095625" y="533400"/>
                </a:lnTo>
                <a:lnTo>
                  <a:pt x="3048000" y="485775"/>
                </a:lnTo>
                <a:lnTo>
                  <a:pt x="3048000" y="476250"/>
                </a:lnTo>
                <a:lnTo>
                  <a:pt x="3009900" y="438150"/>
                </a:lnTo>
                <a:lnTo>
                  <a:pt x="3000375" y="438150"/>
                </a:lnTo>
                <a:lnTo>
                  <a:pt x="2990850" y="428625"/>
                </a:lnTo>
                <a:lnTo>
                  <a:pt x="2981325" y="428625"/>
                </a:lnTo>
                <a:lnTo>
                  <a:pt x="2971800" y="419100"/>
                </a:lnTo>
                <a:lnTo>
                  <a:pt x="2962275" y="419100"/>
                </a:lnTo>
                <a:lnTo>
                  <a:pt x="2952750" y="409575"/>
                </a:lnTo>
                <a:lnTo>
                  <a:pt x="2933700" y="409575"/>
                </a:lnTo>
                <a:lnTo>
                  <a:pt x="2924175" y="400050"/>
                </a:lnTo>
                <a:lnTo>
                  <a:pt x="2886075" y="400050"/>
                </a:lnTo>
                <a:lnTo>
                  <a:pt x="2876550" y="390525"/>
                </a:lnTo>
                <a:close/>
              </a:path>
              <a:path w="4267200" h="4267200">
                <a:moveTo>
                  <a:pt x="4210050" y="152400"/>
                </a:moveTo>
                <a:lnTo>
                  <a:pt x="4200525" y="161925"/>
                </a:lnTo>
                <a:lnTo>
                  <a:pt x="4181475" y="161925"/>
                </a:lnTo>
                <a:lnTo>
                  <a:pt x="4171950" y="171450"/>
                </a:lnTo>
                <a:lnTo>
                  <a:pt x="4162425" y="171450"/>
                </a:lnTo>
                <a:lnTo>
                  <a:pt x="4152900" y="180975"/>
                </a:lnTo>
                <a:lnTo>
                  <a:pt x="4143375" y="180975"/>
                </a:lnTo>
                <a:lnTo>
                  <a:pt x="4114800" y="209550"/>
                </a:lnTo>
                <a:lnTo>
                  <a:pt x="4114800" y="228600"/>
                </a:lnTo>
                <a:lnTo>
                  <a:pt x="4105275" y="238125"/>
                </a:lnTo>
                <a:lnTo>
                  <a:pt x="4105275" y="314325"/>
                </a:lnTo>
                <a:lnTo>
                  <a:pt x="4114800" y="323850"/>
                </a:lnTo>
                <a:lnTo>
                  <a:pt x="4114800" y="466725"/>
                </a:lnTo>
                <a:lnTo>
                  <a:pt x="4105275" y="476250"/>
                </a:lnTo>
                <a:lnTo>
                  <a:pt x="4105275" y="866775"/>
                </a:lnTo>
                <a:lnTo>
                  <a:pt x="4095750" y="876300"/>
                </a:lnTo>
                <a:lnTo>
                  <a:pt x="4095750" y="885825"/>
                </a:lnTo>
                <a:lnTo>
                  <a:pt x="4076700" y="904875"/>
                </a:lnTo>
                <a:lnTo>
                  <a:pt x="4076700" y="914400"/>
                </a:lnTo>
                <a:lnTo>
                  <a:pt x="4048125" y="942975"/>
                </a:lnTo>
                <a:lnTo>
                  <a:pt x="4048125" y="952500"/>
                </a:lnTo>
                <a:lnTo>
                  <a:pt x="4029075" y="971550"/>
                </a:lnTo>
                <a:lnTo>
                  <a:pt x="4029075" y="981075"/>
                </a:lnTo>
                <a:lnTo>
                  <a:pt x="4019550" y="990600"/>
                </a:lnTo>
                <a:lnTo>
                  <a:pt x="4019550" y="1009650"/>
                </a:lnTo>
                <a:lnTo>
                  <a:pt x="4010025" y="1019175"/>
                </a:lnTo>
                <a:lnTo>
                  <a:pt x="4010025" y="1038225"/>
                </a:lnTo>
                <a:lnTo>
                  <a:pt x="4000500" y="1047750"/>
                </a:lnTo>
                <a:lnTo>
                  <a:pt x="4000500" y="1076325"/>
                </a:lnTo>
                <a:lnTo>
                  <a:pt x="3990975" y="1085850"/>
                </a:lnTo>
                <a:lnTo>
                  <a:pt x="3990975" y="1228725"/>
                </a:lnTo>
                <a:lnTo>
                  <a:pt x="4000500" y="1238250"/>
                </a:lnTo>
                <a:lnTo>
                  <a:pt x="4000500" y="1257300"/>
                </a:lnTo>
                <a:lnTo>
                  <a:pt x="3990975" y="1266825"/>
                </a:lnTo>
                <a:lnTo>
                  <a:pt x="3990975" y="1314450"/>
                </a:lnTo>
                <a:lnTo>
                  <a:pt x="3981450" y="1323975"/>
                </a:lnTo>
                <a:lnTo>
                  <a:pt x="3981450" y="1362075"/>
                </a:lnTo>
                <a:lnTo>
                  <a:pt x="3971925" y="1371600"/>
                </a:lnTo>
                <a:lnTo>
                  <a:pt x="3971925" y="1447800"/>
                </a:lnTo>
                <a:lnTo>
                  <a:pt x="3981450" y="1457325"/>
                </a:lnTo>
                <a:lnTo>
                  <a:pt x="3981450" y="1514475"/>
                </a:lnTo>
                <a:lnTo>
                  <a:pt x="3990975" y="1524000"/>
                </a:lnTo>
                <a:lnTo>
                  <a:pt x="3990975" y="1571625"/>
                </a:lnTo>
                <a:lnTo>
                  <a:pt x="4000500" y="1581150"/>
                </a:lnTo>
                <a:lnTo>
                  <a:pt x="4000500" y="1609725"/>
                </a:lnTo>
                <a:lnTo>
                  <a:pt x="4010025" y="1619250"/>
                </a:lnTo>
                <a:lnTo>
                  <a:pt x="4010025" y="1638300"/>
                </a:lnTo>
                <a:lnTo>
                  <a:pt x="4019550" y="1647825"/>
                </a:lnTo>
                <a:lnTo>
                  <a:pt x="4019550" y="1666875"/>
                </a:lnTo>
                <a:lnTo>
                  <a:pt x="4029075" y="1676400"/>
                </a:lnTo>
                <a:lnTo>
                  <a:pt x="4029075" y="1695450"/>
                </a:lnTo>
                <a:lnTo>
                  <a:pt x="4038600" y="1704975"/>
                </a:lnTo>
                <a:lnTo>
                  <a:pt x="4038600" y="1724025"/>
                </a:lnTo>
                <a:lnTo>
                  <a:pt x="4048125" y="1733550"/>
                </a:lnTo>
                <a:lnTo>
                  <a:pt x="4048125" y="1752600"/>
                </a:lnTo>
                <a:lnTo>
                  <a:pt x="4057650" y="1762125"/>
                </a:lnTo>
                <a:lnTo>
                  <a:pt x="4057650" y="1809750"/>
                </a:lnTo>
                <a:lnTo>
                  <a:pt x="4067175" y="1819275"/>
                </a:lnTo>
                <a:lnTo>
                  <a:pt x="4067175" y="1866900"/>
                </a:lnTo>
                <a:lnTo>
                  <a:pt x="4076700" y="1876425"/>
                </a:lnTo>
                <a:lnTo>
                  <a:pt x="4076700" y="1895475"/>
                </a:lnTo>
                <a:lnTo>
                  <a:pt x="4086225" y="1905000"/>
                </a:lnTo>
                <a:lnTo>
                  <a:pt x="4086225" y="1914525"/>
                </a:lnTo>
                <a:lnTo>
                  <a:pt x="4114800" y="1943100"/>
                </a:lnTo>
                <a:lnTo>
                  <a:pt x="4124325" y="1943100"/>
                </a:lnTo>
                <a:lnTo>
                  <a:pt x="4143375" y="1962150"/>
                </a:lnTo>
                <a:lnTo>
                  <a:pt x="4162425" y="1962150"/>
                </a:lnTo>
                <a:lnTo>
                  <a:pt x="4171950" y="1971675"/>
                </a:lnTo>
                <a:lnTo>
                  <a:pt x="4181475" y="1971675"/>
                </a:lnTo>
                <a:lnTo>
                  <a:pt x="4191000" y="1981200"/>
                </a:lnTo>
                <a:lnTo>
                  <a:pt x="4238625" y="1981200"/>
                </a:lnTo>
                <a:lnTo>
                  <a:pt x="4248150" y="1990725"/>
                </a:lnTo>
                <a:lnTo>
                  <a:pt x="4257675" y="1990725"/>
                </a:lnTo>
                <a:lnTo>
                  <a:pt x="4257675" y="152400"/>
                </a:lnTo>
                <a:close/>
              </a:path>
              <a:path w="4267200" h="4267200">
                <a:moveTo>
                  <a:pt x="190500" y="133350"/>
                </a:moveTo>
                <a:lnTo>
                  <a:pt x="180975" y="142875"/>
                </a:lnTo>
                <a:lnTo>
                  <a:pt x="161925" y="142875"/>
                </a:lnTo>
                <a:lnTo>
                  <a:pt x="142875" y="161925"/>
                </a:lnTo>
                <a:lnTo>
                  <a:pt x="142875" y="171450"/>
                </a:lnTo>
                <a:lnTo>
                  <a:pt x="133350" y="180975"/>
                </a:lnTo>
                <a:lnTo>
                  <a:pt x="133350" y="219075"/>
                </a:lnTo>
                <a:lnTo>
                  <a:pt x="142875" y="228600"/>
                </a:lnTo>
                <a:lnTo>
                  <a:pt x="142875" y="238125"/>
                </a:lnTo>
                <a:lnTo>
                  <a:pt x="152400" y="247650"/>
                </a:lnTo>
                <a:lnTo>
                  <a:pt x="161925" y="247650"/>
                </a:lnTo>
                <a:lnTo>
                  <a:pt x="171450" y="257175"/>
                </a:lnTo>
                <a:lnTo>
                  <a:pt x="228600" y="257175"/>
                </a:lnTo>
                <a:lnTo>
                  <a:pt x="257175" y="228600"/>
                </a:lnTo>
                <a:lnTo>
                  <a:pt x="257175" y="171450"/>
                </a:lnTo>
                <a:lnTo>
                  <a:pt x="247650" y="161925"/>
                </a:lnTo>
                <a:lnTo>
                  <a:pt x="247650" y="152400"/>
                </a:lnTo>
                <a:lnTo>
                  <a:pt x="238125" y="152400"/>
                </a:lnTo>
                <a:lnTo>
                  <a:pt x="228600" y="142875"/>
                </a:lnTo>
                <a:lnTo>
                  <a:pt x="219075" y="142875"/>
                </a:lnTo>
                <a:lnTo>
                  <a:pt x="209550" y="13335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20955">
            <a:solidFill>
              <a:srgbClr val="FF382E"/>
            </a:solidFill>
          </a:ln>
        </p:spPr>
      </p:sp>
      <p:sp>
        <p:nvSpPr>
          <p:cNvPr id="120" name="contour-frame">
            <a:extLst xmlns:a="http://schemas.openxmlformats.org/drawingml/2006/main">
              <a:ext uri="{FF2B5EF4-FFF2-40B4-BE49-F238E27FC236}">
                <a16:creationId xmlns:a16="http://schemas.microsoft.com/office/drawing/2014/main" id="{2C2F4FBB-8B8A-49E0-828E-FD921A82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552950"/>
            <a:ext cx="1238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94A5AE"/>
            </a:solidFill>
            <a:prstDash val="solid"/>
          </a:ln>
        </p:spPr>
      </p:sp>
      <p:sp>
        <p:nvSpPr>
          <p:cNvPr id="121" name="map-label">
            <a:extLst xmlns:a="http://schemas.openxmlformats.org/drawingml/2006/main">
              <a:ext uri="{FF2B5EF4-FFF2-40B4-BE49-F238E27FC236}">
                <a16:creationId xmlns:a16="http://schemas.microsoft.com/office/drawing/2014/main" id="{820941F6-7406-480E-A6A3-148B119D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838825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E2E38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1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t</a:t>
            </a:r>
          </a:p>
        </p:txBody>
      </p:sp>
      <p:sp>
        <p:nvSpPr>
          <p:cNvPr id="122" name="display-label">
            <a:extLst xmlns:a="http://schemas.openxmlformats.org/drawingml/2006/main">
              <a:ext uri="{FF2B5EF4-FFF2-40B4-BE49-F238E27FC236}">
                <a16:creationId xmlns:a16="http://schemas.microsoft.com/office/drawing/2014/main" id="{87745D48-8B60-4532-AF1E-715173CB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838825"/>
            <a:ext cx="128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Contour</a:t>
            </a:r>
          </a:p>
        </p:txBody>
      </p:sp>
      <p:sp>
        <p:nvSpPr>
          <p:cNvPr id="123" name="image-score">
            <a:extLst xmlns:a="http://schemas.openxmlformats.org/drawingml/2006/main">
              <a:ext uri="{FF2B5EF4-FFF2-40B4-BE49-F238E27FC236}">
                <a16:creationId xmlns:a16="http://schemas.microsoft.com/office/drawing/2014/main" id="{0E4C4225-17D7-408C-BC0D-39F49DA7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6286500"/>
            <a:ext cx="289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E2E38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s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img,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= max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u</a:t>
            </a:r>
            <a:r>
              <a:rPr sz="2250" b="1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A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t,u</a:t>
            </a:r>
          </a:p>
        </p:txBody>
      </p:sp>
      <p:sp>
        <p:nvSpPr>
          <p:cNvPr id="124" name="display-only">
            <a:extLst xmlns:a="http://schemas.openxmlformats.org/drawingml/2006/main">
              <a:ext uri="{FF2B5EF4-FFF2-40B4-BE49-F238E27FC236}">
                <a16:creationId xmlns:a16="http://schemas.microsoft.com/office/drawing/2014/main" id="{E4AB91A5-69C8-489A-9CA3-DB324CBE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6615113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1E2E38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Contour uses 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τ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vis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for display only</a:t>
            </a:r>
          </a:p>
        </p:txBody>
      </p:sp>
      <p:sp>
        <p:nvSpPr>
          <p:cNvPr id="125" name="section-c">
            <a:extLst xmlns:a="http://schemas.openxmlformats.org/drawingml/2006/main">
              <a:ext uri="{FF2B5EF4-FFF2-40B4-BE49-F238E27FC236}">
                <a16:creationId xmlns:a16="http://schemas.microsoft.com/office/drawing/2014/main" id="{ECC3D7AC-DFF1-4E72-BDD9-C966CCED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7258050"/>
            <a:ext cx="1123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70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(c) Representation effects and matching interactions</a:t>
            </a:r>
          </a:p>
        </p:txBody>
      </p:sp>
      <p:sp>
        <p:nvSpPr>
          <p:cNvPr id="126" name="control-label-0">
            <a:extLst xmlns:a="http://schemas.openxmlformats.org/drawingml/2006/main">
              <a:ext uri="{FF2B5EF4-FFF2-40B4-BE49-F238E27FC236}">
                <a16:creationId xmlns:a16="http://schemas.microsoft.com/office/drawing/2014/main" id="{9CEAFA1B-25A5-4722-A733-80C27B50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7677150"/>
            <a:ext cx="2876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Dual-encoder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baseline</a:t>
            </a:r>
          </a:p>
        </p:txBody>
      </p:sp>
      <p:sp>
        <p:nvSpPr>
          <p:cNvPr id="127" name="control-weights-0">
            <a:extLst xmlns:a="http://schemas.openxmlformats.org/drawingml/2006/main">
              <a:ext uri="{FF2B5EF4-FFF2-40B4-BE49-F238E27FC236}">
                <a16:creationId xmlns:a16="http://schemas.microsoft.com/office/drawing/2014/main" id="{77ABCA7D-E597-438B-94A0-6C9F8C61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82677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Original encoder pair</a:t>
            </a:r>
          </a:p>
        </p:txBody>
      </p:sp>
      <p:sp>
        <p:nvSpPr>
          <p:cNvPr id="128" name="control-label-1">
            <a:extLst xmlns:a="http://schemas.openxmlformats.org/drawingml/2006/main">
              <a:ext uri="{FF2B5EF4-FFF2-40B4-BE49-F238E27FC236}">
                <a16:creationId xmlns:a16="http://schemas.microsoft.com/office/drawing/2014/main" id="{94925914-B4BD-4CF6-B5D5-8F0ECF17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77150"/>
            <a:ext cx="2876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Duplicate-branch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control</a:t>
            </a:r>
          </a:p>
        </p:txBody>
      </p:sp>
      <p:sp>
        <p:nvSpPr>
          <p:cNvPr id="129" name="control-weights-1">
            <a:extLst xmlns:a="http://schemas.openxmlformats.org/drawingml/2006/main">
              <a:ext uri="{FF2B5EF4-FFF2-40B4-BE49-F238E27FC236}">
                <a16:creationId xmlns:a16="http://schemas.microsoft.com/office/drawing/2014/main" id="{B3DCE95C-065B-45A8-82DE-9D06750D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82677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Duplicate existing features</a:t>
            </a:r>
          </a:p>
        </p:txBody>
      </p:sp>
      <p:sp>
        <p:nvSpPr>
          <p:cNvPr id="130" name="control-label-2">
            <a:extLst xmlns:a="http://schemas.openxmlformats.org/drawingml/2006/main">
              <a:ext uri="{FF2B5EF4-FFF2-40B4-BE49-F238E27FC236}">
                <a16:creationId xmlns:a16="http://schemas.microsoft.com/office/drawing/2014/main" id="{8A5C11CB-16FD-4D17-A892-7270BB19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7677150"/>
            <a:ext cx="2876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Equal-weight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replacement</a:t>
            </a:r>
          </a:p>
        </p:txBody>
      </p:sp>
      <p:sp>
        <p:nvSpPr>
          <p:cNvPr id="131" name="control-weights-2">
            <a:extLst xmlns:a="http://schemas.openxmlformats.org/drawingml/2006/main">
              <a:ext uri="{FF2B5EF4-FFF2-40B4-BE49-F238E27FC236}">
                <a16:creationId xmlns:a16="http://schemas.microsoft.com/office/drawing/2014/main" id="{BC9FD3DC-6B85-41C4-8154-6AD4AC5D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82677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Replace the duplicate</a:t>
            </a:r>
          </a:p>
        </p:txBody>
      </p:sp>
      <p:sp>
        <p:nvSpPr>
          <p:cNvPr id="132" name="control-label-3">
            <a:extLst xmlns:a="http://schemas.openxmlformats.org/drawingml/2006/main">
              <a:ext uri="{FF2B5EF4-FFF2-40B4-BE49-F238E27FC236}">
                <a16:creationId xmlns:a16="http://schemas.microsoft.com/office/drawing/2014/main" id="{E2621EEF-7939-4B3D-9AC4-2C33927F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7677150"/>
            <a:ext cx="2876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Balanced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replacement</a:t>
            </a:r>
          </a:p>
        </p:txBody>
      </p:sp>
      <p:sp>
        <p:nvSpPr>
          <p:cNvPr id="133" name="control-weights-3">
            <a:extLst xmlns:a="http://schemas.openxmlformats.org/drawingml/2006/main">
              <a:ext uri="{FF2B5EF4-FFF2-40B4-BE49-F238E27FC236}">
                <a16:creationId xmlns:a16="http://schemas.microsoft.com/office/drawing/2014/main" id="{7E2F94C2-95BF-4920-A322-2015306B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82677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Preserve group weights</a:t>
            </a:r>
          </a:p>
        </p:txBody>
      </p:sp>
      <p:sp>
        <p:nvSpPr>
          <p:cNvPr id="134" name="tri-effect">
            <a:extLst xmlns:a="http://schemas.openxmlformats.org/drawingml/2006/main">
              <a:ext uri="{FF2B5EF4-FFF2-40B4-BE49-F238E27FC236}">
                <a16:creationId xmlns:a16="http://schemas.microsoft.com/office/drawing/2014/main" id="{70AF9123-6EB3-49DD-AE56-DFD2A06B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677275"/>
            <a:ext cx="581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E2E38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E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Equal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,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P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(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Equal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)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− 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P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(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Duplicate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)</a:t>
            </a:r>
          </a:p>
        </p:txBody>
      </p:sp>
      <p:sp>
        <p:nvSpPr>
          <p:cNvPr id="135" name="bal-effect">
            <a:extLst xmlns:a="http://schemas.openxmlformats.org/drawingml/2006/main">
              <a:ext uri="{FF2B5EF4-FFF2-40B4-BE49-F238E27FC236}">
                <a16:creationId xmlns:a16="http://schemas.microsoft.com/office/drawing/2014/main" id="{5A3467F1-511C-4B0A-88CB-6771F8E3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8677275"/>
            <a:ext cx="581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E2E38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E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Balanced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,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P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(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Balanced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)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− 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P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(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Baseline</a:t>
            </a:r>
            <a:r>
              <a:rPr sz="2250" b="0" i="1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)</a:t>
            </a:r>
          </a:p>
        </p:txBody>
      </p:sp>
      <p:sp>
        <p:nvSpPr>
          <p:cNvPr id="136" name="tri-interaction">
            <a:extLst xmlns:a="http://schemas.openxmlformats.org/drawingml/2006/main">
              <a:ext uri="{FF2B5EF4-FFF2-40B4-BE49-F238E27FC236}">
                <a16:creationId xmlns:a16="http://schemas.microsoft.com/office/drawing/2014/main" id="{A458C8B0-4BDB-46CF-B54A-83119335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9201150"/>
            <a:ext cx="581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E2E38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Equal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E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Equal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,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− 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E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Equal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,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J</a:t>
            </a:r>
          </a:p>
        </p:txBody>
      </p:sp>
      <p:sp>
        <p:nvSpPr>
          <p:cNvPr id="137" name="bal-interaction">
            <a:extLst xmlns:a="http://schemas.openxmlformats.org/drawingml/2006/main">
              <a:ext uri="{FF2B5EF4-FFF2-40B4-BE49-F238E27FC236}">
                <a16:creationId xmlns:a16="http://schemas.microsoft.com/office/drawing/2014/main" id="{3FEC39B1-16F9-4678-8EB6-90ADB21C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9201150"/>
            <a:ext cx="581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1E2E38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Balanced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E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Balanced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,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250" b="0" i="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 − </a:t>
            </a:r>
            <a:r>
              <a:rPr sz="2250" b="0" i="1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E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Balanced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,</a:t>
            </a:r>
            <a:r>
              <a:rPr sz="2250" b="0" i="0" baseline="-25000">
                <a:solidFill>
                  <a:srgbClr val="1E2E38"/>
                </a:solidFill>
                <a:latin typeface="Cambria Math"/>
                <a:ea typeface="Cambria Math"/>
                <a:cs typeface="Cambria Math"/>
              </a:rPr>
              <a:t>J</a:t>
            </a:r>
          </a:p>
        </p:txBody>
      </p:sp>
      <p:sp>
        <p:nvSpPr>
          <p:cNvPr id="138" name="matched-condition-note">
            <a:extLst xmlns:a="http://schemas.openxmlformats.org/drawingml/2006/main">
              <a:ext uri="{FF2B5EF4-FFF2-40B4-BE49-F238E27FC236}">
                <a16:creationId xmlns:a16="http://schemas.microsoft.com/office/drawing/2014/main" id="{036B485C-6717-4524-8A4B-78F840ED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9667875"/>
            <a:ext cx="11620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0" i="0">
                <a:solidFill>
                  <a:srgbClr val="1E2E38"/>
                </a:solidFill>
                <a:latin typeface="Times New Roman"/>
                <a:ea typeface="Times New Roman"/>
                <a:cs typeface="Times New Roman"/>
              </a:rPr>
              <a:t>Identical supports and query images within every paired comparison</a:t>
            </a:r>
          </a:p>
        </p:txBody>
      </p:sp>
    </p:spTree>
    <p:extLst>
      <p:ext uri="{BB962C8B-B14F-4D97-AF65-F5344CB8AC3E}">
        <p14:creationId xmlns:p14="http://schemas.microsoft.com/office/powerpoint/2010/main" val="12657938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2026-09-25T09:16:43.5140000Z</dcterms:created>
  <dcterms:modified xsi:type="dcterms:W3CDTF">2026-09-25T09:16:43.5140000Z</dcterms:modified>
</coreProperties>
</file>