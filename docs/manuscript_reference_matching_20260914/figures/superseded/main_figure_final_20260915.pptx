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5a7cca2b33476c" /><Relationship Type="http://schemas.openxmlformats.org/officeDocument/2006/relationships/extended-properties" Target="/docProps/app.xml" Id="R6244d7e9cc214ef5" /><Relationship Type="http://schemas.openxmlformats.org/officeDocument/2006/relationships/officeDocument" Target="/ppt/presentation.xml" Id="R2591e849e1824c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5c52c08bc145fb"/>
  </p:sldMasterIdLst>
  <p:notesMasterIdLst>
    <p:notesMasterId xmlns:r="http://schemas.openxmlformats.org/officeDocument/2006/relationships" r:id="Rdc00114a6d8b4482"/>
  </p:notesMasterIdLst>
  <p:sldIdLst>
    <p:sldId xmlns:r="http://schemas.openxmlformats.org/officeDocument/2006/relationships" id="256" r:id="R6588a345764344ea"/>
  </p:sldIdLst>
  <p:sldSz cx="6115050" cy="5810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afb7eb917744f3" /><Relationship Type="http://schemas.openxmlformats.org/officeDocument/2006/relationships/slideMaster" Target="/ppt/slideMasters/slideMaster1.xml" Id="R4a5c52c08bc145fb" /><Relationship Type="http://schemas.openxmlformats.org/officeDocument/2006/relationships/notesMaster" Target="/ppt/notesMasters/notesMaster1.xml" Id="Rdc00114a6d8b4482" /><Relationship Type="http://schemas.openxmlformats.org/officeDocument/2006/relationships/presProps" Target="/ppt/presProps.xml" Id="R6bf71180dade4a3c" /><Relationship Type="http://schemas.openxmlformats.org/officeDocument/2006/relationships/tableStyles" Target="/ppt/tableStyles.xml" Id="R4e373e2ca26c4ffa" /><Relationship Type="http://schemas.openxmlformats.org/officeDocument/2006/relationships/slide" Target="/ppt/slides/slide1.xml" Id="R6588a345764344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d99af209424c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8c9af53eb5403b" /><Relationship Type="http://schemas.openxmlformats.org/officeDocument/2006/relationships/notesMaster" Target="/ppt/notesMasters/notesMaster1.xml" Id="R6670a7aa58e44a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Simple current-theme diagram. Normal support thumbnail source paths are recorded in the source manifest. J and L are established operators for a controlled comparison. Support bank is fixed, all branch reference indices aligned. B DINOv2-B, C AnomalyCLIP visual; optional S DINOv2-S or D WideResNet50-2. Real example MPDD bracket_brown/test/parts_mismatch/007.png, seed0 K4, A1_L stored prediction. Continuous heatmap and contour use same score; shared J/L minmax normalization and 256-bin Otsu visualization threshold. Source and exact threshold recorded in .tmp_english_main_figure_20260914/real_example.json. No GT used for contour. Scientific equations and controls in manuscript Tables1–2.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f3cf3041bf47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d47d14f93c43c3" /><Relationship Type="http://schemas.openxmlformats.org/officeDocument/2006/relationships/slideLayout" Target="/ppt/slideLayouts/slideLayout1.xml" Id="Reae0d29d7eb54a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e0d29d7eb54a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ca1b3dbfb4854" /><Relationship Type="http://schemas.openxmlformats.org/officeDocument/2006/relationships/image" Target="/ppt/media/image.png" Id="R66514a85c16b4ec7" /><Relationship Type="http://schemas.openxmlformats.org/officeDocument/2006/relationships/image" Target="/ppt/media/image2.png" Id="Reb1a5501d2a84c7c" /><Relationship Type="http://schemas.openxmlformats.org/officeDocument/2006/relationships/image" Target="/ppt/media/image3.png" Id="Rb94605ab659043a1" /><Relationship Type="http://schemas.openxmlformats.org/officeDocument/2006/relationships/image" Target="/ppt/media/image4.png" Id="R0b64ec4fd9874e3f" /><Relationship Type="http://schemas.openxmlformats.org/officeDocument/2006/relationships/image" Target="/ppt/media/image5.png" Id="R9b7620ff24f84ac6" /><Relationship Type="http://schemas.openxmlformats.org/officeDocument/2006/relationships/image" Target="/ppt/media/image6.png" Id="Rdbaf874fb7c04f48" /><Relationship Type="http://schemas.openxmlformats.org/officeDocument/2006/relationships/notesSlide" Target="/ppt/notesSlides/notesSlide1.xml" Id="Rba466903f47844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section-a">
            <a:extLst xmlns:a="http://schemas.openxmlformats.org/drawingml/2006/main">
              <a:ext uri="{FF2B5EF4-FFF2-40B4-BE49-F238E27FC236}">
                <a16:creationId xmlns:a16="http://schemas.microsoft.com/office/drawing/2014/main" id="{DC79AE6D-2E4E-4457-8A07-EF0A65CF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62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(a) Normal support bank</a:t>
            </a:r>
          </a:p>
        </p:txBody>
      </p:sp>
      <p:sp>
        <p:nvSpPr>
          <p:cNvPr id="2" name="normal-support">
            <a:extLst xmlns:a="http://schemas.openxmlformats.org/drawingml/2006/main">
              <a:ext uri="{FF2B5EF4-FFF2-40B4-BE49-F238E27FC236}">
                <a16:creationId xmlns:a16="http://schemas.microsoft.com/office/drawing/2014/main" id="{CDD3F499-D212-4519-A07B-1FA32679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57200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14a85c16b4ec7"/>
          <a:stretch xmlns:a="http://schemas.openxmlformats.org/drawingml/2006/main"/>
        </p:blipFill>
        <p:spPr>
          <a:xfrm xmlns:a="http://schemas.openxmlformats.org/drawingml/2006/main">
            <a:off x="190500" y="781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a5501d2a84c7c"/>
          <a:stretch xmlns:a="http://schemas.openxmlformats.org/drawingml/2006/main"/>
        </p:blipFill>
        <p:spPr>
          <a:xfrm xmlns:a="http://schemas.openxmlformats.org/drawingml/2006/main">
            <a:off x="523875" y="781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605ab659043a1"/>
          <a:stretch xmlns:a="http://schemas.openxmlformats.org/drawingml/2006/main"/>
        </p:blipFill>
        <p:spPr>
          <a:xfrm xmlns:a="http://schemas.openxmlformats.org/drawingml/2006/main">
            <a:off x="857250" y="781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6" name="normal-label">
            <a:extLst xmlns:a="http://schemas.openxmlformats.org/drawingml/2006/main">
              <a:ext uri="{FF2B5EF4-FFF2-40B4-BE49-F238E27FC236}">
                <a16:creationId xmlns:a16="http://schemas.microsoft.com/office/drawing/2014/main" id="{A9373F84-7AFE-4DF7-9C13-8A24D345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40017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i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0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 normal images
same category</a:t>
            </a:r>
          </a:p>
        </p:txBody>
      </p:sp>
      <p:sp>
        <p:nvSpPr>
          <p:cNvPr id="7" name="support-branches">
            <a:extLst xmlns:a="http://schemas.openxmlformats.org/drawingml/2006/main">
              <a:ext uri="{FF2B5EF4-FFF2-40B4-BE49-F238E27FC236}">
                <a16:creationId xmlns:a16="http://schemas.microsoft.com/office/drawing/2014/main" id="{CFE63077-ABE8-417D-949A-9DA540A1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"/>
            <a:ext cx="17907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EE3"/>
            </a:solidFill>
            <a:prstDash val="solid"/>
          </a:ln>
        </p:spPr>
      </p:sp>
      <p:sp>
        <p:nvSpPr>
          <p:cNvPr id="8" name="support-branches-title">
            <a:extLst xmlns:a="http://schemas.openxmlformats.org/drawingml/2006/main">
              <a:ext uri="{FF2B5EF4-FFF2-40B4-BE49-F238E27FC236}">
                <a16:creationId xmlns:a16="http://schemas.microsoft.com/office/drawing/2014/main" id="{00BF2351-38D4-4E9C-854C-70C4FC85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862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0" b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rPr>
              <a:t>Frozen visual branches</a:t>
            </a:r>
          </a:p>
        </p:txBody>
      </p:sp>
      <p:sp>
        <p:nvSpPr>
          <p:cNvPr id="9" name="support-branches-B">
            <a:extLst xmlns:a="http://schemas.openxmlformats.org/drawingml/2006/main">
              <a:ext uri="{FF2B5EF4-FFF2-40B4-BE49-F238E27FC236}">
                <a16:creationId xmlns:a16="http://schemas.microsoft.com/office/drawing/2014/main" id="{9957CB0C-85B3-411F-904C-CF765381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47700"/>
            <a:ext cx="16002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CEBF7"/>
          </a:solidFill>
          <a:ln xmlns:a="http://schemas.openxmlformats.org/drawingml/2006/main" w="11430">
            <a:solidFill>
              <a:srgbClr val="2E6F9E"/>
            </a:solidFill>
            <a:prstDash val="solid"/>
          </a:ln>
        </p:spPr>
      </p:sp>
      <p:sp>
        <p:nvSpPr>
          <p:cNvPr id="10" name="support-branches-B-text">
            <a:extLst xmlns:a="http://schemas.openxmlformats.org/drawingml/2006/main">
              <a:ext uri="{FF2B5EF4-FFF2-40B4-BE49-F238E27FC236}">
                <a16:creationId xmlns:a16="http://schemas.microsoft.com/office/drawing/2014/main" id="{CCAD937A-37F1-411B-972E-683B5AE0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477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rPr>
              <a:t>B   DINOv2-B</a:t>
            </a:r>
          </a:p>
        </p:txBody>
      </p:sp>
      <p:sp>
        <p:nvSpPr>
          <p:cNvPr id="11" name="support-branches-C">
            <a:extLst xmlns:a="http://schemas.openxmlformats.org/drawingml/2006/main">
              <a:ext uri="{FF2B5EF4-FFF2-40B4-BE49-F238E27FC236}">
                <a16:creationId xmlns:a16="http://schemas.microsoft.com/office/drawing/2014/main" id="{903CDBE7-7831-4795-87F1-F4293AA5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923925"/>
            <a:ext cx="16002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11430">
            <a:solidFill>
              <a:srgbClr val="B27C20"/>
            </a:solidFill>
            <a:prstDash val="solid"/>
          </a:ln>
        </p:spPr>
      </p:sp>
      <p:sp>
        <p:nvSpPr>
          <p:cNvPr id="12" name="support-branches-C-text">
            <a:extLst xmlns:a="http://schemas.openxmlformats.org/drawingml/2006/main">
              <a:ext uri="{FF2B5EF4-FFF2-40B4-BE49-F238E27FC236}">
                <a16:creationId xmlns:a16="http://schemas.microsoft.com/office/drawing/2014/main" id="{F8E3503A-90D2-4F3E-BAFD-23222C3C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9239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0" b="1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0" b="1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rPr>
              <a:t>C   AnomalyCLIP visual</a:t>
            </a:r>
          </a:p>
        </p:txBody>
      </p:sp>
      <p:sp>
        <p:nvSpPr>
          <p:cNvPr id="13" name="support-branches-extra">
            <a:extLst xmlns:a="http://schemas.openxmlformats.org/drawingml/2006/main">
              <a:ext uri="{FF2B5EF4-FFF2-40B4-BE49-F238E27FC236}">
                <a16:creationId xmlns:a16="http://schemas.microsoft.com/office/drawing/2014/main" id="{5F9A4F4B-1302-47FA-AE35-F646EE9A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00150"/>
            <a:ext cx="16002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1430">
            <a:solidFill>
              <a:srgbClr val="4E8661"/>
            </a:solidFill>
            <a:prstDash val="solid"/>
          </a:ln>
        </p:spPr>
      </p:sp>
      <p:sp>
        <p:nvSpPr>
          <p:cNvPr id="14" name="support-branches-extra-text">
            <a:extLst xmlns:a="http://schemas.openxmlformats.org/drawingml/2006/main">
              <a:ext uri="{FF2B5EF4-FFF2-40B4-BE49-F238E27FC236}">
                <a16:creationId xmlns:a16="http://schemas.microsoft.com/office/drawing/2014/main" id="{F6BF1E2D-0672-4414-A235-561CD4FF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200150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3028"/>
          </a:bodyPr>
          <a:lstStyle xmlns:a="http://schemas.openxmlformats.org/drawingml/2006/main"/>
          <a:p xmlns:a="http://schemas.openxmlformats.org/drawingml/2006/main">
            <a:pPr algn="ctr">
              <a:defRPr sz="940" b="1">
                <a:solidFill>
                  <a:srgbClr val="4E86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0" b="1">
                <a:solidFill>
                  <a:srgbClr val="4E8661"/>
                </a:solidFill>
                <a:latin typeface="Times New Roman"/>
                <a:ea typeface="Times New Roman"/>
                <a:cs typeface="Times New Roman"/>
              </a:rPr>
              <a:t>S or D   controlled extra branch</a:t>
            </a:r>
          </a:p>
        </p:txBody>
      </p:sp>
      <p:sp>
        <p:nvSpPr>
          <p:cNvPr id="15" name="support-align">
            <a:extLst xmlns:a="http://schemas.openxmlformats.org/drawingml/2006/main">
              <a:ext uri="{FF2B5EF4-FFF2-40B4-BE49-F238E27FC236}">
                <a16:creationId xmlns:a16="http://schemas.microsoft.com/office/drawing/2014/main" id="{E83EE718-3A4B-428D-BA3C-03D89240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"/>
            <a:ext cx="1143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11430">
            <a:solidFill>
              <a:srgbClr val="5D8190"/>
            </a:solidFill>
            <a:prstDash val="solid"/>
          </a:ln>
        </p:spPr>
      </p:sp>
      <p:sp>
        <p:nvSpPr>
          <p:cNvPr id="16" name="support-align-label">
            <a:extLst xmlns:a="http://schemas.openxmlformats.org/drawingml/2006/main">
              <a:ext uri="{FF2B5EF4-FFF2-40B4-BE49-F238E27FC236}">
                <a16:creationId xmlns:a16="http://schemas.microsoft.com/office/drawing/2014/main" id="{3DEF758D-9272-4776-B738-C76C775E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2450"/>
            <a:ext cx="990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6879"/>
          </a:bodyPr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Spatial align</a:t>
            </a:r>
          </a:p>
          <a:p xmlns:a="http://schemas.openxmlformats.org/drawingml/2006/main">
            <a:pPr algn="ctr">
              <a:def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and L2 normalize</a:t>
            </a:r>
          </a:p>
        </p:txBody>
      </p:sp>
      <p:sp>
        <p:nvSpPr>
          <p:cNvPr id="17" name="support-align-grid-0-0">
            <a:extLst xmlns:a="http://schemas.openxmlformats.org/drawingml/2006/main">
              <a:ext uri="{FF2B5EF4-FFF2-40B4-BE49-F238E27FC236}">
                <a16:creationId xmlns:a16="http://schemas.microsoft.com/office/drawing/2014/main" id="{9AFA1535-57D8-4D24-93AA-0140441A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38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18" name="support-align-grid-0-1">
            <a:extLst xmlns:a="http://schemas.openxmlformats.org/drawingml/2006/main">
              <a:ext uri="{FF2B5EF4-FFF2-40B4-BE49-F238E27FC236}">
                <a16:creationId xmlns:a16="http://schemas.microsoft.com/office/drawing/2014/main" id="{35C37AA5-6613-49FC-A4DD-EE3B535B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038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19" name="support-align-grid-0-2">
            <a:extLst xmlns:a="http://schemas.openxmlformats.org/drawingml/2006/main">
              <a:ext uri="{FF2B5EF4-FFF2-40B4-BE49-F238E27FC236}">
                <a16:creationId xmlns:a16="http://schemas.microsoft.com/office/drawing/2014/main" id="{3B064525-88F5-48D0-98AE-5ED959A1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038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0" name="support-align-grid-0-3">
            <a:extLst xmlns:a="http://schemas.openxmlformats.org/drawingml/2006/main">
              <a:ext uri="{FF2B5EF4-FFF2-40B4-BE49-F238E27FC236}">
                <a16:creationId xmlns:a16="http://schemas.microsoft.com/office/drawing/2014/main" id="{12AF1501-ECF3-4C25-885A-FD04AF71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038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1" name="support-align-grid-0-4">
            <a:extLst xmlns:a="http://schemas.openxmlformats.org/drawingml/2006/main">
              <a:ext uri="{FF2B5EF4-FFF2-40B4-BE49-F238E27FC236}">
                <a16:creationId xmlns:a16="http://schemas.microsoft.com/office/drawing/2014/main" id="{D1E1064A-262F-4D1E-B910-A40E9EAD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038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2" name="support-align-grid-1-0">
            <a:extLst xmlns:a="http://schemas.openxmlformats.org/drawingml/2006/main">
              <a:ext uri="{FF2B5EF4-FFF2-40B4-BE49-F238E27FC236}">
                <a16:creationId xmlns:a16="http://schemas.microsoft.com/office/drawing/2014/main" id="{A3C48421-AD7A-4199-A2EC-BE333CCB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133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3" name="support-align-grid-1-1">
            <a:extLst xmlns:a="http://schemas.openxmlformats.org/drawingml/2006/main">
              <a:ext uri="{FF2B5EF4-FFF2-40B4-BE49-F238E27FC236}">
                <a16:creationId xmlns:a16="http://schemas.microsoft.com/office/drawing/2014/main" id="{DEEC40EB-BFFF-478E-8BDF-FB2790EA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133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4" name="support-align-grid-1-2">
            <a:extLst xmlns:a="http://schemas.openxmlformats.org/drawingml/2006/main">
              <a:ext uri="{FF2B5EF4-FFF2-40B4-BE49-F238E27FC236}">
                <a16:creationId xmlns:a16="http://schemas.microsoft.com/office/drawing/2014/main" id="{793877AF-4888-4EE7-AD95-16C5F529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133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5" name="support-align-grid-1-3">
            <a:extLst xmlns:a="http://schemas.openxmlformats.org/drawingml/2006/main">
              <a:ext uri="{FF2B5EF4-FFF2-40B4-BE49-F238E27FC236}">
                <a16:creationId xmlns:a16="http://schemas.microsoft.com/office/drawing/2014/main" id="{F81710D6-D74E-4C63-965F-2743D73C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133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6" name="support-align-grid-1-4">
            <a:extLst xmlns:a="http://schemas.openxmlformats.org/drawingml/2006/main">
              <a:ext uri="{FF2B5EF4-FFF2-40B4-BE49-F238E27FC236}">
                <a16:creationId xmlns:a16="http://schemas.microsoft.com/office/drawing/2014/main" id="{F00C3BA6-5AE5-4AF8-A6BB-2F1E5691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133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7" name="support-align-grid-2-0">
            <a:extLst xmlns:a="http://schemas.openxmlformats.org/drawingml/2006/main">
              <a:ext uri="{FF2B5EF4-FFF2-40B4-BE49-F238E27FC236}">
                <a16:creationId xmlns:a16="http://schemas.microsoft.com/office/drawing/2014/main" id="{D6864280-618A-400B-96AC-46414D44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228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8" name="support-align-grid-2-1">
            <a:extLst xmlns:a="http://schemas.openxmlformats.org/drawingml/2006/main">
              <a:ext uri="{FF2B5EF4-FFF2-40B4-BE49-F238E27FC236}">
                <a16:creationId xmlns:a16="http://schemas.microsoft.com/office/drawing/2014/main" id="{A7B54F51-AFC2-47AB-9A92-7C8A6678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28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29" name="support-align-grid-2-2">
            <a:extLst xmlns:a="http://schemas.openxmlformats.org/drawingml/2006/main">
              <a:ext uri="{FF2B5EF4-FFF2-40B4-BE49-F238E27FC236}">
                <a16:creationId xmlns:a16="http://schemas.microsoft.com/office/drawing/2014/main" id="{44284BA5-4722-40AB-B182-9EE1F928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28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0" name="support-align-grid-2-3">
            <a:extLst xmlns:a="http://schemas.openxmlformats.org/drawingml/2006/main">
              <a:ext uri="{FF2B5EF4-FFF2-40B4-BE49-F238E27FC236}">
                <a16:creationId xmlns:a16="http://schemas.microsoft.com/office/drawing/2014/main" id="{B5C0F19F-3328-4690-B944-75EA05DA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28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1" name="support-align-grid-2-4">
            <a:extLst xmlns:a="http://schemas.openxmlformats.org/drawingml/2006/main">
              <a:ext uri="{FF2B5EF4-FFF2-40B4-BE49-F238E27FC236}">
                <a16:creationId xmlns:a16="http://schemas.microsoft.com/office/drawing/2014/main" id="{F0C59877-8DDE-46E4-93AF-1D0F51EC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228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32" name="support-align-per-branch">
            <a:extLst xmlns:a="http://schemas.openxmlformats.org/drawingml/2006/main">
              <a:ext uri="{FF2B5EF4-FFF2-40B4-BE49-F238E27FC236}">
                <a16:creationId xmlns:a16="http://schemas.microsoft.com/office/drawing/2014/main" id="{37D70DD2-96D5-4862-9E29-59D1602F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4302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i="1">
                <a:solidFill>
                  <a:srgbClr val="5D819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i="1">
                <a:solidFill>
                  <a:srgbClr val="5D8190"/>
                </a:solidFill>
                <a:latin typeface="Times New Roman"/>
                <a:ea typeface="Times New Roman"/>
                <a:cs typeface="Times New Roman"/>
              </a:rPr>
              <a:t>per branch</a:t>
            </a:r>
          </a:p>
        </p:txBody>
      </p:sp>
      <p:sp>
        <p:nvSpPr>
          <p:cNvPr id="33" name="memory-bank">
            <a:extLst xmlns:a="http://schemas.openxmlformats.org/drawingml/2006/main">
              <a:ext uri="{FF2B5EF4-FFF2-40B4-BE49-F238E27FC236}">
                <a16:creationId xmlns:a16="http://schemas.microsoft.com/office/drawing/2014/main" id="{386CE4D6-CE27-451A-8CBC-3B793FAB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"/>
            <a:ext cx="12382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2F1ED"/>
          </a:solidFill>
          <a:ln xmlns:a="http://schemas.openxmlformats.org/drawingml/2006/main" w="11430">
            <a:solidFill>
              <a:srgbClr val="2B7961"/>
            </a:solidFill>
            <a:prstDash val="solid"/>
          </a:ln>
        </p:spPr>
      </p:sp>
      <p:sp>
        <p:nvSpPr>
          <p:cNvPr id="34" name="memory-bank-title">
            <a:extLst xmlns:a="http://schemas.openxmlformats.org/drawingml/2006/main">
              <a:ext uri="{FF2B5EF4-FFF2-40B4-BE49-F238E27FC236}">
                <a16:creationId xmlns:a16="http://schemas.microsoft.com/office/drawing/2014/main" id="{37584256-029E-4F60-8604-6B86A2B6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5300"/>
            <a:ext cx="1085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2176"/>
          </a:bodyPr>
          <a:lstStyle xmlns:a="http://schemas.openxmlformats.org/drawingml/2006/main"/>
          <a:p xmlns:a="http://schemas.openxmlformats.org/drawingml/2006/main">
            <a:pPr algn="ctr">
              <a:defRPr sz="1060" b="1">
                <a:solidFill>
                  <a:srgbClr val="2B79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0" b="1">
                <a:solidFill>
                  <a:srgbClr val="2B7961"/>
                </a:solidFill>
                <a:latin typeface="Times New Roman"/>
                <a:ea typeface="Times New Roman"/>
                <a:cs typeface="Times New Roman"/>
              </a:rPr>
              <a:t>Aligned patch bank</a:t>
            </a:r>
          </a:p>
        </p:txBody>
      </p:sp>
      <p:sp>
        <p:nvSpPr>
          <p:cNvPr id="35" name="memory-bank-grid-0-0">
            <a:extLst xmlns:a="http://schemas.openxmlformats.org/drawingml/2006/main">
              <a:ext uri="{FF2B5EF4-FFF2-40B4-BE49-F238E27FC236}">
                <a16:creationId xmlns:a16="http://schemas.microsoft.com/office/drawing/2014/main" id="{6B5D4BA5-89D3-4319-ABBC-586F4BD9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790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36" name="memory-bank-grid-0-1">
            <a:extLst xmlns:a="http://schemas.openxmlformats.org/drawingml/2006/main">
              <a:ext uri="{FF2B5EF4-FFF2-40B4-BE49-F238E27FC236}">
                <a16:creationId xmlns:a16="http://schemas.microsoft.com/office/drawing/2014/main" id="{64236ED2-7CA8-4BDC-8FBC-C3ACA614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790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37" name="memory-bank-grid-0-2">
            <a:extLst xmlns:a="http://schemas.openxmlformats.org/drawingml/2006/main">
              <a:ext uri="{FF2B5EF4-FFF2-40B4-BE49-F238E27FC236}">
                <a16:creationId xmlns:a16="http://schemas.microsoft.com/office/drawing/2014/main" id="{935C22F4-2C69-4AE4-9922-BB0BF6C5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790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38" name="memory-bank-grid-0-3">
            <a:extLst xmlns:a="http://schemas.openxmlformats.org/drawingml/2006/main">
              <a:ext uri="{FF2B5EF4-FFF2-40B4-BE49-F238E27FC236}">
                <a16:creationId xmlns:a16="http://schemas.microsoft.com/office/drawing/2014/main" id="{56974482-717B-4588-8082-C6CE994A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790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39" name="memory-bank-grid-0-4">
            <a:extLst xmlns:a="http://schemas.openxmlformats.org/drawingml/2006/main">
              <a:ext uri="{FF2B5EF4-FFF2-40B4-BE49-F238E27FC236}">
                <a16:creationId xmlns:a16="http://schemas.microsoft.com/office/drawing/2014/main" id="{4FC13A1F-830B-4086-9F31-59CFB5F3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90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0" name="memory-bank-grid-0-5">
            <a:extLst xmlns:a="http://schemas.openxmlformats.org/drawingml/2006/main">
              <a:ext uri="{FF2B5EF4-FFF2-40B4-BE49-F238E27FC236}">
                <a16:creationId xmlns:a16="http://schemas.microsoft.com/office/drawing/2014/main" id="{5A452B27-ACA0-4236-A1E7-FFBCEB06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790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1" name="memory-bank-grid-1-0">
            <a:extLst xmlns:a="http://schemas.openxmlformats.org/drawingml/2006/main">
              <a:ext uri="{FF2B5EF4-FFF2-40B4-BE49-F238E27FC236}">
                <a16:creationId xmlns:a16="http://schemas.microsoft.com/office/drawing/2014/main" id="{E98B80B7-B8F8-4FB8-91A6-72EFECD9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904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2" name="memory-bank-grid-1-1">
            <a:extLst xmlns:a="http://schemas.openxmlformats.org/drawingml/2006/main">
              <a:ext uri="{FF2B5EF4-FFF2-40B4-BE49-F238E27FC236}">
                <a16:creationId xmlns:a16="http://schemas.microsoft.com/office/drawing/2014/main" id="{5C001A29-5342-4320-B3FD-9AB09979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904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3" name="memory-bank-grid-1-2">
            <a:extLst xmlns:a="http://schemas.openxmlformats.org/drawingml/2006/main">
              <a:ext uri="{FF2B5EF4-FFF2-40B4-BE49-F238E27FC236}">
                <a16:creationId xmlns:a16="http://schemas.microsoft.com/office/drawing/2014/main" id="{900CA30D-5E33-464F-AE9A-C1B40445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904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4" name="memory-bank-grid-1-3">
            <a:extLst xmlns:a="http://schemas.openxmlformats.org/drawingml/2006/main">
              <a:ext uri="{FF2B5EF4-FFF2-40B4-BE49-F238E27FC236}">
                <a16:creationId xmlns:a16="http://schemas.microsoft.com/office/drawing/2014/main" id="{5AF44948-0A41-481A-9E0F-96A21BD8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904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5" name="memory-bank-grid-1-4">
            <a:extLst xmlns:a="http://schemas.openxmlformats.org/drawingml/2006/main">
              <a:ext uri="{FF2B5EF4-FFF2-40B4-BE49-F238E27FC236}">
                <a16:creationId xmlns:a16="http://schemas.microsoft.com/office/drawing/2014/main" id="{6B2C64D4-E43A-4DA3-97DC-3B8CFF3A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904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6" name="memory-bank-grid-1-5">
            <a:extLst xmlns:a="http://schemas.openxmlformats.org/drawingml/2006/main">
              <a:ext uri="{FF2B5EF4-FFF2-40B4-BE49-F238E27FC236}">
                <a16:creationId xmlns:a16="http://schemas.microsoft.com/office/drawing/2014/main" id="{0005562A-FB15-40C2-B97A-A3204390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904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7" name="memory-bank-grid-2-0">
            <a:extLst xmlns:a="http://schemas.openxmlformats.org/drawingml/2006/main">
              <a:ext uri="{FF2B5EF4-FFF2-40B4-BE49-F238E27FC236}">
                <a16:creationId xmlns:a16="http://schemas.microsoft.com/office/drawing/2014/main" id="{BE309BBC-B7D9-43E5-9AE2-4B7CAD17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019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8" name="memory-bank-grid-2-1">
            <a:extLst xmlns:a="http://schemas.openxmlformats.org/drawingml/2006/main">
              <a:ext uri="{FF2B5EF4-FFF2-40B4-BE49-F238E27FC236}">
                <a16:creationId xmlns:a16="http://schemas.microsoft.com/office/drawing/2014/main" id="{EB0801B0-F708-4282-993C-39C9BDFF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19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49" name="memory-bank-grid-2-2">
            <a:extLst xmlns:a="http://schemas.openxmlformats.org/drawingml/2006/main">
              <a:ext uri="{FF2B5EF4-FFF2-40B4-BE49-F238E27FC236}">
                <a16:creationId xmlns:a16="http://schemas.microsoft.com/office/drawing/2014/main" id="{438ABFCD-E013-47B5-95C2-18250071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19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0" name="memory-bank-grid-2-3">
            <a:extLst xmlns:a="http://schemas.openxmlformats.org/drawingml/2006/main">
              <a:ext uri="{FF2B5EF4-FFF2-40B4-BE49-F238E27FC236}">
                <a16:creationId xmlns:a16="http://schemas.microsoft.com/office/drawing/2014/main" id="{6BEB8102-43E7-475F-8A14-A7806E24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019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1" name="memory-bank-grid-2-4">
            <a:extLst xmlns:a="http://schemas.openxmlformats.org/drawingml/2006/main">
              <a:ext uri="{FF2B5EF4-FFF2-40B4-BE49-F238E27FC236}">
                <a16:creationId xmlns:a16="http://schemas.microsoft.com/office/drawing/2014/main" id="{D0148EF2-1B37-4BB2-AF30-C4F037BC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019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2" name="memory-bank-grid-2-5">
            <a:extLst xmlns:a="http://schemas.openxmlformats.org/drawingml/2006/main">
              <a:ext uri="{FF2B5EF4-FFF2-40B4-BE49-F238E27FC236}">
                <a16:creationId xmlns:a16="http://schemas.microsoft.com/office/drawing/2014/main" id="{D711F691-0C86-4E39-995B-9B7AAAEA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019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8E2"/>
          </a:solidFill>
          <a:ln xmlns:a="http://schemas.openxmlformats.org/drawingml/2006/main" w="9525">
            <a:solidFill>
              <a:srgbClr val="2B7961"/>
            </a:solidFill>
            <a:prstDash val="solid"/>
          </a:ln>
        </p:spPr>
      </p:sp>
      <p:sp>
        <p:nvSpPr>
          <p:cNvPr id="53" name="memory-bank-note">
            <a:extLst xmlns:a="http://schemas.openxmlformats.org/drawingml/2006/main">
              <a:ext uri="{FF2B5EF4-FFF2-40B4-BE49-F238E27FC236}">
                <a16:creationId xmlns:a16="http://schemas.microsoft.com/office/drawing/2014/main" id="{2FA6C165-F3BB-4045-82F4-93136B39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152525"/>
            <a:ext cx="108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70199"/>
          </a:bodyPr>
          <a:lstStyle xmlns:a="http://schemas.openxmlformats.org/drawingml/2006/main"/>
          <a:p xmlns:a="http://schemas.openxmlformats.org/drawingml/2006/main">
            <a:pPr algn="ctr">
              <a:def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indices aligned</a:t>
            </a:r>
          </a:p>
          <a:p xmlns:a="http://schemas.openxmlformats.org/drawingml/2006/main">
            <a:pPr algn="ctr">
              <a:def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fixed after build</a:t>
            </a:r>
          </a:p>
          <a:p xmlns:a="http://schemas.openxmlformats.org/drawingml/2006/main">
            <a:pPr algn="ctr">
              <a:def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read only</a:t>
            </a:r>
          </a:p>
        </p:txBody>
      </p:sp>
      <p:cxnSp>
        <p:nvCxnSpPr>
          <p:cNvPr id="163" name=""/>
          <p:cNvCxnSpPr>
            <a:stCxn xmlns:a="http://schemas.openxmlformats.org/drawingml/2006/main" id="2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190625" y="942975"/>
            <a:ext cx="190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tailEnd type="triangle" w="sm" len="sm"/>
          </a:ln>
        </p:spPr>
      </p:cxnSp>
      <p:cxnSp>
        <p:nvCxnSpPr>
          <p:cNvPr id="164" name=""/>
          <p:cNvCxnSpPr>
            <a:stCxn xmlns:a="http://schemas.openxmlformats.org/drawingml/2006/main" id="7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171825" y="94297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tailEnd type="triangle" w="sm" len="sm"/>
          </a:ln>
        </p:spPr>
      </p:cxnSp>
      <p:cxnSp>
        <p:nvCxnSpPr>
          <p:cNvPr id="165" name=""/>
          <p:cNvCxnSpPr>
            <a:stCxn xmlns:a="http://schemas.openxmlformats.org/drawingml/2006/main" id="15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476750" y="9429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tailEnd type="triangle" w="sm" len="sm"/>
          </a:ln>
        </p:spPr>
      </p:cxnSp>
      <p:sp>
        <p:nvSpPr>
          <p:cNvPr id="57" name="section-b">
            <a:extLst xmlns:a="http://schemas.openxmlformats.org/drawingml/2006/main">
              <a:ext uri="{FF2B5EF4-FFF2-40B4-BE49-F238E27FC236}">
                <a16:creationId xmlns:a16="http://schemas.microsoft.com/office/drawing/2014/main" id="{DE660D9E-FAE1-47D4-A60D-383CFAAF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00250"/>
            <a:ext cx="438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(b) Query with the same frozen feature path</a:t>
            </a:r>
          </a:p>
        </p:txBody>
      </p:sp>
      <p:sp>
        <p:nvSpPr>
          <p:cNvPr id="58" name="query">
            <a:extLst xmlns:a="http://schemas.openxmlformats.org/drawingml/2006/main">
              <a:ext uri="{FF2B5EF4-FFF2-40B4-BE49-F238E27FC236}">
                <a16:creationId xmlns:a16="http://schemas.microsoft.com/office/drawing/2014/main" id="{84A92780-2EBF-4F40-AA19-40FE034D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8875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4ec4fd9874e3f"/>
          <a:stretch xmlns:a="http://schemas.openxmlformats.org/drawingml/2006/main"/>
        </p:blipFill>
        <p:spPr>
          <a:xfrm xmlns:a="http://schemas.openxmlformats.org/drawingml/2006/main">
            <a:off x="190500" y="2428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60" name="query-label">
            <a:extLst xmlns:a="http://schemas.openxmlformats.org/drawingml/2006/main">
              <a:ext uri="{FF2B5EF4-FFF2-40B4-BE49-F238E27FC236}">
                <a16:creationId xmlns:a16="http://schemas.microsoft.com/office/drawing/2014/main" id="{6D30DED9-1F5D-408A-A116-C8E1336C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766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Query image</a:t>
            </a:r>
          </a:p>
        </p:txBody>
      </p:sp>
      <p:sp>
        <p:nvSpPr>
          <p:cNvPr id="61" name="query-branches">
            <a:extLst xmlns:a="http://schemas.openxmlformats.org/drawingml/2006/main">
              <a:ext uri="{FF2B5EF4-FFF2-40B4-BE49-F238E27FC236}">
                <a16:creationId xmlns:a16="http://schemas.microsoft.com/office/drawing/2014/main" id="{2DFF1E9A-5954-4110-98B2-A5BAE58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62200"/>
            <a:ext cx="17907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EE3"/>
            </a:solidFill>
            <a:prstDash val="solid"/>
          </a:ln>
        </p:spPr>
      </p:sp>
      <p:sp>
        <p:nvSpPr>
          <p:cNvPr id="62" name="query-branches-title">
            <a:extLst xmlns:a="http://schemas.openxmlformats.org/drawingml/2006/main">
              <a:ext uri="{FF2B5EF4-FFF2-40B4-BE49-F238E27FC236}">
                <a16:creationId xmlns:a16="http://schemas.microsoft.com/office/drawing/2014/main" id="{6922345E-7230-4ABF-B0AA-E32E56E1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0982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0" b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 b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rPr>
              <a:t>Frozen visual branches</a:t>
            </a:r>
          </a:p>
        </p:txBody>
      </p:sp>
      <p:sp>
        <p:nvSpPr>
          <p:cNvPr id="63" name="query-branches-B">
            <a:extLst xmlns:a="http://schemas.openxmlformats.org/drawingml/2006/main">
              <a:ext uri="{FF2B5EF4-FFF2-40B4-BE49-F238E27FC236}">
                <a16:creationId xmlns:a16="http://schemas.microsoft.com/office/drawing/2014/main" id="{E63B3452-525A-4B2C-8BB0-41C44963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28900"/>
            <a:ext cx="16002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CEBF7"/>
          </a:solidFill>
          <a:ln xmlns:a="http://schemas.openxmlformats.org/drawingml/2006/main" w="11430">
            <a:solidFill>
              <a:srgbClr val="2E6F9E"/>
            </a:solidFill>
            <a:prstDash val="solid"/>
          </a:ln>
        </p:spPr>
      </p:sp>
      <p:sp>
        <p:nvSpPr>
          <p:cNvPr id="64" name="query-branches-B-text">
            <a:extLst xmlns:a="http://schemas.openxmlformats.org/drawingml/2006/main">
              <a:ext uri="{FF2B5EF4-FFF2-40B4-BE49-F238E27FC236}">
                <a16:creationId xmlns:a16="http://schemas.microsoft.com/office/drawing/2014/main" id="{0D7195ED-6215-4ADE-AE76-DAC91600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289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rPr>
              <a:t>B   DINOv2-B</a:t>
            </a:r>
          </a:p>
        </p:txBody>
      </p:sp>
      <p:sp>
        <p:nvSpPr>
          <p:cNvPr id="65" name="query-branches-C">
            <a:extLst xmlns:a="http://schemas.openxmlformats.org/drawingml/2006/main">
              <a:ext uri="{FF2B5EF4-FFF2-40B4-BE49-F238E27FC236}">
                <a16:creationId xmlns:a16="http://schemas.microsoft.com/office/drawing/2014/main" id="{C3901E3A-B009-4291-9534-D40AF478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16002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11430">
            <a:solidFill>
              <a:srgbClr val="B27C20"/>
            </a:solidFill>
            <a:prstDash val="solid"/>
          </a:ln>
        </p:spPr>
      </p:sp>
      <p:sp>
        <p:nvSpPr>
          <p:cNvPr id="66" name="query-branches-C-text">
            <a:extLst xmlns:a="http://schemas.openxmlformats.org/drawingml/2006/main">
              <a:ext uri="{FF2B5EF4-FFF2-40B4-BE49-F238E27FC236}">
                <a16:creationId xmlns:a16="http://schemas.microsoft.com/office/drawing/2014/main" id="{D935C625-1A6D-445C-8843-9232B696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9051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0" b="1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0" b="1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rPr>
              <a:t>C   AnomalyCLIP visual</a:t>
            </a:r>
          </a:p>
        </p:txBody>
      </p:sp>
      <p:sp>
        <p:nvSpPr>
          <p:cNvPr id="67" name="query-branches-extra">
            <a:extLst xmlns:a="http://schemas.openxmlformats.org/drawingml/2006/main">
              <a:ext uri="{FF2B5EF4-FFF2-40B4-BE49-F238E27FC236}">
                <a16:creationId xmlns:a16="http://schemas.microsoft.com/office/drawing/2014/main" id="{84CB387D-F6FD-448F-9827-80C5AD7E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16002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1430">
            <a:solidFill>
              <a:srgbClr val="4E8661"/>
            </a:solidFill>
            <a:prstDash val="solid"/>
          </a:ln>
        </p:spPr>
      </p:sp>
      <p:sp>
        <p:nvSpPr>
          <p:cNvPr id="68" name="query-branches-extra-text">
            <a:extLst xmlns:a="http://schemas.openxmlformats.org/drawingml/2006/main">
              <a:ext uri="{FF2B5EF4-FFF2-40B4-BE49-F238E27FC236}">
                <a16:creationId xmlns:a16="http://schemas.microsoft.com/office/drawing/2014/main" id="{B832C659-780E-4E43-95ED-1873006E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81350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3028"/>
          </a:bodyPr>
          <a:lstStyle xmlns:a="http://schemas.openxmlformats.org/drawingml/2006/main"/>
          <a:p xmlns:a="http://schemas.openxmlformats.org/drawingml/2006/main">
            <a:pPr algn="ctr">
              <a:defRPr sz="940" b="1">
                <a:solidFill>
                  <a:srgbClr val="4E86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0" b="1">
                <a:solidFill>
                  <a:srgbClr val="4E8661"/>
                </a:solidFill>
                <a:latin typeface="Times New Roman"/>
                <a:ea typeface="Times New Roman"/>
                <a:cs typeface="Times New Roman"/>
              </a:rPr>
              <a:t>S or D   controlled extra branch</a:t>
            </a:r>
          </a:p>
        </p:txBody>
      </p:sp>
      <p:sp>
        <p:nvSpPr>
          <p:cNvPr id="69" name="query-align">
            <a:extLst xmlns:a="http://schemas.openxmlformats.org/drawingml/2006/main">
              <a:ext uri="{FF2B5EF4-FFF2-40B4-BE49-F238E27FC236}">
                <a16:creationId xmlns:a16="http://schemas.microsoft.com/office/drawing/2014/main" id="{FD325DEC-E1F7-48E0-8A51-0489EB86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1143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11430">
            <a:solidFill>
              <a:srgbClr val="5D8190"/>
            </a:solidFill>
            <a:prstDash val="solid"/>
          </a:ln>
        </p:spPr>
      </p:sp>
      <p:sp>
        <p:nvSpPr>
          <p:cNvPr id="70" name="query-align-label">
            <a:extLst xmlns:a="http://schemas.openxmlformats.org/drawingml/2006/main">
              <a:ext uri="{FF2B5EF4-FFF2-40B4-BE49-F238E27FC236}">
                <a16:creationId xmlns:a16="http://schemas.microsoft.com/office/drawing/2014/main" id="{635DD23C-A7AC-4EB6-89B6-78983315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990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6879"/>
          </a:bodyPr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Spatial align</a:t>
            </a:r>
          </a:p>
          <a:p xmlns:a="http://schemas.openxmlformats.org/drawingml/2006/main">
            <a:pPr algn="ctr">
              <a:def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and L2 normalize</a:t>
            </a:r>
          </a:p>
        </p:txBody>
      </p:sp>
      <p:sp>
        <p:nvSpPr>
          <p:cNvPr id="71" name="query-align-grid-0-0">
            <a:extLst xmlns:a="http://schemas.openxmlformats.org/drawingml/2006/main">
              <a:ext uri="{FF2B5EF4-FFF2-40B4-BE49-F238E27FC236}">
                <a16:creationId xmlns:a16="http://schemas.microsoft.com/office/drawing/2014/main" id="{FAAB33F1-57ED-4996-83D9-FACA1420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19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72" name="query-align-grid-0-1">
            <a:extLst xmlns:a="http://schemas.openxmlformats.org/drawingml/2006/main">
              <a:ext uri="{FF2B5EF4-FFF2-40B4-BE49-F238E27FC236}">
                <a16:creationId xmlns:a16="http://schemas.microsoft.com/office/drawing/2014/main" id="{C52E29EF-02C3-47A5-A114-DE63CCA5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19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73" name="query-align-grid-0-2">
            <a:extLst xmlns:a="http://schemas.openxmlformats.org/drawingml/2006/main">
              <a:ext uri="{FF2B5EF4-FFF2-40B4-BE49-F238E27FC236}">
                <a16:creationId xmlns:a16="http://schemas.microsoft.com/office/drawing/2014/main" id="{D948432A-C3EB-47AB-B178-CE1249CF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19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74" name="query-align-grid-0-3">
            <a:extLst xmlns:a="http://schemas.openxmlformats.org/drawingml/2006/main">
              <a:ext uri="{FF2B5EF4-FFF2-40B4-BE49-F238E27FC236}">
                <a16:creationId xmlns:a16="http://schemas.microsoft.com/office/drawing/2014/main" id="{3FFA45AD-0D44-4538-BDF9-4517D473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75" name="query-align-grid-0-4">
            <a:extLst xmlns:a="http://schemas.openxmlformats.org/drawingml/2006/main">
              <a:ext uri="{FF2B5EF4-FFF2-40B4-BE49-F238E27FC236}">
                <a16:creationId xmlns:a16="http://schemas.microsoft.com/office/drawing/2014/main" id="{CB924E32-1BC2-43B5-82BB-E0548DF4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19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76" name="query-align-grid-1-0">
            <a:extLst xmlns:a="http://schemas.openxmlformats.org/drawingml/2006/main">
              <a:ext uri="{FF2B5EF4-FFF2-40B4-BE49-F238E27FC236}">
                <a16:creationId xmlns:a16="http://schemas.microsoft.com/office/drawing/2014/main" id="{5A1FC33B-BB29-4B44-8DD2-42965036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14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77" name="query-align-grid-1-1">
            <a:extLst xmlns:a="http://schemas.openxmlformats.org/drawingml/2006/main">
              <a:ext uri="{FF2B5EF4-FFF2-40B4-BE49-F238E27FC236}">
                <a16:creationId xmlns:a16="http://schemas.microsoft.com/office/drawing/2014/main" id="{6AC9434A-1DE5-4783-A3D1-3A64E62C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14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78" name="query-align-grid-1-2">
            <a:extLst xmlns:a="http://schemas.openxmlformats.org/drawingml/2006/main">
              <a:ext uri="{FF2B5EF4-FFF2-40B4-BE49-F238E27FC236}">
                <a16:creationId xmlns:a16="http://schemas.microsoft.com/office/drawing/2014/main" id="{D7CBD2ED-E732-42F3-A540-618AD674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14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79" name="query-align-grid-1-3">
            <a:extLst xmlns:a="http://schemas.openxmlformats.org/drawingml/2006/main">
              <a:ext uri="{FF2B5EF4-FFF2-40B4-BE49-F238E27FC236}">
                <a16:creationId xmlns:a16="http://schemas.microsoft.com/office/drawing/2014/main" id="{C7BC9DCF-6A14-4CD2-9ABE-BEB839D7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14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0" name="query-align-grid-1-4">
            <a:extLst xmlns:a="http://schemas.openxmlformats.org/drawingml/2006/main">
              <a:ext uri="{FF2B5EF4-FFF2-40B4-BE49-F238E27FC236}">
                <a16:creationId xmlns:a16="http://schemas.microsoft.com/office/drawing/2014/main" id="{5404C1DF-6D44-4D0B-8FF4-BCF87306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14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1" name="query-align-grid-2-0">
            <a:extLst xmlns:a="http://schemas.openxmlformats.org/drawingml/2006/main">
              <a:ext uri="{FF2B5EF4-FFF2-40B4-BE49-F238E27FC236}">
                <a16:creationId xmlns:a16="http://schemas.microsoft.com/office/drawing/2014/main" id="{68C7A4B5-A832-4A65-B154-74BEC616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09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2" name="query-align-grid-2-1">
            <a:extLst xmlns:a="http://schemas.openxmlformats.org/drawingml/2006/main">
              <a:ext uri="{FF2B5EF4-FFF2-40B4-BE49-F238E27FC236}">
                <a16:creationId xmlns:a16="http://schemas.microsoft.com/office/drawing/2014/main" id="{1FB53C88-9D3A-4AC8-AAC9-66648220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9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3" name="query-align-grid-2-2">
            <a:extLst xmlns:a="http://schemas.openxmlformats.org/drawingml/2006/main">
              <a:ext uri="{FF2B5EF4-FFF2-40B4-BE49-F238E27FC236}">
                <a16:creationId xmlns:a16="http://schemas.microsoft.com/office/drawing/2014/main" id="{94B203D0-04F7-4909-B84F-01129598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09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4" name="query-align-grid-2-3">
            <a:extLst xmlns:a="http://schemas.openxmlformats.org/drawingml/2006/main">
              <a:ext uri="{FF2B5EF4-FFF2-40B4-BE49-F238E27FC236}">
                <a16:creationId xmlns:a16="http://schemas.microsoft.com/office/drawing/2014/main" id="{30751FB2-BC18-4D67-AA32-FCCA3021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9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5" name="query-align-grid-2-4">
            <a:extLst xmlns:a="http://schemas.openxmlformats.org/drawingml/2006/main">
              <a:ext uri="{FF2B5EF4-FFF2-40B4-BE49-F238E27FC236}">
                <a16:creationId xmlns:a16="http://schemas.microsoft.com/office/drawing/2014/main" id="{CC6DFA45-7F8A-48F1-988B-DC4AA455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09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A"/>
          </a:solidFill>
          <a:ln xmlns:a="http://schemas.openxmlformats.org/drawingml/2006/main" w="9525">
            <a:solidFill>
              <a:srgbClr val="5D8190"/>
            </a:solidFill>
            <a:prstDash val="solid"/>
          </a:ln>
        </p:spPr>
      </p:sp>
      <p:sp>
        <p:nvSpPr>
          <p:cNvPr id="86" name="query-align-per-branch">
            <a:extLst xmlns:a="http://schemas.openxmlformats.org/drawingml/2006/main">
              <a:ext uri="{FF2B5EF4-FFF2-40B4-BE49-F238E27FC236}">
                <a16:creationId xmlns:a16="http://schemas.microsoft.com/office/drawing/2014/main" id="{101C5662-518D-4420-B957-4931E9E8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2422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i="1">
                <a:solidFill>
                  <a:srgbClr val="5D819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i="1">
                <a:solidFill>
                  <a:srgbClr val="5D8190"/>
                </a:solidFill>
                <a:latin typeface="Times New Roman"/>
                <a:ea typeface="Times New Roman"/>
                <a:cs typeface="Times New Roman"/>
              </a:rPr>
              <a:t>per branch</a:t>
            </a:r>
          </a:p>
        </p:txBody>
      </p:sp>
      <p:sp>
        <p:nvSpPr>
          <p:cNvPr id="87" name="matching-choices">
            <a:extLst xmlns:a="http://schemas.openxmlformats.org/drawingml/2006/main">
              <a:ext uri="{FF2B5EF4-FFF2-40B4-BE49-F238E27FC236}">
                <a16:creationId xmlns:a16="http://schemas.microsoft.com/office/drawing/2014/main" id="{18E2A75E-FE9A-4108-B78C-D19EA3EE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1238250" cy="1333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E7F7"/>
          </a:solidFill>
          <a:ln xmlns:a="http://schemas.openxmlformats.org/drawingml/2006/main" w="11430">
            <a:solidFill>
              <a:srgbClr val="7553A4"/>
            </a:solidFill>
            <a:prstDash val="solid"/>
          </a:ln>
        </p:spPr>
      </p:sp>
      <p:sp>
        <p:nvSpPr>
          <p:cNvPr id="88" name="matching-title">
            <a:extLst xmlns:a="http://schemas.openxmlformats.org/drawingml/2006/main">
              <a:ext uri="{FF2B5EF4-FFF2-40B4-BE49-F238E27FC236}">
                <a16:creationId xmlns:a16="http://schemas.microsoft.com/office/drawing/2014/main" id="{657BB6D9-9B3C-46E4-93E9-304FD311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526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0" b="1">
                <a:solidFill>
                  <a:srgbClr val="7553A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0" b="1">
                <a:solidFill>
                  <a:srgbClr val="7553A4"/>
                </a:solidFill>
                <a:latin typeface="Times New Roman"/>
                <a:ea typeface="Times New Roman"/>
                <a:cs typeface="Times New Roman"/>
              </a:rPr>
              <a:t>Matching</a:t>
            </a:r>
          </a:p>
        </p:txBody>
      </p:sp>
      <p:sp>
        <p:nvSpPr>
          <p:cNvPr id="89" name="choice-J">
            <a:extLst xmlns:a="http://schemas.openxmlformats.org/drawingml/2006/main">
              <a:ext uri="{FF2B5EF4-FFF2-40B4-BE49-F238E27FC236}">
                <a16:creationId xmlns:a16="http://schemas.microsoft.com/office/drawing/2014/main" id="{A9C70287-8D4F-4464-B94A-18540A64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81275"/>
            <a:ext cx="10668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5DDF2"/>
          </a:solidFill>
          <a:ln xmlns:a="http://schemas.openxmlformats.org/drawingml/2006/main" w="11430">
            <a:solidFill>
              <a:srgbClr val="7553A4"/>
            </a:solidFill>
            <a:prstDash val="solid"/>
          </a:ln>
        </p:spPr>
      </p:sp>
      <p:sp>
        <p:nvSpPr>
          <p:cNvPr id="90" name="choice-J-text">
            <a:extLst xmlns:a="http://schemas.openxmlformats.org/drawingml/2006/main">
              <a:ext uri="{FF2B5EF4-FFF2-40B4-BE49-F238E27FC236}">
                <a16:creationId xmlns:a16="http://schemas.microsoft.com/office/drawing/2014/main" id="{A431F9FC-382E-4255-B043-CEC2A093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0985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75355"/>
          </a:bodyPr>
          <a:lstStyle xmlns:a="http://schemas.openxmlformats.org/drawingml/2006/main"/>
          <a:p xmlns:a="http://schemas.openxmlformats.org/drawingml/2006/main">
            <a:pPr algn="ctr">
              <a:defRPr sz="94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0" b="1" i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94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  shared support patch
weighted sum across branches</a:t>
            </a:r>
          </a:p>
        </p:txBody>
      </p:sp>
      <p:sp>
        <p:nvSpPr>
          <p:cNvPr id="91" name="choice-L">
            <a:extLst xmlns:a="http://schemas.openxmlformats.org/drawingml/2006/main">
              <a:ext uri="{FF2B5EF4-FFF2-40B4-BE49-F238E27FC236}">
                <a16:creationId xmlns:a16="http://schemas.microsoft.com/office/drawing/2014/main" id="{EAA44358-15E7-4BCA-A05F-C982D0B3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09900"/>
            <a:ext cx="10668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6E8E5"/>
          </a:solidFill>
          <a:ln xmlns:a="http://schemas.openxmlformats.org/drawingml/2006/main" w="11430">
            <a:solidFill>
              <a:srgbClr val="A45B4A"/>
            </a:solidFill>
            <a:prstDash val="solid"/>
          </a:ln>
        </p:spPr>
      </p:sp>
      <p:sp>
        <p:nvSpPr>
          <p:cNvPr id="92" name="choice-L-text">
            <a:extLst xmlns:a="http://schemas.openxmlformats.org/drawingml/2006/main">
              <a:ext uri="{FF2B5EF4-FFF2-40B4-BE49-F238E27FC236}">
                <a16:creationId xmlns:a16="http://schemas.microsoft.com/office/drawing/2014/main" id="{CD229317-D891-4B24-8815-25A46BE1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384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75355"/>
          </a:bodyPr>
          <a:lstStyle xmlns:a="http://schemas.openxmlformats.org/drawingml/2006/main"/>
          <a:p xmlns:a="http://schemas.openxmlformats.org/drawingml/2006/main">
            <a:pPr algn="ctr">
              <a:defRPr sz="94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0" b="1" i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94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  branch-specific patches
sum of weighted minima</a:t>
            </a:r>
          </a:p>
        </p:txBody>
      </p:sp>
      <p:sp>
        <p:nvSpPr>
          <p:cNvPr id="93" name="matching-note">
            <a:extLst xmlns:a="http://schemas.openxmlformats.org/drawingml/2006/main">
              <a:ext uri="{FF2B5EF4-FFF2-40B4-BE49-F238E27FC236}">
                <a16:creationId xmlns:a16="http://schemas.microsoft.com/office/drawing/2014/main" id="{5FFECE9B-B92C-48AE-9403-1F73A53A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19475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i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i="1">
                <a:solidFill>
                  <a:srgbClr val="5E717C"/>
                </a:solidFill>
                <a:latin typeface="Times New Roman"/>
                <a:ea typeface="Times New Roman"/>
                <a:cs typeface="Times New Roman"/>
              </a:rPr>
              <a:t>fixed distance weights</a:t>
            </a:r>
          </a:p>
        </p:txBody>
      </p:sp>
      <p:cxnSp>
        <p:nvCxnSpPr>
          <p:cNvPr id="203" name=""/>
          <p:cNvCxnSpPr>
            <a:stCxn xmlns:a="http://schemas.openxmlformats.org/drawingml/2006/main" id="58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 flipV="1">
            <a:off x="1190625" y="2924175"/>
            <a:ext cx="1905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tailEnd type="triangle" w="sm" len="sm"/>
          </a:ln>
        </p:spPr>
      </p:cxnSp>
      <p:cxnSp>
        <p:nvCxnSpPr>
          <p:cNvPr id="204" name=""/>
          <p:cNvCxnSpPr>
            <a:stCxn xmlns:a="http://schemas.openxmlformats.org/drawingml/2006/main" id="61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3171825" y="292417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tailEnd type="triangle" w="sm" len="sm"/>
          </a:ln>
        </p:spPr>
      </p:cxnSp>
      <p:cxnSp>
        <p:nvCxnSpPr>
          <p:cNvPr id="205" name=""/>
          <p:cNvCxnSpPr>
            <a:stCxn xmlns:a="http://schemas.openxmlformats.org/drawingml/2006/main" id="69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4476750" y="2924175"/>
            <a:ext cx="1905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prstDash val="solid"/>
            <a:tailEnd type="triangle" w="sm" len="sm"/>
          </a:ln>
        </p:spPr>
      </p:cxnSp>
      <p:cxnSp>
        <p:nvCxnSpPr>
          <p:cNvPr id="206" name=""/>
          <p:cNvCxnSpPr>
            <a:stCxn xmlns:a="http://schemas.openxmlformats.org/drawingml/2006/main" id="33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5286375" y="15049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B7961"/>
            </a:solidFill>
            <a:tailEnd type="triangle" w="sm" len="sm"/>
          </a:ln>
        </p:spPr>
      </p:cxnSp>
      <p:sp>
        <p:nvSpPr>
          <p:cNvPr id="98" name="bank-read-label">
            <a:extLst xmlns:a="http://schemas.openxmlformats.org/drawingml/2006/main">
              <a:ext uri="{FF2B5EF4-FFF2-40B4-BE49-F238E27FC236}">
                <a16:creationId xmlns:a16="http://schemas.microsoft.com/office/drawing/2014/main" id="{5F8DDDAE-8BD7-42D1-BC6F-484D7A9B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762125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0">
                <a:solidFill>
                  <a:srgbClr val="2B79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>
                <a:solidFill>
                  <a:srgbClr val="2B7961"/>
                </a:solidFill>
                <a:latin typeface="Times New Roman"/>
                <a:ea typeface="Times New Roman"/>
                <a:cs typeface="Times New Roman"/>
              </a:rPr>
              <a:t>fixed bank</a:t>
            </a:r>
          </a:p>
        </p:txBody>
      </p:sp>
      <p:sp>
        <p:nvSpPr>
          <p:cNvPr id="99" name="section-c">
            <a:extLst xmlns:a="http://schemas.openxmlformats.org/drawingml/2006/main">
              <a:ext uri="{FF2B5EF4-FFF2-40B4-BE49-F238E27FC236}">
                <a16:creationId xmlns:a16="http://schemas.microsoft.com/office/drawing/2014/main" id="{FD9A7E16-D59C-4C32-B235-8DBCF693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38575"/>
            <a:ext cx="573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(c) Continuous scores and contour visualization</a:t>
            </a:r>
          </a:p>
        </p:txBody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620ff24f84ac6"/>
          <a:stretch xmlns:a="http://schemas.openxmlformats.org/drawingml/2006/main"/>
        </p:blipFill>
        <p:spPr>
          <a:xfrm xmlns:a="http://schemas.openxmlformats.org/drawingml/2006/main">
            <a:off x="1504950" y="4171950"/>
            <a:ext cx="1266825" cy="1266825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f874fb7c04f48"/>
          <a:stretch xmlns:a="http://schemas.openxmlformats.org/drawingml/2006/main"/>
        </p:blipFill>
        <p:spPr>
          <a:xfrm xmlns:a="http://schemas.openxmlformats.org/drawingml/2006/main">
            <a:off x="3000375" y="4171950"/>
            <a:ext cx="1266825" cy="1266825"/>
          </a:xfrm>
          <a:prstGeom xmlns:a="http://schemas.openxmlformats.org/drawingml/2006/main" prst="rect">
            <a:avLst/>
          </a:prstGeom>
        </p:spPr>
      </p:pic>
      <p:sp>
        <p:nvSpPr>
          <p:cNvPr id="102" name="heatmap-label">
            <a:extLst xmlns:a="http://schemas.openxmlformats.org/drawingml/2006/main">
              <a:ext uri="{FF2B5EF4-FFF2-40B4-BE49-F238E27FC236}">
                <a16:creationId xmlns:a16="http://schemas.microsoft.com/office/drawing/2014/main" id="{781449CE-EC79-431D-A5EF-A4EB4786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95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Anomaly map</a:t>
            </a:r>
          </a:p>
        </p:txBody>
      </p:sp>
      <p:sp>
        <p:nvSpPr>
          <p:cNvPr id="103" name="contour-label">
            <a:extLst xmlns:a="http://schemas.openxmlformats.org/drawingml/2006/main">
              <a:ext uri="{FF2B5EF4-FFF2-40B4-BE49-F238E27FC236}">
                <a16:creationId xmlns:a16="http://schemas.microsoft.com/office/drawing/2014/main" id="{79BFD919-B746-42E4-B56E-6F7AD83A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95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Contour overlay</a:t>
            </a:r>
          </a:p>
        </p:txBody>
      </p:sp>
      <p:sp>
        <p:nvSpPr>
          <p:cNvPr id="104" name="postprocess">
            <a:extLst xmlns:a="http://schemas.openxmlformats.org/drawingml/2006/main">
              <a:ext uri="{FF2B5EF4-FFF2-40B4-BE49-F238E27FC236}">
                <a16:creationId xmlns:a16="http://schemas.microsoft.com/office/drawing/2014/main" id="{C1D50761-BEEF-4925-AEA4-7EBC75D1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76725"/>
            <a:ext cx="1238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2F1ED"/>
          </a:solidFill>
          <a:ln xmlns:a="http://schemas.openxmlformats.org/drawingml/2006/main" w="11430">
            <a:solidFill>
              <a:srgbClr val="2B7961"/>
            </a:solidFill>
            <a:prstDash val="solid"/>
          </a:ln>
        </p:spPr>
      </p:sp>
      <p:sp>
        <p:nvSpPr>
          <p:cNvPr id="105" name="postprocess-text">
            <a:extLst xmlns:a="http://schemas.openxmlformats.org/drawingml/2006/main">
              <a:ext uri="{FF2B5EF4-FFF2-40B4-BE49-F238E27FC236}">
                <a16:creationId xmlns:a16="http://schemas.microsoft.com/office/drawing/2014/main" id="{D0AD352C-1541-487C-8BBC-9206683B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00550"/>
            <a:ext cx="1085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Resize to canvas</a:t>
            </a:r>
          </a:p>
          <a:p xmlns:a="http://schemas.openxmlformats.org/drawingml/2006/main">
            <a:pPr algn="ctr">
              <a:def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Gaussian smoothing</a:t>
            </a:r>
          </a:p>
          <a:p xmlns:a="http://schemas.openxmlformats.org/drawingml/2006/main">
            <a:pPr algn="ctr">
              <a:def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Visualization threshold</a:t>
            </a:r>
          </a:p>
        </p:txBody>
      </p:sp>
      <p:cxnSp>
        <p:nvCxnSpPr>
          <p:cNvPr id="215" name=""/>
          <p:cNvCxnSpPr>
            <a:stCxn xmlns:a="http://schemas.openxmlformats.org/drawingml/2006/main" id="87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5286375" y="361950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tailEnd type="triangle" w="sm" len="sm"/>
          </a:ln>
        </p:spPr>
      </p:cxnSp>
      <p:sp>
        <p:nvSpPr>
          <p:cNvPr id="107" name="output-anchor">
            <a:extLst xmlns:a="http://schemas.openxmlformats.org/drawingml/2006/main">
              <a:ext uri="{FF2B5EF4-FFF2-40B4-BE49-F238E27FC236}">
                <a16:creationId xmlns:a16="http://schemas.microsoft.com/office/drawing/2014/main" id="{89F124EF-E17B-4F6F-A374-D5EF09E0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244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7" name=""/>
          <p:cNvCxnSpPr>
            <a:stCxn xmlns:a="http://schemas.openxmlformats.org/drawingml/2006/main" id="104" idx="1"/>
            <a:endCxn xmlns:a="http://schemas.openxmlformats.org/drawingml/2006/main" id="107" idx="3"/>
          </p:cNvCxnSpPr>
          <p:nvPr/>
        </p:nvCxnSpPr>
        <p:spPr>
          <a:xfrm xmlns:a="http://schemas.openxmlformats.org/drawingml/2006/main" flipH="1" flipV="1">
            <a:off x="4295775" y="4733925"/>
            <a:ext cx="371475" cy="19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E2E38"/>
            </a:solidFill>
            <a:tailEnd type="triangle" w="sm" len="sm"/>
          </a:ln>
        </p:spPr>
      </p:cxnSp>
      <p:sp>
        <p:nvSpPr>
          <p:cNvPr id="109" name="output-note">
            <a:extLst xmlns:a="http://schemas.openxmlformats.org/drawingml/2006/main">
              <a:ext uri="{FF2B5EF4-FFF2-40B4-BE49-F238E27FC236}">
                <a16:creationId xmlns:a16="http://schemas.microsoft.com/office/drawing/2014/main" id="{F49EB4AF-96B1-437C-8311-91FC72A6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76725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A1 example</a:t>
            </a:r>
          </a:p>
          <a:p xmlns:a="http://schemas.openxmlformats.org/drawingml/2006/main">
            <a:pPr algn="ctr">
              <a:def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from one query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Contour is</a:t>
            </a:r>
          </a:p>
          <a:p xmlns:a="http://schemas.openxmlformats.org/drawingml/2006/main">
            <a:pPr algn="ctr">
              <a:def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visualization only</a:t>
            </a:r>
          </a:p>
        </p:txBody>
      </p:sp>
    </p:spTree>
    <p:extLst>
      <p:ext uri="{BB962C8B-B14F-4D97-AF65-F5344CB8AC3E}">
        <p14:creationId xmlns:p14="http://schemas.microsoft.com/office/powerpoint/2010/main" val="896245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2026-09-15T00:00:32.9290000Z</dcterms:created>
  <dcterms:modified xsi:type="dcterms:W3CDTF">2026-09-15T00:00:32.9300000Z</dcterms:modified>
</coreProperties>
</file>