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abbdc3ab994002" /><Relationship Type="http://schemas.openxmlformats.org/officeDocument/2006/relationships/extended-properties" Target="/docProps/app.xml" Id="R64ec4a68c99f4219" /><Relationship Type="http://schemas.openxmlformats.org/officeDocument/2006/relationships/officeDocument" Target="/ppt/presentation.xml" Id="R00e74053d26a46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de2a52d87f490d"/>
  </p:sldMasterIdLst>
  <p:notesMasterIdLst>
    <p:notesMasterId xmlns:r="http://schemas.openxmlformats.org/officeDocument/2006/relationships" r:id="R42039ba1181d4ecb"/>
  </p:notesMasterIdLst>
  <p:sldIdLst>
    <p:sldId xmlns:r="http://schemas.openxmlformats.org/officeDocument/2006/relationships" id="256" r:id="Rc53d9c23513b4ca3"/>
  </p:sldIdLst>
  <p:sldSz cx="611505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8929c0e1fd408e" /><Relationship Type="http://schemas.openxmlformats.org/officeDocument/2006/relationships/slideMaster" Target="/ppt/slideMasters/slideMaster1.xml" Id="R73de2a52d87f490d" /><Relationship Type="http://schemas.openxmlformats.org/officeDocument/2006/relationships/notesMaster" Target="/ppt/notesMasters/notesMaster1.xml" Id="R42039ba1181d4ecb" /><Relationship Type="http://schemas.openxmlformats.org/officeDocument/2006/relationships/presProps" Target="/ppt/presProps.xml" Id="R01a97abb510d4df5" /><Relationship Type="http://schemas.openxmlformats.org/officeDocument/2006/relationships/tableStyles" Target="/ppt/tableStyles.xml" Id="R7b132b910ac442e5" /><Relationship Type="http://schemas.openxmlformats.org/officeDocument/2006/relationships/slide" Target="/ppt/slides/slide1.xml" Id="Rc53d9c23513b4c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b239a1dd9d46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ee35716cd54e87" /><Relationship Type="http://schemas.openxmlformats.org/officeDocument/2006/relationships/notesMaster" Target="/ppt/notesMasters/notesMaster1.xml" Id="R6790b330e9c040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Schematic figure for the controlled representation-matching framework. The support set contains K normal images from one category and the reference bank is fixed after construction. B denotes DINOv2-B, C denotes the AnomalyCLIP visual branch, and S or D denotes the controlled extra branch. Each branch undergoes spatial alignment and L2 normalization before matching. J and L are stock matching choices for a controlled comparison: J chooses one shared support patch using a weighted sum across branches, while L chooses branch-specific support patches and sums the weighted minima. The triptych at the bottom is AI-generated illustrative content from one synthetic score field, not an experiment result. The continuous heatmap and contour overlay are intended as a matched pair, with the contour using a visualization threshold while metrics use continuous scores. No ground truth is shown or used as a prediction.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e173f141a54b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7a8f8ef4ee4232" /><Relationship Type="http://schemas.openxmlformats.org/officeDocument/2006/relationships/slideLayout" Target="/ppt/slideLayouts/slideLayout1.xml" Id="Rbb00bad2751945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00bad2751945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2df1cd51d4738" /><Relationship Type="http://schemas.openxmlformats.org/officeDocument/2006/relationships/image" Target="/ppt/media/image.png" Id="R616001f4ee034446" /><Relationship Type="http://schemas.openxmlformats.org/officeDocument/2006/relationships/notesSlide" Target="/ppt/notesSlides/notesSlide1.xml" Id="R4fb61148559c41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07DBE793-BCCC-4140-95BD-86AB49B5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809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igure-heading">
            <a:extLst xmlns:a="http://schemas.openxmlformats.org/drawingml/2006/main">
              <a:ext uri="{FF2B5EF4-FFF2-40B4-BE49-F238E27FC236}">
                <a16:creationId xmlns:a16="http://schemas.microsoft.com/office/drawing/2014/main" id="{5B788F9A-D959-4001-BD17-0D9F86F3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734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Frozen support matching for anomaly localization</a:t>
            </a:r>
          </a:p>
        </p:txBody>
      </p:sp>
      <p:sp>
        <p:nvSpPr>
          <p:cNvPr id="3" name="figure-subheading">
            <a:extLst xmlns:a="http://schemas.openxmlformats.org/drawingml/2006/main">
              <a:ext uri="{FF2B5EF4-FFF2-40B4-BE49-F238E27FC236}">
                <a16:creationId xmlns:a16="http://schemas.microsoft.com/office/drawing/2014/main" id="{7F8FAE6F-AE51-4626-A5E2-9E622719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3875"/>
            <a:ext cx="5734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>
                <a:solidFill>
                  <a:srgbClr val="5E71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>
                <a:solidFill>
                  <a:srgbClr val="5E717C"/>
                </a:solidFill>
                <a:latin typeface="Times New Roman"/>
                <a:ea typeface="Times New Roman"/>
                <a:cs typeface="Times New Roman"/>
              </a:rPr>
              <a:t>Normal references from one category are aligned once and kept fixed during query scoring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E0D5164-06D1-434D-A8D1-9066239F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781050"/>
            <a:ext cx="573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E3"/>
            </a:solidFill>
            <a:prstDash val="solid"/>
          </a:ln>
        </p:spPr>
      </p:sp>
      <p:sp>
        <p:nvSpPr>
          <p:cNvPr id="5" name="build-section">
            <a:extLst xmlns:a="http://schemas.openxmlformats.org/drawingml/2006/main">
              <a:ext uri="{FF2B5EF4-FFF2-40B4-BE49-F238E27FC236}">
                <a16:creationId xmlns:a16="http://schemas.microsoft.com/office/drawing/2014/main" id="{A0404BA5-C08E-42C3-B6A1-8EF0EC04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885825"/>
            <a:ext cx="573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Build the fixed reference bank</a:t>
            </a:r>
          </a:p>
        </p:txBody>
      </p:sp>
      <p:sp>
        <p:nvSpPr>
          <p:cNvPr id="6" name="support-surface">
            <a:extLst xmlns:a="http://schemas.openxmlformats.org/drawingml/2006/main">
              <a:ext uri="{FF2B5EF4-FFF2-40B4-BE49-F238E27FC236}">
                <a16:creationId xmlns:a16="http://schemas.microsoft.com/office/drawing/2014/main" id="{65D67684-820F-400E-9747-47ACE83A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81100"/>
            <a:ext cx="10001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11430">
            <a:solidFill>
              <a:srgbClr val="AEBAC3"/>
            </a:solidFill>
            <a:prstDash val="solid"/>
          </a:ln>
        </p:spPr>
      </p:sp>
      <p:sp>
        <p:nvSpPr>
          <p:cNvPr id="7" name="support-card-0">
            <a:extLst xmlns:a="http://schemas.openxmlformats.org/drawingml/2006/main">
              <a:ext uri="{FF2B5EF4-FFF2-40B4-BE49-F238E27FC236}">
                <a16:creationId xmlns:a16="http://schemas.microsoft.com/office/drawing/2014/main" id="{38607B1D-956A-42AF-8891-A023EDEF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276350"/>
            <a:ext cx="5810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0"/>
          </a:solidFill>
          <a:ln xmlns:a="http://schemas.openxmlformats.org/drawingml/2006/main" w="9525">
            <a:solidFill>
              <a:srgbClr val="9BAAB3"/>
            </a:solidFill>
            <a:prstDash val="solid"/>
          </a:ln>
        </p:spPr>
      </p:sp>
      <p:sp>
        <p:nvSpPr>
          <p:cNvPr id="8" name="support-blue-0">
            <a:extLst xmlns:a="http://schemas.openxmlformats.org/drawingml/2006/main">
              <a:ext uri="{FF2B5EF4-FFF2-40B4-BE49-F238E27FC236}">
                <a16:creationId xmlns:a16="http://schemas.microsoft.com/office/drawing/2014/main" id="{E44C89F6-8C5A-439B-A581-D7F71233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28750"/>
            <a:ext cx="276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9525">
            <a:solidFill>
              <a:srgbClr val="2E6F9E"/>
            </a:solidFill>
            <a:prstDash val="solid"/>
          </a:ln>
        </p:spPr>
      </p:sp>
      <p:sp>
        <p:nvSpPr>
          <p:cNvPr id="9" name="support-scratch-0">
            <a:extLst xmlns:a="http://schemas.openxmlformats.org/drawingml/2006/main">
              <a:ext uri="{FF2B5EF4-FFF2-40B4-BE49-F238E27FC236}">
                <a16:creationId xmlns:a16="http://schemas.microsoft.com/office/drawing/2014/main" id="{A5380F06-632C-436C-92A6-6F129E6C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40000">
            <a:off x="495300" y="1647825"/>
            <a:ext cx="21907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7B24A"/>
            </a:solidFill>
            <a:prstDash val="solid"/>
          </a:ln>
        </p:spPr>
      </p:sp>
      <p:sp>
        <p:nvSpPr>
          <p:cNvPr id="10" name="support-card-1">
            <a:extLst xmlns:a="http://schemas.openxmlformats.org/drawingml/2006/main">
              <a:ext uri="{FF2B5EF4-FFF2-40B4-BE49-F238E27FC236}">
                <a16:creationId xmlns:a16="http://schemas.microsoft.com/office/drawing/2014/main" id="{0BD35006-15CF-417A-A57B-A9E514BB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43025"/>
            <a:ext cx="5810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4"/>
          </a:solidFill>
          <a:ln xmlns:a="http://schemas.openxmlformats.org/drawingml/2006/main" w="9525">
            <a:solidFill>
              <a:srgbClr val="9BAAB3"/>
            </a:solidFill>
            <a:prstDash val="solid"/>
          </a:ln>
        </p:spPr>
      </p:sp>
      <p:sp>
        <p:nvSpPr>
          <p:cNvPr id="11" name="support-blue-1">
            <a:extLst xmlns:a="http://schemas.openxmlformats.org/drawingml/2006/main">
              <a:ext uri="{FF2B5EF4-FFF2-40B4-BE49-F238E27FC236}">
                <a16:creationId xmlns:a16="http://schemas.microsoft.com/office/drawing/2014/main" id="{4B819DF1-026E-4787-9C2C-5DF3B7E9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276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9525">
            <a:solidFill>
              <a:srgbClr val="2E6F9E"/>
            </a:solidFill>
            <a:prstDash val="solid"/>
          </a:ln>
        </p:spPr>
      </p:sp>
      <p:sp>
        <p:nvSpPr>
          <p:cNvPr id="12" name="support-scratch-1">
            <a:extLst xmlns:a="http://schemas.openxmlformats.org/drawingml/2006/main">
              <a:ext uri="{FF2B5EF4-FFF2-40B4-BE49-F238E27FC236}">
                <a16:creationId xmlns:a16="http://schemas.microsoft.com/office/drawing/2014/main" id="{C58F38A0-9FF8-4A30-B3F8-9F2C975C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40000">
            <a:off x="561975" y="1714500"/>
            <a:ext cx="21907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7B24A"/>
            </a:solidFill>
            <a:prstDash val="solid"/>
          </a:ln>
        </p:spPr>
      </p:sp>
      <p:sp>
        <p:nvSpPr>
          <p:cNvPr id="13" name="support-card-2">
            <a:extLst xmlns:a="http://schemas.openxmlformats.org/drawingml/2006/main">
              <a:ext uri="{FF2B5EF4-FFF2-40B4-BE49-F238E27FC236}">
                <a16:creationId xmlns:a16="http://schemas.microsoft.com/office/drawing/2014/main" id="{968EFDCF-7B65-45C2-9276-CC89E4F7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409700"/>
            <a:ext cx="5810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9BAAB3"/>
            </a:solidFill>
            <a:prstDash val="solid"/>
          </a:ln>
        </p:spPr>
      </p:sp>
      <p:sp>
        <p:nvSpPr>
          <p:cNvPr id="14" name="support-blue-2">
            <a:extLst xmlns:a="http://schemas.openxmlformats.org/drawingml/2006/main">
              <a:ext uri="{FF2B5EF4-FFF2-40B4-BE49-F238E27FC236}">
                <a16:creationId xmlns:a16="http://schemas.microsoft.com/office/drawing/2014/main" id="{2E75072E-D464-4506-9EBB-52E90830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62100"/>
            <a:ext cx="276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9525">
            <a:solidFill>
              <a:srgbClr val="2E6F9E"/>
            </a:solidFill>
            <a:prstDash val="solid"/>
          </a:ln>
        </p:spPr>
      </p:sp>
      <p:sp>
        <p:nvSpPr>
          <p:cNvPr id="15" name="support-scratch-2">
            <a:extLst xmlns:a="http://schemas.openxmlformats.org/drawingml/2006/main">
              <a:ext uri="{FF2B5EF4-FFF2-40B4-BE49-F238E27FC236}">
                <a16:creationId xmlns:a16="http://schemas.microsoft.com/office/drawing/2014/main" id="{B1C2DB17-C56E-4E0B-A1BF-358B31F7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40000">
            <a:off x="628650" y="1781175"/>
            <a:ext cx="21907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7B24A"/>
            </a:solidFill>
            <a:prstDash val="solid"/>
          </a:ln>
        </p:spPr>
      </p:sp>
      <p:sp>
        <p:nvSpPr>
          <p:cNvPr id="16" name="support-label">
            <a:extLst xmlns:a="http://schemas.openxmlformats.org/drawingml/2006/main">
              <a:ext uri="{FF2B5EF4-FFF2-40B4-BE49-F238E27FC236}">
                <a16:creationId xmlns:a16="http://schemas.microsoft.com/office/drawing/2014/main" id="{1CD8BA33-04D3-4437-B49F-58357571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13360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8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K normal images</a:t>
            </a:r>
          </a:p>
          <a:p xmlns:a="http://schemas.openxmlformats.org/drawingml/2006/main">
            <a:pPr algn="ctr">
              <a:defRPr sz="98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same category</a:t>
            </a:r>
          </a:p>
        </p:txBody>
      </p:sp>
      <p:sp>
        <p:nvSpPr>
          <p:cNvPr id="17" name="support-branches">
            <a:extLst xmlns:a="http://schemas.openxmlformats.org/drawingml/2006/main">
              <a:ext uri="{FF2B5EF4-FFF2-40B4-BE49-F238E27FC236}">
                <a16:creationId xmlns:a16="http://schemas.microsoft.com/office/drawing/2014/main" id="{BECDFBD6-955E-4B59-9A7A-DA506FC4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04900"/>
            <a:ext cx="17907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EE3"/>
            </a:solidFill>
            <a:prstDash val="solid"/>
          </a:ln>
        </p:spPr>
      </p:sp>
      <p:sp>
        <p:nvSpPr>
          <p:cNvPr id="18" name="support-branches-title">
            <a:extLst xmlns:a="http://schemas.openxmlformats.org/drawingml/2006/main">
              <a:ext uri="{FF2B5EF4-FFF2-40B4-BE49-F238E27FC236}">
                <a16:creationId xmlns:a16="http://schemas.microsoft.com/office/drawing/2014/main" id="{38B68C76-A08C-49CE-A0BB-7095CE2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152525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50" b="1">
                <a:solidFill>
                  <a:srgbClr val="5E71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 b="1">
                <a:solidFill>
                  <a:srgbClr val="5E717C"/>
                </a:solidFill>
                <a:latin typeface="Times New Roman"/>
                <a:ea typeface="Times New Roman"/>
                <a:cs typeface="Times New Roman"/>
              </a:rPr>
              <a:t>Frozen visual branches</a:t>
            </a:r>
          </a:p>
        </p:txBody>
      </p:sp>
      <p:sp>
        <p:nvSpPr>
          <p:cNvPr id="19" name="support-branches-B">
            <a:extLst xmlns:a="http://schemas.openxmlformats.org/drawingml/2006/main">
              <a:ext uri="{FF2B5EF4-FFF2-40B4-BE49-F238E27FC236}">
                <a16:creationId xmlns:a16="http://schemas.microsoft.com/office/drawing/2014/main" id="{64FA0FF0-E41C-493F-8493-7633BF3A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371600"/>
            <a:ext cx="16002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CEBF7"/>
          </a:solidFill>
          <a:ln xmlns:a="http://schemas.openxmlformats.org/drawingml/2006/main" w="11430">
            <a:solidFill>
              <a:srgbClr val="2E6F9E"/>
            </a:solidFill>
            <a:prstDash val="solid"/>
          </a:ln>
        </p:spPr>
      </p:sp>
      <p:sp>
        <p:nvSpPr>
          <p:cNvPr id="20" name="support-branches-B-text">
            <a:extLst xmlns:a="http://schemas.openxmlformats.org/drawingml/2006/main">
              <a:ext uri="{FF2B5EF4-FFF2-40B4-BE49-F238E27FC236}">
                <a16:creationId xmlns:a16="http://schemas.microsoft.com/office/drawing/2014/main" id="{2B80EA47-3397-4E3A-9DCE-8BE500C8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37160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2E6F9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1">
                <a:solidFill>
                  <a:srgbClr val="2E6F9E"/>
                </a:solidFill>
                <a:latin typeface="Times New Roman"/>
                <a:ea typeface="Times New Roman"/>
                <a:cs typeface="Times New Roman"/>
              </a:rPr>
              <a:t>B   DINOv2-B</a:t>
            </a:r>
          </a:p>
        </p:txBody>
      </p:sp>
      <p:sp>
        <p:nvSpPr>
          <p:cNvPr id="21" name="support-branches-C">
            <a:extLst xmlns:a="http://schemas.openxmlformats.org/drawingml/2006/main">
              <a:ext uri="{FF2B5EF4-FFF2-40B4-BE49-F238E27FC236}">
                <a16:creationId xmlns:a16="http://schemas.microsoft.com/office/drawing/2014/main" id="{A1A86ECC-9A54-4C2D-BDF0-D7AEB182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47825"/>
            <a:ext cx="16002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0CF"/>
          </a:solidFill>
          <a:ln xmlns:a="http://schemas.openxmlformats.org/drawingml/2006/main" w="11430">
            <a:solidFill>
              <a:srgbClr val="B27C20"/>
            </a:solidFill>
            <a:prstDash val="solid"/>
          </a:ln>
        </p:spPr>
      </p:sp>
      <p:sp>
        <p:nvSpPr>
          <p:cNvPr id="22" name="support-branches-C-text">
            <a:extLst xmlns:a="http://schemas.openxmlformats.org/drawingml/2006/main">
              <a:ext uri="{FF2B5EF4-FFF2-40B4-BE49-F238E27FC236}">
                <a16:creationId xmlns:a16="http://schemas.microsoft.com/office/drawing/2014/main" id="{DCC68CAE-1440-4CA8-B735-B2F25EA9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6478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0" b="1">
                <a:solidFill>
                  <a:srgbClr val="B27C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0" b="1">
                <a:solidFill>
                  <a:srgbClr val="B27C20"/>
                </a:solidFill>
                <a:latin typeface="Times New Roman"/>
                <a:ea typeface="Times New Roman"/>
                <a:cs typeface="Times New Roman"/>
              </a:rPr>
              <a:t>C   AnomalyCLIP visual</a:t>
            </a:r>
          </a:p>
        </p:txBody>
      </p:sp>
      <p:sp>
        <p:nvSpPr>
          <p:cNvPr id="23" name="support-branches-extra">
            <a:extLst xmlns:a="http://schemas.openxmlformats.org/drawingml/2006/main">
              <a:ext uri="{FF2B5EF4-FFF2-40B4-BE49-F238E27FC236}">
                <a16:creationId xmlns:a16="http://schemas.microsoft.com/office/drawing/2014/main" id="{BC5050E6-9B9C-4D86-81CE-40CB237C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24050"/>
            <a:ext cx="16002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 w="11430">
            <a:solidFill>
              <a:srgbClr val="4E8661"/>
            </a:solidFill>
            <a:prstDash val="solid"/>
          </a:ln>
        </p:spPr>
      </p:sp>
      <p:sp>
        <p:nvSpPr>
          <p:cNvPr id="24" name="support-branches-extra-text">
            <a:extLst xmlns:a="http://schemas.openxmlformats.org/drawingml/2006/main">
              <a:ext uri="{FF2B5EF4-FFF2-40B4-BE49-F238E27FC236}">
                <a16:creationId xmlns:a16="http://schemas.microsoft.com/office/drawing/2014/main" id="{FDC5F4BC-CB7B-43D3-B3AC-2186F06E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24050"/>
            <a:ext cx="1543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70" b="1">
                <a:solidFill>
                  <a:srgbClr val="4E86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70" b="1">
                <a:solidFill>
                  <a:srgbClr val="4E8661"/>
                </a:solidFill>
                <a:latin typeface="Times New Roman"/>
                <a:ea typeface="Times New Roman"/>
                <a:cs typeface="Times New Roman"/>
              </a:rPr>
              <a:t>S or D   controlled extra branch</a:t>
            </a:r>
          </a:p>
        </p:txBody>
      </p:sp>
      <p:sp>
        <p:nvSpPr>
          <p:cNvPr id="25" name="support-align">
            <a:extLst xmlns:a="http://schemas.openxmlformats.org/drawingml/2006/main">
              <a:ext uri="{FF2B5EF4-FFF2-40B4-BE49-F238E27FC236}">
                <a16:creationId xmlns:a16="http://schemas.microsoft.com/office/drawing/2014/main" id="{AC979583-6C37-407E-83BB-35E99557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04900"/>
            <a:ext cx="1143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11430">
            <a:solidFill>
              <a:srgbClr val="5D8190"/>
            </a:solidFill>
            <a:prstDash val="solid"/>
          </a:ln>
        </p:spPr>
      </p:sp>
      <p:sp>
        <p:nvSpPr>
          <p:cNvPr id="26" name="support-align-label">
            <a:extLst xmlns:a="http://schemas.openxmlformats.org/drawingml/2006/main">
              <a:ext uri="{FF2B5EF4-FFF2-40B4-BE49-F238E27FC236}">
                <a16:creationId xmlns:a16="http://schemas.microsoft.com/office/drawing/2014/main" id="{999CEF12-B5D3-48FD-BE12-A25F483A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276350"/>
            <a:ext cx="990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6879"/>
          </a:bodyPr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Spatial align</a:t>
            </a:r>
          </a:p>
          <a:p xmlns:a="http://schemas.openxmlformats.org/drawingml/2006/main">
            <a:pPr algn="ctr">
              <a:def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and L2 normalize</a:t>
            </a:r>
          </a:p>
        </p:txBody>
      </p:sp>
      <p:sp>
        <p:nvSpPr>
          <p:cNvPr id="27" name="support-align-grid-0-0">
            <a:extLst xmlns:a="http://schemas.openxmlformats.org/drawingml/2006/main">
              <a:ext uri="{FF2B5EF4-FFF2-40B4-BE49-F238E27FC236}">
                <a16:creationId xmlns:a16="http://schemas.microsoft.com/office/drawing/2014/main" id="{18D52FF4-2C9C-4FAE-99F0-F4EEF733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62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28" name="support-align-grid-0-1">
            <a:extLst xmlns:a="http://schemas.openxmlformats.org/drawingml/2006/main">
              <a:ext uri="{FF2B5EF4-FFF2-40B4-BE49-F238E27FC236}">
                <a16:creationId xmlns:a16="http://schemas.microsoft.com/office/drawing/2014/main" id="{DBE4F11B-29FA-42FA-9BC1-DCDF754C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62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29" name="support-align-grid-0-2">
            <a:extLst xmlns:a="http://schemas.openxmlformats.org/drawingml/2006/main">
              <a:ext uri="{FF2B5EF4-FFF2-40B4-BE49-F238E27FC236}">
                <a16:creationId xmlns:a16="http://schemas.microsoft.com/office/drawing/2014/main" id="{BF8F3589-824B-47CC-82C0-843DCA0C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62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30" name="support-align-grid-0-3">
            <a:extLst xmlns:a="http://schemas.openxmlformats.org/drawingml/2006/main">
              <a:ext uri="{FF2B5EF4-FFF2-40B4-BE49-F238E27FC236}">
                <a16:creationId xmlns:a16="http://schemas.microsoft.com/office/drawing/2014/main" id="{5A3C1B78-8889-4C1C-B5AD-F8887D6C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62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31" name="support-align-grid-0-4">
            <a:extLst xmlns:a="http://schemas.openxmlformats.org/drawingml/2006/main">
              <a:ext uri="{FF2B5EF4-FFF2-40B4-BE49-F238E27FC236}">
                <a16:creationId xmlns:a16="http://schemas.microsoft.com/office/drawing/2014/main" id="{8021C906-43B5-42B4-9BFC-89F7FBC1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762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32" name="support-align-grid-1-0">
            <a:extLst xmlns:a="http://schemas.openxmlformats.org/drawingml/2006/main">
              <a:ext uri="{FF2B5EF4-FFF2-40B4-BE49-F238E27FC236}">
                <a16:creationId xmlns:a16="http://schemas.microsoft.com/office/drawing/2014/main" id="{B4917B07-F7C9-46EA-85CE-3653F158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57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33" name="support-align-grid-1-1">
            <a:extLst xmlns:a="http://schemas.openxmlformats.org/drawingml/2006/main">
              <a:ext uri="{FF2B5EF4-FFF2-40B4-BE49-F238E27FC236}">
                <a16:creationId xmlns:a16="http://schemas.microsoft.com/office/drawing/2014/main" id="{5AE5D9D4-EEE7-4752-8819-F7BEE3E1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57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34" name="support-align-grid-1-2">
            <a:extLst xmlns:a="http://schemas.openxmlformats.org/drawingml/2006/main">
              <a:ext uri="{FF2B5EF4-FFF2-40B4-BE49-F238E27FC236}">
                <a16:creationId xmlns:a16="http://schemas.microsoft.com/office/drawing/2014/main" id="{38E372B4-2B05-455D-AE03-0B1A1738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857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35" name="support-align-grid-1-3">
            <a:extLst xmlns:a="http://schemas.openxmlformats.org/drawingml/2006/main">
              <a:ext uri="{FF2B5EF4-FFF2-40B4-BE49-F238E27FC236}">
                <a16:creationId xmlns:a16="http://schemas.microsoft.com/office/drawing/2014/main" id="{DD8D0868-83AE-4FAE-AC61-2F62FE50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57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36" name="support-align-grid-1-4">
            <a:extLst xmlns:a="http://schemas.openxmlformats.org/drawingml/2006/main">
              <a:ext uri="{FF2B5EF4-FFF2-40B4-BE49-F238E27FC236}">
                <a16:creationId xmlns:a16="http://schemas.microsoft.com/office/drawing/2014/main" id="{1CCDC80F-48CD-47B5-8BE6-FFA81F94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57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37" name="support-align-grid-2-0">
            <a:extLst xmlns:a="http://schemas.openxmlformats.org/drawingml/2006/main">
              <a:ext uri="{FF2B5EF4-FFF2-40B4-BE49-F238E27FC236}">
                <a16:creationId xmlns:a16="http://schemas.microsoft.com/office/drawing/2014/main" id="{109EFB55-54B0-453E-B44C-31FE755D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52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38" name="support-align-grid-2-1">
            <a:extLst xmlns:a="http://schemas.openxmlformats.org/drawingml/2006/main">
              <a:ext uri="{FF2B5EF4-FFF2-40B4-BE49-F238E27FC236}">
                <a16:creationId xmlns:a16="http://schemas.microsoft.com/office/drawing/2014/main" id="{62EFC6A6-CB42-4C0B-A6DA-503C1667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52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39" name="support-align-grid-2-2">
            <a:extLst xmlns:a="http://schemas.openxmlformats.org/drawingml/2006/main">
              <a:ext uri="{FF2B5EF4-FFF2-40B4-BE49-F238E27FC236}">
                <a16:creationId xmlns:a16="http://schemas.microsoft.com/office/drawing/2014/main" id="{80CE9C54-D829-4538-BE5E-7EF48047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52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40" name="support-align-grid-2-3">
            <a:extLst xmlns:a="http://schemas.openxmlformats.org/drawingml/2006/main">
              <a:ext uri="{FF2B5EF4-FFF2-40B4-BE49-F238E27FC236}">
                <a16:creationId xmlns:a16="http://schemas.microsoft.com/office/drawing/2014/main" id="{3107F970-0372-4613-A162-508CC73D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52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41" name="support-align-grid-2-4">
            <a:extLst xmlns:a="http://schemas.openxmlformats.org/drawingml/2006/main">
              <a:ext uri="{FF2B5EF4-FFF2-40B4-BE49-F238E27FC236}">
                <a16:creationId xmlns:a16="http://schemas.microsoft.com/office/drawing/2014/main" id="{C51C1019-115D-4E78-96D5-23309217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952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42" name="support-align-per-branch">
            <a:extLst xmlns:a="http://schemas.openxmlformats.org/drawingml/2006/main">
              <a:ext uri="{FF2B5EF4-FFF2-40B4-BE49-F238E27FC236}">
                <a16:creationId xmlns:a16="http://schemas.microsoft.com/office/drawing/2014/main" id="{A591A1C5-94B0-47B0-B158-C7CD185B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6692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i="1">
                <a:solidFill>
                  <a:srgbClr val="5D819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i="1">
                <a:solidFill>
                  <a:srgbClr val="5D8190"/>
                </a:solidFill>
                <a:latin typeface="Times New Roman"/>
                <a:ea typeface="Times New Roman"/>
                <a:cs typeface="Times New Roman"/>
              </a:rPr>
              <a:t>per branch</a:t>
            </a:r>
          </a:p>
        </p:txBody>
      </p:sp>
      <p:sp>
        <p:nvSpPr>
          <p:cNvPr id="43" name="memory-bank">
            <a:extLst xmlns:a="http://schemas.openxmlformats.org/drawingml/2006/main">
              <a:ext uri="{FF2B5EF4-FFF2-40B4-BE49-F238E27FC236}">
                <a16:creationId xmlns:a16="http://schemas.microsoft.com/office/drawing/2014/main" id="{CFFE66BD-EA09-4883-A4E1-C9A94CBE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04900"/>
            <a:ext cx="12382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2F1ED"/>
          </a:solidFill>
          <a:ln xmlns:a="http://schemas.openxmlformats.org/drawingml/2006/main" w="11430">
            <a:solidFill>
              <a:srgbClr val="2B7961"/>
            </a:solidFill>
            <a:prstDash val="solid"/>
          </a:ln>
        </p:spPr>
      </p:sp>
      <p:sp>
        <p:nvSpPr>
          <p:cNvPr id="44" name="memory-bank-title">
            <a:extLst xmlns:a="http://schemas.openxmlformats.org/drawingml/2006/main">
              <a:ext uri="{FF2B5EF4-FFF2-40B4-BE49-F238E27FC236}">
                <a16:creationId xmlns:a16="http://schemas.microsoft.com/office/drawing/2014/main" id="{686A52A6-A018-4456-A964-39F71876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219200"/>
            <a:ext cx="1085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2176"/>
          </a:bodyPr>
          <a:lstStyle xmlns:a="http://schemas.openxmlformats.org/drawingml/2006/main"/>
          <a:p xmlns:a="http://schemas.openxmlformats.org/drawingml/2006/main">
            <a:pPr algn="ctr">
              <a:defRPr sz="1060" b="1">
                <a:solidFill>
                  <a:srgbClr val="2B79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0" b="1">
                <a:solidFill>
                  <a:srgbClr val="2B7961"/>
                </a:solidFill>
                <a:latin typeface="Times New Roman"/>
                <a:ea typeface="Times New Roman"/>
                <a:cs typeface="Times New Roman"/>
              </a:rPr>
              <a:t>Aligned patch bank</a:t>
            </a:r>
          </a:p>
        </p:txBody>
      </p:sp>
      <p:sp>
        <p:nvSpPr>
          <p:cNvPr id="45" name="memory-bank-grid-0-0">
            <a:extLst xmlns:a="http://schemas.openxmlformats.org/drawingml/2006/main">
              <a:ext uri="{FF2B5EF4-FFF2-40B4-BE49-F238E27FC236}">
                <a16:creationId xmlns:a16="http://schemas.microsoft.com/office/drawing/2014/main" id="{46C9A44A-FBEF-4D8C-ACBE-0D9AAE56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5144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6" name="memory-bank-grid-0-1">
            <a:extLst xmlns:a="http://schemas.openxmlformats.org/drawingml/2006/main">
              <a:ext uri="{FF2B5EF4-FFF2-40B4-BE49-F238E27FC236}">
                <a16:creationId xmlns:a16="http://schemas.microsoft.com/office/drawing/2014/main" id="{4385FAB7-8F0F-4810-A7A6-13143B52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5144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7" name="memory-bank-grid-0-2">
            <a:extLst xmlns:a="http://schemas.openxmlformats.org/drawingml/2006/main">
              <a:ext uri="{FF2B5EF4-FFF2-40B4-BE49-F238E27FC236}">
                <a16:creationId xmlns:a16="http://schemas.microsoft.com/office/drawing/2014/main" id="{3F984C6E-8495-41C9-8D11-5FE63FDC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5144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8" name="memory-bank-grid-0-3">
            <a:extLst xmlns:a="http://schemas.openxmlformats.org/drawingml/2006/main">
              <a:ext uri="{FF2B5EF4-FFF2-40B4-BE49-F238E27FC236}">
                <a16:creationId xmlns:a16="http://schemas.microsoft.com/office/drawing/2014/main" id="{AF40B06C-B894-4F14-A082-43BB21B7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144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9" name="memory-bank-grid-0-4">
            <a:extLst xmlns:a="http://schemas.openxmlformats.org/drawingml/2006/main">
              <a:ext uri="{FF2B5EF4-FFF2-40B4-BE49-F238E27FC236}">
                <a16:creationId xmlns:a16="http://schemas.microsoft.com/office/drawing/2014/main" id="{41FBCB09-AC02-4512-853E-88095593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5144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50" name="memory-bank-grid-0-5">
            <a:extLst xmlns:a="http://schemas.openxmlformats.org/drawingml/2006/main">
              <a:ext uri="{FF2B5EF4-FFF2-40B4-BE49-F238E27FC236}">
                <a16:creationId xmlns:a16="http://schemas.microsoft.com/office/drawing/2014/main" id="{C82CF1ED-6F1D-413E-96B1-41F66A9B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5144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51" name="memory-bank-grid-1-0">
            <a:extLst xmlns:a="http://schemas.openxmlformats.org/drawingml/2006/main">
              <a:ext uri="{FF2B5EF4-FFF2-40B4-BE49-F238E27FC236}">
                <a16:creationId xmlns:a16="http://schemas.microsoft.com/office/drawing/2014/main" id="{9D4C4567-1B9E-4EEC-88BB-BCFFBEA2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628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52" name="memory-bank-grid-1-1">
            <a:extLst xmlns:a="http://schemas.openxmlformats.org/drawingml/2006/main">
              <a:ext uri="{FF2B5EF4-FFF2-40B4-BE49-F238E27FC236}">
                <a16:creationId xmlns:a16="http://schemas.microsoft.com/office/drawing/2014/main" id="{D5CC48EE-EADE-4054-AEBE-BEE1E5B1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628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53" name="memory-bank-grid-1-2">
            <a:extLst xmlns:a="http://schemas.openxmlformats.org/drawingml/2006/main">
              <a:ext uri="{FF2B5EF4-FFF2-40B4-BE49-F238E27FC236}">
                <a16:creationId xmlns:a16="http://schemas.microsoft.com/office/drawing/2014/main" id="{603DCE3E-79CB-43D2-B45E-42611E35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628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54" name="memory-bank-grid-1-3">
            <a:extLst xmlns:a="http://schemas.openxmlformats.org/drawingml/2006/main">
              <a:ext uri="{FF2B5EF4-FFF2-40B4-BE49-F238E27FC236}">
                <a16:creationId xmlns:a16="http://schemas.microsoft.com/office/drawing/2014/main" id="{A4C9D557-FFF5-4F16-B9F7-5CA8196A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28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55" name="memory-bank-grid-1-4">
            <a:extLst xmlns:a="http://schemas.openxmlformats.org/drawingml/2006/main">
              <a:ext uri="{FF2B5EF4-FFF2-40B4-BE49-F238E27FC236}">
                <a16:creationId xmlns:a16="http://schemas.microsoft.com/office/drawing/2014/main" id="{2EF35575-1F83-4951-A8ED-45E9E545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628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56" name="memory-bank-grid-1-5">
            <a:extLst xmlns:a="http://schemas.openxmlformats.org/drawingml/2006/main">
              <a:ext uri="{FF2B5EF4-FFF2-40B4-BE49-F238E27FC236}">
                <a16:creationId xmlns:a16="http://schemas.microsoft.com/office/drawing/2014/main" id="{D79E6183-B067-431C-ADDA-2A5B0BFD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628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57" name="memory-bank-grid-2-0">
            <a:extLst xmlns:a="http://schemas.openxmlformats.org/drawingml/2006/main">
              <a:ext uri="{FF2B5EF4-FFF2-40B4-BE49-F238E27FC236}">
                <a16:creationId xmlns:a16="http://schemas.microsoft.com/office/drawing/2014/main" id="{E0365CAA-0FD7-4D41-A72C-F62BAFCE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7430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58" name="memory-bank-grid-2-1">
            <a:extLst xmlns:a="http://schemas.openxmlformats.org/drawingml/2006/main">
              <a:ext uri="{FF2B5EF4-FFF2-40B4-BE49-F238E27FC236}">
                <a16:creationId xmlns:a16="http://schemas.microsoft.com/office/drawing/2014/main" id="{EC72557B-2995-4DA8-9A17-21615D3E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7430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59" name="memory-bank-grid-2-2">
            <a:extLst xmlns:a="http://schemas.openxmlformats.org/drawingml/2006/main">
              <a:ext uri="{FF2B5EF4-FFF2-40B4-BE49-F238E27FC236}">
                <a16:creationId xmlns:a16="http://schemas.microsoft.com/office/drawing/2014/main" id="{BE727C80-3B18-41BE-96EA-2BC2E18B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7430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60" name="memory-bank-grid-2-3">
            <a:extLst xmlns:a="http://schemas.openxmlformats.org/drawingml/2006/main">
              <a:ext uri="{FF2B5EF4-FFF2-40B4-BE49-F238E27FC236}">
                <a16:creationId xmlns:a16="http://schemas.microsoft.com/office/drawing/2014/main" id="{98AC433D-D9F4-42B1-9C96-674D3807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430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61" name="memory-bank-grid-2-4">
            <a:extLst xmlns:a="http://schemas.openxmlformats.org/drawingml/2006/main">
              <a:ext uri="{FF2B5EF4-FFF2-40B4-BE49-F238E27FC236}">
                <a16:creationId xmlns:a16="http://schemas.microsoft.com/office/drawing/2014/main" id="{D464A6FA-8A92-4421-B5A8-D9961DED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7430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62" name="memory-bank-grid-2-5">
            <a:extLst xmlns:a="http://schemas.openxmlformats.org/drawingml/2006/main">
              <a:ext uri="{FF2B5EF4-FFF2-40B4-BE49-F238E27FC236}">
                <a16:creationId xmlns:a16="http://schemas.microsoft.com/office/drawing/2014/main" id="{77632318-0908-4070-9FAD-C5223601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7430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63" name="memory-bank-note">
            <a:extLst xmlns:a="http://schemas.openxmlformats.org/drawingml/2006/main">
              <a:ext uri="{FF2B5EF4-FFF2-40B4-BE49-F238E27FC236}">
                <a16:creationId xmlns:a16="http://schemas.microsoft.com/office/drawing/2014/main" id="{BD90E991-95F6-4681-910A-85B1BCF7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76425"/>
            <a:ext cx="108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70199"/>
          </a:bodyPr>
          <a:lstStyle xmlns:a="http://schemas.openxmlformats.org/drawingml/2006/main"/>
          <a:p xmlns:a="http://schemas.openxmlformats.org/drawingml/2006/main">
            <a:pPr algn="ctr">
              <a:defRPr sz="9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indices aligned</a:t>
            </a:r>
          </a:p>
          <a:p xmlns:a="http://schemas.openxmlformats.org/drawingml/2006/main">
            <a:pPr algn="ctr">
              <a:defRPr sz="9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fixed after build</a:t>
            </a:r>
          </a:p>
          <a:p xmlns:a="http://schemas.openxmlformats.org/drawingml/2006/main">
            <a:pPr algn="ctr">
              <a:defRPr sz="9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read only</a:t>
            </a:r>
          </a:p>
        </p:txBody>
      </p:sp>
      <p:cxnSp>
        <p:nvCxnSpPr>
          <p:cNvPr id="186" name=""/>
          <p:cNvCxnSpPr>
            <a:stCxn xmlns:a="http://schemas.openxmlformats.org/drawingml/2006/main" id="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190625" y="1638300"/>
            <a:ext cx="1905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2E38"/>
            </a:solidFill>
            <a:prstDash val="solid"/>
            <a:headEnd type="triangle" w="sm" len="sm"/>
          </a:ln>
        </p:spPr>
      </p:cxnSp>
      <p:cxnSp>
        <p:nvCxnSpPr>
          <p:cNvPr id="187" name=""/>
          <p:cNvCxnSpPr>
            <a:stCxn xmlns:a="http://schemas.openxmlformats.org/drawingml/2006/main" id="17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171825" y="1666875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2E38"/>
            </a:solidFill>
            <a:prstDash val="solid"/>
            <a:headEnd type="triangle" w="sm" len="sm"/>
          </a:ln>
        </p:spPr>
      </p:cxnSp>
      <p:cxnSp>
        <p:nvCxnSpPr>
          <p:cNvPr id="188" name=""/>
          <p:cNvCxnSpPr>
            <a:stCxn xmlns:a="http://schemas.openxmlformats.org/drawingml/2006/main" id="25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4476750" y="16668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2E38"/>
            </a:solidFill>
            <a:prstDash val="solid"/>
            <a:headEnd type="triangle" w="sm" len="sm"/>
          </a:ln>
        </p:spPr>
      </p:cxnSp>
      <p:sp>
        <p:nvSpPr>
          <p:cNvPr id="67" name="query-section">
            <a:extLst xmlns:a="http://schemas.openxmlformats.org/drawingml/2006/main">
              <a:ext uri="{FF2B5EF4-FFF2-40B4-BE49-F238E27FC236}">
                <a16:creationId xmlns:a16="http://schemas.microsoft.com/office/drawing/2014/main" id="{6AE08759-0552-48C1-BFBA-AFF3B4F5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628900"/>
            <a:ext cx="573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Query path and matching choice</a:t>
            </a:r>
          </a:p>
        </p:txBody>
      </p:sp>
      <p:sp>
        <p:nvSpPr>
          <p:cNvPr id="68" name="query-surface">
            <a:extLst xmlns:a="http://schemas.openxmlformats.org/drawingml/2006/main">
              <a:ext uri="{FF2B5EF4-FFF2-40B4-BE49-F238E27FC236}">
                <a16:creationId xmlns:a16="http://schemas.microsoft.com/office/drawing/2014/main" id="{A5F03661-D02A-464F-A5EA-BB51F967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952750"/>
            <a:ext cx="10001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6F8"/>
          </a:solidFill>
          <a:ln xmlns:a="http://schemas.openxmlformats.org/drawingml/2006/main" w="11430">
            <a:solidFill>
              <a:srgbClr val="8296A2"/>
            </a:solidFill>
            <a:prstDash val="solid"/>
          </a:ln>
        </p:spPr>
      </p:sp>
      <p:sp>
        <p:nvSpPr>
          <p:cNvPr id="69" name="query-panel">
            <a:extLst xmlns:a="http://schemas.openxmlformats.org/drawingml/2006/main">
              <a:ext uri="{FF2B5EF4-FFF2-40B4-BE49-F238E27FC236}">
                <a16:creationId xmlns:a16="http://schemas.microsoft.com/office/drawing/2014/main" id="{EB1F890B-A5E3-4A43-ABC8-35B36A63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24200"/>
            <a:ext cx="6191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9525">
            <a:solidFill>
              <a:srgbClr val="234F70"/>
            </a:solidFill>
            <a:prstDash val="solid"/>
          </a:ln>
        </p:spPr>
      </p:sp>
      <p:sp>
        <p:nvSpPr>
          <p:cNvPr id="70" name="query-hole">
            <a:extLst xmlns:a="http://schemas.openxmlformats.org/drawingml/2006/main">
              <a:ext uri="{FF2B5EF4-FFF2-40B4-BE49-F238E27FC236}">
                <a16:creationId xmlns:a16="http://schemas.microsoft.com/office/drawing/2014/main" id="{C0822526-41FC-49A6-B736-5A1467C8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11430">
            <a:solidFill>
              <a:srgbClr val="244C67"/>
            </a:solidFill>
            <a:prstDash val="solid"/>
          </a:ln>
        </p:spPr>
      </p:sp>
      <p:sp>
        <p:nvSpPr>
          <p:cNvPr id="71" name="query-scratch">
            <a:extLst xmlns:a="http://schemas.openxmlformats.org/drawingml/2006/main">
              <a:ext uri="{FF2B5EF4-FFF2-40B4-BE49-F238E27FC236}">
                <a16:creationId xmlns:a16="http://schemas.microsoft.com/office/drawing/2014/main" id="{B90D6A75-804C-4916-AB98-A046FCA0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60000">
            <a:off x="704850" y="3581400"/>
            <a:ext cx="21907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7B24A"/>
            </a:solidFill>
            <a:prstDash val="solid"/>
          </a:ln>
        </p:spPr>
      </p:sp>
      <p:sp>
        <p:nvSpPr>
          <p:cNvPr id="72" name="query-label">
            <a:extLst xmlns:a="http://schemas.openxmlformats.org/drawingml/2006/main">
              <a:ext uri="{FF2B5EF4-FFF2-40B4-BE49-F238E27FC236}">
                <a16:creationId xmlns:a16="http://schemas.microsoft.com/office/drawing/2014/main" id="{F474A922-F6D5-400D-9F24-D0F6172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905250"/>
            <a:ext cx="1038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8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separate query</a:t>
            </a:r>
          </a:p>
        </p:txBody>
      </p:sp>
      <p:sp>
        <p:nvSpPr>
          <p:cNvPr id="73" name="query-branches">
            <a:extLst xmlns:a="http://schemas.openxmlformats.org/drawingml/2006/main">
              <a:ext uri="{FF2B5EF4-FFF2-40B4-BE49-F238E27FC236}">
                <a16:creationId xmlns:a16="http://schemas.microsoft.com/office/drawing/2014/main" id="{C750C71E-E8B7-466A-B9BB-BB9F9424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76550"/>
            <a:ext cx="179070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EE3"/>
            </a:solidFill>
            <a:prstDash val="solid"/>
          </a:ln>
        </p:spPr>
      </p:sp>
      <p:sp>
        <p:nvSpPr>
          <p:cNvPr id="74" name="query-branches-title">
            <a:extLst xmlns:a="http://schemas.openxmlformats.org/drawingml/2006/main">
              <a:ext uri="{FF2B5EF4-FFF2-40B4-BE49-F238E27FC236}">
                <a16:creationId xmlns:a16="http://schemas.microsoft.com/office/drawing/2014/main" id="{7DE8FFDC-B7C1-4E18-A76E-05063982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24175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50" b="1">
                <a:solidFill>
                  <a:srgbClr val="5E71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 b="1">
                <a:solidFill>
                  <a:srgbClr val="5E717C"/>
                </a:solidFill>
                <a:latin typeface="Times New Roman"/>
                <a:ea typeface="Times New Roman"/>
                <a:cs typeface="Times New Roman"/>
              </a:rPr>
              <a:t>Frozen visual branches</a:t>
            </a:r>
          </a:p>
        </p:txBody>
      </p:sp>
      <p:sp>
        <p:nvSpPr>
          <p:cNvPr id="75" name="query-branches-B">
            <a:extLst xmlns:a="http://schemas.openxmlformats.org/drawingml/2006/main">
              <a:ext uri="{FF2B5EF4-FFF2-40B4-BE49-F238E27FC236}">
                <a16:creationId xmlns:a16="http://schemas.microsoft.com/office/drawing/2014/main" id="{B5D35607-650F-47BB-915D-BBD424CA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43250"/>
            <a:ext cx="16002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CEBF7"/>
          </a:solidFill>
          <a:ln xmlns:a="http://schemas.openxmlformats.org/drawingml/2006/main" w="11430">
            <a:solidFill>
              <a:srgbClr val="2E6F9E"/>
            </a:solidFill>
            <a:prstDash val="solid"/>
          </a:ln>
        </p:spPr>
      </p:sp>
      <p:sp>
        <p:nvSpPr>
          <p:cNvPr id="76" name="query-branches-B-text">
            <a:extLst xmlns:a="http://schemas.openxmlformats.org/drawingml/2006/main">
              <a:ext uri="{FF2B5EF4-FFF2-40B4-BE49-F238E27FC236}">
                <a16:creationId xmlns:a16="http://schemas.microsoft.com/office/drawing/2014/main" id="{CF0A0BAD-54EF-4A6C-86E3-2B6A0697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14325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2E6F9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1">
                <a:solidFill>
                  <a:srgbClr val="2E6F9E"/>
                </a:solidFill>
                <a:latin typeface="Times New Roman"/>
                <a:ea typeface="Times New Roman"/>
                <a:cs typeface="Times New Roman"/>
              </a:rPr>
              <a:t>B   DINOv2-B</a:t>
            </a:r>
          </a:p>
        </p:txBody>
      </p:sp>
      <p:sp>
        <p:nvSpPr>
          <p:cNvPr id="77" name="query-branches-C">
            <a:extLst xmlns:a="http://schemas.openxmlformats.org/drawingml/2006/main">
              <a:ext uri="{FF2B5EF4-FFF2-40B4-BE49-F238E27FC236}">
                <a16:creationId xmlns:a16="http://schemas.microsoft.com/office/drawing/2014/main" id="{88083175-5F60-4E82-AEDB-D14FB9BD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19475"/>
            <a:ext cx="16002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0CF"/>
          </a:solidFill>
          <a:ln xmlns:a="http://schemas.openxmlformats.org/drawingml/2006/main" w="11430">
            <a:solidFill>
              <a:srgbClr val="B27C20"/>
            </a:solidFill>
            <a:prstDash val="solid"/>
          </a:ln>
        </p:spPr>
      </p:sp>
      <p:sp>
        <p:nvSpPr>
          <p:cNvPr id="78" name="query-branches-C-text">
            <a:extLst xmlns:a="http://schemas.openxmlformats.org/drawingml/2006/main">
              <a:ext uri="{FF2B5EF4-FFF2-40B4-BE49-F238E27FC236}">
                <a16:creationId xmlns:a16="http://schemas.microsoft.com/office/drawing/2014/main" id="{B87FFB42-46F3-46EC-9255-9D526AC5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4194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0" b="1">
                <a:solidFill>
                  <a:srgbClr val="B27C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0" b="1">
                <a:solidFill>
                  <a:srgbClr val="B27C20"/>
                </a:solidFill>
                <a:latin typeface="Times New Roman"/>
                <a:ea typeface="Times New Roman"/>
                <a:cs typeface="Times New Roman"/>
              </a:rPr>
              <a:t>C   AnomalyCLIP visual</a:t>
            </a:r>
          </a:p>
        </p:txBody>
      </p:sp>
      <p:sp>
        <p:nvSpPr>
          <p:cNvPr id="79" name="query-branches-extra">
            <a:extLst xmlns:a="http://schemas.openxmlformats.org/drawingml/2006/main">
              <a:ext uri="{FF2B5EF4-FFF2-40B4-BE49-F238E27FC236}">
                <a16:creationId xmlns:a16="http://schemas.microsoft.com/office/drawing/2014/main" id="{0D2D0E77-C20F-4F59-91E6-F666E22D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95700"/>
            <a:ext cx="16002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 w="11430">
            <a:solidFill>
              <a:srgbClr val="4E8661"/>
            </a:solidFill>
            <a:prstDash val="solid"/>
          </a:ln>
        </p:spPr>
      </p:sp>
      <p:sp>
        <p:nvSpPr>
          <p:cNvPr id="80" name="query-branches-extra-text">
            <a:extLst xmlns:a="http://schemas.openxmlformats.org/drawingml/2006/main">
              <a:ext uri="{FF2B5EF4-FFF2-40B4-BE49-F238E27FC236}">
                <a16:creationId xmlns:a16="http://schemas.microsoft.com/office/drawing/2014/main" id="{C2098839-FC8A-4BE1-A267-426CDC4E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95700"/>
            <a:ext cx="1543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70" b="1">
                <a:solidFill>
                  <a:srgbClr val="4E86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70" b="1">
                <a:solidFill>
                  <a:srgbClr val="4E8661"/>
                </a:solidFill>
                <a:latin typeface="Times New Roman"/>
                <a:ea typeface="Times New Roman"/>
                <a:cs typeface="Times New Roman"/>
              </a:rPr>
              <a:t>S or D   controlled extra branch</a:t>
            </a:r>
          </a:p>
        </p:txBody>
      </p:sp>
      <p:sp>
        <p:nvSpPr>
          <p:cNvPr id="81" name="query-align">
            <a:extLst xmlns:a="http://schemas.openxmlformats.org/drawingml/2006/main">
              <a:ext uri="{FF2B5EF4-FFF2-40B4-BE49-F238E27FC236}">
                <a16:creationId xmlns:a16="http://schemas.microsoft.com/office/drawing/2014/main" id="{F2C8F358-0BFC-4A1F-82B5-727B0FF2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1143000" cy="1219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11430">
            <a:solidFill>
              <a:srgbClr val="5D8190"/>
            </a:solidFill>
            <a:prstDash val="solid"/>
          </a:ln>
        </p:spPr>
      </p:sp>
      <p:sp>
        <p:nvSpPr>
          <p:cNvPr id="82" name="query-align-label">
            <a:extLst xmlns:a="http://schemas.openxmlformats.org/drawingml/2006/main">
              <a:ext uri="{FF2B5EF4-FFF2-40B4-BE49-F238E27FC236}">
                <a16:creationId xmlns:a16="http://schemas.microsoft.com/office/drawing/2014/main" id="{29B6B47A-A66E-4F42-901B-878735C7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48000"/>
            <a:ext cx="990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6879"/>
          </a:bodyPr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Spatial align</a:t>
            </a:r>
          </a:p>
          <a:p xmlns:a="http://schemas.openxmlformats.org/drawingml/2006/main">
            <a:pPr algn="ctr">
              <a:def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and L2 normalize</a:t>
            </a:r>
          </a:p>
        </p:txBody>
      </p:sp>
      <p:sp>
        <p:nvSpPr>
          <p:cNvPr id="83" name="query-align-grid-0-0">
            <a:extLst xmlns:a="http://schemas.openxmlformats.org/drawingml/2006/main">
              <a:ext uri="{FF2B5EF4-FFF2-40B4-BE49-F238E27FC236}">
                <a16:creationId xmlns:a16="http://schemas.microsoft.com/office/drawing/2014/main" id="{DD085911-E13D-444F-A908-7B75CEFB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33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84" name="query-align-grid-0-1">
            <a:extLst xmlns:a="http://schemas.openxmlformats.org/drawingml/2006/main">
              <a:ext uri="{FF2B5EF4-FFF2-40B4-BE49-F238E27FC236}">
                <a16:creationId xmlns:a16="http://schemas.microsoft.com/office/drawing/2014/main" id="{59D4135C-1360-419F-8488-03C53725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33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85" name="query-align-grid-0-2">
            <a:extLst xmlns:a="http://schemas.openxmlformats.org/drawingml/2006/main">
              <a:ext uri="{FF2B5EF4-FFF2-40B4-BE49-F238E27FC236}">
                <a16:creationId xmlns:a16="http://schemas.microsoft.com/office/drawing/2014/main" id="{958ED1FA-8570-4E35-AD84-3D3C15AA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33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86" name="query-align-grid-0-3">
            <a:extLst xmlns:a="http://schemas.openxmlformats.org/drawingml/2006/main">
              <a:ext uri="{FF2B5EF4-FFF2-40B4-BE49-F238E27FC236}">
                <a16:creationId xmlns:a16="http://schemas.microsoft.com/office/drawing/2014/main" id="{FB320C9D-DCF7-4AE1-BCEA-779EAE0E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33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87" name="query-align-grid-0-4">
            <a:extLst xmlns:a="http://schemas.openxmlformats.org/drawingml/2006/main">
              <a:ext uri="{FF2B5EF4-FFF2-40B4-BE49-F238E27FC236}">
                <a16:creationId xmlns:a16="http://schemas.microsoft.com/office/drawing/2014/main" id="{4752A55F-C4CC-4D84-B680-B5AE38C3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533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88" name="query-align-grid-1-0">
            <a:extLst xmlns:a="http://schemas.openxmlformats.org/drawingml/2006/main">
              <a:ext uri="{FF2B5EF4-FFF2-40B4-BE49-F238E27FC236}">
                <a16:creationId xmlns:a16="http://schemas.microsoft.com/office/drawing/2014/main" id="{98996C67-8D07-4620-9437-EA3DD260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29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89" name="query-align-grid-1-1">
            <a:extLst xmlns:a="http://schemas.openxmlformats.org/drawingml/2006/main">
              <a:ext uri="{FF2B5EF4-FFF2-40B4-BE49-F238E27FC236}">
                <a16:creationId xmlns:a16="http://schemas.microsoft.com/office/drawing/2014/main" id="{026B751A-5E0C-4FE9-ADC4-722C49C8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29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90" name="query-align-grid-1-2">
            <a:extLst xmlns:a="http://schemas.openxmlformats.org/drawingml/2006/main">
              <a:ext uri="{FF2B5EF4-FFF2-40B4-BE49-F238E27FC236}">
                <a16:creationId xmlns:a16="http://schemas.microsoft.com/office/drawing/2014/main" id="{601668B4-22C9-4CF5-B053-043CA145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29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91" name="query-align-grid-1-3">
            <a:extLst xmlns:a="http://schemas.openxmlformats.org/drawingml/2006/main">
              <a:ext uri="{FF2B5EF4-FFF2-40B4-BE49-F238E27FC236}">
                <a16:creationId xmlns:a16="http://schemas.microsoft.com/office/drawing/2014/main" id="{426C707C-D78B-41F4-A218-E2D6A585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29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92" name="query-align-grid-1-4">
            <a:extLst xmlns:a="http://schemas.openxmlformats.org/drawingml/2006/main">
              <a:ext uri="{FF2B5EF4-FFF2-40B4-BE49-F238E27FC236}">
                <a16:creationId xmlns:a16="http://schemas.microsoft.com/office/drawing/2014/main" id="{BE14A552-F809-4640-911C-5EF9A740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29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93" name="query-align-grid-2-0">
            <a:extLst xmlns:a="http://schemas.openxmlformats.org/drawingml/2006/main">
              <a:ext uri="{FF2B5EF4-FFF2-40B4-BE49-F238E27FC236}">
                <a16:creationId xmlns:a16="http://schemas.microsoft.com/office/drawing/2014/main" id="{5A773B15-AF15-44EE-AC81-6955AE54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24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94" name="query-align-grid-2-1">
            <a:extLst xmlns:a="http://schemas.openxmlformats.org/drawingml/2006/main">
              <a:ext uri="{FF2B5EF4-FFF2-40B4-BE49-F238E27FC236}">
                <a16:creationId xmlns:a16="http://schemas.microsoft.com/office/drawing/2014/main" id="{2382EB9B-F080-4075-A391-D5FE1799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24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95" name="query-align-grid-2-2">
            <a:extLst xmlns:a="http://schemas.openxmlformats.org/drawingml/2006/main">
              <a:ext uri="{FF2B5EF4-FFF2-40B4-BE49-F238E27FC236}">
                <a16:creationId xmlns:a16="http://schemas.microsoft.com/office/drawing/2014/main" id="{CDC46E5C-7F53-45B2-AC9F-EC620304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24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96" name="query-align-grid-2-3">
            <a:extLst xmlns:a="http://schemas.openxmlformats.org/drawingml/2006/main">
              <a:ext uri="{FF2B5EF4-FFF2-40B4-BE49-F238E27FC236}">
                <a16:creationId xmlns:a16="http://schemas.microsoft.com/office/drawing/2014/main" id="{3E7B928A-DD05-407E-B85A-7C1D0824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24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97" name="query-align-grid-2-4">
            <a:extLst xmlns:a="http://schemas.openxmlformats.org/drawingml/2006/main">
              <a:ext uri="{FF2B5EF4-FFF2-40B4-BE49-F238E27FC236}">
                <a16:creationId xmlns:a16="http://schemas.microsoft.com/office/drawing/2014/main" id="{E1834B2A-B3E2-49D4-B47F-CC96DE6D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724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98" name="query-align-per-branch">
            <a:extLst xmlns:a="http://schemas.openxmlformats.org/drawingml/2006/main">
              <a:ext uri="{FF2B5EF4-FFF2-40B4-BE49-F238E27FC236}">
                <a16:creationId xmlns:a16="http://schemas.microsoft.com/office/drawing/2014/main" id="{8EAF71BC-80CA-4D10-9396-4316061C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385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i="1">
                <a:solidFill>
                  <a:srgbClr val="5D819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i="1">
                <a:solidFill>
                  <a:srgbClr val="5D8190"/>
                </a:solidFill>
                <a:latin typeface="Times New Roman"/>
                <a:ea typeface="Times New Roman"/>
                <a:cs typeface="Times New Roman"/>
              </a:rPr>
              <a:t>per branch</a:t>
            </a:r>
          </a:p>
        </p:txBody>
      </p:sp>
      <p:sp>
        <p:nvSpPr>
          <p:cNvPr id="99" name="matching-choices">
            <a:extLst xmlns:a="http://schemas.openxmlformats.org/drawingml/2006/main">
              <a:ext uri="{FF2B5EF4-FFF2-40B4-BE49-F238E27FC236}">
                <a16:creationId xmlns:a16="http://schemas.microsoft.com/office/drawing/2014/main" id="{EAF2C0F9-83C0-473D-9D00-0D06C0E6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19400"/>
            <a:ext cx="1238250" cy="1333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E7F7"/>
          </a:solidFill>
          <a:ln xmlns:a="http://schemas.openxmlformats.org/drawingml/2006/main" w="11430">
            <a:solidFill>
              <a:srgbClr val="7553A4"/>
            </a:solidFill>
            <a:prstDash val="solid"/>
          </a:ln>
        </p:spPr>
      </p:sp>
      <p:sp>
        <p:nvSpPr>
          <p:cNvPr id="100" name="matching-title">
            <a:extLst xmlns:a="http://schemas.openxmlformats.org/drawingml/2006/main">
              <a:ext uri="{FF2B5EF4-FFF2-40B4-BE49-F238E27FC236}">
                <a16:creationId xmlns:a16="http://schemas.microsoft.com/office/drawing/2014/main" id="{408916E4-5949-4029-A162-077E8EA7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8607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0" b="1">
                <a:solidFill>
                  <a:srgbClr val="7553A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0" b="1">
                <a:solidFill>
                  <a:srgbClr val="7553A4"/>
                </a:solidFill>
                <a:latin typeface="Times New Roman"/>
                <a:ea typeface="Times New Roman"/>
                <a:cs typeface="Times New Roman"/>
              </a:rPr>
              <a:t>J / L matching</a:t>
            </a:r>
          </a:p>
        </p:txBody>
      </p:sp>
      <p:sp>
        <p:nvSpPr>
          <p:cNvPr id="101" name="choice-J">
            <a:extLst xmlns:a="http://schemas.openxmlformats.org/drawingml/2006/main">
              <a:ext uri="{FF2B5EF4-FFF2-40B4-BE49-F238E27FC236}">
                <a16:creationId xmlns:a16="http://schemas.microsoft.com/office/drawing/2014/main" id="{C51A6D4C-7C33-4957-9DC5-BECDD931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14675"/>
            <a:ext cx="106680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5DDF2"/>
          </a:solidFill>
          <a:ln xmlns:a="http://schemas.openxmlformats.org/drawingml/2006/main" w="11430">
            <a:solidFill>
              <a:srgbClr val="7553A4"/>
            </a:solidFill>
            <a:prstDash val="solid"/>
          </a:ln>
        </p:spPr>
      </p:sp>
      <p:sp>
        <p:nvSpPr>
          <p:cNvPr id="102" name="choice-J-text">
            <a:extLst xmlns:a="http://schemas.openxmlformats.org/drawingml/2006/main">
              <a:ext uri="{FF2B5EF4-FFF2-40B4-BE49-F238E27FC236}">
                <a16:creationId xmlns:a16="http://schemas.microsoft.com/office/drawing/2014/main" id="{D3EC23D1-70FA-4784-B2DC-B484ED34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4325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81418"/>
          </a:bodyPr>
          <a:lstStyle xmlns:a="http://schemas.openxmlformats.org/drawingml/2006/main"/>
          <a:p xmlns:a="http://schemas.openxmlformats.org/drawingml/2006/main">
            <a:pPr algn="ctr">
              <a:defRPr sz="87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70" b="1" i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87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  shared support patch
weighted sum across branches</a:t>
            </a:r>
          </a:p>
        </p:txBody>
      </p:sp>
      <p:sp>
        <p:nvSpPr>
          <p:cNvPr id="103" name="choice-L">
            <a:extLst xmlns:a="http://schemas.openxmlformats.org/drawingml/2006/main">
              <a:ext uri="{FF2B5EF4-FFF2-40B4-BE49-F238E27FC236}">
                <a16:creationId xmlns:a16="http://schemas.microsoft.com/office/drawing/2014/main" id="{59962C43-3B61-453B-851D-C55ED0E8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543300"/>
            <a:ext cx="106680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6E8E5"/>
          </a:solidFill>
          <a:ln xmlns:a="http://schemas.openxmlformats.org/drawingml/2006/main" w="11430">
            <a:solidFill>
              <a:srgbClr val="A45B4A"/>
            </a:solidFill>
            <a:prstDash val="solid"/>
          </a:ln>
        </p:spPr>
      </p:sp>
      <p:sp>
        <p:nvSpPr>
          <p:cNvPr id="104" name="choice-L-text">
            <a:extLst xmlns:a="http://schemas.openxmlformats.org/drawingml/2006/main">
              <a:ext uri="{FF2B5EF4-FFF2-40B4-BE49-F238E27FC236}">
                <a16:creationId xmlns:a16="http://schemas.microsoft.com/office/drawing/2014/main" id="{058254D7-5D3D-480D-ABE9-01E4166A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7187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81418"/>
          </a:bodyPr>
          <a:lstStyle xmlns:a="http://schemas.openxmlformats.org/drawingml/2006/main"/>
          <a:p xmlns:a="http://schemas.openxmlformats.org/drawingml/2006/main">
            <a:pPr algn="ctr">
              <a:defRPr sz="87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70" b="1" i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87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  branch-specific patches
sum of weighted minima</a:t>
            </a:r>
          </a:p>
        </p:txBody>
      </p:sp>
      <p:sp>
        <p:nvSpPr>
          <p:cNvPr id="105" name="matching-note">
            <a:extLst xmlns:a="http://schemas.openxmlformats.org/drawingml/2006/main">
              <a:ext uri="{FF2B5EF4-FFF2-40B4-BE49-F238E27FC236}">
                <a16:creationId xmlns:a16="http://schemas.microsoft.com/office/drawing/2014/main" id="{9369F7AE-0330-4549-90B0-0ADA853F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52875"/>
            <a:ext cx="1085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0977"/>
          </a:bodyPr>
          <a:lstStyle xmlns:a="http://schemas.openxmlformats.org/drawingml/2006/main"/>
          <a:p xmlns:a="http://schemas.openxmlformats.org/drawingml/2006/main">
            <a:pPr algn="ctr">
              <a:defRPr sz="810" i="1">
                <a:solidFill>
                  <a:srgbClr val="5E71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0" i="1">
                <a:solidFill>
                  <a:srgbClr val="5E717C"/>
                </a:solidFill>
                <a:latin typeface="Times New Roman"/>
                <a:ea typeface="Times New Roman"/>
                <a:cs typeface="Times New Roman"/>
              </a:rPr>
              <a:t>stock choices for the control</a:t>
            </a:r>
          </a:p>
        </p:txBody>
      </p:sp>
      <p:cxnSp>
        <p:nvCxnSpPr>
          <p:cNvPr id="228" name=""/>
          <p:cNvCxnSpPr>
            <a:stCxn xmlns:a="http://schemas.openxmlformats.org/drawingml/2006/main" id="68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1190625" y="3409950"/>
            <a:ext cx="19050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2E38"/>
            </a:solidFill>
            <a:prstDash val="solid"/>
            <a:headEnd type="triangle" w="sm" len="sm"/>
          </a:ln>
        </p:spPr>
      </p:cxnSp>
      <p:cxnSp>
        <p:nvCxnSpPr>
          <p:cNvPr id="229" name=""/>
          <p:cNvCxnSpPr>
            <a:stCxn xmlns:a="http://schemas.openxmlformats.org/drawingml/2006/main" id="73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3171825" y="34861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2E38"/>
            </a:solidFill>
            <a:prstDash val="solid"/>
            <a:headEnd type="triangle" w="sm" len="sm"/>
          </a:ln>
        </p:spPr>
      </p:cxnSp>
      <p:cxnSp>
        <p:nvCxnSpPr>
          <p:cNvPr id="230" name=""/>
          <p:cNvCxnSpPr>
            <a:stCxn xmlns:a="http://schemas.openxmlformats.org/drawingml/2006/main" id="81" idx="3"/>
            <a:endCxn xmlns:a="http://schemas.openxmlformats.org/drawingml/2006/main" id="99" idx="1"/>
          </p:cNvCxnSpPr>
          <p:nvPr/>
        </p:nvCxnSpPr>
        <p:spPr>
          <a:xfrm xmlns:a="http://schemas.openxmlformats.org/drawingml/2006/main">
            <a:off x="4476750" y="34861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2E38"/>
            </a:solidFill>
            <a:prstDash val="solid"/>
            <a:headEnd type="triangle" w="sm" len="sm"/>
          </a:ln>
        </p:spPr>
      </p:cxnSp>
      <p:sp>
        <p:nvSpPr>
          <p:cNvPr id="109" name="frozen-bank-note">
            <a:extLst xmlns:a="http://schemas.openxmlformats.org/drawingml/2006/main">
              <a:ext uri="{FF2B5EF4-FFF2-40B4-BE49-F238E27FC236}">
                <a16:creationId xmlns:a16="http://schemas.microsoft.com/office/drawing/2014/main" id="{679404F6-CF97-4E4D-91FE-94832EA3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352925"/>
            <a:ext cx="57340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F8F9"/>
          </a:solidFill>
          <a:ln xmlns:a="http://schemas.openxmlformats.org/drawingml/2006/main" w="11430">
            <a:solidFill>
              <a:srgbClr val="D4DEE3"/>
            </a:solidFill>
            <a:prstDash val="solid"/>
          </a:ln>
        </p:spPr>
      </p:sp>
      <p:sp>
        <p:nvSpPr>
          <p:cNvPr id="110" name="frozen-bank-note-text">
            <a:extLst xmlns:a="http://schemas.openxmlformats.org/drawingml/2006/main">
              <a:ext uri="{FF2B5EF4-FFF2-40B4-BE49-F238E27FC236}">
                <a16:creationId xmlns:a16="http://schemas.microsoft.com/office/drawing/2014/main" id="{4149ED4B-7F9D-4D0E-9E21-EE5FD1FB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4100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All support patch indices stay aligned. The bank is read only after construction, with no online update.</a:t>
            </a:r>
          </a:p>
        </p:txBody>
      </p:sp>
      <p:sp>
        <p:nvSpPr>
          <p:cNvPr id="111" name="outputs-section">
            <a:extLst xmlns:a="http://schemas.openxmlformats.org/drawingml/2006/main">
              <a:ext uri="{FF2B5EF4-FFF2-40B4-BE49-F238E27FC236}">
                <a16:creationId xmlns:a16="http://schemas.microsoft.com/office/drawing/2014/main" id="{8CAD8191-FBED-4913-9B17-9BFBEF2F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91100"/>
            <a:ext cx="573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Illustrative outputs from one query</a:t>
            </a:r>
          </a:p>
        </p:txBody>
      </p:sp>
      <p:sp>
        <p:nvSpPr>
          <p:cNvPr id="112" name="output-anchor">
            <a:extLst xmlns:a="http://schemas.openxmlformats.org/drawingml/2006/main">
              <a:ext uri="{FF2B5EF4-FFF2-40B4-BE49-F238E27FC236}">
                <a16:creationId xmlns:a16="http://schemas.microsoft.com/office/drawing/2014/main" id="{98654CC3-F086-4730-B8F6-EB354205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229225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5" name=""/>
          <p:cNvCxnSpPr>
            <a:stCxn xmlns:a="http://schemas.openxmlformats.org/drawingml/2006/main" id="99" idx="2"/>
            <a:endCxn xmlns:a="http://schemas.openxmlformats.org/drawingml/2006/main" id="112" idx="0"/>
          </p:cNvCxnSpPr>
          <p:nvPr/>
        </p:nvCxnSpPr>
        <p:spPr>
          <a:xfrm xmlns:a="http://schemas.openxmlformats.org/drawingml/2006/main" flipH="1">
            <a:off x="2990850" y="4152900"/>
            <a:ext cx="2295525" cy="10763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553A4"/>
            </a:solidFill>
            <a:prstDash val="solid"/>
            <a:headEnd type="triangle" w="sm" len="sm"/>
          </a:ln>
        </p:spPr>
      </p:cxnSp>
      <p:pic>
        <p:nvPicPr>
          <p:cNvPr id="2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001f4ee034446"/>
          <a:srcRect xmlns:a="http://schemas.openxmlformats.org/drawingml/2006/main" l="0" t="13315" r="0" b="13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500" y="5219700"/>
            <a:ext cx="5734050" cy="1752600"/>
          </a:xfrm>
          <a:prstGeom xmlns:a="http://schemas.openxmlformats.org/drawingml/2006/main" prst="rect">
            <a:avLst/>
          </a:prstGeom>
        </p:spPr>
      </p:pic>
      <p:sp>
        <p:nvSpPr>
          <p:cNvPr id="115" name="output-label-query">
            <a:extLst xmlns:a="http://schemas.openxmlformats.org/drawingml/2006/main">
              <a:ext uri="{FF2B5EF4-FFF2-40B4-BE49-F238E27FC236}">
                <a16:creationId xmlns:a16="http://schemas.microsoft.com/office/drawing/2014/main" id="{CBE26E6B-4C94-4627-934E-394AD867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991350"/>
            <a:ext cx="1847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3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3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Schematic query</a:t>
            </a:r>
          </a:p>
        </p:txBody>
      </p:sp>
      <p:sp>
        <p:nvSpPr>
          <p:cNvPr id="116" name="output-label-score">
            <a:extLst xmlns:a="http://schemas.openxmlformats.org/drawingml/2006/main">
              <a:ext uri="{FF2B5EF4-FFF2-40B4-BE49-F238E27FC236}">
                <a16:creationId xmlns:a16="http://schemas.microsoft.com/office/drawing/2014/main" id="{AB853188-DC5E-45AA-A989-AD8CF7B1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991350"/>
            <a:ext cx="1847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3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3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Continuous score heatmap</a:t>
            </a:r>
          </a:p>
        </p:txBody>
      </p:sp>
      <p:sp>
        <p:nvSpPr>
          <p:cNvPr id="117" name="output-label-contour">
            <a:extLst xmlns:a="http://schemas.openxmlformats.org/drawingml/2006/main">
              <a:ext uri="{FF2B5EF4-FFF2-40B4-BE49-F238E27FC236}">
                <a16:creationId xmlns:a16="http://schemas.microsoft.com/office/drawing/2014/main" id="{C4999B9D-8EAA-4329-BB80-BE9D02DE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991350"/>
            <a:ext cx="1847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3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3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Contour overlay</a:t>
            </a:r>
          </a:p>
        </p:txBody>
      </p:sp>
      <p:sp>
        <p:nvSpPr>
          <p:cNvPr id="118" name="output-status">
            <a:extLst xmlns:a="http://schemas.openxmlformats.org/drawingml/2006/main">
              <a:ext uri="{FF2B5EF4-FFF2-40B4-BE49-F238E27FC236}">
                <a16:creationId xmlns:a16="http://schemas.microsoft.com/office/drawing/2014/main" id="{7347AB13-6704-4025-A80D-97E641C6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248525"/>
            <a:ext cx="5734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>
                <a:solidFill>
                  <a:srgbClr val="5E71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>
                <a:solidFill>
                  <a:srgbClr val="5E717C"/>
                </a:solidFill>
                <a:latin typeface="Times New Roman"/>
                <a:ea typeface="Times New Roman"/>
                <a:cs typeface="Times New Roman"/>
              </a:rPr>
              <a:t>Illustrative outputs generated from one synthetic score field. Both views use that same score. Contour uses a visualization threshold; metrics use continuous scores.</a:t>
            </a:r>
          </a:p>
        </p:txBody>
      </p:sp>
      <p:sp>
        <p:nvSpPr>
          <p:cNvPr id="119" name="config-note">
            <a:extLst xmlns:a="http://schemas.openxmlformats.org/drawingml/2006/main">
              <a:ext uri="{FF2B5EF4-FFF2-40B4-BE49-F238E27FC236}">
                <a16:creationId xmlns:a16="http://schemas.microsoft.com/office/drawing/2014/main" id="{62201ED4-2D1D-4496-8435-A7B05D4C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696200"/>
            <a:ext cx="5734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CFC"/>
          </a:solidFill>
          <a:ln xmlns:a="http://schemas.openxmlformats.org/drawingml/2006/main" w="11430">
            <a:solidFill>
              <a:srgbClr val="D4DEE3"/>
            </a:solidFill>
            <a:prstDash val="solid"/>
          </a:ln>
        </p:spPr>
      </p:sp>
      <p:sp>
        <p:nvSpPr>
          <p:cNvPr id="120" name="config-heading">
            <a:extLst xmlns:a="http://schemas.openxmlformats.org/drawingml/2006/main">
              <a:ext uri="{FF2B5EF4-FFF2-40B4-BE49-F238E27FC236}">
                <a16:creationId xmlns:a16="http://schemas.microsoft.com/office/drawing/2014/main" id="{DD2C6EFB-76D2-49D8-8EF6-E396729C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753350"/>
            <a:ext cx="552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Controlled configurations</a:t>
            </a:r>
          </a:p>
        </p:txBody>
      </p:sp>
      <p:sp>
        <p:nvSpPr>
          <p:cNvPr id="121" name="config-line-1">
            <a:extLst xmlns:a="http://schemas.openxmlformats.org/drawingml/2006/main">
              <a:ext uri="{FF2B5EF4-FFF2-40B4-BE49-F238E27FC236}">
                <a16:creationId xmlns:a16="http://schemas.microsoft.com/office/drawing/2014/main" id="{00074A8A-DDC2-43F0-94D9-EADD4038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92480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A1: (B, C), weights (0.5, 0.5)    DUP: (B, Bcopy, C), weights (1/3, 1/3, 1/3)</a:t>
            </a:r>
          </a:p>
        </p:txBody>
      </p:sp>
      <p:sp>
        <p:nvSpPr>
          <p:cNvPr id="122" name="config-line-2">
            <a:extLst xmlns:a="http://schemas.openxmlformats.org/drawingml/2006/main">
              <a:ext uri="{FF2B5EF4-FFF2-40B4-BE49-F238E27FC236}">
                <a16:creationId xmlns:a16="http://schemas.microsoft.com/office/drawing/2014/main" id="{B6B527B3-A577-4A49-81AC-9FE81FE6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809625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TRI: (B, S or D, C), weights (1/3, 1/3, 1/3)    BAL: (B, S or D, C), weights (0.25, 0.25, 0.5)</a:t>
            </a:r>
          </a:p>
        </p:txBody>
      </p:sp>
    </p:spTree>
    <p:extLst>
      <p:ext uri="{BB962C8B-B14F-4D97-AF65-F5344CB8AC3E}">
        <p14:creationId xmlns:p14="http://schemas.microsoft.com/office/powerpoint/2010/main" val="4766814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2026-09-14T15:09:50.4530000Z</dcterms:created>
  <dcterms:modified xsi:type="dcterms:W3CDTF">2026-09-14T15:09:50.4530000Z</dcterms:modified>
</coreProperties>
</file>