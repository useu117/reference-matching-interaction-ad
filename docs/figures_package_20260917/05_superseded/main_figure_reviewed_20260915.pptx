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b1ab395ad34ce7" /><Relationship Type="http://schemas.openxmlformats.org/officeDocument/2006/relationships/extended-properties" Target="/docProps/app.xml" Id="Rab2bc596b37041da" /><Relationship Type="http://schemas.openxmlformats.org/officeDocument/2006/relationships/officeDocument" Target="/ppt/presentation.xml" Id="R3a196e5678bb48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da96c06b248d7"/>
  </p:sldMasterIdLst>
  <p:notesMasterIdLst>
    <p:notesMasterId xmlns:r="http://schemas.openxmlformats.org/officeDocument/2006/relationships" r:id="Re8f3a42b8b0e40c0"/>
  </p:notesMasterIdLst>
  <p:sldIdLst>
    <p:sldId xmlns:r="http://schemas.openxmlformats.org/officeDocument/2006/relationships" id="256" r:id="R836aac3472934f6b"/>
  </p:sldIdLst>
  <p:sldSz cx="6115050" cy="5810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d699397a9b4095" /><Relationship Type="http://schemas.openxmlformats.org/officeDocument/2006/relationships/slideMaster" Target="/ppt/slideMasters/slideMaster1.xml" Id="Reb1da96c06b248d7" /><Relationship Type="http://schemas.openxmlformats.org/officeDocument/2006/relationships/notesMaster" Target="/ppt/notesMasters/notesMaster1.xml" Id="Re8f3a42b8b0e40c0" /><Relationship Type="http://schemas.openxmlformats.org/officeDocument/2006/relationships/presProps" Target="/ppt/presProps.xml" Id="R724b6bcdaf554ff6" /><Relationship Type="http://schemas.openxmlformats.org/officeDocument/2006/relationships/tableStyles" Target="/ppt/tableStyles.xml" Id="R2c77d712a5624ab4" /><Relationship Type="http://schemas.openxmlformats.org/officeDocument/2006/relationships/slide" Target="/ppt/slides/slide1.xml" Id="R836aac3472934f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857f63186c4a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b424bee9194146" /><Relationship Type="http://schemas.openxmlformats.org/officeDocument/2006/relationships/notesMaster" Target="/ppt/notesMasters/notesMaster1.xml" Id="R0b5c4b7a2b8242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Simple current-theme diagram. J and L are established operators for a controlled comparison. Support bank is fixed, all branch reference indices aligned. B DINOv2-B, C AnomalyCLIP visual; optional S DINOv2-S or D WideResNet50-2. Real example MPDD bracket_brown/test/parts_mismatch/007.png, seed0 K4, A1_L stored prediction. Continuous heatmap and contour use same score; shared J/L minmax normalization and 256-bin Otsu visualization threshold. Source and exact threshold recorded in .tmp_english_main_figure_20260914/real_example.json. No GT used for contour. Scientific equations and controls in manuscript Tables1–2.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0129b3eb44f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dd4d52e07c4d6a" /><Relationship Type="http://schemas.openxmlformats.org/officeDocument/2006/relationships/slideLayout" Target="/ppt/slideLayouts/slideLayout1.xml" Id="R9b78c104303149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78c104303149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08105e4134d7c" /><Relationship Type="http://schemas.openxmlformats.org/officeDocument/2006/relationships/image" Target="/ppt/media/image.png" Id="Rd4880e7437bb4ca7" /><Relationship Type="http://schemas.openxmlformats.org/officeDocument/2006/relationships/image" Target="/ppt/media/image2.png" Id="Ra008f2d7b912440d" /><Relationship Type="http://schemas.openxmlformats.org/officeDocument/2006/relationships/image" Target="/ppt/media/image3.png" Id="R8d3a8adad7b14f44" /><Relationship Type="http://schemas.openxmlformats.org/officeDocument/2006/relationships/notesSlide" Target="/ppt/notesSlides/notesSlide1.xml" Id="Rc63635cd0f7146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section-a">
            <a:extLst xmlns:a="http://schemas.openxmlformats.org/drawingml/2006/main">
              <a:ext uri="{FF2B5EF4-FFF2-40B4-BE49-F238E27FC236}">
                <a16:creationId xmlns:a16="http://schemas.microsoft.com/office/drawing/2014/main" id="{E9663557-31C0-4C06-9ED6-B919327B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62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(a) Normal support bank</a:t>
            </a:r>
          </a:p>
        </p:txBody>
      </p:sp>
      <p:sp>
        <p:nvSpPr>
          <p:cNvPr id="2" name="support-surface">
            <a:extLst xmlns:a="http://schemas.openxmlformats.org/drawingml/2006/main">
              <a:ext uri="{FF2B5EF4-FFF2-40B4-BE49-F238E27FC236}">
                <a16:creationId xmlns:a16="http://schemas.microsoft.com/office/drawing/2014/main" id="{BC253903-B2BB-416C-9871-E159BCCB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57200"/>
            <a:ext cx="1000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11430">
            <a:solidFill>
              <a:srgbClr val="AEBAC3"/>
            </a:solidFill>
            <a:prstDash val="solid"/>
          </a:ln>
        </p:spPr>
      </p:sp>
      <p:sp>
        <p:nvSpPr>
          <p:cNvPr id="3" name="support-card-0">
            <a:extLst xmlns:a="http://schemas.openxmlformats.org/drawingml/2006/main">
              <a:ext uri="{FF2B5EF4-FFF2-40B4-BE49-F238E27FC236}">
                <a16:creationId xmlns:a16="http://schemas.microsoft.com/office/drawing/2014/main" id="{61EC7D8E-C5D3-4C01-9A0E-3756C2DF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52450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0"/>
          </a:solidFill>
          <a:ln xmlns:a="http://schemas.openxmlformats.org/drawingml/2006/main" w="9525">
            <a:solidFill>
              <a:srgbClr val="9BAAB3"/>
            </a:solidFill>
            <a:prstDash val="solid"/>
          </a:ln>
        </p:spPr>
      </p:sp>
      <p:sp>
        <p:nvSpPr>
          <p:cNvPr id="4" name="support-blue-0">
            <a:extLst xmlns:a="http://schemas.openxmlformats.org/drawingml/2006/main">
              <a:ext uri="{FF2B5EF4-FFF2-40B4-BE49-F238E27FC236}">
                <a16:creationId xmlns:a16="http://schemas.microsoft.com/office/drawing/2014/main" id="{73BE765B-1190-4AF2-A3CF-71F2A994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04850"/>
            <a:ext cx="276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9525">
            <a:solidFill>
              <a:srgbClr val="2E6F9E"/>
            </a:solidFill>
            <a:prstDash val="solid"/>
          </a:ln>
        </p:spPr>
      </p:sp>
      <p:sp>
        <p:nvSpPr>
          <p:cNvPr id="5" name="support-card-1">
            <a:extLst xmlns:a="http://schemas.openxmlformats.org/drawingml/2006/main">
              <a:ext uri="{FF2B5EF4-FFF2-40B4-BE49-F238E27FC236}">
                <a16:creationId xmlns:a16="http://schemas.microsoft.com/office/drawing/2014/main" id="{6E0247BA-A053-4B7D-9DBE-15DD4FE1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4"/>
          </a:solidFill>
          <a:ln xmlns:a="http://schemas.openxmlformats.org/drawingml/2006/main" w="9525">
            <a:solidFill>
              <a:srgbClr val="9BAAB3"/>
            </a:solidFill>
            <a:prstDash val="solid"/>
          </a:ln>
        </p:spPr>
      </p:sp>
      <p:sp>
        <p:nvSpPr>
          <p:cNvPr id="6" name="support-blue-1">
            <a:extLst xmlns:a="http://schemas.openxmlformats.org/drawingml/2006/main">
              <a:ext uri="{FF2B5EF4-FFF2-40B4-BE49-F238E27FC236}">
                <a16:creationId xmlns:a16="http://schemas.microsoft.com/office/drawing/2014/main" id="{53CE5FF2-3A59-4DD4-8F0C-CC75ABB1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276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9525">
            <a:solidFill>
              <a:srgbClr val="2E6F9E"/>
            </a:solidFill>
            <a:prstDash val="solid"/>
          </a:ln>
        </p:spPr>
      </p:sp>
      <p:sp>
        <p:nvSpPr>
          <p:cNvPr id="7" name="support-card-2">
            <a:extLst xmlns:a="http://schemas.openxmlformats.org/drawingml/2006/main">
              <a:ext uri="{FF2B5EF4-FFF2-40B4-BE49-F238E27FC236}">
                <a16:creationId xmlns:a16="http://schemas.microsoft.com/office/drawing/2014/main" id="{4BD50A31-7024-4A90-82B7-8C081D3C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85800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9BAAB3"/>
            </a:solidFill>
            <a:prstDash val="solid"/>
          </a:ln>
        </p:spPr>
      </p:sp>
      <p:sp>
        <p:nvSpPr>
          <p:cNvPr id="8" name="support-blue-2">
            <a:extLst xmlns:a="http://schemas.openxmlformats.org/drawingml/2006/main">
              <a:ext uri="{FF2B5EF4-FFF2-40B4-BE49-F238E27FC236}">
                <a16:creationId xmlns:a16="http://schemas.microsoft.com/office/drawing/2014/main" id="{D1E4448F-A049-4C9E-8F5D-6AF9FD77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38200"/>
            <a:ext cx="276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9525">
            <a:solidFill>
              <a:srgbClr val="2E6F9E"/>
            </a:solidFill>
            <a:prstDash val="solid"/>
          </a:ln>
        </p:spPr>
      </p:sp>
      <p:sp>
        <p:nvSpPr>
          <p:cNvPr id="9" name="support-label">
            <a:extLst xmlns:a="http://schemas.openxmlformats.org/drawingml/2006/main">
              <a:ext uri="{FF2B5EF4-FFF2-40B4-BE49-F238E27FC236}">
                <a16:creationId xmlns:a16="http://schemas.microsoft.com/office/drawing/2014/main" id="{5A4D8006-4045-4CFC-9CFE-78454AF4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4097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K normal images</a:t>
            </a:r>
          </a:p>
          <a:p xmlns:a="http://schemas.openxmlformats.org/drawingml/2006/main">
            <a:pPr algn="ctr">
              <a:def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same category</a:t>
            </a:r>
          </a:p>
        </p:txBody>
      </p:sp>
      <p:sp>
        <p:nvSpPr>
          <p:cNvPr id="10" name="support-branches">
            <a:extLst xmlns:a="http://schemas.openxmlformats.org/drawingml/2006/main">
              <a:ext uri="{FF2B5EF4-FFF2-40B4-BE49-F238E27FC236}">
                <a16:creationId xmlns:a16="http://schemas.microsoft.com/office/drawing/2014/main" id="{A8E22D96-A09C-4563-9701-79078767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"/>
            <a:ext cx="17907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EE3"/>
            </a:solidFill>
            <a:prstDash val="solid"/>
          </a:ln>
        </p:spPr>
      </p:sp>
      <p:sp>
        <p:nvSpPr>
          <p:cNvPr id="11" name="support-branches-title">
            <a:extLst xmlns:a="http://schemas.openxmlformats.org/drawingml/2006/main">
              <a:ext uri="{FF2B5EF4-FFF2-40B4-BE49-F238E27FC236}">
                <a16:creationId xmlns:a16="http://schemas.microsoft.com/office/drawing/2014/main" id="{AA38AFF8-7A6C-4E11-AE5D-A665702E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862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0" b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 b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rPr>
              <a:t>Frozen visual branches</a:t>
            </a:r>
          </a:p>
        </p:txBody>
      </p:sp>
      <p:sp>
        <p:nvSpPr>
          <p:cNvPr id="12" name="support-branches-B">
            <a:extLst xmlns:a="http://schemas.openxmlformats.org/drawingml/2006/main">
              <a:ext uri="{FF2B5EF4-FFF2-40B4-BE49-F238E27FC236}">
                <a16:creationId xmlns:a16="http://schemas.microsoft.com/office/drawing/2014/main" id="{BC631E3F-CFAF-4147-9265-13681830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47700"/>
            <a:ext cx="16002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CEBF7"/>
          </a:solidFill>
          <a:ln xmlns:a="http://schemas.openxmlformats.org/drawingml/2006/main" w="11430">
            <a:solidFill>
              <a:srgbClr val="2E6F9E"/>
            </a:solidFill>
            <a:prstDash val="solid"/>
          </a:ln>
        </p:spPr>
      </p:sp>
      <p:sp>
        <p:nvSpPr>
          <p:cNvPr id="13" name="support-branches-B-text">
            <a:extLst xmlns:a="http://schemas.openxmlformats.org/drawingml/2006/main">
              <a:ext uri="{FF2B5EF4-FFF2-40B4-BE49-F238E27FC236}">
                <a16:creationId xmlns:a16="http://schemas.microsoft.com/office/drawing/2014/main" id="{4B5E2992-0E72-4E76-BCD2-0A521A17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64770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rPr>
              <a:t>B   DINOv2-B</a:t>
            </a:r>
          </a:p>
        </p:txBody>
      </p:sp>
      <p:sp>
        <p:nvSpPr>
          <p:cNvPr id="14" name="support-branches-C">
            <a:extLst xmlns:a="http://schemas.openxmlformats.org/drawingml/2006/main">
              <a:ext uri="{FF2B5EF4-FFF2-40B4-BE49-F238E27FC236}">
                <a16:creationId xmlns:a16="http://schemas.microsoft.com/office/drawing/2014/main" id="{76963446-470E-426A-A171-BEA6B4DA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923925"/>
            <a:ext cx="16002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11430">
            <a:solidFill>
              <a:srgbClr val="B27C20"/>
            </a:solidFill>
            <a:prstDash val="solid"/>
          </a:ln>
        </p:spPr>
      </p:sp>
      <p:sp>
        <p:nvSpPr>
          <p:cNvPr id="15" name="support-branches-C-text">
            <a:extLst xmlns:a="http://schemas.openxmlformats.org/drawingml/2006/main">
              <a:ext uri="{FF2B5EF4-FFF2-40B4-BE49-F238E27FC236}">
                <a16:creationId xmlns:a16="http://schemas.microsoft.com/office/drawing/2014/main" id="{C696EF47-5F2E-4F7D-8F08-1BE5C81E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9239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0" b="1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0" b="1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rPr>
              <a:t>C   AnomalyCLIP visual</a:t>
            </a:r>
          </a:p>
        </p:txBody>
      </p:sp>
      <p:sp>
        <p:nvSpPr>
          <p:cNvPr id="16" name="support-branches-extra">
            <a:extLst xmlns:a="http://schemas.openxmlformats.org/drawingml/2006/main">
              <a:ext uri="{FF2B5EF4-FFF2-40B4-BE49-F238E27FC236}">
                <a16:creationId xmlns:a16="http://schemas.microsoft.com/office/drawing/2014/main" id="{39710F47-E228-4ACD-BF8F-73B67EE2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00150"/>
            <a:ext cx="16002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1430">
            <a:solidFill>
              <a:srgbClr val="4E8661"/>
            </a:solidFill>
            <a:prstDash val="solid"/>
          </a:ln>
        </p:spPr>
      </p:sp>
      <p:sp>
        <p:nvSpPr>
          <p:cNvPr id="17" name="support-branches-extra-text">
            <a:extLst xmlns:a="http://schemas.openxmlformats.org/drawingml/2006/main">
              <a:ext uri="{FF2B5EF4-FFF2-40B4-BE49-F238E27FC236}">
                <a16:creationId xmlns:a16="http://schemas.microsoft.com/office/drawing/2014/main" id="{43599751-4524-4193-8762-BCF8CF6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200150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3028"/>
          </a:bodyPr>
          <a:lstStyle xmlns:a="http://schemas.openxmlformats.org/drawingml/2006/main"/>
          <a:p xmlns:a="http://schemas.openxmlformats.org/drawingml/2006/main">
            <a:pPr algn="ctr">
              <a:defRPr sz="940" b="1">
                <a:solidFill>
                  <a:srgbClr val="4E86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0" b="1">
                <a:solidFill>
                  <a:srgbClr val="4E8661"/>
                </a:solidFill>
                <a:latin typeface="Times New Roman"/>
                <a:ea typeface="Times New Roman"/>
                <a:cs typeface="Times New Roman"/>
              </a:rPr>
              <a:t>S or D   controlled extra branch</a:t>
            </a:r>
          </a:p>
        </p:txBody>
      </p:sp>
      <p:sp>
        <p:nvSpPr>
          <p:cNvPr id="18" name="support-align">
            <a:extLst xmlns:a="http://schemas.openxmlformats.org/drawingml/2006/main">
              <a:ext uri="{FF2B5EF4-FFF2-40B4-BE49-F238E27FC236}">
                <a16:creationId xmlns:a16="http://schemas.microsoft.com/office/drawing/2014/main" id="{CD79B380-E71F-4CD0-8BB5-96922439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"/>
            <a:ext cx="1143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11430">
            <a:solidFill>
              <a:srgbClr val="5D8190"/>
            </a:solidFill>
            <a:prstDash val="solid"/>
          </a:ln>
        </p:spPr>
      </p:sp>
      <p:sp>
        <p:nvSpPr>
          <p:cNvPr id="19" name="support-align-label">
            <a:extLst xmlns:a="http://schemas.openxmlformats.org/drawingml/2006/main">
              <a:ext uri="{FF2B5EF4-FFF2-40B4-BE49-F238E27FC236}">
                <a16:creationId xmlns:a16="http://schemas.microsoft.com/office/drawing/2014/main" id="{ED718B5D-00DC-4D1E-920D-4F239CDB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2450"/>
            <a:ext cx="990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6879"/>
          </a:bodyPr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Spatial align</a:t>
            </a:r>
          </a:p>
          <a:p xmlns:a="http://schemas.openxmlformats.org/drawingml/2006/main">
            <a:pPr algn="ctr">
              <a:def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and L2 normalize</a:t>
            </a:r>
          </a:p>
        </p:txBody>
      </p:sp>
      <p:sp>
        <p:nvSpPr>
          <p:cNvPr id="20" name="support-align-grid-0-0">
            <a:extLst xmlns:a="http://schemas.openxmlformats.org/drawingml/2006/main">
              <a:ext uri="{FF2B5EF4-FFF2-40B4-BE49-F238E27FC236}">
                <a16:creationId xmlns:a16="http://schemas.microsoft.com/office/drawing/2014/main" id="{02FF0D09-A543-4634-8B2B-4CE97913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38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1" name="support-align-grid-0-1">
            <a:extLst xmlns:a="http://schemas.openxmlformats.org/drawingml/2006/main">
              <a:ext uri="{FF2B5EF4-FFF2-40B4-BE49-F238E27FC236}">
                <a16:creationId xmlns:a16="http://schemas.microsoft.com/office/drawing/2014/main" id="{87C5ECDF-E4FF-429C-892A-BDF92B61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038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2" name="support-align-grid-0-2">
            <a:extLst xmlns:a="http://schemas.openxmlformats.org/drawingml/2006/main">
              <a:ext uri="{FF2B5EF4-FFF2-40B4-BE49-F238E27FC236}">
                <a16:creationId xmlns:a16="http://schemas.microsoft.com/office/drawing/2014/main" id="{18F835D8-3FB8-4D13-8822-001DF0D2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038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3" name="support-align-grid-0-3">
            <a:extLst xmlns:a="http://schemas.openxmlformats.org/drawingml/2006/main">
              <a:ext uri="{FF2B5EF4-FFF2-40B4-BE49-F238E27FC236}">
                <a16:creationId xmlns:a16="http://schemas.microsoft.com/office/drawing/2014/main" id="{E305C20A-6614-47CC-AB3D-371EDA9E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038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4" name="support-align-grid-0-4">
            <a:extLst xmlns:a="http://schemas.openxmlformats.org/drawingml/2006/main">
              <a:ext uri="{FF2B5EF4-FFF2-40B4-BE49-F238E27FC236}">
                <a16:creationId xmlns:a16="http://schemas.microsoft.com/office/drawing/2014/main" id="{A4F3C49A-9965-4BA3-B57C-2A5768E7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038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5" name="support-align-grid-1-0">
            <a:extLst xmlns:a="http://schemas.openxmlformats.org/drawingml/2006/main">
              <a:ext uri="{FF2B5EF4-FFF2-40B4-BE49-F238E27FC236}">
                <a16:creationId xmlns:a16="http://schemas.microsoft.com/office/drawing/2014/main" id="{E5AAE3F2-FB67-4641-A424-A2C39AE1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133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6" name="support-align-grid-1-1">
            <a:extLst xmlns:a="http://schemas.openxmlformats.org/drawingml/2006/main">
              <a:ext uri="{FF2B5EF4-FFF2-40B4-BE49-F238E27FC236}">
                <a16:creationId xmlns:a16="http://schemas.microsoft.com/office/drawing/2014/main" id="{E87946E5-5B04-48AE-ADD8-9F4B9B33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133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7" name="support-align-grid-1-2">
            <a:extLst xmlns:a="http://schemas.openxmlformats.org/drawingml/2006/main">
              <a:ext uri="{FF2B5EF4-FFF2-40B4-BE49-F238E27FC236}">
                <a16:creationId xmlns:a16="http://schemas.microsoft.com/office/drawing/2014/main" id="{106B92B3-B6CC-4F84-951D-60337492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133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8" name="support-align-grid-1-3">
            <a:extLst xmlns:a="http://schemas.openxmlformats.org/drawingml/2006/main">
              <a:ext uri="{FF2B5EF4-FFF2-40B4-BE49-F238E27FC236}">
                <a16:creationId xmlns:a16="http://schemas.microsoft.com/office/drawing/2014/main" id="{28914997-AFBF-43E5-BA65-19ED99E8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133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9" name="support-align-grid-1-4">
            <a:extLst xmlns:a="http://schemas.openxmlformats.org/drawingml/2006/main">
              <a:ext uri="{FF2B5EF4-FFF2-40B4-BE49-F238E27FC236}">
                <a16:creationId xmlns:a16="http://schemas.microsoft.com/office/drawing/2014/main" id="{A90C07BE-61B9-4EFD-B176-EB4385FB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133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0" name="support-align-grid-2-0">
            <a:extLst xmlns:a="http://schemas.openxmlformats.org/drawingml/2006/main">
              <a:ext uri="{FF2B5EF4-FFF2-40B4-BE49-F238E27FC236}">
                <a16:creationId xmlns:a16="http://schemas.microsoft.com/office/drawing/2014/main" id="{262A4A5D-00CE-4E5B-99CF-EF530A83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228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1" name="support-align-grid-2-1">
            <a:extLst xmlns:a="http://schemas.openxmlformats.org/drawingml/2006/main">
              <a:ext uri="{FF2B5EF4-FFF2-40B4-BE49-F238E27FC236}">
                <a16:creationId xmlns:a16="http://schemas.microsoft.com/office/drawing/2014/main" id="{79F00BE5-C0B9-4765-A598-13E59A12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28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2" name="support-align-grid-2-2">
            <a:extLst xmlns:a="http://schemas.openxmlformats.org/drawingml/2006/main">
              <a:ext uri="{FF2B5EF4-FFF2-40B4-BE49-F238E27FC236}">
                <a16:creationId xmlns:a16="http://schemas.microsoft.com/office/drawing/2014/main" id="{045E2847-6A06-4F3F-874E-2C810711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28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3" name="support-align-grid-2-3">
            <a:extLst xmlns:a="http://schemas.openxmlformats.org/drawingml/2006/main">
              <a:ext uri="{FF2B5EF4-FFF2-40B4-BE49-F238E27FC236}">
                <a16:creationId xmlns:a16="http://schemas.microsoft.com/office/drawing/2014/main" id="{B448BB18-070E-4C2A-88E9-BE44A7A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28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4" name="support-align-grid-2-4">
            <a:extLst xmlns:a="http://schemas.openxmlformats.org/drawingml/2006/main">
              <a:ext uri="{FF2B5EF4-FFF2-40B4-BE49-F238E27FC236}">
                <a16:creationId xmlns:a16="http://schemas.microsoft.com/office/drawing/2014/main" id="{3272A61A-D76C-48F6-B627-DF74B46E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228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5" name="support-align-per-branch">
            <a:extLst xmlns:a="http://schemas.openxmlformats.org/drawingml/2006/main">
              <a:ext uri="{FF2B5EF4-FFF2-40B4-BE49-F238E27FC236}">
                <a16:creationId xmlns:a16="http://schemas.microsoft.com/office/drawing/2014/main" id="{24B3FC81-2002-4942-A518-BC1B8312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4302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i="1">
                <a:solidFill>
                  <a:srgbClr val="5D819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i="1">
                <a:solidFill>
                  <a:srgbClr val="5D8190"/>
                </a:solidFill>
                <a:latin typeface="Times New Roman"/>
                <a:ea typeface="Times New Roman"/>
                <a:cs typeface="Times New Roman"/>
              </a:rPr>
              <a:t>per branch</a:t>
            </a:r>
          </a:p>
        </p:txBody>
      </p:sp>
      <p:sp>
        <p:nvSpPr>
          <p:cNvPr id="36" name="memory-bank">
            <a:extLst xmlns:a="http://schemas.openxmlformats.org/drawingml/2006/main">
              <a:ext uri="{FF2B5EF4-FFF2-40B4-BE49-F238E27FC236}">
                <a16:creationId xmlns:a16="http://schemas.microsoft.com/office/drawing/2014/main" id="{B25273E3-4B86-4849-864E-B651E8BB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"/>
            <a:ext cx="12382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2F1ED"/>
          </a:solidFill>
          <a:ln xmlns:a="http://schemas.openxmlformats.org/drawingml/2006/main" w="11430">
            <a:solidFill>
              <a:srgbClr val="2B7961"/>
            </a:solidFill>
            <a:prstDash val="solid"/>
          </a:ln>
        </p:spPr>
      </p:sp>
      <p:sp>
        <p:nvSpPr>
          <p:cNvPr id="37" name="memory-bank-title">
            <a:extLst xmlns:a="http://schemas.openxmlformats.org/drawingml/2006/main">
              <a:ext uri="{FF2B5EF4-FFF2-40B4-BE49-F238E27FC236}">
                <a16:creationId xmlns:a16="http://schemas.microsoft.com/office/drawing/2014/main" id="{8B4A10E9-731E-45C8-A9F7-A9922479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5300"/>
            <a:ext cx="1085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2176"/>
          </a:bodyPr>
          <a:lstStyle xmlns:a="http://schemas.openxmlformats.org/drawingml/2006/main"/>
          <a:p xmlns:a="http://schemas.openxmlformats.org/drawingml/2006/main">
            <a:pPr algn="ctr">
              <a:defRPr sz="1060" b="1">
                <a:solidFill>
                  <a:srgbClr val="2B79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0" b="1">
                <a:solidFill>
                  <a:srgbClr val="2B7961"/>
                </a:solidFill>
                <a:latin typeface="Times New Roman"/>
                <a:ea typeface="Times New Roman"/>
                <a:cs typeface="Times New Roman"/>
              </a:rPr>
              <a:t>Aligned patch bank</a:t>
            </a:r>
          </a:p>
        </p:txBody>
      </p:sp>
      <p:sp>
        <p:nvSpPr>
          <p:cNvPr id="38" name="memory-bank-grid-0-0">
            <a:extLst xmlns:a="http://schemas.openxmlformats.org/drawingml/2006/main">
              <a:ext uri="{FF2B5EF4-FFF2-40B4-BE49-F238E27FC236}">
                <a16:creationId xmlns:a16="http://schemas.microsoft.com/office/drawing/2014/main" id="{559E12BC-86D2-41E8-B6B8-BD192C1C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7905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39" name="memory-bank-grid-0-1">
            <a:extLst xmlns:a="http://schemas.openxmlformats.org/drawingml/2006/main">
              <a:ext uri="{FF2B5EF4-FFF2-40B4-BE49-F238E27FC236}">
                <a16:creationId xmlns:a16="http://schemas.microsoft.com/office/drawing/2014/main" id="{48AE9A82-FCDE-4E70-BC9A-466DABF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7905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0" name="memory-bank-grid-0-2">
            <a:extLst xmlns:a="http://schemas.openxmlformats.org/drawingml/2006/main">
              <a:ext uri="{FF2B5EF4-FFF2-40B4-BE49-F238E27FC236}">
                <a16:creationId xmlns:a16="http://schemas.microsoft.com/office/drawing/2014/main" id="{315BDEEF-0DBE-4B0A-844C-AB80BF02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7905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1" name="memory-bank-grid-0-3">
            <a:extLst xmlns:a="http://schemas.openxmlformats.org/drawingml/2006/main">
              <a:ext uri="{FF2B5EF4-FFF2-40B4-BE49-F238E27FC236}">
                <a16:creationId xmlns:a16="http://schemas.microsoft.com/office/drawing/2014/main" id="{93960587-EDCD-4119-94BE-0EACD6CA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7905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2" name="memory-bank-grid-0-4">
            <a:extLst xmlns:a="http://schemas.openxmlformats.org/drawingml/2006/main">
              <a:ext uri="{FF2B5EF4-FFF2-40B4-BE49-F238E27FC236}">
                <a16:creationId xmlns:a16="http://schemas.microsoft.com/office/drawing/2014/main" id="{0C82DF1A-9D96-4806-9802-5CAEF0AF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905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3" name="memory-bank-grid-0-5">
            <a:extLst xmlns:a="http://schemas.openxmlformats.org/drawingml/2006/main">
              <a:ext uri="{FF2B5EF4-FFF2-40B4-BE49-F238E27FC236}">
                <a16:creationId xmlns:a16="http://schemas.microsoft.com/office/drawing/2014/main" id="{F788AF65-D9FB-4AB4-9B18-907D0849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7905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4" name="memory-bank-grid-1-0">
            <a:extLst xmlns:a="http://schemas.openxmlformats.org/drawingml/2006/main">
              <a:ext uri="{FF2B5EF4-FFF2-40B4-BE49-F238E27FC236}">
                <a16:creationId xmlns:a16="http://schemas.microsoft.com/office/drawing/2014/main" id="{53F9A6A2-E5F6-4578-804A-100D5BC3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904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5" name="memory-bank-grid-1-1">
            <a:extLst xmlns:a="http://schemas.openxmlformats.org/drawingml/2006/main">
              <a:ext uri="{FF2B5EF4-FFF2-40B4-BE49-F238E27FC236}">
                <a16:creationId xmlns:a16="http://schemas.microsoft.com/office/drawing/2014/main" id="{CA3FA001-9A35-40F7-8C77-8FF8A1C0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904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6" name="memory-bank-grid-1-2">
            <a:extLst xmlns:a="http://schemas.openxmlformats.org/drawingml/2006/main">
              <a:ext uri="{FF2B5EF4-FFF2-40B4-BE49-F238E27FC236}">
                <a16:creationId xmlns:a16="http://schemas.microsoft.com/office/drawing/2014/main" id="{38152634-CC5E-4CA4-B7D1-DA7F1B1D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904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7" name="memory-bank-grid-1-3">
            <a:extLst xmlns:a="http://schemas.openxmlformats.org/drawingml/2006/main">
              <a:ext uri="{FF2B5EF4-FFF2-40B4-BE49-F238E27FC236}">
                <a16:creationId xmlns:a16="http://schemas.microsoft.com/office/drawing/2014/main" id="{9B520F22-EFCE-48D8-B795-381DE82F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904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8" name="memory-bank-grid-1-4">
            <a:extLst xmlns:a="http://schemas.openxmlformats.org/drawingml/2006/main">
              <a:ext uri="{FF2B5EF4-FFF2-40B4-BE49-F238E27FC236}">
                <a16:creationId xmlns:a16="http://schemas.microsoft.com/office/drawing/2014/main" id="{C97C7911-419C-4329-AE56-6D9C28CD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904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9" name="memory-bank-grid-1-5">
            <a:extLst xmlns:a="http://schemas.openxmlformats.org/drawingml/2006/main">
              <a:ext uri="{FF2B5EF4-FFF2-40B4-BE49-F238E27FC236}">
                <a16:creationId xmlns:a16="http://schemas.microsoft.com/office/drawing/2014/main" id="{A7561669-EDB6-4A37-BD35-FF6F1898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904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0" name="memory-bank-grid-2-0">
            <a:extLst xmlns:a="http://schemas.openxmlformats.org/drawingml/2006/main">
              <a:ext uri="{FF2B5EF4-FFF2-40B4-BE49-F238E27FC236}">
                <a16:creationId xmlns:a16="http://schemas.microsoft.com/office/drawing/2014/main" id="{EDDA28C0-1977-4804-B922-437C1855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019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1" name="memory-bank-grid-2-1">
            <a:extLst xmlns:a="http://schemas.openxmlformats.org/drawingml/2006/main">
              <a:ext uri="{FF2B5EF4-FFF2-40B4-BE49-F238E27FC236}">
                <a16:creationId xmlns:a16="http://schemas.microsoft.com/office/drawing/2014/main" id="{EA892F9E-3BEC-464F-9856-9F8D9A86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19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2" name="memory-bank-grid-2-2">
            <a:extLst xmlns:a="http://schemas.openxmlformats.org/drawingml/2006/main">
              <a:ext uri="{FF2B5EF4-FFF2-40B4-BE49-F238E27FC236}">
                <a16:creationId xmlns:a16="http://schemas.microsoft.com/office/drawing/2014/main" id="{1325227F-3B84-4156-88AE-61B1419A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19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3" name="memory-bank-grid-2-3">
            <a:extLst xmlns:a="http://schemas.openxmlformats.org/drawingml/2006/main">
              <a:ext uri="{FF2B5EF4-FFF2-40B4-BE49-F238E27FC236}">
                <a16:creationId xmlns:a16="http://schemas.microsoft.com/office/drawing/2014/main" id="{F395621A-5C29-4F46-9480-E09427D4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019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4" name="memory-bank-grid-2-4">
            <a:extLst xmlns:a="http://schemas.openxmlformats.org/drawingml/2006/main">
              <a:ext uri="{FF2B5EF4-FFF2-40B4-BE49-F238E27FC236}">
                <a16:creationId xmlns:a16="http://schemas.microsoft.com/office/drawing/2014/main" id="{76FB608F-66F2-4412-A629-558DE270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019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5" name="memory-bank-grid-2-5">
            <a:extLst xmlns:a="http://schemas.openxmlformats.org/drawingml/2006/main">
              <a:ext uri="{FF2B5EF4-FFF2-40B4-BE49-F238E27FC236}">
                <a16:creationId xmlns:a16="http://schemas.microsoft.com/office/drawing/2014/main" id="{5A4CD3E1-C6E8-4BC8-BDB7-E10864BE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019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6" name="memory-bank-note">
            <a:extLst xmlns:a="http://schemas.openxmlformats.org/drawingml/2006/main">
              <a:ext uri="{FF2B5EF4-FFF2-40B4-BE49-F238E27FC236}">
                <a16:creationId xmlns:a16="http://schemas.microsoft.com/office/drawing/2014/main" id="{3936398E-4EA1-4782-AFE9-FA20000F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152525"/>
            <a:ext cx="108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70199"/>
          </a:bodyPr>
          <a:lstStyle xmlns:a="http://schemas.openxmlformats.org/drawingml/2006/main"/>
          <a:p xmlns:a="http://schemas.openxmlformats.org/drawingml/2006/main">
            <a:pPr algn="ctr">
              <a:def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indices aligned</a:t>
            </a:r>
          </a:p>
          <a:p xmlns:a="http://schemas.openxmlformats.org/drawingml/2006/main">
            <a:pPr algn="ctr">
              <a:def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fixed after build</a:t>
            </a:r>
          </a:p>
          <a:p xmlns:a="http://schemas.openxmlformats.org/drawingml/2006/main">
            <a:pPr algn="ctr">
              <a:def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read only</a:t>
            </a:r>
          </a:p>
        </p:txBody>
      </p:sp>
      <p:cxnSp>
        <p:nvCxnSpPr>
          <p:cNvPr id="169" name=""/>
          <p:cNvCxnSpPr>
            <a:stCxn xmlns:a="http://schemas.openxmlformats.org/drawingml/2006/main" id="2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90625" y="914400"/>
            <a:ext cx="1905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tailEnd type="triangle" w="sm" len="sm"/>
          </a:ln>
        </p:spPr>
      </p:cxnSp>
      <p:cxnSp>
        <p:nvCxnSpPr>
          <p:cNvPr id="170" name=""/>
          <p:cNvCxnSpPr>
            <a:stCxn xmlns:a="http://schemas.openxmlformats.org/drawingml/2006/main" id="10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171825" y="94297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tailEnd type="triangle" w="sm" len="sm"/>
          </a:ln>
        </p:spPr>
      </p:cxnSp>
      <p:cxnSp>
        <p:nvCxnSpPr>
          <p:cNvPr id="171" name=""/>
          <p:cNvCxnSpPr>
            <a:stCxn xmlns:a="http://schemas.openxmlformats.org/drawingml/2006/main" id="18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476750" y="9429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tailEnd type="triangle" w="sm" len="sm"/>
          </a:ln>
        </p:spPr>
      </p:cxnSp>
      <p:sp>
        <p:nvSpPr>
          <p:cNvPr id="60" name="section-b">
            <a:extLst xmlns:a="http://schemas.openxmlformats.org/drawingml/2006/main">
              <a:ext uri="{FF2B5EF4-FFF2-40B4-BE49-F238E27FC236}">
                <a16:creationId xmlns:a16="http://schemas.microsoft.com/office/drawing/2014/main" id="{4482AC50-FFF4-47E2-9A3A-ED62BDD3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00250"/>
            <a:ext cx="438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(b) Query with the same frozen feature path</a:t>
            </a:r>
          </a:p>
        </p:txBody>
      </p:sp>
      <p:sp>
        <p:nvSpPr>
          <p:cNvPr id="61" name="query">
            <a:extLst xmlns:a="http://schemas.openxmlformats.org/drawingml/2006/main">
              <a:ext uri="{FF2B5EF4-FFF2-40B4-BE49-F238E27FC236}">
                <a16:creationId xmlns:a16="http://schemas.microsoft.com/office/drawing/2014/main" id="{DCFDFC17-B005-4F5A-9460-A673A0E1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8875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80e7437bb4ca7"/>
          <a:stretch xmlns:a="http://schemas.openxmlformats.org/drawingml/2006/main"/>
        </p:blipFill>
        <p:spPr>
          <a:xfrm xmlns:a="http://schemas.openxmlformats.org/drawingml/2006/main">
            <a:off x="190500" y="2428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63" name="query-label">
            <a:extLst xmlns:a="http://schemas.openxmlformats.org/drawingml/2006/main">
              <a:ext uri="{FF2B5EF4-FFF2-40B4-BE49-F238E27FC236}">
                <a16:creationId xmlns:a16="http://schemas.microsoft.com/office/drawing/2014/main" id="{76493F47-D6EA-4B37-A608-36EF1AEA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766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Query image</a:t>
            </a:r>
          </a:p>
        </p:txBody>
      </p:sp>
      <p:sp>
        <p:nvSpPr>
          <p:cNvPr id="64" name="query-branches">
            <a:extLst xmlns:a="http://schemas.openxmlformats.org/drawingml/2006/main">
              <a:ext uri="{FF2B5EF4-FFF2-40B4-BE49-F238E27FC236}">
                <a16:creationId xmlns:a16="http://schemas.microsoft.com/office/drawing/2014/main" id="{2293312A-59E0-4666-B25C-971C1F6C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62200"/>
            <a:ext cx="17907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EE3"/>
            </a:solidFill>
            <a:prstDash val="solid"/>
          </a:ln>
        </p:spPr>
      </p:sp>
      <p:sp>
        <p:nvSpPr>
          <p:cNvPr id="65" name="query-branches-title">
            <a:extLst xmlns:a="http://schemas.openxmlformats.org/drawingml/2006/main">
              <a:ext uri="{FF2B5EF4-FFF2-40B4-BE49-F238E27FC236}">
                <a16:creationId xmlns:a16="http://schemas.microsoft.com/office/drawing/2014/main" id="{E7EBA0E3-9B74-4959-9C95-9108D18F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0982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0" b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 b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rPr>
              <a:t>Frozen visual branches</a:t>
            </a:r>
          </a:p>
        </p:txBody>
      </p:sp>
      <p:sp>
        <p:nvSpPr>
          <p:cNvPr id="66" name="query-branches-B">
            <a:extLst xmlns:a="http://schemas.openxmlformats.org/drawingml/2006/main">
              <a:ext uri="{FF2B5EF4-FFF2-40B4-BE49-F238E27FC236}">
                <a16:creationId xmlns:a16="http://schemas.microsoft.com/office/drawing/2014/main" id="{24D07AD0-FBD0-47A4-B9DB-75764A6C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28900"/>
            <a:ext cx="16002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CEBF7"/>
          </a:solidFill>
          <a:ln xmlns:a="http://schemas.openxmlformats.org/drawingml/2006/main" w="11430">
            <a:solidFill>
              <a:srgbClr val="2E6F9E"/>
            </a:solidFill>
            <a:prstDash val="solid"/>
          </a:ln>
        </p:spPr>
      </p:sp>
      <p:sp>
        <p:nvSpPr>
          <p:cNvPr id="67" name="query-branches-B-text">
            <a:extLst xmlns:a="http://schemas.openxmlformats.org/drawingml/2006/main">
              <a:ext uri="{FF2B5EF4-FFF2-40B4-BE49-F238E27FC236}">
                <a16:creationId xmlns:a16="http://schemas.microsoft.com/office/drawing/2014/main" id="{6DFB2369-C007-4C6E-B860-69F8A12A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2890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rPr>
              <a:t>B   DINOv2-B</a:t>
            </a:r>
          </a:p>
        </p:txBody>
      </p:sp>
      <p:sp>
        <p:nvSpPr>
          <p:cNvPr id="68" name="query-branches-C">
            <a:extLst xmlns:a="http://schemas.openxmlformats.org/drawingml/2006/main">
              <a:ext uri="{FF2B5EF4-FFF2-40B4-BE49-F238E27FC236}">
                <a16:creationId xmlns:a16="http://schemas.microsoft.com/office/drawing/2014/main" id="{92E78442-66EA-4519-99E7-0105B635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16002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11430">
            <a:solidFill>
              <a:srgbClr val="B27C20"/>
            </a:solidFill>
            <a:prstDash val="solid"/>
          </a:ln>
        </p:spPr>
      </p:sp>
      <p:sp>
        <p:nvSpPr>
          <p:cNvPr id="69" name="query-branches-C-text">
            <a:extLst xmlns:a="http://schemas.openxmlformats.org/drawingml/2006/main">
              <a:ext uri="{FF2B5EF4-FFF2-40B4-BE49-F238E27FC236}">
                <a16:creationId xmlns:a16="http://schemas.microsoft.com/office/drawing/2014/main" id="{2CF23658-4777-4BF1-9524-45F6497A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9051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0" b="1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0" b="1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rPr>
              <a:t>C   AnomalyCLIP visual</a:t>
            </a:r>
          </a:p>
        </p:txBody>
      </p:sp>
      <p:sp>
        <p:nvSpPr>
          <p:cNvPr id="70" name="query-branches-extra">
            <a:extLst xmlns:a="http://schemas.openxmlformats.org/drawingml/2006/main">
              <a:ext uri="{FF2B5EF4-FFF2-40B4-BE49-F238E27FC236}">
                <a16:creationId xmlns:a16="http://schemas.microsoft.com/office/drawing/2014/main" id="{7D2683F6-BE17-48B9-A837-EC9633C5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16002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1430">
            <a:solidFill>
              <a:srgbClr val="4E8661"/>
            </a:solidFill>
            <a:prstDash val="solid"/>
          </a:ln>
        </p:spPr>
      </p:sp>
      <p:sp>
        <p:nvSpPr>
          <p:cNvPr id="71" name="query-branches-extra-text">
            <a:extLst xmlns:a="http://schemas.openxmlformats.org/drawingml/2006/main">
              <a:ext uri="{FF2B5EF4-FFF2-40B4-BE49-F238E27FC236}">
                <a16:creationId xmlns:a16="http://schemas.microsoft.com/office/drawing/2014/main" id="{0449CC6A-4469-49E8-A043-EEDC25B0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81350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3028"/>
          </a:bodyPr>
          <a:lstStyle xmlns:a="http://schemas.openxmlformats.org/drawingml/2006/main"/>
          <a:p xmlns:a="http://schemas.openxmlformats.org/drawingml/2006/main">
            <a:pPr algn="ctr">
              <a:defRPr sz="940" b="1">
                <a:solidFill>
                  <a:srgbClr val="4E86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0" b="1">
                <a:solidFill>
                  <a:srgbClr val="4E8661"/>
                </a:solidFill>
                <a:latin typeface="Times New Roman"/>
                <a:ea typeface="Times New Roman"/>
                <a:cs typeface="Times New Roman"/>
              </a:rPr>
              <a:t>S or D   controlled extra branch</a:t>
            </a:r>
          </a:p>
        </p:txBody>
      </p:sp>
      <p:sp>
        <p:nvSpPr>
          <p:cNvPr id="72" name="query-align">
            <a:extLst xmlns:a="http://schemas.openxmlformats.org/drawingml/2006/main">
              <a:ext uri="{FF2B5EF4-FFF2-40B4-BE49-F238E27FC236}">
                <a16:creationId xmlns:a16="http://schemas.microsoft.com/office/drawing/2014/main" id="{D913E59D-69FA-4BA1-A533-5C5A78DA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1143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11430">
            <a:solidFill>
              <a:srgbClr val="5D8190"/>
            </a:solidFill>
            <a:prstDash val="solid"/>
          </a:ln>
        </p:spPr>
      </p:sp>
      <p:sp>
        <p:nvSpPr>
          <p:cNvPr id="73" name="query-align-label">
            <a:extLst xmlns:a="http://schemas.openxmlformats.org/drawingml/2006/main">
              <a:ext uri="{FF2B5EF4-FFF2-40B4-BE49-F238E27FC236}">
                <a16:creationId xmlns:a16="http://schemas.microsoft.com/office/drawing/2014/main" id="{BA5621E6-F0A0-4175-BDB6-238F118F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990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6879"/>
          </a:bodyPr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Spatial align</a:t>
            </a:r>
          </a:p>
          <a:p xmlns:a="http://schemas.openxmlformats.org/drawingml/2006/main">
            <a:pPr algn="ctr">
              <a:def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and L2 normalize</a:t>
            </a:r>
          </a:p>
        </p:txBody>
      </p:sp>
      <p:sp>
        <p:nvSpPr>
          <p:cNvPr id="74" name="query-align-grid-0-0">
            <a:extLst xmlns:a="http://schemas.openxmlformats.org/drawingml/2006/main">
              <a:ext uri="{FF2B5EF4-FFF2-40B4-BE49-F238E27FC236}">
                <a16:creationId xmlns:a16="http://schemas.microsoft.com/office/drawing/2014/main" id="{6B6CC4C7-26F9-4062-BAC0-4FFC08CB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19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75" name="query-align-grid-0-1">
            <a:extLst xmlns:a="http://schemas.openxmlformats.org/drawingml/2006/main">
              <a:ext uri="{FF2B5EF4-FFF2-40B4-BE49-F238E27FC236}">
                <a16:creationId xmlns:a16="http://schemas.microsoft.com/office/drawing/2014/main" id="{D8CAC79C-D102-4E16-97DD-2BACFA86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19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76" name="query-align-grid-0-2">
            <a:extLst xmlns:a="http://schemas.openxmlformats.org/drawingml/2006/main">
              <a:ext uri="{FF2B5EF4-FFF2-40B4-BE49-F238E27FC236}">
                <a16:creationId xmlns:a16="http://schemas.microsoft.com/office/drawing/2014/main" id="{30A4D4BA-B1E9-4F7B-9009-8B5DD5F2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19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77" name="query-align-grid-0-3">
            <a:extLst xmlns:a="http://schemas.openxmlformats.org/drawingml/2006/main">
              <a:ext uri="{FF2B5EF4-FFF2-40B4-BE49-F238E27FC236}">
                <a16:creationId xmlns:a16="http://schemas.microsoft.com/office/drawing/2014/main" id="{03AAFE28-998E-4C34-A3CB-B4494E63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78" name="query-align-grid-0-4">
            <a:extLst xmlns:a="http://schemas.openxmlformats.org/drawingml/2006/main">
              <a:ext uri="{FF2B5EF4-FFF2-40B4-BE49-F238E27FC236}">
                <a16:creationId xmlns:a16="http://schemas.microsoft.com/office/drawing/2014/main" id="{0AE76B70-7673-4343-A10E-A4A3AA64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19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79" name="query-align-grid-1-0">
            <a:extLst xmlns:a="http://schemas.openxmlformats.org/drawingml/2006/main">
              <a:ext uri="{FF2B5EF4-FFF2-40B4-BE49-F238E27FC236}">
                <a16:creationId xmlns:a16="http://schemas.microsoft.com/office/drawing/2014/main" id="{1B2A4F81-BB49-4DB9-8E48-3F82D196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14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0" name="query-align-grid-1-1">
            <a:extLst xmlns:a="http://schemas.openxmlformats.org/drawingml/2006/main">
              <a:ext uri="{FF2B5EF4-FFF2-40B4-BE49-F238E27FC236}">
                <a16:creationId xmlns:a16="http://schemas.microsoft.com/office/drawing/2014/main" id="{39F125A0-DF20-4703-899A-73E944A3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14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1" name="query-align-grid-1-2">
            <a:extLst xmlns:a="http://schemas.openxmlformats.org/drawingml/2006/main">
              <a:ext uri="{FF2B5EF4-FFF2-40B4-BE49-F238E27FC236}">
                <a16:creationId xmlns:a16="http://schemas.microsoft.com/office/drawing/2014/main" id="{CBB50238-72D3-4DE1-B52A-D8A0A426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14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2" name="query-align-grid-1-3">
            <a:extLst xmlns:a="http://schemas.openxmlformats.org/drawingml/2006/main">
              <a:ext uri="{FF2B5EF4-FFF2-40B4-BE49-F238E27FC236}">
                <a16:creationId xmlns:a16="http://schemas.microsoft.com/office/drawing/2014/main" id="{F64AC38E-D132-49D4-A71F-899463E1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14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3" name="query-align-grid-1-4">
            <a:extLst xmlns:a="http://schemas.openxmlformats.org/drawingml/2006/main">
              <a:ext uri="{FF2B5EF4-FFF2-40B4-BE49-F238E27FC236}">
                <a16:creationId xmlns:a16="http://schemas.microsoft.com/office/drawing/2014/main" id="{C477A4AA-523E-4EB7-97FC-B8583C79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14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4" name="query-align-grid-2-0">
            <a:extLst xmlns:a="http://schemas.openxmlformats.org/drawingml/2006/main">
              <a:ext uri="{FF2B5EF4-FFF2-40B4-BE49-F238E27FC236}">
                <a16:creationId xmlns:a16="http://schemas.microsoft.com/office/drawing/2014/main" id="{19D1A755-AAF3-4A6E-B1D4-2533D976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09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5" name="query-align-grid-2-1">
            <a:extLst xmlns:a="http://schemas.openxmlformats.org/drawingml/2006/main">
              <a:ext uri="{FF2B5EF4-FFF2-40B4-BE49-F238E27FC236}">
                <a16:creationId xmlns:a16="http://schemas.microsoft.com/office/drawing/2014/main" id="{E5A04A7B-705C-4289-8B36-A22CA747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09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6" name="query-align-grid-2-2">
            <a:extLst xmlns:a="http://schemas.openxmlformats.org/drawingml/2006/main">
              <a:ext uri="{FF2B5EF4-FFF2-40B4-BE49-F238E27FC236}">
                <a16:creationId xmlns:a16="http://schemas.microsoft.com/office/drawing/2014/main" id="{E8B0847F-C053-4969-A052-5C22FE94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09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7" name="query-align-grid-2-3">
            <a:extLst xmlns:a="http://schemas.openxmlformats.org/drawingml/2006/main">
              <a:ext uri="{FF2B5EF4-FFF2-40B4-BE49-F238E27FC236}">
                <a16:creationId xmlns:a16="http://schemas.microsoft.com/office/drawing/2014/main" id="{D2BB200E-D715-43A8-BD00-B53ADFDE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9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8" name="query-align-grid-2-4">
            <a:extLst xmlns:a="http://schemas.openxmlformats.org/drawingml/2006/main">
              <a:ext uri="{FF2B5EF4-FFF2-40B4-BE49-F238E27FC236}">
                <a16:creationId xmlns:a16="http://schemas.microsoft.com/office/drawing/2014/main" id="{B14BEECE-5859-4791-85E1-022EFBFA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09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9" name="query-align-per-branch">
            <a:extLst xmlns:a="http://schemas.openxmlformats.org/drawingml/2006/main">
              <a:ext uri="{FF2B5EF4-FFF2-40B4-BE49-F238E27FC236}">
                <a16:creationId xmlns:a16="http://schemas.microsoft.com/office/drawing/2014/main" id="{CC4D12E1-0542-49AC-9942-0A7014E8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2422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i="1">
                <a:solidFill>
                  <a:srgbClr val="5D819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i="1">
                <a:solidFill>
                  <a:srgbClr val="5D8190"/>
                </a:solidFill>
                <a:latin typeface="Times New Roman"/>
                <a:ea typeface="Times New Roman"/>
                <a:cs typeface="Times New Roman"/>
              </a:rPr>
              <a:t>per branch</a:t>
            </a:r>
          </a:p>
        </p:txBody>
      </p:sp>
      <p:sp>
        <p:nvSpPr>
          <p:cNvPr id="90" name="matching-choices">
            <a:extLst xmlns:a="http://schemas.openxmlformats.org/drawingml/2006/main">
              <a:ext uri="{FF2B5EF4-FFF2-40B4-BE49-F238E27FC236}">
                <a16:creationId xmlns:a16="http://schemas.microsoft.com/office/drawing/2014/main" id="{322494DE-9B79-4C1D-BCFE-BD94B348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1238250" cy="1333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E7F7"/>
          </a:solidFill>
          <a:ln xmlns:a="http://schemas.openxmlformats.org/drawingml/2006/main" w="11430">
            <a:solidFill>
              <a:srgbClr val="7553A4"/>
            </a:solidFill>
            <a:prstDash val="solid"/>
          </a:ln>
        </p:spPr>
      </p:sp>
      <p:sp>
        <p:nvSpPr>
          <p:cNvPr id="91" name="matching-title">
            <a:extLst xmlns:a="http://schemas.openxmlformats.org/drawingml/2006/main">
              <a:ext uri="{FF2B5EF4-FFF2-40B4-BE49-F238E27FC236}">
                <a16:creationId xmlns:a16="http://schemas.microsoft.com/office/drawing/2014/main" id="{64CD5005-440B-43A2-8960-428CC5C9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526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3608"/>
          </a:bodyPr>
          <a:lstStyle xmlns:a="http://schemas.openxmlformats.org/drawingml/2006/main"/>
          <a:p xmlns:a="http://schemas.openxmlformats.org/drawingml/2006/main">
            <a:pPr algn="ctr">
              <a:defRPr sz="1080" b="1">
                <a:solidFill>
                  <a:srgbClr val="7553A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0" b="1">
                <a:solidFill>
                  <a:srgbClr val="7553A4"/>
                </a:solidFill>
                <a:latin typeface="Times New Roman"/>
                <a:ea typeface="Times New Roman"/>
                <a:cs typeface="Times New Roman"/>
              </a:rPr>
              <a:t>Reference selection</a:t>
            </a:r>
          </a:p>
        </p:txBody>
      </p:sp>
      <p:sp>
        <p:nvSpPr>
          <p:cNvPr id="92" name="choice-J">
            <a:extLst xmlns:a="http://schemas.openxmlformats.org/drawingml/2006/main">
              <a:ext uri="{FF2B5EF4-FFF2-40B4-BE49-F238E27FC236}">
                <a16:creationId xmlns:a16="http://schemas.microsoft.com/office/drawing/2014/main" id="{0A684CAD-6D38-44CA-81D8-49B0477B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81275"/>
            <a:ext cx="10668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5DDF2"/>
          </a:solidFill>
          <a:ln xmlns:a="http://schemas.openxmlformats.org/drawingml/2006/main" w="11430">
            <a:solidFill>
              <a:srgbClr val="7553A4"/>
            </a:solidFill>
            <a:prstDash val="solid"/>
          </a:ln>
        </p:spPr>
      </p:sp>
      <p:sp>
        <p:nvSpPr>
          <p:cNvPr id="93" name="choice-J-text">
            <a:extLst xmlns:a="http://schemas.openxmlformats.org/drawingml/2006/main">
              <a:ext uri="{FF2B5EF4-FFF2-40B4-BE49-F238E27FC236}">
                <a16:creationId xmlns:a16="http://schemas.microsoft.com/office/drawing/2014/main" id="{CAC7C88A-E703-49F6-A996-65C3AEAC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0985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75355"/>
          </a:bodyPr>
          <a:lstStyle xmlns:a="http://schemas.openxmlformats.org/drawingml/2006/main"/>
          <a:p xmlns:a="http://schemas.openxmlformats.org/drawingml/2006/main">
            <a:pPr algn="ctr">
              <a:defRPr sz="94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0" b="1" i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94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  shared support patch
weighted sum across branches</a:t>
            </a:r>
          </a:p>
        </p:txBody>
      </p:sp>
      <p:sp>
        <p:nvSpPr>
          <p:cNvPr id="94" name="choice-L">
            <a:extLst xmlns:a="http://schemas.openxmlformats.org/drawingml/2006/main">
              <a:ext uri="{FF2B5EF4-FFF2-40B4-BE49-F238E27FC236}">
                <a16:creationId xmlns:a16="http://schemas.microsoft.com/office/drawing/2014/main" id="{F5541AB9-B61D-4CEC-BCCA-BBA570E0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09900"/>
            <a:ext cx="10668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6E8E5"/>
          </a:solidFill>
          <a:ln xmlns:a="http://schemas.openxmlformats.org/drawingml/2006/main" w="11430">
            <a:solidFill>
              <a:srgbClr val="A45B4A"/>
            </a:solidFill>
            <a:prstDash val="solid"/>
          </a:ln>
        </p:spPr>
      </p:sp>
      <p:sp>
        <p:nvSpPr>
          <p:cNvPr id="95" name="choice-L-text">
            <a:extLst xmlns:a="http://schemas.openxmlformats.org/drawingml/2006/main">
              <a:ext uri="{FF2B5EF4-FFF2-40B4-BE49-F238E27FC236}">
                <a16:creationId xmlns:a16="http://schemas.microsoft.com/office/drawing/2014/main" id="{5958C142-154A-4203-9FC5-B372FD49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384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75355"/>
          </a:bodyPr>
          <a:lstStyle xmlns:a="http://schemas.openxmlformats.org/drawingml/2006/main"/>
          <a:p xmlns:a="http://schemas.openxmlformats.org/drawingml/2006/main">
            <a:pPr algn="ctr">
              <a:defRPr sz="94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0" b="1" i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94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  branch-specific patches
sum of weighted minima</a:t>
            </a:r>
          </a:p>
        </p:txBody>
      </p:sp>
      <p:sp>
        <p:nvSpPr>
          <p:cNvPr id="96" name="matching-note">
            <a:extLst xmlns:a="http://schemas.openxmlformats.org/drawingml/2006/main">
              <a:ext uri="{FF2B5EF4-FFF2-40B4-BE49-F238E27FC236}">
                <a16:creationId xmlns:a16="http://schemas.microsoft.com/office/drawing/2014/main" id="{BBC6BDF4-DA6E-4EB3-A5C1-0FDA052A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19475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i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i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rPr>
              <a:t>fixed distance weights</a:t>
            </a:r>
          </a:p>
        </p:txBody>
      </p:sp>
      <p:cxnSp>
        <p:nvCxnSpPr>
          <p:cNvPr id="209" name=""/>
          <p:cNvCxnSpPr>
            <a:stCxn xmlns:a="http://schemas.openxmlformats.org/drawingml/2006/main" id="61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 flipV="1">
            <a:off x="1190625" y="2924175"/>
            <a:ext cx="1905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tailEnd type="triangle" w="sm" len="sm"/>
          </a:ln>
        </p:spPr>
      </p:cxnSp>
      <p:cxnSp>
        <p:nvCxnSpPr>
          <p:cNvPr id="210" name=""/>
          <p:cNvCxnSpPr>
            <a:stCxn xmlns:a="http://schemas.openxmlformats.org/drawingml/2006/main" id="64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3171825" y="292417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tailEnd type="triangle" w="sm" len="sm"/>
          </a:ln>
        </p:spPr>
      </p:cxnSp>
      <p:cxnSp>
        <p:nvCxnSpPr>
          <p:cNvPr id="211" name=""/>
          <p:cNvCxnSpPr>
            <a:stCxn xmlns:a="http://schemas.openxmlformats.org/drawingml/2006/main" id="72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4476750" y="2924175"/>
            <a:ext cx="1905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tailEnd type="triangle" w="sm" len="sm"/>
          </a:ln>
        </p:spPr>
      </p:cxnSp>
      <p:cxnSp>
        <p:nvCxnSpPr>
          <p:cNvPr id="212" name=""/>
          <p:cNvCxnSpPr>
            <a:stCxn xmlns:a="http://schemas.openxmlformats.org/drawingml/2006/main" id="36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5286375" y="15049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B7961"/>
            </a:solidFill>
            <a:tailEnd type="triangle" w="sm" len="sm"/>
          </a:ln>
        </p:spPr>
      </p:cxnSp>
      <p:sp>
        <p:nvSpPr>
          <p:cNvPr id="101" name="bank-read-label">
            <a:extLst xmlns:a="http://schemas.openxmlformats.org/drawingml/2006/main">
              <a:ext uri="{FF2B5EF4-FFF2-40B4-BE49-F238E27FC236}">
                <a16:creationId xmlns:a16="http://schemas.microsoft.com/office/drawing/2014/main" id="{7A8192E4-7F0E-4CAF-B2A4-51BDB0D5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762125"/>
            <a:ext cx="933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0">
                <a:solidFill>
                  <a:srgbClr val="2B79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>
                <a:solidFill>
                  <a:srgbClr val="2B7961"/>
                </a:solidFill>
                <a:latin typeface="Times New Roman"/>
                <a:ea typeface="Times New Roman"/>
                <a:cs typeface="Times New Roman"/>
              </a:rPr>
              <a:t>fixed bank</a:t>
            </a:r>
          </a:p>
        </p:txBody>
      </p:sp>
      <p:sp>
        <p:nvSpPr>
          <p:cNvPr id="102" name="section-c">
            <a:extLst xmlns:a="http://schemas.openxmlformats.org/drawingml/2006/main">
              <a:ext uri="{FF2B5EF4-FFF2-40B4-BE49-F238E27FC236}">
                <a16:creationId xmlns:a16="http://schemas.microsoft.com/office/drawing/2014/main" id="{079C5433-8D70-4934-856A-2506043C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838575"/>
            <a:ext cx="573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(c) Continuous scores and contour visualization</a:t>
            </a:r>
          </a:p>
        </p:txBody>
      </p:sp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8f2d7b912440d"/>
          <a:stretch xmlns:a="http://schemas.openxmlformats.org/drawingml/2006/main"/>
        </p:blipFill>
        <p:spPr>
          <a:xfrm xmlns:a="http://schemas.openxmlformats.org/drawingml/2006/main">
            <a:off x="1504950" y="4171950"/>
            <a:ext cx="1266825" cy="1266825"/>
          </a:xfrm>
          <a:prstGeom xmlns:a="http://schemas.openxmlformats.org/drawingml/2006/main" prst="rect">
            <a:avLst/>
          </a:prstGeom>
        </p:spPr>
      </p:pic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a8adad7b14f44"/>
          <a:stretch xmlns:a="http://schemas.openxmlformats.org/drawingml/2006/main"/>
        </p:blipFill>
        <p:spPr>
          <a:xfrm xmlns:a="http://schemas.openxmlformats.org/drawingml/2006/main">
            <a:off x="3000375" y="4171950"/>
            <a:ext cx="1266825" cy="1266825"/>
          </a:xfrm>
          <a:prstGeom xmlns:a="http://schemas.openxmlformats.org/drawingml/2006/main" prst="rect">
            <a:avLst/>
          </a:prstGeom>
        </p:spPr>
      </p:pic>
      <p:sp>
        <p:nvSpPr>
          <p:cNvPr id="105" name="heatmap-label">
            <a:extLst xmlns:a="http://schemas.openxmlformats.org/drawingml/2006/main">
              <a:ext uri="{FF2B5EF4-FFF2-40B4-BE49-F238E27FC236}">
                <a16:creationId xmlns:a16="http://schemas.microsoft.com/office/drawing/2014/main" id="{3DABE7E7-F735-4817-B7BB-D528AF9E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95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Anomaly map</a:t>
            </a:r>
          </a:p>
        </p:txBody>
      </p:sp>
      <p:sp>
        <p:nvSpPr>
          <p:cNvPr id="106" name="contour-label">
            <a:extLst xmlns:a="http://schemas.openxmlformats.org/drawingml/2006/main">
              <a:ext uri="{FF2B5EF4-FFF2-40B4-BE49-F238E27FC236}">
                <a16:creationId xmlns:a16="http://schemas.microsoft.com/office/drawing/2014/main" id="{F1D5F7D8-DCD1-481B-949D-FD3409B2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95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Contour overlay</a:t>
            </a:r>
          </a:p>
        </p:txBody>
      </p:sp>
      <p:sp>
        <p:nvSpPr>
          <p:cNvPr id="107" name="postprocess">
            <a:extLst xmlns:a="http://schemas.openxmlformats.org/drawingml/2006/main">
              <a:ext uri="{FF2B5EF4-FFF2-40B4-BE49-F238E27FC236}">
                <a16:creationId xmlns:a16="http://schemas.microsoft.com/office/drawing/2014/main" id="{54D942DD-D23F-4047-BAAD-E2DC471D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76725"/>
            <a:ext cx="1238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2F1ED"/>
          </a:solidFill>
          <a:ln xmlns:a="http://schemas.openxmlformats.org/drawingml/2006/main" w="11430">
            <a:solidFill>
              <a:srgbClr val="2B7961"/>
            </a:solidFill>
            <a:prstDash val="solid"/>
          </a:ln>
        </p:spPr>
      </p:sp>
      <p:sp>
        <p:nvSpPr>
          <p:cNvPr id="108" name="postprocess-text">
            <a:extLst xmlns:a="http://schemas.openxmlformats.org/drawingml/2006/main">
              <a:ext uri="{FF2B5EF4-FFF2-40B4-BE49-F238E27FC236}">
                <a16:creationId xmlns:a16="http://schemas.microsoft.com/office/drawing/2014/main" id="{7DE69974-76F3-4EDC-A41B-9617C107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00550"/>
            <a:ext cx="1085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Resize to canvas</a:t>
            </a:r>
          </a:p>
          <a:p xmlns:a="http://schemas.openxmlformats.org/drawingml/2006/main">
            <a:pPr algn="ctr">
              <a:def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Gaussian smoothing</a:t>
            </a:r>
          </a:p>
          <a:p xmlns:a="http://schemas.openxmlformats.org/drawingml/2006/main">
            <a:pPr algn="ctr">
              <a:def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Visualization threshold</a:t>
            </a:r>
          </a:p>
        </p:txBody>
      </p:sp>
      <p:cxnSp>
        <p:nvCxnSpPr>
          <p:cNvPr id="221" name=""/>
          <p:cNvCxnSpPr>
            <a:stCxn xmlns:a="http://schemas.openxmlformats.org/drawingml/2006/main" id="90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5286375" y="3619500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tailEnd type="triangle" w="sm" len="sm"/>
          </a:ln>
        </p:spPr>
      </p:cxnSp>
      <p:sp>
        <p:nvSpPr>
          <p:cNvPr id="110" name="output-anchor">
            <a:extLst xmlns:a="http://schemas.openxmlformats.org/drawingml/2006/main">
              <a:ext uri="{FF2B5EF4-FFF2-40B4-BE49-F238E27FC236}">
                <a16:creationId xmlns:a16="http://schemas.microsoft.com/office/drawing/2014/main" id="{E63EC105-3024-4295-8FB0-DA30501D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244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3" name=""/>
          <p:cNvCxnSpPr>
            <a:stCxn xmlns:a="http://schemas.openxmlformats.org/drawingml/2006/main" id="107" idx="1"/>
            <a:endCxn xmlns:a="http://schemas.openxmlformats.org/drawingml/2006/main" id="110" idx="3"/>
          </p:cNvCxnSpPr>
          <p:nvPr/>
        </p:nvCxnSpPr>
        <p:spPr>
          <a:xfrm xmlns:a="http://schemas.openxmlformats.org/drawingml/2006/main" flipH="1" flipV="1">
            <a:off x="4295775" y="4733925"/>
            <a:ext cx="371475" cy="19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tailEnd type="triangle" w="sm" len="sm"/>
          </a:ln>
        </p:spPr>
      </p:cxnSp>
      <p:sp>
        <p:nvSpPr>
          <p:cNvPr id="112" name="output-note">
            <a:extLst xmlns:a="http://schemas.openxmlformats.org/drawingml/2006/main">
              <a:ext uri="{FF2B5EF4-FFF2-40B4-BE49-F238E27FC236}">
                <a16:creationId xmlns:a16="http://schemas.microsoft.com/office/drawing/2014/main" id="{BB3C9485-6882-4BD1-B6EA-BC5F6FFA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76725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A1 example</a:t>
            </a:r>
          </a:p>
          <a:p xmlns:a="http://schemas.openxmlformats.org/drawingml/2006/main">
            <a:pPr algn="ctr">
              <a:def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from one query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Contour is</a:t>
            </a:r>
          </a:p>
          <a:p xmlns:a="http://schemas.openxmlformats.org/drawingml/2006/main">
            <a:pPr algn="ctr">
              <a:def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visualization only</a:t>
            </a:r>
          </a:p>
        </p:txBody>
      </p:sp>
    </p:spTree>
    <p:extLst>
      <p:ext uri="{BB962C8B-B14F-4D97-AF65-F5344CB8AC3E}">
        <p14:creationId xmlns:p14="http://schemas.microsoft.com/office/powerpoint/2010/main" val="1890705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2026-09-14T23:57:27.1030000Z</dcterms:created>
  <dcterms:modified xsi:type="dcterms:W3CDTF">2026-09-14T23:57:27.1030000Z</dcterms:modified>
</coreProperties>
</file>